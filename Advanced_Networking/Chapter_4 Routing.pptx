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8" r:id="rId2"/>
    <p:sldId id="369" r:id="rId3"/>
    <p:sldId id="331" r:id="rId4"/>
    <p:sldId id="332" r:id="rId5"/>
    <p:sldId id="333" r:id="rId6"/>
    <p:sldId id="351" r:id="rId7"/>
    <p:sldId id="334" r:id="rId8"/>
    <p:sldId id="335" r:id="rId9"/>
    <p:sldId id="336" r:id="rId10"/>
    <p:sldId id="337" r:id="rId11"/>
    <p:sldId id="339" r:id="rId12"/>
    <p:sldId id="370" r:id="rId13"/>
    <p:sldId id="372" r:id="rId14"/>
    <p:sldId id="371" r:id="rId15"/>
    <p:sldId id="338" r:id="rId16"/>
    <p:sldId id="341" r:id="rId17"/>
    <p:sldId id="342" r:id="rId18"/>
    <p:sldId id="343" r:id="rId19"/>
    <p:sldId id="344" r:id="rId20"/>
    <p:sldId id="353" r:id="rId21"/>
    <p:sldId id="345" r:id="rId22"/>
    <p:sldId id="346" r:id="rId23"/>
    <p:sldId id="347" r:id="rId24"/>
    <p:sldId id="348" r:id="rId25"/>
    <p:sldId id="349" r:id="rId26"/>
    <p:sldId id="35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8D0D42-B259-4FE6-BC22-7C3B4F406405}" v="16" dt="2025-08-25T07:50:53.4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34" autoAdjust="0"/>
    <p:restoredTop sz="90000" autoAdjust="0"/>
  </p:normalViewPr>
  <p:slideViewPr>
    <p:cSldViewPr snapToGrid="0">
      <p:cViewPr>
        <p:scale>
          <a:sx n="57" d="100"/>
          <a:sy n="57" d="100"/>
        </p:scale>
        <p:origin x="1028" y="12"/>
      </p:cViewPr>
      <p:guideLst/>
    </p:cSldViewPr>
  </p:slideViewPr>
  <p:outlineViewPr>
    <p:cViewPr>
      <p:scale>
        <a:sx n="33" d="100"/>
        <a:sy n="33" d="100"/>
      </p:scale>
      <p:origin x="0" y="-48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game Fred" userId="63910e53-0d66-466a-91b1-c2053af931ec" providerId="ADAL" clId="{CF8D0D42-B259-4FE6-BC22-7C3B4F406405}"/>
    <pc:docChg chg="undo custSel addSld modSld sldOrd">
      <pc:chgData name="Kagame Fred" userId="63910e53-0d66-466a-91b1-c2053af931ec" providerId="ADAL" clId="{CF8D0D42-B259-4FE6-BC22-7C3B4F406405}" dt="2025-08-25T16:19:58.459" v="152" actId="1076"/>
      <pc:docMkLst>
        <pc:docMk/>
      </pc:docMkLst>
      <pc:sldChg chg="modSp mod">
        <pc:chgData name="Kagame Fred" userId="63910e53-0d66-466a-91b1-c2053af931ec" providerId="ADAL" clId="{CF8D0D42-B259-4FE6-BC22-7C3B4F406405}" dt="2025-08-25T06:51:19.723" v="7" actId="14100"/>
        <pc:sldMkLst>
          <pc:docMk/>
          <pc:sldMk cId="0" sldId="331"/>
        </pc:sldMkLst>
        <pc:spChg chg="mod">
          <ac:chgData name="Kagame Fred" userId="63910e53-0d66-466a-91b1-c2053af931ec" providerId="ADAL" clId="{CF8D0D42-B259-4FE6-BC22-7C3B4F406405}" dt="2025-08-25T06:51:19.723" v="7" actId="14100"/>
          <ac:spMkLst>
            <pc:docMk/>
            <pc:sldMk cId="0" sldId="331"/>
            <ac:spMk id="3" creationId="{00000000-0000-0000-0000-000000000000}"/>
          </ac:spMkLst>
        </pc:spChg>
      </pc:sldChg>
      <pc:sldChg chg="modSp mod">
        <pc:chgData name="Kagame Fred" userId="63910e53-0d66-466a-91b1-c2053af931ec" providerId="ADAL" clId="{CF8D0D42-B259-4FE6-BC22-7C3B4F406405}" dt="2025-08-25T06:57:02.224" v="17" actId="12"/>
        <pc:sldMkLst>
          <pc:docMk/>
          <pc:sldMk cId="0" sldId="333"/>
        </pc:sldMkLst>
        <pc:spChg chg="mod">
          <ac:chgData name="Kagame Fred" userId="63910e53-0d66-466a-91b1-c2053af931ec" providerId="ADAL" clId="{CF8D0D42-B259-4FE6-BC22-7C3B4F406405}" dt="2025-08-25T06:56:25.330" v="16" actId="1076"/>
          <ac:spMkLst>
            <pc:docMk/>
            <pc:sldMk cId="0" sldId="333"/>
            <ac:spMk id="5" creationId="{00000000-0000-0000-0000-000000000000}"/>
          </ac:spMkLst>
        </pc:spChg>
        <pc:spChg chg="mod">
          <ac:chgData name="Kagame Fred" userId="63910e53-0d66-466a-91b1-c2053af931ec" providerId="ADAL" clId="{CF8D0D42-B259-4FE6-BC22-7C3B4F406405}" dt="2025-08-25T06:56:23.143" v="15" actId="1076"/>
          <ac:spMkLst>
            <pc:docMk/>
            <pc:sldMk cId="0" sldId="333"/>
            <ac:spMk id="6" creationId="{00000000-0000-0000-0000-000000000000}"/>
          </ac:spMkLst>
        </pc:spChg>
        <pc:spChg chg="mod">
          <ac:chgData name="Kagame Fred" userId="63910e53-0d66-466a-91b1-c2053af931ec" providerId="ADAL" clId="{CF8D0D42-B259-4FE6-BC22-7C3B4F406405}" dt="2025-08-25T06:57:02.224" v="17" actId="12"/>
          <ac:spMkLst>
            <pc:docMk/>
            <pc:sldMk cId="0" sldId="333"/>
            <ac:spMk id="7" creationId="{00000000-0000-0000-0000-000000000000}"/>
          </ac:spMkLst>
        </pc:spChg>
      </pc:sldChg>
      <pc:sldChg chg="modSp mod">
        <pc:chgData name="Kagame Fred" userId="63910e53-0d66-466a-91b1-c2053af931ec" providerId="ADAL" clId="{CF8D0D42-B259-4FE6-BC22-7C3B4F406405}" dt="2025-08-25T07:02:40.102" v="25" actId="20577"/>
        <pc:sldMkLst>
          <pc:docMk/>
          <pc:sldMk cId="0" sldId="334"/>
        </pc:sldMkLst>
        <pc:spChg chg="mod">
          <ac:chgData name="Kagame Fred" userId="63910e53-0d66-466a-91b1-c2053af931ec" providerId="ADAL" clId="{CF8D0D42-B259-4FE6-BC22-7C3B4F406405}" dt="2025-08-25T07:02:40.102" v="25" actId="20577"/>
          <ac:spMkLst>
            <pc:docMk/>
            <pc:sldMk cId="0" sldId="334"/>
            <ac:spMk id="3" creationId="{00000000-0000-0000-0000-000000000000}"/>
          </ac:spMkLst>
        </pc:spChg>
      </pc:sldChg>
      <pc:sldChg chg="modSp mod">
        <pc:chgData name="Kagame Fred" userId="63910e53-0d66-466a-91b1-c2053af931ec" providerId="ADAL" clId="{CF8D0D42-B259-4FE6-BC22-7C3B4F406405}" dt="2025-08-25T07:16:59.208" v="56" actId="20577"/>
        <pc:sldMkLst>
          <pc:docMk/>
          <pc:sldMk cId="0" sldId="337"/>
        </pc:sldMkLst>
        <pc:spChg chg="mod">
          <ac:chgData name="Kagame Fred" userId="63910e53-0d66-466a-91b1-c2053af931ec" providerId="ADAL" clId="{CF8D0D42-B259-4FE6-BC22-7C3B4F406405}" dt="2025-08-25T07:16:59.208" v="56" actId="20577"/>
          <ac:spMkLst>
            <pc:docMk/>
            <pc:sldMk cId="0" sldId="337"/>
            <ac:spMk id="3" creationId="{00000000-0000-0000-0000-000000000000}"/>
          </ac:spMkLst>
        </pc:spChg>
      </pc:sldChg>
      <pc:sldChg chg="modSp mod">
        <pc:chgData name="Kagame Fred" userId="63910e53-0d66-466a-91b1-c2053af931ec" providerId="ADAL" clId="{CF8D0D42-B259-4FE6-BC22-7C3B4F406405}" dt="2025-08-25T07:44:05.303" v="87" actId="20577"/>
        <pc:sldMkLst>
          <pc:docMk/>
          <pc:sldMk cId="0" sldId="339"/>
        </pc:sldMkLst>
        <pc:spChg chg="mod">
          <ac:chgData name="Kagame Fred" userId="63910e53-0d66-466a-91b1-c2053af931ec" providerId="ADAL" clId="{CF8D0D42-B259-4FE6-BC22-7C3B4F406405}" dt="2025-08-25T07:44:05.303" v="87" actId="20577"/>
          <ac:spMkLst>
            <pc:docMk/>
            <pc:sldMk cId="0" sldId="339"/>
            <ac:spMk id="11" creationId="{00000000-0000-0000-0000-000000000000}"/>
          </ac:spMkLst>
        </pc:spChg>
      </pc:sldChg>
      <pc:sldChg chg="modSp mod">
        <pc:chgData name="Kagame Fred" userId="63910e53-0d66-466a-91b1-c2053af931ec" providerId="ADAL" clId="{CF8D0D42-B259-4FE6-BC22-7C3B4F406405}" dt="2025-08-25T16:19:58.459" v="152" actId="1076"/>
        <pc:sldMkLst>
          <pc:docMk/>
          <pc:sldMk cId="0" sldId="369"/>
        </pc:sldMkLst>
        <pc:spChg chg="mod">
          <ac:chgData name="Kagame Fred" userId="63910e53-0d66-466a-91b1-c2053af931ec" providerId="ADAL" clId="{CF8D0D42-B259-4FE6-BC22-7C3B4F406405}" dt="2025-08-25T16:19:58.459" v="152" actId="1076"/>
          <ac:spMkLst>
            <pc:docMk/>
            <pc:sldMk cId="0" sldId="369"/>
            <ac:spMk id="5" creationId="{00000000-0000-0000-0000-000000000000}"/>
          </ac:spMkLst>
        </pc:spChg>
        <pc:spChg chg="mod">
          <ac:chgData name="Kagame Fred" userId="63910e53-0d66-466a-91b1-c2053af931ec" providerId="ADAL" clId="{CF8D0D42-B259-4FE6-BC22-7C3B4F406405}" dt="2025-08-25T16:19:40.373" v="151" actId="113"/>
          <ac:spMkLst>
            <pc:docMk/>
            <pc:sldMk cId="0" sldId="369"/>
            <ac:spMk id="6" creationId="{00000000-0000-0000-0000-000000000000}"/>
          </ac:spMkLst>
        </pc:spChg>
      </pc:sldChg>
      <pc:sldChg chg="addSp modSp new mod">
        <pc:chgData name="Kagame Fred" userId="63910e53-0d66-466a-91b1-c2053af931ec" providerId="ADAL" clId="{CF8D0D42-B259-4FE6-BC22-7C3B4F406405}" dt="2025-08-25T07:44:00.127" v="86"/>
        <pc:sldMkLst>
          <pc:docMk/>
          <pc:sldMk cId="634630379" sldId="370"/>
        </pc:sldMkLst>
        <pc:spChg chg="add mod">
          <ac:chgData name="Kagame Fred" userId="63910e53-0d66-466a-91b1-c2053af931ec" providerId="ADAL" clId="{CF8D0D42-B259-4FE6-BC22-7C3B4F406405}" dt="2025-08-25T07:44:00.127" v="86"/>
          <ac:spMkLst>
            <pc:docMk/>
            <pc:sldMk cId="634630379" sldId="370"/>
            <ac:spMk id="4" creationId="{74082E0B-D72D-56E5-5E9D-E9CC1B9F47C0}"/>
          </ac:spMkLst>
        </pc:spChg>
      </pc:sldChg>
      <pc:sldChg chg="addSp modSp new mod">
        <pc:chgData name="Kagame Fred" userId="63910e53-0d66-466a-91b1-c2053af931ec" providerId="ADAL" clId="{CF8D0D42-B259-4FE6-BC22-7C3B4F406405}" dt="2025-08-25T07:48:43.626" v="98" actId="1076"/>
        <pc:sldMkLst>
          <pc:docMk/>
          <pc:sldMk cId="4274315806" sldId="371"/>
        </pc:sldMkLst>
        <pc:spChg chg="add mod">
          <ac:chgData name="Kagame Fred" userId="63910e53-0d66-466a-91b1-c2053af931ec" providerId="ADAL" clId="{CF8D0D42-B259-4FE6-BC22-7C3B4F406405}" dt="2025-08-25T07:48:43.626" v="98" actId="1076"/>
          <ac:spMkLst>
            <pc:docMk/>
            <pc:sldMk cId="4274315806" sldId="371"/>
            <ac:spMk id="4" creationId="{7DC34B1C-87EE-D072-AAE0-15F1B7A3CC49}"/>
          </ac:spMkLst>
        </pc:spChg>
        <pc:graphicFrameChg chg="add mod modGraphic">
          <ac:chgData name="Kagame Fred" userId="63910e53-0d66-466a-91b1-c2053af931ec" providerId="ADAL" clId="{CF8D0D42-B259-4FE6-BC22-7C3B4F406405}" dt="2025-08-25T07:48:19.594" v="94" actId="113"/>
          <ac:graphicFrameMkLst>
            <pc:docMk/>
            <pc:sldMk cId="4274315806" sldId="371"/>
            <ac:graphicFrameMk id="3" creationId="{68E47245-991D-A606-CD89-800D8A374220}"/>
          </ac:graphicFrameMkLst>
        </pc:graphicFrameChg>
      </pc:sldChg>
      <pc:sldChg chg="addSp modSp new mod ord">
        <pc:chgData name="Kagame Fred" userId="63910e53-0d66-466a-91b1-c2053af931ec" providerId="ADAL" clId="{CF8D0D42-B259-4FE6-BC22-7C3B4F406405}" dt="2025-08-25T07:59:32.487" v="148" actId="12"/>
        <pc:sldMkLst>
          <pc:docMk/>
          <pc:sldMk cId="3684403986" sldId="372"/>
        </pc:sldMkLst>
        <pc:spChg chg="add mod">
          <ac:chgData name="Kagame Fred" userId="63910e53-0d66-466a-91b1-c2053af931ec" providerId="ADAL" clId="{CF8D0D42-B259-4FE6-BC22-7C3B4F406405}" dt="2025-08-25T07:59:32.487" v="148" actId="12"/>
          <ac:spMkLst>
            <pc:docMk/>
            <pc:sldMk cId="3684403986" sldId="372"/>
            <ac:spMk id="4" creationId="{1FE70883-0FB8-59F5-0CE2-DC388E1CBBB1}"/>
          </ac:spMkLst>
        </pc:spChg>
        <pc:spChg chg="add mod">
          <ac:chgData name="Kagame Fred" userId="63910e53-0d66-466a-91b1-c2053af931ec" providerId="ADAL" clId="{CF8D0D42-B259-4FE6-BC22-7C3B4F406405}" dt="2025-08-25T07:51:13.276" v="128" actId="14100"/>
          <ac:spMkLst>
            <pc:docMk/>
            <pc:sldMk cId="3684403986" sldId="372"/>
            <ac:spMk id="6" creationId="{034AD6FD-41BE-47F3-70E1-1A0CB9900415}"/>
          </ac:spMkLst>
        </pc:spChg>
        <pc:spChg chg="add mod">
          <ac:chgData name="Kagame Fred" userId="63910e53-0d66-466a-91b1-c2053af931ec" providerId="ADAL" clId="{CF8D0D42-B259-4FE6-BC22-7C3B4F406405}" dt="2025-08-25T07:59:02.326" v="141" actId="1076"/>
          <ac:spMkLst>
            <pc:docMk/>
            <pc:sldMk cId="3684403986" sldId="372"/>
            <ac:spMk id="8" creationId="{487D361B-CA9A-D322-A652-2CA31B97BD2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0B9964-7AB5-49A3-A8AD-D9257164E740}" type="datetimeFigureOut">
              <a:rPr lang="en-US" smtClean="0"/>
              <a:t>8/25/2025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37A52D-B9B8-426D-98C9-248F3AE2763B}"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7465"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711200" y="3228536"/>
            <a:ext cx="10472928" cy="1752600"/>
          </a:xfrm>
        </p:spPr>
        <p:txBody>
          <a:bodyPr lIns="0" rIns="18288"/>
          <a:lstStyle>
            <a:lvl1pPr marL="0" marR="60960" indent="0" algn="r">
              <a:buNone/>
              <a:defRPr>
                <a:solidFill>
                  <a:schemeClr val="tx1"/>
                </a:solidFill>
              </a:defRPr>
            </a:lvl1pPr>
            <a:lvl2pPr marL="609600" indent="0" algn="ctr">
              <a:buNone/>
            </a:lvl2pPr>
            <a:lvl3pPr marL="1219200" indent="0" algn="ctr">
              <a:buNone/>
            </a:lvl3pPr>
            <a:lvl4pPr marL="1828800" indent="0" algn="ctr">
              <a:buNone/>
            </a:lvl4pPr>
            <a:lvl5pPr marL="2438400" indent="0" algn="ctr">
              <a:buNone/>
            </a:lvl5pPr>
            <a:lvl6pPr marL="3048000" indent="0" algn="ctr">
              <a:buNone/>
            </a:lvl6pPr>
            <a:lvl7pPr marL="3657600" indent="0" algn="ctr">
              <a:buNone/>
            </a:lvl7pPr>
            <a:lvl8pPr marL="4267200" indent="0" algn="ctr">
              <a:buNone/>
            </a:lvl8pPr>
            <a:lvl9pPr marL="48768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pPr defTabSz="609600"/>
            <a:fld id="{443AC920-E074-4009-A1F4-FE25EA20E957}" type="datetime1">
              <a:rPr lang="en-US" smtClean="0">
                <a:solidFill>
                  <a:srgbClr val="DBF5F9">
                    <a:shade val="90000"/>
                  </a:srgbClr>
                </a:solidFill>
              </a:rPr>
              <a:t>8/25/2025</a:t>
            </a:fld>
            <a:endParaRPr lang="en-IN">
              <a:solidFill>
                <a:srgbClr val="DBF5F9">
                  <a:shade val="90000"/>
                </a:srgbClr>
              </a:solidFill>
            </a:endParaRPr>
          </a:p>
        </p:txBody>
      </p:sp>
      <p:sp>
        <p:nvSpPr>
          <p:cNvPr id="19" name="Footer Placeholder 18"/>
          <p:cNvSpPr>
            <a:spLocks noGrp="1"/>
          </p:cNvSpPr>
          <p:nvPr>
            <p:ph type="ftr" sz="quarter" idx="11"/>
          </p:nvPr>
        </p:nvSpPr>
        <p:spPr/>
        <p:txBody>
          <a:bodyPr/>
          <a:lstStyle/>
          <a:p>
            <a:pPr defTabSz="609600"/>
            <a:r>
              <a:rPr lang="en-IN"/>
              <a:t>LABOR FOR THE FUTURE</a:t>
            </a:r>
          </a:p>
        </p:txBody>
      </p:sp>
      <p:sp>
        <p:nvSpPr>
          <p:cNvPr id="27" name="Slide Number Placeholder 26"/>
          <p:cNvSpPr>
            <a:spLocks noGrp="1"/>
          </p:cNvSpPr>
          <p:nvPr>
            <p:ph type="sldNum" sz="quarter" idx="12"/>
          </p:nvPr>
        </p:nvSpPr>
        <p:spPr/>
        <p:txBody>
          <a:bodyPr/>
          <a:lstStyle/>
          <a:p>
            <a:pPr defTabSz="609600"/>
            <a:fld id="{9E224A48-D563-475F-90A0-E252177D5923}" type="slidenum">
              <a:rPr lang="en-IN" smtClean="0">
                <a:solidFill>
                  <a:srgbClr val="DBF5F9">
                    <a:shade val="90000"/>
                  </a:srgbClr>
                </a:solidFill>
              </a:rPr>
              <a:t>‹#›</a:t>
            </a:fld>
            <a:endParaRPr lang="en-IN">
              <a:solidFill>
                <a:srgbClr val="DBF5F9">
                  <a:shade val="90000"/>
                </a:srgbClr>
              </a:solidFill>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defTabSz="609600"/>
            <a:fld id="{22787D6F-A480-4ED7-9FFB-3FD4B659DD5E}" type="datetime1">
              <a:rPr lang="en-US" smtClean="0">
                <a:solidFill>
                  <a:srgbClr val="04617B">
                    <a:shade val="90000"/>
                  </a:srgbClr>
                </a:solidFill>
              </a:rPr>
              <a:t>8/25/2025</a:t>
            </a:fld>
            <a:endParaRPr lang="en-IN">
              <a:solidFill>
                <a:srgbClr val="04617B">
                  <a:shade val="90000"/>
                </a:srgbClr>
              </a:solidFill>
            </a:endParaRPr>
          </a:p>
        </p:txBody>
      </p:sp>
      <p:sp>
        <p:nvSpPr>
          <p:cNvPr id="5" name="Footer Placeholder 4"/>
          <p:cNvSpPr>
            <a:spLocks noGrp="1"/>
          </p:cNvSpPr>
          <p:nvPr>
            <p:ph type="ftr" sz="quarter" idx="11"/>
          </p:nvPr>
        </p:nvSpPr>
        <p:spPr/>
        <p:txBody>
          <a:bodyPr/>
          <a:lstStyle/>
          <a:p>
            <a:pPr defTabSz="609600"/>
            <a:r>
              <a:rPr lang="en-IN"/>
              <a:t>LABOR FOR THE FUTURE</a:t>
            </a:r>
          </a:p>
        </p:txBody>
      </p:sp>
      <p:sp>
        <p:nvSpPr>
          <p:cNvPr id="6" name="Slide Number Placeholder 5"/>
          <p:cNvSpPr>
            <a:spLocks noGrp="1"/>
          </p:cNvSpPr>
          <p:nvPr>
            <p:ph type="sldNum" sz="quarter" idx="12"/>
          </p:nvPr>
        </p:nvSpPr>
        <p:spPr/>
        <p:txBody>
          <a:bodyPr/>
          <a:lstStyle/>
          <a:p>
            <a:pPr defTabSz="609600"/>
            <a:fld id="{9E224A48-D563-475F-90A0-E252177D5923}" type="slidenum">
              <a:rPr lang="en-IN" smtClean="0">
                <a:solidFill>
                  <a:srgbClr val="04617B">
                    <a:shade val="90000"/>
                  </a:srgbClr>
                </a:solidFill>
              </a:rPr>
              <a:t>‹#›</a:t>
            </a:fld>
            <a:endParaRPr lang="en-IN">
              <a:solidFill>
                <a:srgbClr val="04617B">
                  <a:shade val="90000"/>
                </a:srgb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7465"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707136" y="2704664"/>
            <a:ext cx="10363200" cy="1509712"/>
          </a:xfrm>
        </p:spPr>
        <p:txBody>
          <a:bodyPr lIns="45720" rIns="45720" anchor="t"/>
          <a:lstStyle>
            <a:lvl1pPr marL="0" indent="0">
              <a:buNone/>
              <a:defRPr sz="2935">
                <a:solidFill>
                  <a:schemeClr val="tx1"/>
                </a:solidFill>
              </a:defRPr>
            </a:lvl1pPr>
            <a:lvl2pPr>
              <a:buNone/>
              <a:defRPr sz="2400">
                <a:solidFill>
                  <a:schemeClr val="tx1">
                    <a:tint val="75000"/>
                  </a:schemeClr>
                </a:solidFill>
              </a:defRPr>
            </a:lvl2pPr>
            <a:lvl3pPr>
              <a:buNone/>
              <a:defRPr sz="2135">
                <a:solidFill>
                  <a:schemeClr val="tx1">
                    <a:tint val="75000"/>
                  </a:schemeClr>
                </a:solidFill>
              </a:defRPr>
            </a:lvl3pPr>
            <a:lvl4pPr>
              <a:buNone/>
              <a:defRPr sz="1865">
                <a:solidFill>
                  <a:schemeClr val="tx1">
                    <a:tint val="75000"/>
                  </a:schemeClr>
                </a:solidFill>
              </a:defRPr>
            </a:lvl4pPr>
            <a:lvl5pPr>
              <a:buNone/>
              <a:defRPr sz="1865">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pPr defTabSz="609600"/>
            <a:fld id="{907449E6-859F-4191-98FD-AFBF6EA6A811}" type="datetime1">
              <a:rPr lang="en-US" smtClean="0">
                <a:solidFill>
                  <a:srgbClr val="DBF5F9">
                    <a:shade val="90000"/>
                  </a:srgbClr>
                </a:solidFill>
              </a:rPr>
              <a:t>8/25/2025</a:t>
            </a:fld>
            <a:endParaRPr lang="en-IN">
              <a:solidFill>
                <a:srgbClr val="DBF5F9">
                  <a:shade val="90000"/>
                </a:srgbClr>
              </a:solidFill>
            </a:endParaRPr>
          </a:p>
        </p:txBody>
      </p:sp>
      <p:sp>
        <p:nvSpPr>
          <p:cNvPr id="5" name="Footer Placeholder 4"/>
          <p:cNvSpPr>
            <a:spLocks noGrp="1"/>
          </p:cNvSpPr>
          <p:nvPr>
            <p:ph type="ftr" sz="quarter" idx="11"/>
          </p:nvPr>
        </p:nvSpPr>
        <p:spPr/>
        <p:txBody>
          <a:bodyPr/>
          <a:lstStyle/>
          <a:p>
            <a:pPr defTabSz="609600"/>
            <a:r>
              <a:rPr lang="en-IN"/>
              <a:t>LABOR FOR THE FUTURE</a:t>
            </a:r>
            <a:endParaRPr lang="en-IN" dirty="0"/>
          </a:p>
        </p:txBody>
      </p:sp>
      <p:sp>
        <p:nvSpPr>
          <p:cNvPr id="6" name="Slide Number Placeholder 5"/>
          <p:cNvSpPr>
            <a:spLocks noGrp="1"/>
          </p:cNvSpPr>
          <p:nvPr>
            <p:ph type="sldNum" sz="quarter" idx="12"/>
          </p:nvPr>
        </p:nvSpPr>
        <p:spPr/>
        <p:txBody>
          <a:bodyPr/>
          <a:lstStyle/>
          <a:p>
            <a:pPr defTabSz="609600"/>
            <a:fld id="{9E224A48-D563-475F-90A0-E252177D5923}" type="slidenum">
              <a:rPr lang="en-IN" smtClean="0">
                <a:solidFill>
                  <a:srgbClr val="DBF5F9">
                    <a:shade val="90000"/>
                  </a:srgbClr>
                </a:solidFill>
              </a:rPr>
              <a:t>‹#›</a:t>
            </a:fld>
            <a:endParaRPr lang="en-IN">
              <a:solidFill>
                <a:srgbClr val="DBF5F9">
                  <a:shade val="90000"/>
                </a:srgbClr>
              </a:solidFill>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kumimoji="0" lang="en-US"/>
              <a:t>Click to edit Master title style</a:t>
            </a:r>
          </a:p>
        </p:txBody>
      </p:sp>
      <p:sp>
        <p:nvSpPr>
          <p:cNvPr id="3" name="Content Placeholder 2"/>
          <p:cNvSpPr>
            <a:spLocks noGrp="1"/>
          </p:cNvSpPr>
          <p:nvPr>
            <p:ph sz="half" idx="1"/>
          </p:nvPr>
        </p:nvSpPr>
        <p:spPr>
          <a:xfrm>
            <a:off x="609600" y="1920085"/>
            <a:ext cx="5384800" cy="4434840"/>
          </a:xfrm>
        </p:spPr>
        <p:txBody>
          <a:bodyPr/>
          <a:lstStyle>
            <a:lvl1pPr>
              <a:defRPr sz="3465"/>
            </a:lvl1pPr>
            <a:lvl2pPr>
              <a:defRPr sz="3200"/>
            </a:lvl2pPr>
            <a:lvl3pPr>
              <a:defRPr sz="2665"/>
            </a:lvl3pPr>
            <a:lvl4pPr>
              <a:defRPr sz="2400"/>
            </a:lvl4pPr>
            <a:lvl5pPr>
              <a:defRPr sz="24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197600" y="1920085"/>
            <a:ext cx="5384800" cy="4434840"/>
          </a:xfrm>
        </p:spPr>
        <p:txBody>
          <a:bodyPr/>
          <a:lstStyle>
            <a:lvl1pPr>
              <a:defRPr sz="3465"/>
            </a:lvl1pPr>
            <a:lvl2pPr>
              <a:defRPr sz="3200"/>
            </a:lvl2pPr>
            <a:lvl3pPr>
              <a:defRPr sz="2665"/>
            </a:lvl3pPr>
            <a:lvl4pPr>
              <a:defRPr sz="2400"/>
            </a:lvl4pPr>
            <a:lvl5pPr>
              <a:defRPr sz="24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defTabSz="609600"/>
            <a:fld id="{B67062A2-00AB-4222-9147-3268455B08A0}" type="datetime1">
              <a:rPr lang="en-US" smtClean="0">
                <a:solidFill>
                  <a:srgbClr val="04617B">
                    <a:shade val="90000"/>
                  </a:srgbClr>
                </a:solidFill>
              </a:rPr>
              <a:t>8/25/2025</a:t>
            </a:fld>
            <a:endParaRPr lang="en-IN">
              <a:solidFill>
                <a:srgbClr val="04617B">
                  <a:shade val="90000"/>
                </a:srgbClr>
              </a:solidFill>
            </a:endParaRPr>
          </a:p>
        </p:txBody>
      </p:sp>
      <p:sp>
        <p:nvSpPr>
          <p:cNvPr id="6" name="Footer Placeholder 5"/>
          <p:cNvSpPr>
            <a:spLocks noGrp="1"/>
          </p:cNvSpPr>
          <p:nvPr>
            <p:ph type="ftr" sz="quarter" idx="11"/>
          </p:nvPr>
        </p:nvSpPr>
        <p:spPr/>
        <p:txBody>
          <a:bodyPr/>
          <a:lstStyle/>
          <a:p>
            <a:pPr defTabSz="609600"/>
            <a:r>
              <a:rPr lang="en-IN"/>
              <a:t>LABOR FOR THE FUTURE</a:t>
            </a:r>
          </a:p>
        </p:txBody>
      </p:sp>
      <p:sp>
        <p:nvSpPr>
          <p:cNvPr id="7" name="Slide Number Placeholder 6"/>
          <p:cNvSpPr>
            <a:spLocks noGrp="1"/>
          </p:cNvSpPr>
          <p:nvPr>
            <p:ph type="sldNum" sz="quarter" idx="12"/>
          </p:nvPr>
        </p:nvSpPr>
        <p:spPr/>
        <p:txBody>
          <a:bodyPr/>
          <a:lstStyle/>
          <a:p>
            <a:pPr defTabSz="609600"/>
            <a:fld id="{9E224A48-D563-475F-90A0-E252177D5923}" type="slidenum">
              <a:rPr lang="en-IN" smtClean="0">
                <a:solidFill>
                  <a:srgbClr val="04617B">
                    <a:shade val="90000"/>
                  </a:srgbClr>
                </a:solidFill>
              </a:rPr>
              <a:t>‹#›</a:t>
            </a:fld>
            <a:endParaRPr lang="en-IN">
              <a:solidFill>
                <a:srgbClr val="04617B">
                  <a:shade val="90000"/>
                </a:srgb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3200" b="1" cap="none" baseline="0">
                <a:solidFill>
                  <a:schemeClr val="tx2"/>
                </a:solidFill>
                <a:effectLst/>
              </a:defRPr>
            </a:lvl1pPr>
            <a:lvl2pPr>
              <a:buNone/>
              <a:defRPr sz="2665" b="1"/>
            </a:lvl2pPr>
            <a:lvl3pPr>
              <a:buNone/>
              <a:defRPr sz="2400" b="1"/>
            </a:lvl3pPr>
            <a:lvl4pPr>
              <a:buNone/>
              <a:defRPr sz="2135" b="1"/>
            </a:lvl4pPr>
            <a:lvl5pPr>
              <a:buNone/>
              <a:defRPr sz="2135"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9" y="1859757"/>
            <a:ext cx="5389033" cy="654843"/>
          </a:xfrm>
        </p:spPr>
        <p:txBody>
          <a:bodyPr lIns="45720" tIns="0" rIns="45720" bIns="0" anchor="ctr"/>
          <a:lstStyle>
            <a:lvl1pPr marL="0" indent="0">
              <a:buNone/>
              <a:defRPr sz="3200" b="1" cap="none" baseline="0">
                <a:solidFill>
                  <a:schemeClr val="tx2"/>
                </a:solidFill>
                <a:effectLst/>
              </a:defRPr>
            </a:lvl1pPr>
            <a:lvl2pPr>
              <a:buNone/>
              <a:defRPr sz="2665" b="1"/>
            </a:lvl2pPr>
            <a:lvl3pPr>
              <a:buNone/>
              <a:defRPr sz="2400" b="1"/>
            </a:lvl3pPr>
            <a:lvl4pPr>
              <a:buNone/>
              <a:defRPr sz="2135" b="1"/>
            </a:lvl4pPr>
            <a:lvl5pPr>
              <a:buNone/>
              <a:defRPr sz="2135"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935"/>
            </a:lvl1pPr>
            <a:lvl2pPr>
              <a:defRPr sz="2665"/>
            </a:lvl2pPr>
            <a:lvl3pPr>
              <a:defRPr sz="2400"/>
            </a:lvl3pPr>
            <a:lvl4pPr>
              <a:defRPr sz="2135"/>
            </a:lvl4pPr>
            <a:lvl5pPr>
              <a:defRPr sz="2135"/>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9" y="2514600"/>
            <a:ext cx="5389033" cy="3845720"/>
          </a:xfrm>
        </p:spPr>
        <p:txBody>
          <a:bodyPr tIns="0"/>
          <a:lstStyle>
            <a:lvl1pPr>
              <a:defRPr sz="2935"/>
            </a:lvl1pPr>
            <a:lvl2pPr>
              <a:defRPr sz="2665"/>
            </a:lvl2pPr>
            <a:lvl3pPr>
              <a:defRPr sz="2400"/>
            </a:lvl3pPr>
            <a:lvl4pPr>
              <a:defRPr sz="2135"/>
            </a:lvl4pPr>
            <a:lvl5pPr>
              <a:defRPr sz="2135"/>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pPr defTabSz="609600"/>
            <a:fld id="{0AE00C96-A588-4227-80FE-310C38A88E9A}" type="datetime1">
              <a:rPr lang="en-US" smtClean="0">
                <a:solidFill>
                  <a:srgbClr val="04617B">
                    <a:shade val="90000"/>
                  </a:srgbClr>
                </a:solidFill>
              </a:rPr>
              <a:t>8/25/2025</a:t>
            </a:fld>
            <a:endParaRPr lang="en-IN">
              <a:solidFill>
                <a:srgbClr val="04617B">
                  <a:shade val="90000"/>
                </a:srgbClr>
              </a:solidFill>
            </a:endParaRPr>
          </a:p>
        </p:txBody>
      </p:sp>
      <p:sp>
        <p:nvSpPr>
          <p:cNvPr id="8" name="Footer Placeholder 7"/>
          <p:cNvSpPr>
            <a:spLocks noGrp="1"/>
          </p:cNvSpPr>
          <p:nvPr>
            <p:ph type="ftr" sz="quarter" idx="11"/>
          </p:nvPr>
        </p:nvSpPr>
        <p:spPr/>
        <p:txBody>
          <a:bodyPr/>
          <a:lstStyle/>
          <a:p>
            <a:pPr defTabSz="609600"/>
            <a:r>
              <a:rPr lang="en-IN"/>
              <a:t>LABOR FOR THE FUTURE</a:t>
            </a:r>
          </a:p>
        </p:txBody>
      </p:sp>
      <p:sp>
        <p:nvSpPr>
          <p:cNvPr id="9" name="Slide Number Placeholder 8"/>
          <p:cNvSpPr>
            <a:spLocks noGrp="1"/>
          </p:cNvSpPr>
          <p:nvPr>
            <p:ph type="sldNum" sz="quarter" idx="12"/>
          </p:nvPr>
        </p:nvSpPr>
        <p:spPr/>
        <p:txBody>
          <a:bodyPr/>
          <a:lstStyle/>
          <a:p>
            <a:pPr defTabSz="609600"/>
            <a:fld id="{9E224A48-D563-475F-90A0-E252177D5923}" type="slidenum">
              <a:rPr lang="en-IN" smtClean="0">
                <a:solidFill>
                  <a:srgbClr val="04617B">
                    <a:shade val="90000"/>
                  </a:srgbClr>
                </a:solidFill>
              </a:rPr>
              <a:t>‹#›</a:t>
            </a:fld>
            <a:endParaRPr lang="en-IN">
              <a:solidFill>
                <a:srgbClr val="04617B">
                  <a:shade val="90000"/>
                </a:srgb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6665"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pPr defTabSz="609600"/>
            <a:fld id="{72A98631-69D9-44D9-A9F5-155152F1FE4C}" type="datetime1">
              <a:rPr lang="en-US" smtClean="0">
                <a:solidFill>
                  <a:srgbClr val="04617B">
                    <a:shade val="90000"/>
                  </a:srgbClr>
                </a:solidFill>
              </a:rPr>
              <a:t>8/25/2025</a:t>
            </a:fld>
            <a:endParaRPr lang="en-IN">
              <a:solidFill>
                <a:srgbClr val="04617B">
                  <a:shade val="90000"/>
                </a:srgbClr>
              </a:solidFill>
            </a:endParaRPr>
          </a:p>
        </p:txBody>
      </p:sp>
      <p:sp>
        <p:nvSpPr>
          <p:cNvPr id="4" name="Footer Placeholder 3"/>
          <p:cNvSpPr>
            <a:spLocks noGrp="1"/>
          </p:cNvSpPr>
          <p:nvPr>
            <p:ph type="ftr" sz="quarter" idx="11"/>
          </p:nvPr>
        </p:nvSpPr>
        <p:spPr/>
        <p:txBody>
          <a:bodyPr/>
          <a:lstStyle/>
          <a:p>
            <a:pPr defTabSz="609600"/>
            <a:r>
              <a:rPr lang="en-IN"/>
              <a:t>LABOR FOR THE FUTURE</a:t>
            </a:r>
          </a:p>
        </p:txBody>
      </p:sp>
      <p:sp>
        <p:nvSpPr>
          <p:cNvPr id="5" name="Slide Number Placeholder 4"/>
          <p:cNvSpPr>
            <a:spLocks noGrp="1"/>
          </p:cNvSpPr>
          <p:nvPr>
            <p:ph type="sldNum" sz="quarter" idx="12"/>
          </p:nvPr>
        </p:nvSpPr>
        <p:spPr/>
        <p:txBody>
          <a:bodyPr/>
          <a:lstStyle/>
          <a:p>
            <a:pPr defTabSz="609600"/>
            <a:fld id="{9E224A48-D563-475F-90A0-E252177D5923}" type="slidenum">
              <a:rPr lang="en-IN" smtClean="0">
                <a:solidFill>
                  <a:srgbClr val="04617B">
                    <a:shade val="90000"/>
                  </a:srgbClr>
                </a:solidFill>
              </a:rPr>
              <a:t>‹#›</a:t>
            </a:fld>
            <a:endParaRPr lang="en-IN">
              <a:solidFill>
                <a:srgbClr val="04617B">
                  <a:shade val="90000"/>
                </a:srgb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609600"/>
            <a:fld id="{254F3259-2098-4CE8-B0F1-C1DA59644146}" type="datetime1">
              <a:rPr lang="en-US" smtClean="0">
                <a:solidFill>
                  <a:srgbClr val="04617B">
                    <a:shade val="90000"/>
                  </a:srgbClr>
                </a:solidFill>
              </a:rPr>
              <a:t>8/25/2025</a:t>
            </a:fld>
            <a:endParaRPr lang="en-IN">
              <a:solidFill>
                <a:srgbClr val="04617B">
                  <a:shade val="90000"/>
                </a:srgbClr>
              </a:solidFill>
            </a:endParaRPr>
          </a:p>
        </p:txBody>
      </p:sp>
      <p:sp>
        <p:nvSpPr>
          <p:cNvPr id="3" name="Footer Placeholder 2"/>
          <p:cNvSpPr>
            <a:spLocks noGrp="1"/>
          </p:cNvSpPr>
          <p:nvPr>
            <p:ph type="ftr" sz="quarter" idx="11"/>
          </p:nvPr>
        </p:nvSpPr>
        <p:spPr/>
        <p:txBody>
          <a:bodyPr/>
          <a:lstStyle/>
          <a:p>
            <a:pPr defTabSz="609600"/>
            <a:r>
              <a:rPr lang="en-IN"/>
              <a:t>LABOR FOR THE FUTURE</a:t>
            </a:r>
            <a:endParaRPr lang="en-IN" dirty="0"/>
          </a:p>
        </p:txBody>
      </p:sp>
      <p:sp>
        <p:nvSpPr>
          <p:cNvPr id="4" name="Slide Number Placeholder 3"/>
          <p:cNvSpPr>
            <a:spLocks noGrp="1"/>
          </p:cNvSpPr>
          <p:nvPr>
            <p:ph type="sldNum" sz="quarter" idx="12"/>
          </p:nvPr>
        </p:nvSpPr>
        <p:spPr/>
        <p:txBody>
          <a:bodyPr/>
          <a:lstStyle/>
          <a:p>
            <a:pPr defTabSz="609600"/>
            <a:fld id="{9E224A48-D563-475F-90A0-E252177D5923}" type="slidenum">
              <a:rPr lang="en-IN" smtClean="0">
                <a:solidFill>
                  <a:srgbClr val="04617B">
                    <a:shade val="90000"/>
                  </a:srgbClr>
                </a:solidFill>
              </a:rPr>
              <a:t>‹#›</a:t>
            </a:fld>
            <a:endParaRPr lang="en-IN">
              <a:solidFill>
                <a:srgbClr val="04617B">
                  <a:shade val="90000"/>
                </a:srgb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1"/>
          </a:xfrm>
        </p:spPr>
        <p:txBody>
          <a:bodyPr lIns="0" anchor="b">
            <a:noAutofit/>
          </a:bodyPr>
          <a:lstStyle>
            <a:lvl1pPr algn="l" rtl="0">
              <a:spcBef>
                <a:spcPct val="0"/>
              </a:spcBef>
              <a:buNone/>
              <a:defRPr sz="3465"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865"/>
            </a:lvl1pPr>
            <a:lvl2pPr indent="0" algn="l">
              <a:buNone/>
              <a:defRPr sz="1600"/>
            </a:lvl2pPr>
            <a:lvl3pPr indent="0" algn="l">
              <a:buNone/>
              <a:defRPr sz="1335"/>
            </a:lvl3pPr>
            <a:lvl4pPr indent="0" algn="l">
              <a:buNone/>
              <a:defRPr sz="1200"/>
            </a:lvl4pPr>
            <a:lvl5pPr indent="0" algn="l">
              <a:buNone/>
              <a:defRPr sz="12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3735"/>
            </a:lvl1pPr>
            <a:lvl2pPr>
              <a:defRPr sz="3465"/>
            </a:lvl2pPr>
            <a:lvl3pPr>
              <a:defRPr sz="3200"/>
            </a:lvl3pPr>
            <a:lvl4pPr>
              <a:defRPr sz="2665"/>
            </a:lvl4pPr>
            <a:lvl5pPr>
              <a:defRPr sz="24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defTabSz="609600"/>
            <a:fld id="{D9948001-1140-44D8-9A68-725C413778A1}" type="datetime1">
              <a:rPr lang="en-US" smtClean="0">
                <a:solidFill>
                  <a:srgbClr val="04617B">
                    <a:shade val="90000"/>
                  </a:srgbClr>
                </a:solidFill>
              </a:rPr>
              <a:t>8/25/2025</a:t>
            </a:fld>
            <a:endParaRPr lang="en-IN">
              <a:solidFill>
                <a:srgbClr val="04617B">
                  <a:shade val="90000"/>
                </a:srgbClr>
              </a:solidFill>
            </a:endParaRPr>
          </a:p>
        </p:txBody>
      </p:sp>
      <p:sp>
        <p:nvSpPr>
          <p:cNvPr id="6" name="Footer Placeholder 5"/>
          <p:cNvSpPr>
            <a:spLocks noGrp="1"/>
          </p:cNvSpPr>
          <p:nvPr>
            <p:ph type="ftr" sz="quarter" idx="11"/>
          </p:nvPr>
        </p:nvSpPr>
        <p:spPr/>
        <p:txBody>
          <a:bodyPr/>
          <a:lstStyle/>
          <a:p>
            <a:pPr defTabSz="609600"/>
            <a:r>
              <a:rPr lang="en-IN"/>
              <a:t>LABOR FOR THE FUTURE</a:t>
            </a:r>
          </a:p>
        </p:txBody>
      </p:sp>
      <p:sp>
        <p:nvSpPr>
          <p:cNvPr id="7" name="Slide Number Placeholder 6"/>
          <p:cNvSpPr>
            <a:spLocks noGrp="1"/>
          </p:cNvSpPr>
          <p:nvPr>
            <p:ph type="sldNum" sz="quarter" idx="12"/>
          </p:nvPr>
        </p:nvSpPr>
        <p:spPr/>
        <p:txBody>
          <a:bodyPr/>
          <a:lstStyle/>
          <a:p>
            <a:pPr defTabSz="609600"/>
            <a:fld id="{9E224A48-D563-475F-90A0-E252177D5923}" type="slidenum">
              <a:rPr lang="en-IN" smtClean="0">
                <a:solidFill>
                  <a:srgbClr val="04617B">
                    <a:shade val="90000"/>
                  </a:srgbClr>
                </a:solidFill>
              </a:rPr>
              <a:t>‹#›</a:t>
            </a:fld>
            <a:endParaRPr lang="en-IN">
              <a:solidFill>
                <a:srgbClr val="04617B">
                  <a:shade val="90000"/>
                </a:srgb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4221004" y="1108077"/>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marL="0" marR="0" lvl="0" indent="0" algn="ctr" defTabSz="6096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white"/>
              </a:solidFill>
              <a:effectLst/>
              <a:uLnTx/>
              <a:uFillTx/>
              <a:latin typeface="Constantia" panose="02030602050306030303"/>
              <a:ea typeface="+mn-ea"/>
              <a:cs typeface="+mn-cs"/>
            </a:endParaRPr>
          </a:p>
        </p:txBody>
      </p:sp>
      <p:sp>
        <p:nvSpPr>
          <p:cNvPr id="12" name="Right Triangle 11"/>
          <p:cNvSpPr/>
          <p:nvPr/>
        </p:nvSpPr>
        <p:spPr>
          <a:xfrm rot="420000" flipV="1">
            <a:off x="10672179" y="5359769"/>
            <a:ext cx="207264"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marL="0" marR="0" lvl="0" indent="0" algn="ctr" defTabSz="6096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white"/>
              </a:solidFill>
              <a:effectLst/>
              <a:uLnTx/>
              <a:uFillTx/>
              <a:latin typeface="Constantia" panose="02030602050306030303"/>
              <a:ea typeface="+mn-ea"/>
              <a:cs typeface="+mn-cs"/>
            </a:endParaRPr>
          </a:p>
        </p:txBody>
      </p:sp>
      <p:sp>
        <p:nvSpPr>
          <p:cNvPr id="2" name="Title 1"/>
          <p:cNvSpPr>
            <a:spLocks noGrp="1"/>
          </p:cNvSpPr>
          <p:nvPr>
            <p:ph type="title"/>
          </p:nvPr>
        </p:nvSpPr>
        <p:spPr>
          <a:xfrm>
            <a:off x="812800" y="1176996"/>
            <a:ext cx="2950464" cy="1582621"/>
          </a:xfrm>
        </p:spPr>
        <p:txBody>
          <a:bodyPr vert="horz" lIns="45720" tIns="45720" rIns="45720" bIns="45720" anchor="b"/>
          <a:lstStyle>
            <a:lvl1pPr algn="l">
              <a:buNone/>
              <a:defRPr sz="2665"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812800" y="2828785"/>
            <a:ext cx="2946400" cy="2179320"/>
          </a:xfrm>
        </p:spPr>
        <p:txBody>
          <a:bodyPr lIns="64008" rIns="45720" bIns="45720" anchor="t"/>
          <a:lstStyle>
            <a:lvl1pPr marL="0" indent="0" algn="l">
              <a:spcBef>
                <a:spcPts val="335"/>
              </a:spcBef>
              <a:buFontTx/>
              <a:buNone/>
              <a:defRPr sz="1735"/>
            </a:lvl1pPr>
            <a:lvl2pPr>
              <a:defRPr sz="1600"/>
            </a:lvl2pPr>
            <a:lvl3pPr>
              <a:defRPr sz="1335"/>
            </a:lvl3pPr>
            <a:lvl4pPr>
              <a:defRPr sz="1200"/>
            </a:lvl4pPr>
            <a:lvl5pPr>
              <a:defRPr sz="12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defTabSz="609600"/>
            <a:fld id="{32431FE4-DB0C-413A-B9F7-33D9A8782385}" type="datetime1">
              <a:rPr lang="en-US" smtClean="0">
                <a:solidFill>
                  <a:srgbClr val="04617B">
                    <a:shade val="90000"/>
                  </a:srgbClr>
                </a:solidFill>
              </a:rPr>
              <a:t>8/25/2025</a:t>
            </a:fld>
            <a:endParaRPr lang="en-IN">
              <a:solidFill>
                <a:srgbClr val="04617B">
                  <a:shade val="90000"/>
                </a:srgbClr>
              </a:solidFill>
            </a:endParaRPr>
          </a:p>
        </p:txBody>
      </p:sp>
      <p:sp>
        <p:nvSpPr>
          <p:cNvPr id="6" name="Footer Placeholder 5"/>
          <p:cNvSpPr>
            <a:spLocks noGrp="1"/>
          </p:cNvSpPr>
          <p:nvPr>
            <p:ph type="ftr" sz="quarter" idx="11"/>
          </p:nvPr>
        </p:nvSpPr>
        <p:spPr/>
        <p:txBody>
          <a:bodyPr/>
          <a:lstStyle/>
          <a:p>
            <a:pPr defTabSz="609600"/>
            <a:r>
              <a:rPr lang="en-IN"/>
              <a:t>LABOR FOR THE FUTURE</a:t>
            </a:r>
          </a:p>
        </p:txBody>
      </p:sp>
      <p:sp>
        <p:nvSpPr>
          <p:cNvPr id="7" name="Slide Number Placeholder 6"/>
          <p:cNvSpPr>
            <a:spLocks noGrp="1"/>
          </p:cNvSpPr>
          <p:nvPr>
            <p:ph type="sldNum" sz="quarter" idx="12"/>
          </p:nvPr>
        </p:nvSpPr>
        <p:spPr>
          <a:xfrm>
            <a:off x="10769600" y="6356351"/>
            <a:ext cx="812800" cy="365125"/>
          </a:xfrm>
        </p:spPr>
        <p:txBody>
          <a:bodyPr/>
          <a:lstStyle/>
          <a:p>
            <a:pPr defTabSz="609600"/>
            <a:fld id="{9E224A48-D563-475F-90A0-E252177D5923}" type="slidenum">
              <a:rPr lang="en-IN" smtClean="0">
                <a:solidFill>
                  <a:srgbClr val="04617B">
                    <a:shade val="90000"/>
                  </a:srgbClr>
                </a:solidFill>
              </a:rPr>
              <a:t>‹#›</a:t>
            </a:fld>
            <a:endParaRPr lang="en-IN">
              <a:solidFill>
                <a:srgbClr val="04617B">
                  <a:shade val="90000"/>
                </a:srgbClr>
              </a:solidFill>
            </a:endParaRPr>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lstStyle>
            <a:lvl1pPr marL="0" indent="0">
              <a:buNone/>
              <a:defRPr sz="4265"/>
            </a:lvl1pPr>
          </a:lstStyle>
          <a:p>
            <a:r>
              <a:rPr kumimoji="0" lang="en-US"/>
              <a:t>Click icon to add picture</a:t>
            </a:r>
            <a:endParaRPr kumimoji="0" lang="en-US" dirty="0"/>
          </a:p>
        </p:txBody>
      </p:sp>
      <p:sp>
        <p:nvSpPr>
          <p:cNvPr id="10" name="Freeform 9"/>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121920" tIns="60960" rIns="121920" bIns="60960" anchor="t" compatLnSpc="1"/>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latin typeface="Constantia" panose="02030602050306030303"/>
              <a:ea typeface="+mn-ea"/>
              <a:cs typeface="+mn-cs"/>
            </a:endParaRPr>
          </a:p>
        </p:txBody>
      </p:sp>
      <p:sp>
        <p:nvSpPr>
          <p:cNvPr id="11" name="Freeform 10"/>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121920" tIns="60960" rIns="121920" bIns="60960" anchor="t" compatLnSpc="1"/>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latin typeface="Constantia" panose="02030602050306030303"/>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defTabSz="609600"/>
            <a:fld id="{59192789-1A0A-43B5-922F-6FFD9B9AA87B}" type="datetime1">
              <a:rPr lang="en-US" smtClean="0">
                <a:solidFill>
                  <a:srgbClr val="04617B">
                    <a:shade val="90000"/>
                  </a:srgbClr>
                </a:solidFill>
              </a:rPr>
              <a:t>8/25/2025</a:t>
            </a:fld>
            <a:endParaRPr lang="en-IN">
              <a:solidFill>
                <a:srgbClr val="04617B">
                  <a:shade val="90000"/>
                </a:srgbClr>
              </a:solidFill>
            </a:endParaRPr>
          </a:p>
        </p:txBody>
      </p:sp>
      <p:sp>
        <p:nvSpPr>
          <p:cNvPr id="5" name="Footer Placeholder 4"/>
          <p:cNvSpPr>
            <a:spLocks noGrp="1"/>
          </p:cNvSpPr>
          <p:nvPr>
            <p:ph type="ftr" sz="quarter" idx="11"/>
          </p:nvPr>
        </p:nvSpPr>
        <p:spPr/>
        <p:txBody>
          <a:bodyPr/>
          <a:lstStyle/>
          <a:p>
            <a:pPr defTabSz="609600"/>
            <a:r>
              <a:rPr lang="en-IN"/>
              <a:t>LABOR FOR THE FUTURE</a:t>
            </a:r>
          </a:p>
        </p:txBody>
      </p:sp>
      <p:sp>
        <p:nvSpPr>
          <p:cNvPr id="6" name="Slide Number Placeholder 5"/>
          <p:cNvSpPr>
            <a:spLocks noGrp="1"/>
          </p:cNvSpPr>
          <p:nvPr>
            <p:ph type="sldNum" sz="quarter" idx="12"/>
          </p:nvPr>
        </p:nvSpPr>
        <p:spPr/>
        <p:txBody>
          <a:bodyPr/>
          <a:lstStyle/>
          <a:p>
            <a:pPr defTabSz="609600"/>
            <a:fld id="{9E224A48-D563-475F-90A0-E252177D5923}" type="slidenum">
              <a:rPr lang="en-IN" smtClean="0">
                <a:solidFill>
                  <a:srgbClr val="04617B">
                    <a:shade val="90000"/>
                  </a:srgbClr>
                </a:solidFill>
              </a:rPr>
              <a:t>‹#›</a:t>
            </a:fld>
            <a:endParaRPr lang="en-IN">
              <a:solidFill>
                <a:srgbClr val="04617B">
                  <a:shade val="90000"/>
                </a:srgb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1"/>
            <a:ext cx="27432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914401"/>
            <a:ext cx="80264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defTabSz="609600"/>
            <a:fld id="{76AC428A-35CA-4909-9A31-423F20CFFFEE}" type="datetime1">
              <a:rPr lang="en-US" smtClean="0">
                <a:solidFill>
                  <a:srgbClr val="04617B">
                    <a:shade val="90000"/>
                  </a:srgbClr>
                </a:solidFill>
              </a:rPr>
              <a:t>8/25/2025</a:t>
            </a:fld>
            <a:endParaRPr lang="en-IN">
              <a:solidFill>
                <a:srgbClr val="04617B">
                  <a:shade val="90000"/>
                </a:srgbClr>
              </a:solidFill>
            </a:endParaRPr>
          </a:p>
        </p:txBody>
      </p:sp>
      <p:sp>
        <p:nvSpPr>
          <p:cNvPr id="5" name="Footer Placeholder 4"/>
          <p:cNvSpPr>
            <a:spLocks noGrp="1"/>
          </p:cNvSpPr>
          <p:nvPr>
            <p:ph type="ftr" sz="quarter" idx="11"/>
          </p:nvPr>
        </p:nvSpPr>
        <p:spPr/>
        <p:txBody>
          <a:bodyPr/>
          <a:lstStyle/>
          <a:p>
            <a:pPr defTabSz="609600"/>
            <a:r>
              <a:rPr lang="en-IN"/>
              <a:t>LABOR FOR THE FUTURE</a:t>
            </a:r>
          </a:p>
        </p:txBody>
      </p:sp>
      <p:sp>
        <p:nvSpPr>
          <p:cNvPr id="6" name="Slide Number Placeholder 5"/>
          <p:cNvSpPr>
            <a:spLocks noGrp="1"/>
          </p:cNvSpPr>
          <p:nvPr>
            <p:ph type="sldNum" sz="quarter" idx="12"/>
          </p:nvPr>
        </p:nvSpPr>
        <p:spPr/>
        <p:txBody>
          <a:bodyPr/>
          <a:lstStyle/>
          <a:p>
            <a:pPr defTabSz="609600"/>
            <a:fld id="{9E224A48-D563-475F-90A0-E252177D5923}" type="slidenum">
              <a:rPr lang="en-IN" smtClean="0">
                <a:solidFill>
                  <a:srgbClr val="04617B">
                    <a:shade val="90000"/>
                  </a:srgbClr>
                </a:solidFill>
              </a:rPr>
              <a:t>‹#›</a:t>
            </a:fld>
            <a:endParaRPr lang="en-IN">
              <a:solidFill>
                <a:srgbClr val="04617B">
                  <a:shade val="90000"/>
                </a:srgb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p:nvPr/>
        </p:nvSpPr>
        <p:spPr bwMode="auto">
          <a:xfrm>
            <a:off x="-12700" y="-7144"/>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121920" tIns="60960" rIns="121920" bIns="60960" anchor="t" compatLnSpc="1"/>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latin typeface="Constantia" panose="02030602050306030303"/>
              <a:ea typeface="+mn-ea"/>
              <a:cs typeface="+mn-cs"/>
            </a:endParaRPr>
          </a:p>
        </p:txBody>
      </p:sp>
      <p:sp>
        <p:nvSpPr>
          <p:cNvPr id="8" name="Freeform 7"/>
          <p:cNvSpPr/>
          <p:nvPr/>
        </p:nvSpPr>
        <p:spPr bwMode="auto">
          <a:xfrm>
            <a:off x="5842000" y="-7144"/>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121920" tIns="60960" rIns="121920" bIns="60960" anchor="t" compatLnSpc="1"/>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latin typeface="Constantia" panose="02030602050306030303"/>
              <a:ea typeface="+mn-ea"/>
              <a:cs typeface="+mn-cs"/>
            </a:endParaRPr>
          </a:p>
        </p:txBody>
      </p:sp>
      <p:sp>
        <p:nvSpPr>
          <p:cNvPr id="9" name="Title Placeholder 8"/>
          <p:cNvSpPr>
            <a:spLocks noGrp="1"/>
          </p:cNvSpPr>
          <p:nvPr>
            <p:ph type="title"/>
          </p:nvPr>
        </p:nvSpPr>
        <p:spPr>
          <a:xfrm>
            <a:off x="609600" y="704088"/>
            <a:ext cx="109728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609600" y="1935480"/>
            <a:ext cx="10972800" cy="4389120"/>
          </a:xfrm>
          <a:prstGeom prst="rect">
            <a:avLst/>
          </a:prstGeom>
        </p:spPr>
        <p:txBody>
          <a:bodyPr vert="horz">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10" name="Date Placeholder 9"/>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600">
                <a:solidFill>
                  <a:schemeClr val="tx2">
                    <a:shade val="90000"/>
                  </a:schemeClr>
                </a:solidFill>
              </a:defRPr>
            </a:lvl1pPr>
          </a:lstStyle>
          <a:p>
            <a:pPr defTabSz="609600"/>
            <a:fld id="{F904262F-6C5F-49A3-932C-23CBFB3ABB43}" type="datetime1">
              <a:rPr lang="en-US" smtClean="0">
                <a:solidFill>
                  <a:srgbClr val="04617B">
                    <a:shade val="90000"/>
                  </a:srgbClr>
                </a:solidFill>
              </a:rPr>
              <a:t>8/25/2025</a:t>
            </a:fld>
            <a:endParaRPr lang="en-IN">
              <a:solidFill>
                <a:srgbClr val="04617B">
                  <a:shade val="90000"/>
                </a:srgbClr>
              </a:solidFill>
            </a:endParaRPr>
          </a:p>
        </p:txBody>
      </p:sp>
      <p:sp>
        <p:nvSpPr>
          <p:cNvPr id="22" name="Footer Placeholder 21"/>
          <p:cNvSpPr>
            <a:spLocks noGrp="1"/>
          </p:cNvSpPr>
          <p:nvPr>
            <p:ph type="ftr" sz="quarter" idx="3"/>
          </p:nvPr>
        </p:nvSpPr>
        <p:spPr>
          <a:xfrm>
            <a:off x="10224459" y="6309320"/>
            <a:ext cx="1967541" cy="365125"/>
          </a:xfrm>
          <a:prstGeom prst="rect">
            <a:avLst/>
          </a:prstGeom>
        </p:spPr>
        <p:txBody>
          <a:bodyPr vert="horz" lIns="0" tIns="0" rIns="0" bIns="0" anchor="b"/>
          <a:lstStyle>
            <a:lvl1pPr algn="l" eaLnBrk="1" latinLnBrk="0" hangingPunct="1">
              <a:defRPr kumimoji="0" sz="1065" b="1" i="1">
                <a:solidFill>
                  <a:srgbClr val="C00000"/>
                </a:solidFill>
                <a:latin typeface="Arial Black" panose="020B0A04020102020204" pitchFamily="34" charset="0"/>
              </a:defRPr>
            </a:lvl1pPr>
          </a:lstStyle>
          <a:p>
            <a:pPr defTabSz="609600"/>
            <a:r>
              <a:rPr lang="en-IN"/>
              <a:t>LABOR FOR THE FUTURE</a:t>
            </a:r>
            <a:endParaRPr lang="en-IN" dirty="0"/>
          </a:p>
        </p:txBody>
      </p:sp>
      <p:sp>
        <p:nvSpPr>
          <p:cNvPr id="18" name="Slide Number Placeholder 17"/>
          <p:cNvSpPr>
            <a:spLocks noGrp="1"/>
          </p:cNvSpPr>
          <p:nvPr>
            <p:ph type="sldNum" sz="quarter" idx="4"/>
          </p:nvPr>
        </p:nvSpPr>
        <p:spPr>
          <a:xfrm>
            <a:off x="10566400" y="6356351"/>
            <a:ext cx="1016000" cy="365125"/>
          </a:xfrm>
          <a:prstGeom prst="rect">
            <a:avLst/>
          </a:prstGeom>
        </p:spPr>
        <p:txBody>
          <a:bodyPr vert="horz" lIns="0" tIns="0" rIns="0" bIns="0" anchor="b"/>
          <a:lstStyle>
            <a:lvl1pPr algn="r" eaLnBrk="1" latinLnBrk="0" hangingPunct="1">
              <a:defRPr kumimoji="0" sz="1600">
                <a:solidFill>
                  <a:schemeClr val="tx2">
                    <a:shade val="90000"/>
                  </a:schemeClr>
                </a:solidFill>
              </a:defRPr>
            </a:lvl1pPr>
          </a:lstStyle>
          <a:p>
            <a:pPr defTabSz="609600"/>
            <a:fld id="{9E224A48-D563-475F-90A0-E252177D5923}" type="slidenum">
              <a:rPr lang="en-IN" smtClean="0">
                <a:solidFill>
                  <a:srgbClr val="04617B">
                    <a:shade val="90000"/>
                  </a:srgbClr>
                </a:solidFill>
              </a:rPr>
              <a:t>‹#›</a:t>
            </a:fld>
            <a:endParaRPr lang="en-IN">
              <a:solidFill>
                <a:srgbClr val="04617B">
                  <a:shade val="90000"/>
                </a:srgbClr>
              </a:solidFill>
            </a:endParaRPr>
          </a:p>
        </p:txBody>
      </p:sp>
      <p:grpSp>
        <p:nvGrpSpPr>
          <p:cNvPr id="2" name="Group 1"/>
          <p:cNvGrpSpPr/>
          <p:nvPr/>
        </p:nvGrpSpPr>
        <p:grpSpPr>
          <a:xfrm>
            <a:off x="-25356" y="202408"/>
            <a:ext cx="12240731" cy="649224"/>
            <a:chOff x="-19045" y="216550"/>
            <a:chExt cx="9180548" cy="649224"/>
          </a:xfrm>
        </p:grpSpPr>
        <p:sp>
          <p:nvSpPr>
            <p:cNvPr id="12" name="Freeform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latin typeface="Constantia" panose="02030602050306030303"/>
                <a:ea typeface="+mn-ea"/>
                <a:cs typeface="+mn-cs"/>
              </a:endParaRPr>
            </a:p>
          </p:txBody>
        </p:sp>
        <p:sp>
          <p:nvSpPr>
            <p:cNvPr id="13" name="Freeform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latin typeface="Constantia" panose="02030602050306030303"/>
                <a:ea typeface="+mn-ea"/>
                <a:cs typeface="+mn-cs"/>
              </a:endParaRPr>
            </a:p>
          </p:txBody>
        </p:sp>
      </p:grpSp>
      <p:pic>
        <p:nvPicPr>
          <p:cNvPr id="16" name="Picture 15" descr="uok logo.png"/>
          <p:cNvPicPr>
            <a:picLocks noChangeAspect="1"/>
          </p:cNvPicPr>
          <p:nvPr userDrawn="1"/>
        </p:nvPicPr>
        <p:blipFill>
          <a:blip r:embed="rId13" cstate="print"/>
          <a:stretch>
            <a:fillRect/>
          </a:stretch>
        </p:blipFill>
        <p:spPr>
          <a:xfrm>
            <a:off x="8208235" y="6240693"/>
            <a:ext cx="2016224" cy="54868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rtl="0" eaLnBrk="1" latinLnBrk="0" hangingPunct="1">
        <a:spcBef>
          <a:spcPct val="0"/>
        </a:spcBef>
        <a:buNone/>
        <a:defRPr kumimoji="0" sz="6665" b="0" kern="1200">
          <a:ln>
            <a:noFill/>
          </a:ln>
          <a:solidFill>
            <a:schemeClr val="tx2"/>
          </a:solidFill>
          <a:effectLst/>
          <a:latin typeface="+mj-lt"/>
          <a:ea typeface="+mj-ea"/>
          <a:cs typeface="+mj-cs"/>
        </a:defRPr>
      </a:lvl1pPr>
    </p:titleStyle>
    <p:bodyStyle>
      <a:lvl1pPr marL="365760" indent="-365760" algn="l" rtl="0" eaLnBrk="1" latinLnBrk="0" hangingPunct="1">
        <a:spcBef>
          <a:spcPct val="20000"/>
        </a:spcBef>
        <a:buClr>
          <a:schemeClr val="accent3"/>
        </a:buClr>
        <a:buSzPct val="95000"/>
        <a:buFont typeface="Wingdings 2" panose="05020102010507070707"/>
        <a:buChar char=""/>
        <a:defRPr kumimoji="0" sz="3465" kern="1200">
          <a:solidFill>
            <a:schemeClr val="tx1"/>
          </a:solidFill>
          <a:latin typeface="+mn-lt"/>
          <a:ea typeface="+mn-ea"/>
          <a:cs typeface="+mn-cs"/>
        </a:defRPr>
      </a:lvl1pPr>
      <a:lvl2pPr marL="853440" indent="-328930" algn="l" rtl="0" eaLnBrk="1" latinLnBrk="0" hangingPunct="1">
        <a:spcBef>
          <a:spcPct val="20000"/>
        </a:spcBef>
        <a:buClr>
          <a:schemeClr val="accent1"/>
        </a:buClr>
        <a:buSzPct val="85000"/>
        <a:buFont typeface="Wingdings 2" panose="05020102010507070707"/>
        <a:buChar char=""/>
        <a:defRPr kumimoji="0" sz="3200" kern="1200">
          <a:solidFill>
            <a:schemeClr val="tx1"/>
          </a:solidFill>
          <a:latin typeface="+mn-lt"/>
          <a:ea typeface="+mn-ea"/>
          <a:cs typeface="+mn-cs"/>
        </a:defRPr>
      </a:lvl2pPr>
      <a:lvl3pPr marL="1219200" indent="-328930" algn="l" rtl="0" eaLnBrk="1" latinLnBrk="0" hangingPunct="1">
        <a:spcBef>
          <a:spcPct val="20000"/>
        </a:spcBef>
        <a:buClr>
          <a:schemeClr val="accent2"/>
        </a:buClr>
        <a:buSzPct val="70000"/>
        <a:buFont typeface="Wingdings 2" panose="05020102010507070707"/>
        <a:buChar char=""/>
        <a:defRPr kumimoji="0" sz="2800" kern="1200">
          <a:solidFill>
            <a:schemeClr val="tx1"/>
          </a:solidFill>
          <a:latin typeface="+mn-lt"/>
          <a:ea typeface="+mn-ea"/>
          <a:cs typeface="+mn-cs"/>
        </a:defRPr>
      </a:lvl3pPr>
      <a:lvl4pPr marL="1584960" indent="-280670" algn="l" rtl="0" eaLnBrk="1" latinLnBrk="0" hangingPunct="1">
        <a:spcBef>
          <a:spcPct val="20000"/>
        </a:spcBef>
        <a:buClr>
          <a:schemeClr val="accent3"/>
        </a:buClr>
        <a:buSzPct val="65000"/>
        <a:buFont typeface="Wingdings 2" panose="05020102010507070707"/>
        <a:buChar char=""/>
        <a:defRPr kumimoji="0" sz="2665" kern="1200">
          <a:solidFill>
            <a:schemeClr val="tx1"/>
          </a:solidFill>
          <a:latin typeface="+mn-lt"/>
          <a:ea typeface="+mn-ea"/>
          <a:cs typeface="+mn-cs"/>
        </a:defRPr>
      </a:lvl4pPr>
      <a:lvl5pPr marL="1950720" indent="-280670" algn="l" rtl="0" eaLnBrk="1" latinLnBrk="0" hangingPunct="1">
        <a:spcBef>
          <a:spcPct val="20000"/>
        </a:spcBef>
        <a:buClr>
          <a:schemeClr val="accent4"/>
        </a:buClr>
        <a:buSzPct val="65000"/>
        <a:buFont typeface="Wingdings 2" panose="05020102010507070707"/>
        <a:buChar char=""/>
        <a:defRPr kumimoji="0" sz="2665" kern="1200">
          <a:solidFill>
            <a:schemeClr val="tx1"/>
          </a:solidFill>
          <a:latin typeface="+mn-lt"/>
          <a:ea typeface="+mn-ea"/>
          <a:cs typeface="+mn-cs"/>
        </a:defRPr>
      </a:lvl5pPr>
      <a:lvl6pPr marL="2316480" indent="-280670" algn="l" rtl="0" eaLnBrk="1" latinLnBrk="0" hangingPunct="1">
        <a:spcBef>
          <a:spcPct val="20000"/>
        </a:spcBef>
        <a:buClr>
          <a:schemeClr val="accent5"/>
        </a:buClr>
        <a:buSzPct val="80000"/>
        <a:buFont typeface="Wingdings 2" panose="05020102010507070707"/>
        <a:buChar char=""/>
        <a:defRPr kumimoji="0" sz="2400" kern="1200">
          <a:solidFill>
            <a:schemeClr val="tx1"/>
          </a:solidFill>
          <a:latin typeface="+mn-lt"/>
          <a:ea typeface="+mn-ea"/>
          <a:cs typeface="+mn-cs"/>
        </a:defRPr>
      </a:lvl6pPr>
      <a:lvl7pPr marL="2560320" indent="-243840" algn="l" rtl="0" eaLnBrk="1" latinLnBrk="0" hangingPunct="1">
        <a:spcBef>
          <a:spcPct val="20000"/>
        </a:spcBef>
        <a:buClr>
          <a:schemeClr val="accent6"/>
        </a:buClr>
        <a:buSzPct val="80000"/>
        <a:buFont typeface="Wingdings 2" panose="05020102010507070707"/>
        <a:buChar char=""/>
        <a:defRPr kumimoji="0" sz="2135" kern="1200" baseline="0">
          <a:solidFill>
            <a:schemeClr val="tx1"/>
          </a:solidFill>
          <a:latin typeface="+mn-lt"/>
          <a:ea typeface="+mn-ea"/>
          <a:cs typeface="+mn-cs"/>
        </a:defRPr>
      </a:lvl7pPr>
      <a:lvl8pPr marL="2926080" indent="-243840" algn="l" rtl="0" eaLnBrk="1" latinLnBrk="0" hangingPunct="1">
        <a:spcBef>
          <a:spcPct val="20000"/>
        </a:spcBef>
        <a:buClr>
          <a:schemeClr val="tx2"/>
        </a:buClr>
        <a:buChar char="•"/>
        <a:defRPr kumimoji="0" sz="2135" kern="1200">
          <a:solidFill>
            <a:schemeClr val="tx1"/>
          </a:solidFill>
          <a:latin typeface="+mn-lt"/>
          <a:ea typeface="+mn-ea"/>
          <a:cs typeface="+mn-cs"/>
        </a:defRPr>
      </a:lvl8pPr>
      <a:lvl9pPr marL="3291840" indent="-243840" algn="l" rtl="0" eaLnBrk="1" latinLnBrk="0" hangingPunct="1">
        <a:spcBef>
          <a:spcPct val="20000"/>
        </a:spcBef>
        <a:buClr>
          <a:schemeClr val="tx2"/>
        </a:buClr>
        <a:buFontTx/>
        <a:buChar char="•"/>
        <a:defRPr kumimoji="0" sz="1865"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609600" algn="l" rtl="0" eaLnBrk="1" latinLnBrk="0" hangingPunct="1">
        <a:defRPr kumimoji="0" kern="1200">
          <a:solidFill>
            <a:schemeClr val="tx1"/>
          </a:solidFill>
          <a:latin typeface="+mn-lt"/>
          <a:ea typeface="+mn-ea"/>
          <a:cs typeface="+mn-cs"/>
        </a:defRPr>
      </a:lvl2pPr>
      <a:lvl3pPr marL="1219200" algn="l" rtl="0" eaLnBrk="1" latinLnBrk="0" hangingPunct="1">
        <a:defRPr kumimoji="0" kern="1200">
          <a:solidFill>
            <a:schemeClr val="tx1"/>
          </a:solidFill>
          <a:latin typeface="+mn-lt"/>
          <a:ea typeface="+mn-ea"/>
          <a:cs typeface="+mn-cs"/>
        </a:defRPr>
      </a:lvl3pPr>
      <a:lvl4pPr marL="1828800" algn="l" rtl="0" eaLnBrk="1" latinLnBrk="0" hangingPunct="1">
        <a:defRPr kumimoji="0" kern="1200">
          <a:solidFill>
            <a:schemeClr val="tx1"/>
          </a:solidFill>
          <a:latin typeface="+mn-lt"/>
          <a:ea typeface="+mn-ea"/>
          <a:cs typeface="+mn-cs"/>
        </a:defRPr>
      </a:lvl4pPr>
      <a:lvl5pPr marL="2438400" algn="l" rtl="0" eaLnBrk="1" latinLnBrk="0" hangingPunct="1">
        <a:defRPr kumimoji="0" kern="1200">
          <a:solidFill>
            <a:schemeClr val="tx1"/>
          </a:solidFill>
          <a:latin typeface="+mn-lt"/>
          <a:ea typeface="+mn-ea"/>
          <a:cs typeface="+mn-cs"/>
        </a:defRPr>
      </a:lvl5pPr>
      <a:lvl6pPr marL="3048000" algn="l" rtl="0" eaLnBrk="1" latinLnBrk="0" hangingPunct="1">
        <a:defRPr kumimoji="0" kern="1200">
          <a:solidFill>
            <a:schemeClr val="tx1"/>
          </a:solidFill>
          <a:latin typeface="+mn-lt"/>
          <a:ea typeface="+mn-ea"/>
          <a:cs typeface="+mn-cs"/>
        </a:defRPr>
      </a:lvl6pPr>
      <a:lvl7pPr marL="3657600" algn="l" rtl="0" eaLnBrk="1" latinLnBrk="0" hangingPunct="1">
        <a:defRPr kumimoji="0" kern="1200">
          <a:solidFill>
            <a:schemeClr val="tx1"/>
          </a:solidFill>
          <a:latin typeface="+mn-lt"/>
          <a:ea typeface="+mn-ea"/>
          <a:cs typeface="+mn-cs"/>
        </a:defRPr>
      </a:lvl7pPr>
      <a:lvl8pPr marL="4267200" algn="l" rtl="0" eaLnBrk="1" latinLnBrk="0" hangingPunct="1">
        <a:defRPr kumimoji="0" kern="1200">
          <a:solidFill>
            <a:schemeClr val="tx1"/>
          </a:solidFill>
          <a:latin typeface="+mn-lt"/>
          <a:ea typeface="+mn-ea"/>
          <a:cs typeface="+mn-cs"/>
        </a:defRPr>
      </a:lvl8pPr>
      <a:lvl9pPr marL="48768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71707" y="3311475"/>
            <a:ext cx="6096000" cy="707886"/>
          </a:xfrm>
          <a:prstGeom prst="rect">
            <a:avLst/>
          </a:prstGeom>
        </p:spPr>
        <p:txBody>
          <a:bodyPr>
            <a:spAutoFit/>
          </a:bodyPr>
          <a:lstStyle/>
          <a:p>
            <a:r>
              <a:rPr lang="en-US" sz="2000" dirty="0"/>
              <a:t>INSTRUCTOR : FRED KAGAME </a:t>
            </a:r>
          </a:p>
          <a:p>
            <a:r>
              <a:rPr lang="en-US" sz="2000" dirty="0"/>
              <a:t>School Computing and IT </a:t>
            </a:r>
          </a:p>
        </p:txBody>
      </p:sp>
      <p:sp>
        <p:nvSpPr>
          <p:cNvPr id="5" name="Rectangle 4"/>
          <p:cNvSpPr/>
          <p:nvPr/>
        </p:nvSpPr>
        <p:spPr>
          <a:xfrm>
            <a:off x="2690949" y="4264074"/>
            <a:ext cx="6096000" cy="369332"/>
          </a:xfrm>
          <a:prstGeom prst="rect">
            <a:avLst/>
          </a:prstGeom>
        </p:spPr>
        <p:txBody>
          <a:bodyPr>
            <a:spAutoFit/>
          </a:bodyPr>
          <a:lstStyle/>
          <a:p>
            <a:r>
              <a:rPr lang="en-US" dirty="0"/>
              <a:t>BIT,MSIT,CCNA,CCNP,CISA </a:t>
            </a:r>
          </a:p>
        </p:txBody>
      </p:sp>
      <p:sp>
        <p:nvSpPr>
          <p:cNvPr id="6" name="Rectangle 5"/>
          <p:cNvSpPr/>
          <p:nvPr/>
        </p:nvSpPr>
        <p:spPr>
          <a:xfrm>
            <a:off x="1568206" y="1607013"/>
            <a:ext cx="8341485" cy="707886"/>
          </a:xfrm>
          <a:prstGeom prst="rect">
            <a:avLst/>
          </a:prstGeom>
        </p:spPr>
        <p:txBody>
          <a:bodyPr wrap="square">
            <a:spAutoFit/>
          </a:bodyPr>
          <a:lstStyle/>
          <a:p>
            <a:r>
              <a:rPr lang="en-US" sz="4000" dirty="0"/>
              <a:t>ADVANCED NETWORKING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96240" y="1596886"/>
            <a:ext cx="11399520" cy="5631180"/>
          </a:xfrm>
          <a:prstGeom prst="rect">
            <a:avLst/>
          </a:prstGeom>
        </p:spPr>
        <p:txBody>
          <a:bodyPr wrap="square">
            <a:spAutoFit/>
          </a:bodyPr>
          <a:lstStyle/>
          <a:p>
            <a:r>
              <a:rPr lang="en-US" sz="2400" dirty="0"/>
              <a:t>Routing is the process of selecting the best path for data packets to travel from a source to a destination across interconnected networks. It ensures efficient, reliable, and secure communication in:</a:t>
            </a:r>
          </a:p>
          <a:p>
            <a:r>
              <a:rPr lang="en-US" sz="2400" dirty="0"/>
              <a:t>Local Area Networks (LANs)</a:t>
            </a:r>
          </a:p>
          <a:p>
            <a:r>
              <a:rPr lang="en-US" sz="2400" dirty="0"/>
              <a:t>Wide Area Networks (WANs)</a:t>
            </a:r>
          </a:p>
          <a:p>
            <a:r>
              <a:rPr lang="en-US" sz="2400" dirty="0"/>
              <a:t>The Internet (Global IP Routing) </a:t>
            </a:r>
          </a:p>
          <a:p>
            <a:endParaRPr lang="en-US" sz="2400" dirty="0"/>
          </a:p>
          <a:p>
            <a:r>
              <a:rPr lang="en-US" sz="2400" dirty="0"/>
              <a:t>Key Objectives of Routing:</a:t>
            </a:r>
          </a:p>
          <a:p>
            <a:r>
              <a:rPr lang="en-US" sz="2400" dirty="0"/>
              <a:t>✔ Connectivity – Ensures devices can communicate across networks.</a:t>
            </a:r>
          </a:p>
          <a:p>
            <a:r>
              <a:rPr lang="en-US" sz="2400" dirty="0"/>
              <a:t>✔ Efficiency – Chooses the fastest or least congested path.</a:t>
            </a:r>
          </a:p>
          <a:p>
            <a:r>
              <a:rPr lang="en-US" sz="2400" dirty="0"/>
              <a:t>✔ Scalability – Supports growing networks without performance loss.</a:t>
            </a:r>
          </a:p>
          <a:p>
            <a:r>
              <a:rPr lang="en-US" sz="2400" dirty="0"/>
              <a:t>✔ Fault Tolerance – Automatically reroutes traffic if a link fails.</a:t>
            </a:r>
            <a:endParaRPr lang="en-US" dirty="0"/>
          </a:p>
          <a:p>
            <a:endParaRPr lang="en-US" dirty="0"/>
          </a:p>
          <a:p>
            <a:endParaRPr lang="en-US" dirty="0"/>
          </a:p>
          <a:p>
            <a:endParaRPr lang="en-US" dirty="0"/>
          </a:p>
          <a:p>
            <a:endParaRPr lang="en-US" dirty="0"/>
          </a:p>
        </p:txBody>
      </p:sp>
      <p:sp>
        <p:nvSpPr>
          <p:cNvPr id="6" name="Rectangle 5"/>
          <p:cNvSpPr/>
          <p:nvPr/>
        </p:nvSpPr>
        <p:spPr>
          <a:xfrm>
            <a:off x="1238641" y="726268"/>
            <a:ext cx="8341485" cy="706755"/>
          </a:xfrm>
          <a:prstGeom prst="rect">
            <a:avLst/>
          </a:prstGeom>
        </p:spPr>
        <p:txBody>
          <a:bodyPr wrap="square">
            <a:spAutoFit/>
          </a:bodyPr>
          <a:lstStyle/>
          <a:p>
            <a:r>
              <a:rPr lang="en-US" sz="4000" b="1" dirty="0">
                <a:sym typeface="+mn-ea"/>
              </a:rPr>
              <a:t>INTRODUCTION TO ROUTING</a:t>
            </a:r>
            <a:r>
              <a:rPr lang="en-US" sz="4000" b="1" dirty="0"/>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defTabSz="609600"/>
            <a:r>
              <a:rPr lang="en-IN"/>
              <a:t>LABOR FOR THE FUTURE</a:t>
            </a:r>
            <a:endParaRPr lang="en-IN" dirty="0"/>
          </a:p>
        </p:txBody>
      </p:sp>
      <p:sp>
        <p:nvSpPr>
          <p:cNvPr id="3" name="Rectangle 2"/>
          <p:cNvSpPr/>
          <p:nvPr/>
        </p:nvSpPr>
        <p:spPr>
          <a:xfrm>
            <a:off x="0" y="0"/>
            <a:ext cx="12192000" cy="6924973"/>
          </a:xfrm>
          <a:prstGeom prst="rect">
            <a:avLst/>
          </a:prstGeom>
        </p:spPr>
        <p:txBody>
          <a:bodyPr wrap="square">
            <a:spAutoFit/>
          </a:bodyPr>
          <a:lstStyle/>
          <a:p>
            <a:pPr>
              <a:lnSpc>
                <a:spcPct val="150000"/>
              </a:lnSpc>
            </a:pPr>
            <a:r>
              <a:rPr lang="en-US" sz="2800" dirty="0"/>
              <a:t>We will discuss various concepts and commands used for</a:t>
            </a:r>
          </a:p>
          <a:p>
            <a:pPr>
              <a:lnSpc>
                <a:spcPct val="150000"/>
              </a:lnSpc>
            </a:pPr>
            <a:r>
              <a:rPr lang="en-US" sz="2800" dirty="0"/>
              <a:t> routing, including:</a:t>
            </a:r>
          </a:p>
          <a:p>
            <a:pPr marL="285750" indent="-285750">
              <a:lnSpc>
                <a:spcPct val="150000"/>
              </a:lnSpc>
              <a:buFont typeface="Arial" panose="020B0604020202020204" pitchFamily="34" charset="0"/>
              <a:buChar char="•"/>
            </a:pPr>
            <a:r>
              <a:rPr lang="en-US" sz="2800" dirty="0"/>
              <a:t> How to configure a static route</a:t>
            </a:r>
          </a:p>
          <a:p>
            <a:pPr marL="285750" indent="-285750">
              <a:lnSpc>
                <a:spcPct val="150000"/>
              </a:lnSpc>
              <a:buFont typeface="Arial" panose="020B0604020202020204" pitchFamily="34" charset="0"/>
              <a:buChar char="•"/>
            </a:pPr>
            <a:r>
              <a:rPr lang="en-US" sz="2800" dirty="0"/>
              <a:t> Verifying routes</a:t>
            </a:r>
          </a:p>
          <a:p>
            <a:pPr marL="285750" indent="-285750">
              <a:lnSpc>
                <a:spcPct val="150000"/>
              </a:lnSpc>
              <a:buFont typeface="Arial" panose="020B0604020202020204" pitchFamily="34" charset="0"/>
              <a:buChar char="•"/>
            </a:pPr>
            <a:r>
              <a:rPr lang="en-US" sz="2800" dirty="0"/>
              <a:t> Configuring default routes for the devices, and much more</a:t>
            </a: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defTabSz="609600"/>
            <a:r>
              <a:rPr lang="en-IN"/>
              <a:t>LABOR FOR THE FUTURE</a:t>
            </a:r>
            <a:endParaRPr lang="en-IN" dirty="0"/>
          </a:p>
        </p:txBody>
      </p:sp>
      <p:sp>
        <p:nvSpPr>
          <p:cNvPr id="3" name="Rectangle 2"/>
          <p:cNvSpPr/>
          <p:nvPr/>
        </p:nvSpPr>
        <p:spPr>
          <a:xfrm>
            <a:off x="530086" y="350065"/>
            <a:ext cx="10866783" cy="6507935"/>
          </a:xfrm>
          <a:prstGeom prst="rect">
            <a:avLst/>
          </a:prstGeom>
        </p:spPr>
        <p:txBody>
          <a:bodyPr wrap="square">
            <a:spAutoFit/>
          </a:bodyPr>
          <a:lstStyle/>
          <a:p>
            <a:pPr>
              <a:lnSpc>
                <a:spcPct val="150000"/>
              </a:lnSpc>
            </a:pPr>
            <a:r>
              <a:rPr lang="en-US" sz="2000" b="1" dirty="0"/>
              <a:t>IP Routing</a:t>
            </a:r>
            <a:r>
              <a:rPr lang="en-US" sz="2000" dirty="0"/>
              <a:t> is a fundamental process in networking where routers determine the best path for data packets to travel across a network from the source to the destination. This process is defined by </a:t>
            </a:r>
            <a:r>
              <a:rPr lang="en-US" sz="2000" b="1" dirty="0"/>
              <a:t>IP routes</a:t>
            </a:r>
            <a:r>
              <a:rPr lang="en-US" sz="2000" dirty="0"/>
              <a:t>—entries that help routers make decisions on where to send packets based on their destination IP addresses.</a:t>
            </a:r>
          </a:p>
          <a:p>
            <a:pPr>
              <a:lnSpc>
                <a:spcPct val="150000"/>
              </a:lnSpc>
            </a:pPr>
            <a:r>
              <a:rPr lang="en-US" sz="2000" b="1" dirty="0"/>
              <a:t>1. What is an IP Route?</a:t>
            </a:r>
          </a:p>
          <a:p>
            <a:pPr>
              <a:lnSpc>
                <a:spcPct val="150000"/>
              </a:lnSpc>
            </a:pPr>
            <a:r>
              <a:rPr lang="en-US" sz="2000" dirty="0"/>
              <a:t>An </a:t>
            </a:r>
            <a:r>
              <a:rPr lang="en-US" sz="2000" b="1" dirty="0"/>
              <a:t>IP route</a:t>
            </a:r>
            <a:r>
              <a:rPr lang="en-US" sz="2000" dirty="0"/>
              <a:t> is a set of instructions that guides data packets toward their destination through a network.</a:t>
            </a:r>
          </a:p>
          <a:p>
            <a:pPr>
              <a:lnSpc>
                <a:spcPct val="150000"/>
              </a:lnSpc>
            </a:pPr>
            <a:r>
              <a:rPr lang="en-US" sz="2000" dirty="0"/>
              <a:t>Each IP route contains:</a:t>
            </a:r>
          </a:p>
          <a:p>
            <a:pPr marL="742950" lvl="1" indent="-285750">
              <a:lnSpc>
                <a:spcPct val="150000"/>
              </a:lnSpc>
              <a:buFont typeface="Arial" panose="020B0604020202020204" pitchFamily="34" charset="0"/>
              <a:buChar char="•"/>
            </a:pPr>
            <a:r>
              <a:rPr lang="en-US" sz="2000" b="1" dirty="0"/>
              <a:t>Destination Network</a:t>
            </a:r>
            <a:r>
              <a:rPr lang="en-US" sz="2000" dirty="0"/>
              <a:t>: Specifies the IP address range for which the route applies.</a:t>
            </a:r>
          </a:p>
          <a:p>
            <a:pPr marL="742950" lvl="1" indent="-285750">
              <a:lnSpc>
                <a:spcPct val="150000"/>
              </a:lnSpc>
              <a:buFont typeface="Arial" panose="020B0604020202020204" pitchFamily="34" charset="0"/>
              <a:buChar char="•"/>
            </a:pPr>
            <a:r>
              <a:rPr lang="en-US" sz="2000" b="1" dirty="0"/>
              <a:t>Subnet Mask</a:t>
            </a:r>
            <a:r>
              <a:rPr lang="en-US" sz="2000" dirty="0"/>
              <a:t>: Defines the range of addresses in the network.</a:t>
            </a:r>
          </a:p>
          <a:p>
            <a:pPr marL="742950" lvl="1" indent="-285750">
              <a:lnSpc>
                <a:spcPct val="150000"/>
              </a:lnSpc>
              <a:buFont typeface="Arial" panose="020B0604020202020204" pitchFamily="34" charset="0"/>
              <a:buChar char="•"/>
            </a:pPr>
            <a:r>
              <a:rPr lang="en-US" sz="2000" b="1" dirty="0"/>
              <a:t>Next Hop</a:t>
            </a:r>
            <a:r>
              <a:rPr lang="en-US" sz="2000" dirty="0"/>
              <a:t>: The IP address of the next router to which packets should be forwarded.</a:t>
            </a:r>
          </a:p>
          <a:p>
            <a:pPr marL="742950" lvl="1" indent="-285750">
              <a:lnSpc>
                <a:spcPct val="150000"/>
              </a:lnSpc>
              <a:buFont typeface="Arial" panose="020B0604020202020204" pitchFamily="34" charset="0"/>
              <a:buChar char="•"/>
            </a:pPr>
            <a:r>
              <a:rPr lang="en-US" sz="2000" b="1" dirty="0"/>
              <a:t>Interface</a:t>
            </a:r>
            <a:r>
              <a:rPr lang="en-US" sz="2000" dirty="0"/>
              <a:t>: Specifies which interface on the router will send the packet.</a:t>
            </a:r>
          </a:p>
          <a:p>
            <a:pPr>
              <a:lnSpc>
                <a:spcPct val="150000"/>
              </a:lnSpc>
              <a:buFont typeface="Arial" panose="020B0604020202020204" pitchFamily="34" charset="0"/>
              <a:buChar char="•"/>
            </a:pPr>
            <a:r>
              <a:rPr lang="en-US" sz="2000" dirty="0"/>
              <a:t>Routes are stored in a router’s </a:t>
            </a:r>
            <a:r>
              <a:rPr lang="en-US" sz="2000" b="1" dirty="0"/>
              <a:t>routing table</a:t>
            </a:r>
            <a:r>
              <a:rPr lang="en-US" sz="2000" dirty="0"/>
              <a:t> and can be either </a:t>
            </a:r>
            <a:r>
              <a:rPr lang="en-US" sz="2000" b="1" dirty="0"/>
              <a:t>static</a:t>
            </a:r>
            <a:r>
              <a:rPr lang="en-US" sz="2000" dirty="0"/>
              <a:t> (manually configured) or </a:t>
            </a:r>
            <a:r>
              <a:rPr lang="en-US" sz="2000" b="1" dirty="0"/>
              <a:t>dynamic</a:t>
            </a:r>
            <a:r>
              <a:rPr lang="en-US" sz="2000" dirty="0"/>
              <a:t> (learned via routing protocols like RIP, OSPF, or BGP).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defTabSz="609600"/>
            <a:r>
              <a:rPr lang="en-IN"/>
              <a:t>LABOR FOR THE FUTURE</a:t>
            </a:r>
            <a:endParaRPr lang="en-IN" dirty="0"/>
          </a:p>
        </p:txBody>
      </p:sp>
      <p:sp>
        <p:nvSpPr>
          <p:cNvPr id="5" name="Rectangle 2"/>
          <p:cNvSpPr>
            <a:spLocks noChangeArrowheads="1"/>
          </p:cNvSpPr>
          <p:nvPr/>
        </p:nvSpPr>
        <p:spPr bwMode="auto">
          <a:xfrm>
            <a:off x="218658" y="183555"/>
            <a:ext cx="1082267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3200" b="1" i="0" u="none" strike="noStrike" cap="none" normalizeH="0" baseline="0" dirty="0">
                <a:ln>
                  <a:noFill/>
                </a:ln>
                <a:solidFill>
                  <a:schemeClr val="tx1"/>
                </a:solidFill>
                <a:effectLst/>
              </a:rPr>
              <a:t>Types of IP Routes</a:t>
            </a:r>
          </a:p>
        </p:txBody>
      </p:sp>
      <p:sp>
        <p:nvSpPr>
          <p:cNvPr id="6" name="Rectangle 3"/>
          <p:cNvSpPr>
            <a:spLocks noChangeArrowheads="1"/>
          </p:cNvSpPr>
          <p:nvPr/>
        </p:nvSpPr>
        <p:spPr bwMode="auto">
          <a:xfrm>
            <a:off x="0" y="-19089"/>
            <a:ext cx="12192000" cy="15875"/>
          </a:xfrm>
          <a:prstGeom prst="rect">
            <a:avLst/>
          </a:prstGeom>
          <a:solidFill>
            <a:srgbClr val="000000"/>
          </a:solidFill>
          <a:ln w="9525">
            <a:solidFill>
              <a:schemeClr val="tx1"/>
            </a:solidFill>
            <a:prstDash val="solid"/>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7" name="Rectangle 4"/>
          <p:cNvSpPr>
            <a:spLocks noChangeArrowheads="1"/>
          </p:cNvSpPr>
          <p:nvPr/>
        </p:nvSpPr>
        <p:spPr bwMode="auto">
          <a:xfrm>
            <a:off x="78589" y="811729"/>
            <a:ext cx="10840080" cy="6046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50000"/>
              </a:lnSpc>
              <a:spcBef>
                <a:spcPct val="0"/>
              </a:spcBef>
              <a:spcAft>
                <a:spcPct val="0"/>
              </a:spcAft>
              <a:buClrTx/>
              <a:buSzTx/>
              <a:buFontTx/>
              <a:buNone/>
            </a:pP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AutoNum type="arabicPeriod"/>
            </a:pPr>
            <a:r>
              <a:rPr kumimoji="0" lang="en-US" altLang="en-US" sz="2000" b="1" i="0" u="none" strike="noStrike" cap="none" normalizeH="0" baseline="0" dirty="0">
                <a:ln>
                  <a:noFill/>
                </a:ln>
                <a:solidFill>
                  <a:schemeClr val="tx1"/>
                </a:solidFill>
                <a:effectLst/>
              </a:rPr>
              <a:t> Directly Connected Routes</a:t>
            </a:r>
            <a:r>
              <a:rPr kumimoji="0" lang="en-US" altLang="en-US" sz="2000" b="0" i="0" u="none" strike="noStrike" cap="none" normalizeH="0" baseline="0" dirty="0">
                <a:ln>
                  <a:noFill/>
                </a:ln>
                <a:solidFill>
                  <a:schemeClr val="tx1"/>
                </a:solidFill>
                <a:effectLst/>
              </a:rPr>
              <a:t>:</a:t>
            </a:r>
          </a:p>
          <a:p>
            <a:pPr marL="457200" marR="0" lvl="1" indent="0" algn="l" defTabSz="914400" rtl="0" eaLnBrk="0" fontAlgn="base" latinLnBrk="0" hangingPunct="0">
              <a:lnSpc>
                <a:spcPct val="150000"/>
              </a:lnSpc>
              <a:spcBef>
                <a:spcPct val="0"/>
              </a:spcBef>
              <a:spcAft>
                <a:spcPct val="0"/>
              </a:spcAft>
              <a:buClrTx/>
              <a:buSzTx/>
            </a:pPr>
            <a:r>
              <a:rPr kumimoji="0" lang="en-US" altLang="en-US" sz="2000" b="0" i="0" u="none" strike="noStrike" cap="none" normalizeH="0" baseline="0" dirty="0">
                <a:ln>
                  <a:noFill/>
                </a:ln>
                <a:solidFill>
                  <a:schemeClr val="tx1"/>
                </a:solidFill>
                <a:effectLst/>
              </a:rPr>
              <a:t>These routes connect networks that are directly attached to a router’s physical or virtual interfaces.</a:t>
            </a:r>
          </a:p>
          <a:p>
            <a:pPr marL="457200" marR="0" lvl="1" indent="0" algn="l" defTabSz="914400" rtl="0" eaLnBrk="0" fontAlgn="base" latinLnBrk="0" hangingPunct="0">
              <a:lnSpc>
                <a:spcPct val="150000"/>
              </a:lnSpc>
              <a:spcBef>
                <a:spcPct val="0"/>
              </a:spcBef>
              <a:spcAft>
                <a:spcPct val="0"/>
              </a:spcAft>
              <a:buClrTx/>
              <a:buSzTx/>
            </a:pPr>
            <a:r>
              <a:rPr kumimoji="0" lang="en-US" altLang="en-US" sz="2000" b="0" i="0" u="none" strike="noStrike" cap="none" normalizeH="0" baseline="0" dirty="0">
                <a:ln>
                  <a:noFill/>
                </a:ln>
                <a:solidFill>
                  <a:schemeClr val="tx1"/>
                </a:solidFill>
                <a:effectLst/>
              </a:rPr>
              <a:t>When a router interface is assigned an IP address within a specific subnet, it automatically considers that subnet a directly connected route.</a:t>
            </a:r>
          </a:p>
          <a:p>
            <a:pPr marL="457200" marR="0" lvl="1" indent="0" algn="l" defTabSz="914400" rtl="0" eaLnBrk="0" fontAlgn="base" latinLnBrk="0" hangingPunct="0">
              <a:lnSpc>
                <a:spcPct val="150000"/>
              </a:lnSpc>
              <a:spcBef>
                <a:spcPct val="0"/>
              </a:spcBef>
              <a:spcAft>
                <a:spcPct val="0"/>
              </a:spcAft>
              <a:buClrTx/>
              <a:buSzTx/>
            </a:pPr>
            <a:r>
              <a:rPr kumimoji="0" lang="en-US" altLang="en-US" sz="2000" b="1" i="0" u="none" strike="noStrike" cap="none" normalizeH="0" baseline="0" dirty="0">
                <a:ln>
                  <a:noFill/>
                </a:ln>
                <a:solidFill>
                  <a:schemeClr val="tx1"/>
                </a:solidFill>
                <a:effectLst/>
              </a:rPr>
              <a:t>Example</a:t>
            </a:r>
            <a:r>
              <a:rPr kumimoji="0" lang="en-US" altLang="en-US" sz="2000" b="0" i="0" u="none" strike="noStrike" cap="none" normalizeH="0" baseline="0" dirty="0">
                <a:ln>
                  <a:noFill/>
                </a:ln>
                <a:solidFill>
                  <a:schemeClr val="tx1"/>
                </a:solidFill>
                <a:effectLst/>
              </a:rPr>
              <a:t>: If a router’s interface has an IP in the 192.168.1.0/24 network, it will treat this network as directly connected and add it to the routing table.</a:t>
            </a:r>
          </a:p>
          <a:p>
            <a:pPr marL="457200" marR="0" lvl="1" indent="0" algn="l" defTabSz="914400" rtl="0" eaLnBrk="0" fontAlgn="base" latinLnBrk="0" hangingPunct="0">
              <a:lnSpc>
                <a:spcPct val="150000"/>
              </a:lnSpc>
              <a:spcBef>
                <a:spcPct val="0"/>
              </a:spcBef>
              <a:spcAft>
                <a:spcPct val="0"/>
              </a:spcAft>
              <a:buClrTx/>
              <a:buSzTx/>
              <a:buFontTx/>
              <a:buChar char="•"/>
            </a:pPr>
            <a:r>
              <a:rPr kumimoji="0" lang="en-US" altLang="en-US" sz="2000" b="1" i="0" u="none" strike="noStrike" cap="none" normalizeH="0" baseline="0" dirty="0">
                <a:ln>
                  <a:noFill/>
                </a:ln>
                <a:solidFill>
                  <a:schemeClr val="tx1"/>
                </a:solidFill>
                <a:effectLst/>
              </a:rPr>
              <a:t>Characteristics</a:t>
            </a:r>
            <a:r>
              <a:rPr kumimoji="0" lang="en-US" altLang="en-US" sz="2000" b="0" i="0" u="none" strike="noStrike" cap="none" normalizeH="0" baseline="0" dirty="0">
                <a:ln>
                  <a:noFill/>
                </a:ln>
                <a:solidFill>
                  <a:schemeClr val="tx1"/>
                </a:solidFill>
                <a:effectLst/>
              </a:rPr>
              <a:t>:</a:t>
            </a:r>
          </a:p>
          <a:p>
            <a:pPr marL="914400" marR="0" lvl="2" indent="0" algn="l" defTabSz="914400" rtl="0" eaLnBrk="0" fontAlgn="base" latinLnBrk="0" hangingPunct="0">
              <a:lnSpc>
                <a:spcPct val="15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rPr>
              <a:t>Automatically added to the routing table when an interface is up.</a:t>
            </a:r>
          </a:p>
          <a:p>
            <a:pPr marL="914400" marR="0" lvl="2" indent="0" algn="l" defTabSz="914400" rtl="0" eaLnBrk="0" fontAlgn="base" latinLnBrk="0" hangingPunct="0">
              <a:lnSpc>
                <a:spcPct val="15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rPr>
              <a:t>Requires no configuration or updates by an administrator.</a:t>
            </a:r>
          </a:p>
          <a:p>
            <a:pPr marL="914400" marR="0" lvl="2" indent="0" algn="l" defTabSz="914400" rtl="0" eaLnBrk="0" fontAlgn="base" latinLnBrk="0" hangingPunct="0">
              <a:lnSpc>
                <a:spcPct val="15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rPr>
              <a:t>Fundamental for internal routing within local subnets</a:t>
            </a:r>
          </a:p>
          <a:p>
            <a:pPr marL="0" marR="0" lvl="0" indent="0" algn="l" defTabSz="914400" rtl="0" eaLnBrk="0" fontAlgn="base" latinLnBrk="0" hangingPunct="0">
              <a:lnSpc>
                <a:spcPct val="150000"/>
              </a:lnSpc>
              <a:spcBef>
                <a:spcPct val="0"/>
              </a:spcBef>
              <a:spcAft>
                <a:spcPct val="0"/>
              </a:spcAft>
              <a:buClrTx/>
              <a:buSzTx/>
              <a:buFontTx/>
              <a:buNone/>
            </a:pPr>
            <a:endParaRPr kumimoji="0" lang="en-US" altLang="en-US" sz="2000" b="0" i="0" u="none" strike="noStrike" cap="none" normalizeH="0" baseline="0" dirty="0">
              <a:ln>
                <a:noFill/>
              </a:ln>
              <a:solidFill>
                <a:schemeClr val="tx1"/>
              </a:solidFill>
              <a:effectLs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defTabSz="609600"/>
            <a:r>
              <a:rPr lang="en-IN"/>
              <a:t>LABOR FOR THE FUTURE</a:t>
            </a:r>
            <a:endParaRPr lang="en-IN" dirty="0"/>
          </a:p>
        </p:txBody>
      </p:sp>
      <p:sp>
        <p:nvSpPr>
          <p:cNvPr id="3" name="Rectangle 2"/>
          <p:cNvSpPr/>
          <p:nvPr/>
        </p:nvSpPr>
        <p:spPr>
          <a:xfrm>
            <a:off x="421640" y="843280"/>
            <a:ext cx="11643360" cy="4661276"/>
          </a:xfrm>
          <a:prstGeom prst="rect">
            <a:avLst/>
          </a:prstGeom>
        </p:spPr>
        <p:txBody>
          <a:bodyPr wrap="square">
            <a:spAutoFit/>
          </a:bodyPr>
          <a:lstStyle/>
          <a:p>
            <a:pPr lvl="0" eaLnBrk="0" fontAlgn="base" hangingPunct="0">
              <a:lnSpc>
                <a:spcPct val="150000"/>
              </a:lnSpc>
              <a:spcBef>
                <a:spcPct val="0"/>
              </a:spcBef>
              <a:spcAft>
                <a:spcPct val="0"/>
              </a:spcAft>
            </a:pPr>
            <a:r>
              <a:rPr lang="en-US" altLang="en-US" sz="2000" b="1" dirty="0">
                <a:solidFill>
                  <a:prstClr val="black"/>
                </a:solidFill>
              </a:rPr>
              <a:t>2. Static Routes</a:t>
            </a:r>
            <a:r>
              <a:rPr lang="en-US" altLang="en-US" sz="2000" dirty="0">
                <a:solidFill>
                  <a:prstClr val="black"/>
                </a:solidFill>
              </a:rPr>
              <a:t>:</a:t>
            </a:r>
          </a:p>
          <a:p>
            <a:pPr lvl="0" eaLnBrk="0" fontAlgn="base" hangingPunct="0">
              <a:lnSpc>
                <a:spcPct val="150000"/>
              </a:lnSpc>
              <a:spcBef>
                <a:spcPct val="0"/>
              </a:spcBef>
              <a:spcAft>
                <a:spcPct val="0"/>
              </a:spcAft>
            </a:pPr>
            <a:r>
              <a:rPr lang="en-US" altLang="en-US" sz="2000" dirty="0">
                <a:solidFill>
                  <a:prstClr val="black"/>
                </a:solidFill>
              </a:rPr>
              <a:t>Manually configured routes by network administrators.</a:t>
            </a:r>
          </a:p>
          <a:p>
            <a:pPr lvl="0" eaLnBrk="0" fontAlgn="base" hangingPunct="0">
              <a:lnSpc>
                <a:spcPct val="150000"/>
              </a:lnSpc>
              <a:spcBef>
                <a:spcPct val="0"/>
              </a:spcBef>
              <a:spcAft>
                <a:spcPct val="0"/>
              </a:spcAft>
            </a:pPr>
            <a:r>
              <a:rPr lang="en-US" altLang="en-US" sz="2000" dirty="0">
                <a:solidFill>
                  <a:prstClr val="black"/>
                </a:solidFill>
              </a:rPr>
              <a:t>Useful for simple, predefined paths, or as backup routes if dynamic routes fail.</a:t>
            </a:r>
          </a:p>
          <a:p>
            <a:pPr lvl="0" eaLnBrk="0" fontAlgn="base" hangingPunct="0">
              <a:lnSpc>
                <a:spcPct val="150000"/>
              </a:lnSpc>
              <a:spcBef>
                <a:spcPct val="0"/>
              </a:spcBef>
              <a:spcAft>
                <a:spcPct val="0"/>
              </a:spcAft>
            </a:pPr>
            <a:r>
              <a:rPr lang="en-US" altLang="en-US" sz="2000" b="1" dirty="0">
                <a:solidFill>
                  <a:prstClr val="black"/>
                </a:solidFill>
              </a:rPr>
              <a:t>Example</a:t>
            </a:r>
            <a:r>
              <a:rPr lang="en-US" altLang="en-US" sz="2000" dirty="0">
                <a:solidFill>
                  <a:prstClr val="black"/>
                </a:solidFill>
              </a:rPr>
              <a:t>: ip route 10.0.2.0 255.255.255.0 192.168.1.1 tells the router that any packets destined for 10.0.2.0/24</a:t>
            </a:r>
          </a:p>
          <a:p>
            <a:pPr lvl="0" eaLnBrk="0" fontAlgn="base" hangingPunct="0">
              <a:lnSpc>
                <a:spcPct val="150000"/>
              </a:lnSpc>
              <a:spcBef>
                <a:spcPct val="0"/>
              </a:spcBef>
              <a:spcAft>
                <a:spcPct val="0"/>
              </a:spcAft>
            </a:pPr>
            <a:r>
              <a:rPr lang="en-US" altLang="en-US" sz="2000" dirty="0">
                <a:solidFill>
                  <a:prstClr val="black"/>
                </a:solidFill>
              </a:rPr>
              <a:t> should be sent to the next hop 192.168.1.1.</a:t>
            </a:r>
          </a:p>
          <a:p>
            <a:pPr lvl="0" eaLnBrk="0" fontAlgn="base" hangingPunct="0">
              <a:lnSpc>
                <a:spcPct val="150000"/>
              </a:lnSpc>
              <a:spcBef>
                <a:spcPct val="0"/>
              </a:spcBef>
              <a:spcAft>
                <a:spcPct val="0"/>
              </a:spcAft>
            </a:pPr>
            <a:r>
              <a:rPr lang="en-US" altLang="en-US" sz="2000" b="1" dirty="0">
                <a:solidFill>
                  <a:prstClr val="black"/>
                </a:solidFill>
              </a:rPr>
              <a:t>Characteristics</a:t>
            </a:r>
            <a:r>
              <a:rPr lang="en-US" altLang="en-US" sz="2000" dirty="0">
                <a:solidFill>
                  <a:prstClr val="black"/>
                </a:solidFill>
              </a:rPr>
              <a:t>:</a:t>
            </a:r>
          </a:p>
          <a:p>
            <a:pPr lvl="1" eaLnBrk="0" fontAlgn="base" hangingPunct="0">
              <a:lnSpc>
                <a:spcPct val="150000"/>
              </a:lnSpc>
              <a:spcBef>
                <a:spcPct val="0"/>
              </a:spcBef>
              <a:spcAft>
                <a:spcPct val="0"/>
              </a:spcAft>
            </a:pPr>
            <a:r>
              <a:rPr lang="en-US" altLang="en-US" sz="2000" dirty="0">
                <a:solidFill>
                  <a:prstClr val="black"/>
                </a:solidFill>
              </a:rPr>
              <a:t>Reliable and predictable, as they don’t change unless manually updated.</a:t>
            </a:r>
          </a:p>
          <a:p>
            <a:pPr lvl="1" eaLnBrk="0" fontAlgn="base" hangingPunct="0">
              <a:lnSpc>
                <a:spcPct val="150000"/>
              </a:lnSpc>
              <a:spcBef>
                <a:spcPct val="0"/>
              </a:spcBef>
              <a:spcAft>
                <a:spcPct val="0"/>
              </a:spcAft>
            </a:pPr>
            <a:r>
              <a:rPr lang="en-US" altLang="en-US" sz="2000" dirty="0">
                <a:solidFill>
                  <a:prstClr val="black"/>
                </a:solidFill>
              </a:rPr>
              <a:t>Require administrative updates if there are changes in the network topology.</a:t>
            </a:r>
          </a:p>
          <a:p>
            <a:pPr lvl="1" eaLnBrk="0" fontAlgn="base" hangingPunct="0">
              <a:lnSpc>
                <a:spcPct val="150000"/>
              </a:lnSpc>
              <a:spcBef>
                <a:spcPct val="0"/>
              </a:spcBef>
              <a:spcAft>
                <a:spcPct val="0"/>
              </a:spcAft>
            </a:pPr>
            <a:r>
              <a:rPr lang="en-US" altLang="en-US" sz="2000" dirty="0">
                <a:solidFill>
                  <a:prstClr val="black"/>
                </a:solidFill>
              </a:rPr>
              <a:t>Ideal for small networks or specific, controlled paths.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defTabSz="609600"/>
            <a:r>
              <a:rPr lang="en-IN"/>
              <a:t>LABOR FOR THE FUTURE</a:t>
            </a:r>
            <a:endParaRPr lang="en-IN" dirty="0"/>
          </a:p>
        </p:txBody>
      </p:sp>
      <p:sp>
        <p:nvSpPr>
          <p:cNvPr id="3" name="Rectangle 1"/>
          <p:cNvSpPr>
            <a:spLocks noChangeArrowheads="1"/>
          </p:cNvSpPr>
          <p:nvPr/>
        </p:nvSpPr>
        <p:spPr bwMode="auto">
          <a:xfrm>
            <a:off x="322028" y="618254"/>
            <a:ext cx="11463130" cy="5630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457200" marR="0" lvl="1" indent="0" algn="l" defTabSz="914400" rtl="0" eaLnBrk="0" fontAlgn="base" latinLnBrk="0" hangingPunct="0">
              <a:lnSpc>
                <a:spcPct val="150000"/>
              </a:lnSpc>
              <a:spcBef>
                <a:spcPct val="0"/>
              </a:spcBef>
              <a:spcAft>
                <a:spcPct val="0"/>
              </a:spcAft>
              <a:buClrTx/>
              <a:buSzTx/>
            </a:pPr>
            <a:endParaRPr lang="en-US" altLang="en-US" sz="2000" dirty="0"/>
          </a:p>
          <a:p>
            <a:pPr>
              <a:lnSpc>
                <a:spcPct val="150000"/>
              </a:lnSpc>
            </a:pPr>
            <a:r>
              <a:rPr lang="en-US" b="1" dirty="0"/>
              <a:t>3. Dynamic Routes</a:t>
            </a:r>
            <a:r>
              <a:rPr lang="en-US" dirty="0"/>
              <a:t>:</a:t>
            </a:r>
          </a:p>
          <a:p>
            <a:pPr>
              <a:lnSpc>
                <a:spcPct val="150000"/>
              </a:lnSpc>
            </a:pPr>
            <a:r>
              <a:rPr lang="en-US" dirty="0"/>
              <a:t>Routes that are automatically learned and updated by </a:t>
            </a:r>
            <a:r>
              <a:rPr lang="en-US" b="1" dirty="0"/>
              <a:t>routing protocols</a:t>
            </a:r>
            <a:r>
              <a:rPr lang="en-US" dirty="0"/>
              <a:t> like RIP, OSPF,EIGRP, and BGP.</a:t>
            </a:r>
          </a:p>
          <a:p>
            <a:pPr>
              <a:lnSpc>
                <a:spcPct val="150000"/>
              </a:lnSpc>
            </a:pPr>
            <a:r>
              <a:rPr lang="en-US" dirty="0"/>
              <a:t>These routes adjust to network changes, making them suitable for complex or larger networks.</a:t>
            </a:r>
          </a:p>
          <a:p>
            <a:pPr>
              <a:lnSpc>
                <a:spcPct val="150000"/>
              </a:lnSpc>
            </a:pPr>
            <a:r>
              <a:rPr lang="en-US" b="1" dirty="0"/>
              <a:t>Example</a:t>
            </a:r>
            <a:r>
              <a:rPr lang="en-US" dirty="0"/>
              <a:t>: A router running OSPF will dynamically learn routes from other routers in the network, automatically adding and adjusting paths in its routing table.</a:t>
            </a:r>
          </a:p>
          <a:p>
            <a:pPr>
              <a:lnSpc>
                <a:spcPct val="150000"/>
              </a:lnSpc>
            </a:pPr>
            <a:r>
              <a:rPr lang="en-US" b="1" dirty="0"/>
              <a:t>Characteristics</a:t>
            </a:r>
            <a:r>
              <a:rPr lang="en-US" dirty="0"/>
              <a:t>:</a:t>
            </a:r>
          </a:p>
          <a:p>
            <a:pPr lvl="1">
              <a:lnSpc>
                <a:spcPct val="150000"/>
              </a:lnSpc>
            </a:pPr>
            <a:r>
              <a:rPr lang="en-US" dirty="0"/>
              <a:t>Scalability: Handles large networks with frequent changes effectively.</a:t>
            </a:r>
          </a:p>
          <a:p>
            <a:pPr lvl="1">
              <a:lnSpc>
                <a:spcPct val="150000"/>
              </a:lnSpc>
            </a:pPr>
            <a:r>
              <a:rPr lang="en-US" dirty="0"/>
              <a:t>Adaptability: Automatically updates when network conditions change, such as a link failure.</a:t>
            </a:r>
          </a:p>
          <a:p>
            <a:pPr lvl="1">
              <a:lnSpc>
                <a:spcPct val="150000"/>
              </a:lnSpc>
            </a:pPr>
            <a:r>
              <a:rPr lang="en-US" dirty="0"/>
              <a:t>Commonly used in enterprise networks and the Internet, where automatic adjustment is essential.</a:t>
            </a:r>
          </a:p>
          <a:p>
            <a:pPr marL="457200" marR="0" lvl="1" indent="0" algn="l" defTabSz="914400" rtl="0" eaLnBrk="0" fontAlgn="base" latinLnBrk="0" hangingPunct="0">
              <a:lnSpc>
                <a:spcPct val="150000"/>
              </a:lnSpc>
              <a:spcBef>
                <a:spcPct val="0"/>
              </a:spcBef>
              <a:spcAft>
                <a:spcPct val="0"/>
              </a:spcAft>
              <a:buClrTx/>
              <a:buSzTx/>
            </a:pPr>
            <a:endParaRPr lang="en-US" altLang="en-US" sz="2000" dirty="0"/>
          </a:p>
          <a:p>
            <a:pPr marL="457200" marR="0" lvl="1" indent="0" algn="l" defTabSz="914400" rtl="0" eaLnBrk="0" fontAlgn="base" latinLnBrk="0" hangingPunct="0">
              <a:lnSpc>
                <a:spcPct val="150000"/>
              </a:lnSpc>
              <a:spcBef>
                <a:spcPct val="0"/>
              </a:spcBef>
              <a:spcAft>
                <a:spcPct val="0"/>
              </a:spcAft>
              <a:buClrTx/>
              <a:buSzTx/>
            </a:pPr>
            <a:endParaRPr kumimoji="0" lang="en-US" altLang="en-US" sz="2000" b="0" i="0" u="none" strike="noStrike" cap="none" normalizeH="0" baseline="0" dirty="0">
              <a:ln>
                <a:noFill/>
              </a:ln>
              <a:solidFill>
                <a:schemeClr val="tx1"/>
              </a:solidFill>
              <a:effectLst/>
            </a:endParaRPr>
          </a:p>
          <a:p>
            <a:pPr marR="0" lvl="0" algn="l" defTabSz="914400" rtl="0" eaLnBrk="0" fontAlgn="base" latinLnBrk="0" hangingPunct="0">
              <a:lnSpc>
                <a:spcPct val="150000"/>
              </a:lnSpc>
              <a:spcBef>
                <a:spcPct val="0"/>
              </a:spcBef>
              <a:spcAft>
                <a:spcPct val="0"/>
              </a:spcAft>
              <a:buClrTx/>
              <a:buSzTx/>
            </a:pPr>
            <a:endParaRPr kumimoji="0" lang="en-US" altLang="en-US" sz="2000" b="0" i="0" u="none" strike="noStrike" cap="none" normalizeH="0" baseline="0" dirty="0">
              <a:ln>
                <a:noFill/>
              </a:ln>
              <a:solidFill>
                <a:schemeClr val="tx1"/>
              </a:solidFill>
              <a:effectLs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defTabSz="609600"/>
            <a:r>
              <a:rPr lang="en-IN"/>
              <a:t>LABOR FOR THE FUTURE</a:t>
            </a:r>
            <a:endParaRPr lang="en-IN" dirty="0"/>
          </a:p>
        </p:txBody>
      </p:sp>
      <p:pic>
        <p:nvPicPr>
          <p:cNvPr id="3" name="Picture 2"/>
          <p:cNvPicPr>
            <a:picLocks noChangeAspect="1"/>
          </p:cNvPicPr>
          <p:nvPr/>
        </p:nvPicPr>
        <p:blipFill>
          <a:blip r:embed="rId2"/>
          <a:stretch>
            <a:fillRect/>
          </a:stretch>
        </p:blipFill>
        <p:spPr>
          <a:xfrm>
            <a:off x="609323" y="1564465"/>
            <a:ext cx="9250294" cy="31003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defTabSz="609600"/>
            <a:r>
              <a:rPr lang="en-IN"/>
              <a:t>LABOR FOR THE FUTURE</a:t>
            </a:r>
            <a:endParaRPr lang="en-IN" dirty="0"/>
          </a:p>
        </p:txBody>
      </p:sp>
      <p:sp>
        <p:nvSpPr>
          <p:cNvPr id="3" name="Rectangle 2"/>
          <p:cNvSpPr/>
          <p:nvPr/>
        </p:nvSpPr>
        <p:spPr>
          <a:xfrm>
            <a:off x="602531" y="783363"/>
            <a:ext cx="11476383" cy="4247317"/>
          </a:xfrm>
          <a:prstGeom prst="rect">
            <a:avLst/>
          </a:prstGeom>
        </p:spPr>
        <p:txBody>
          <a:bodyPr wrap="square">
            <a:spAutoFit/>
          </a:bodyPr>
          <a:lstStyle/>
          <a:p>
            <a:pPr>
              <a:lnSpc>
                <a:spcPct val="150000"/>
              </a:lnSpc>
            </a:pPr>
            <a:r>
              <a:rPr lang="en-US" sz="3600" dirty="0"/>
              <a:t>Administrative Distance</a:t>
            </a:r>
            <a:endParaRPr lang="en-US" dirty="0"/>
          </a:p>
          <a:p>
            <a:pPr>
              <a:lnSpc>
                <a:spcPct val="150000"/>
              </a:lnSpc>
            </a:pPr>
            <a:r>
              <a:rPr lang="en-US" dirty="0"/>
              <a:t> Administrative Distance or AD is a specific value used by routers to determine the best path when presented with more than one different route to a similar destination address from different routing protocols.</a:t>
            </a:r>
          </a:p>
          <a:p>
            <a:pPr>
              <a:lnSpc>
                <a:spcPct val="150000"/>
              </a:lnSpc>
            </a:pPr>
            <a:endParaRPr lang="en-US" dirty="0"/>
          </a:p>
          <a:p>
            <a:pPr>
              <a:lnSpc>
                <a:spcPct val="150000"/>
              </a:lnSpc>
            </a:pPr>
            <a:r>
              <a:rPr lang="en-US" dirty="0"/>
              <a:t>By default, a static route gets configured to use an AD of which means it is fully trustworthy. Administrative distance ranges from the value of 0 to 255, and the level of trustworthiness decreases as the value gets higher. That means a route with an Administrative Distance of 0 is unequivocally trusted, while 255 cannot be trusted at all. The administrative distance of 0 is only assigned to the connected route.</a:t>
            </a:r>
          </a:p>
          <a:p>
            <a:pPr>
              <a:lnSpc>
                <a:spcPct val="150000"/>
              </a:lnSpc>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defTabSz="609600"/>
            <a:r>
              <a:rPr lang="en-IN"/>
              <a:t>LABOR FOR THE FUTURE</a:t>
            </a:r>
            <a:endParaRPr lang="en-IN" dirty="0"/>
          </a:p>
        </p:txBody>
      </p:sp>
      <p:sp>
        <p:nvSpPr>
          <p:cNvPr id="3" name="Rectangle 2"/>
          <p:cNvSpPr/>
          <p:nvPr/>
        </p:nvSpPr>
        <p:spPr>
          <a:xfrm>
            <a:off x="1" y="1"/>
            <a:ext cx="12642262" cy="7093609"/>
          </a:xfrm>
          <a:prstGeom prst="rect">
            <a:avLst/>
          </a:prstGeom>
        </p:spPr>
        <p:txBody>
          <a:bodyPr wrap="square">
            <a:spAutoFit/>
          </a:bodyPr>
          <a:lstStyle/>
          <a:p>
            <a:pPr>
              <a:lnSpc>
                <a:spcPct val="200000"/>
              </a:lnSpc>
            </a:pPr>
            <a:r>
              <a:rPr lang="en-US" sz="3200" b="1" dirty="0"/>
              <a:t>Each type of route is assigned a different type of AD. </a:t>
            </a:r>
          </a:p>
          <a:p>
            <a:pPr>
              <a:lnSpc>
                <a:spcPct val="200000"/>
              </a:lnSpc>
            </a:pPr>
            <a:r>
              <a:rPr lang="en-US" dirty="0"/>
              <a:t>The following are the type of routes and the Administrative value assigned by default. </a:t>
            </a:r>
          </a:p>
          <a:p>
            <a:pPr marL="285750" indent="-285750">
              <a:lnSpc>
                <a:spcPct val="200000"/>
              </a:lnSpc>
              <a:buFont typeface="Arial" panose="020B0604020202020204" pitchFamily="34" charset="0"/>
              <a:buChar char="•"/>
            </a:pPr>
            <a:r>
              <a:rPr lang="en-US" dirty="0"/>
              <a:t>Direct connected route – Administrative Distance = 0 </a:t>
            </a:r>
          </a:p>
          <a:p>
            <a:pPr marL="285750" indent="-285750">
              <a:lnSpc>
                <a:spcPct val="200000"/>
              </a:lnSpc>
              <a:buFont typeface="Arial" panose="020B0604020202020204" pitchFamily="34" charset="0"/>
              <a:buChar char="•"/>
            </a:pPr>
            <a:r>
              <a:rPr lang="en-US" dirty="0"/>
              <a:t>Static Route – Administrative Distance = 1 </a:t>
            </a:r>
          </a:p>
          <a:p>
            <a:pPr marL="285750" indent="-285750">
              <a:lnSpc>
                <a:spcPct val="200000"/>
              </a:lnSpc>
              <a:buFont typeface="Arial" panose="020B0604020202020204" pitchFamily="34" charset="0"/>
              <a:buChar char="•"/>
            </a:pPr>
            <a:r>
              <a:rPr lang="en-US" dirty="0"/>
              <a:t>Enhanced Interior Gateway Routing Protocol summary route (EIGRIP) – Administrative Distance = 5</a:t>
            </a:r>
          </a:p>
          <a:p>
            <a:pPr marL="285750" indent="-285750">
              <a:lnSpc>
                <a:spcPct val="200000"/>
              </a:lnSpc>
              <a:buFont typeface="Arial" panose="020B0604020202020204" pitchFamily="34" charset="0"/>
              <a:buChar char="•"/>
            </a:pPr>
            <a:r>
              <a:rPr lang="en-US" dirty="0"/>
              <a:t>Exterior Border Gateway Protocol (eBGP) – Administrative Distance = 20 </a:t>
            </a:r>
          </a:p>
          <a:p>
            <a:pPr marL="285750" indent="-285750">
              <a:lnSpc>
                <a:spcPct val="200000"/>
              </a:lnSpc>
              <a:buFont typeface="Arial" panose="020B0604020202020204" pitchFamily="34" charset="0"/>
              <a:buChar char="•"/>
            </a:pPr>
            <a:r>
              <a:rPr lang="en-US" dirty="0"/>
              <a:t> EIGRIP Internal – Administrative Distance = 90 </a:t>
            </a:r>
          </a:p>
          <a:p>
            <a:pPr marL="285750" indent="-285750">
              <a:lnSpc>
                <a:spcPct val="200000"/>
              </a:lnSpc>
              <a:buFont typeface="Arial" panose="020B0604020202020204" pitchFamily="34" charset="0"/>
              <a:buChar char="•"/>
            </a:pPr>
            <a:r>
              <a:rPr lang="en-US" dirty="0"/>
              <a:t>Open Shortest Path Fist Protocol – Administrative Distance = 110</a:t>
            </a:r>
          </a:p>
          <a:p>
            <a:pPr marL="285750" indent="-285750">
              <a:lnSpc>
                <a:spcPct val="200000"/>
              </a:lnSpc>
              <a:buFont typeface="Arial" panose="020B0604020202020204" pitchFamily="34" charset="0"/>
              <a:buChar char="•"/>
            </a:pPr>
            <a:r>
              <a:rPr lang="en-US" dirty="0"/>
              <a:t>Intermediate System to Intermediate System Protocol (IS-IS) Administrative Distance = 115</a:t>
            </a:r>
          </a:p>
          <a:p>
            <a:pPr marL="285750" indent="-285750">
              <a:lnSpc>
                <a:spcPct val="200000"/>
              </a:lnSpc>
              <a:buFont typeface="Arial" panose="020B0604020202020204" pitchFamily="34" charset="0"/>
              <a:buChar char="•"/>
            </a:pPr>
            <a:r>
              <a:rPr lang="en-US" dirty="0"/>
              <a:t>Routing Information Protocol (RIP) – Administrative Distance = 120 </a:t>
            </a:r>
          </a:p>
          <a:p>
            <a:pPr marL="285750" indent="-285750">
              <a:lnSpc>
                <a:spcPct val="200000"/>
              </a:lnSpc>
              <a:buFont typeface="Arial" panose="020B0604020202020204" pitchFamily="34" charset="0"/>
              <a:buChar char="•"/>
            </a:pPr>
            <a:r>
              <a:rPr lang="en-US" dirty="0"/>
              <a:t>Exterior Gateway Protocol (EGP) – Administrative Distance = 140 </a:t>
            </a:r>
          </a:p>
          <a:p>
            <a:pPr marL="285750" indent="-285750">
              <a:lnSpc>
                <a:spcPct val="200000"/>
              </a:lnSpc>
              <a:buFont typeface="Arial" panose="020B0604020202020204" pitchFamily="34" charset="0"/>
              <a:buChar char="•"/>
            </a:pPr>
            <a:r>
              <a:rPr lang="en-US" dirty="0"/>
              <a:t>Internal Border Gateway Protocol (iBGP) (external) Administrative Distance = 200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defTabSz="609600"/>
            <a:r>
              <a:rPr lang="en-IN"/>
              <a:t>LABOR FOR THE FUTURE</a:t>
            </a:r>
            <a:endParaRPr lang="en-IN" dirty="0"/>
          </a:p>
        </p:txBody>
      </p:sp>
      <p:sp>
        <p:nvSpPr>
          <p:cNvPr id="11" name="Rectangle 10"/>
          <p:cNvSpPr/>
          <p:nvPr/>
        </p:nvSpPr>
        <p:spPr>
          <a:xfrm>
            <a:off x="0" y="0"/>
            <a:ext cx="12192000" cy="5584606"/>
          </a:xfrm>
          <a:prstGeom prst="rect">
            <a:avLst/>
          </a:prstGeom>
        </p:spPr>
        <p:txBody>
          <a:bodyPr wrap="square">
            <a:spAutoFit/>
          </a:bodyPr>
          <a:lstStyle/>
          <a:p>
            <a:pPr>
              <a:lnSpc>
                <a:spcPct val="150000"/>
              </a:lnSpc>
            </a:pPr>
            <a:r>
              <a:rPr lang="en-AU" sz="2000" b="1" dirty="0"/>
              <a:t>Dynamic Routing Protocols:</a:t>
            </a:r>
            <a:br>
              <a:rPr lang="en-AU" sz="2000" b="1" dirty="0"/>
            </a:br>
            <a:r>
              <a:rPr lang="en-AU" sz="2000" b="1" dirty="0"/>
              <a:t>1.  Enhanced Interior Gateway Routing Protocol (EIGRP)</a:t>
            </a:r>
          </a:p>
          <a:p>
            <a:pPr>
              <a:lnSpc>
                <a:spcPct val="150000"/>
              </a:lnSpc>
            </a:pPr>
            <a:r>
              <a:rPr lang="en-AU" sz="2000" dirty="0"/>
              <a:t>Enhanced Interior Gateway Routing Protocol (EIGRP) is a Cisco-developed hybrid routing protocol combining features of distance-vector and link-state protocols. It is known for its </a:t>
            </a:r>
            <a:r>
              <a:rPr lang="en-AU" sz="2000" b="1" dirty="0"/>
              <a:t>fast convergence</a:t>
            </a:r>
            <a:r>
              <a:rPr lang="en-AU" sz="2000" dirty="0"/>
              <a:t>, </a:t>
            </a:r>
            <a:r>
              <a:rPr lang="en-AU" sz="2000" b="1" dirty="0"/>
              <a:t>scalability</a:t>
            </a:r>
            <a:r>
              <a:rPr lang="en-AU" sz="2000" dirty="0"/>
              <a:t>, and </a:t>
            </a:r>
            <a:r>
              <a:rPr lang="en-AU" sz="2000" b="1" dirty="0"/>
              <a:t>efficient resource utilization</a:t>
            </a:r>
            <a:r>
              <a:rPr lang="en-AU" sz="2000" dirty="0"/>
              <a:t>, making it a popular choice for enterprise networks.</a:t>
            </a:r>
          </a:p>
          <a:p>
            <a:pPr>
              <a:lnSpc>
                <a:spcPct val="150000"/>
              </a:lnSpc>
            </a:pPr>
            <a:endParaRPr lang="en-US" sz="2000" b="1" dirty="0"/>
          </a:p>
          <a:p>
            <a:pPr>
              <a:lnSpc>
                <a:spcPct val="150000"/>
              </a:lnSpc>
            </a:pPr>
            <a:r>
              <a:rPr lang="en-US" sz="2000" b="1" dirty="0"/>
              <a:t>Key Features of EIGRP</a:t>
            </a:r>
          </a:p>
          <a:p>
            <a:pPr>
              <a:lnSpc>
                <a:spcPct val="150000"/>
              </a:lnSpc>
            </a:pPr>
            <a:r>
              <a:rPr lang="en-US" sz="2000" b="1" dirty="0"/>
              <a:t>Fast Convergence</a:t>
            </a:r>
            <a:r>
              <a:rPr lang="en-US" sz="2000" dirty="0"/>
              <a:t>:</a:t>
            </a:r>
          </a:p>
          <a:p>
            <a:pPr lvl="1">
              <a:lnSpc>
                <a:spcPct val="150000"/>
              </a:lnSpc>
            </a:pPr>
            <a:r>
              <a:rPr lang="en-US" sz="2000" dirty="0"/>
              <a:t>Quickly adapts to network changes by recalculating routes with minimal disruption.</a:t>
            </a:r>
          </a:p>
          <a:p>
            <a:pPr>
              <a:lnSpc>
                <a:spcPct val="150000"/>
              </a:lnSpc>
            </a:pPr>
            <a:r>
              <a:rPr lang="en-US" sz="2000" b="1" dirty="0"/>
              <a:t>DUAL Algorithm</a:t>
            </a:r>
            <a:r>
              <a:rPr lang="en-US" sz="2000" dirty="0"/>
              <a:t>:</a:t>
            </a:r>
          </a:p>
          <a:p>
            <a:pPr lvl="1">
              <a:lnSpc>
                <a:spcPct val="150000"/>
              </a:lnSpc>
            </a:pPr>
            <a:r>
              <a:rPr lang="en-US" sz="2000" dirty="0"/>
              <a:t>Leverages the </a:t>
            </a:r>
            <a:r>
              <a:rPr lang="en-US" sz="2000" b="1" dirty="0"/>
              <a:t>Diffusing Update Algorithm (DUAL)</a:t>
            </a:r>
            <a:r>
              <a:rPr lang="en-US" sz="2000" dirty="0"/>
              <a:t> to calculate the best path and backup routes while avoiding routing loops.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15E6258-6D9F-8B87-0F52-6AFB45B9C570}"/>
              </a:ext>
            </a:extLst>
          </p:cNvPr>
          <p:cNvSpPr>
            <a:spLocks noGrp="1"/>
          </p:cNvSpPr>
          <p:nvPr>
            <p:ph type="ftr" sz="quarter" idx="11"/>
          </p:nvPr>
        </p:nvSpPr>
        <p:spPr/>
        <p:txBody>
          <a:bodyPr/>
          <a:lstStyle/>
          <a:p>
            <a:pPr defTabSz="609600"/>
            <a:r>
              <a:rPr lang="en-IN"/>
              <a:t>LABOR FOR THE FUTURE</a:t>
            </a:r>
            <a:endParaRPr lang="en-IN" dirty="0"/>
          </a:p>
        </p:txBody>
      </p:sp>
      <p:sp>
        <p:nvSpPr>
          <p:cNvPr id="4" name="TextBox 3">
            <a:extLst>
              <a:ext uri="{FF2B5EF4-FFF2-40B4-BE49-F238E27FC236}">
                <a16:creationId xmlns:a16="http://schemas.microsoft.com/office/drawing/2014/main" id="{74082E0B-D72D-56E5-5E9D-E9CC1B9F47C0}"/>
              </a:ext>
            </a:extLst>
          </p:cNvPr>
          <p:cNvSpPr txBox="1"/>
          <p:nvPr/>
        </p:nvSpPr>
        <p:spPr>
          <a:xfrm>
            <a:off x="234176" y="892098"/>
            <a:ext cx="11842595" cy="3416320"/>
          </a:xfrm>
          <a:prstGeom prst="rect">
            <a:avLst/>
          </a:prstGeom>
          <a:noFill/>
        </p:spPr>
        <p:txBody>
          <a:bodyPr wrap="square">
            <a:spAutoFit/>
          </a:bodyPr>
          <a:lstStyle/>
          <a:p>
            <a:pPr>
              <a:lnSpc>
                <a:spcPct val="150000"/>
              </a:lnSpc>
            </a:pPr>
            <a:r>
              <a:rPr lang="en-US" sz="2000" b="1" dirty="0"/>
              <a:t>Support for VLSM and CIDR</a:t>
            </a:r>
            <a:r>
              <a:rPr lang="en-US" sz="2000" dirty="0"/>
              <a:t>:</a:t>
            </a:r>
          </a:p>
          <a:p>
            <a:pPr lvl="1">
              <a:lnSpc>
                <a:spcPct val="150000"/>
              </a:lnSpc>
            </a:pPr>
            <a:r>
              <a:rPr lang="en-US" sz="2000" dirty="0"/>
              <a:t>Enables the use of </a:t>
            </a:r>
            <a:r>
              <a:rPr lang="en-US" sz="2000" b="1" dirty="0"/>
              <a:t>Variable Length Subnet Masking (VLSM)</a:t>
            </a:r>
            <a:r>
              <a:rPr lang="en-US" sz="2000" dirty="0"/>
              <a:t> and </a:t>
            </a:r>
            <a:r>
              <a:rPr lang="en-US" sz="2000" b="1" dirty="0"/>
              <a:t>Classless Inter-Domain Routing (CIDR)</a:t>
            </a:r>
            <a:r>
              <a:rPr lang="en-US" sz="2000" dirty="0"/>
              <a:t>, optimizing IP address allocation.</a:t>
            </a:r>
          </a:p>
          <a:p>
            <a:endParaRPr lang="en-US" b="1" dirty="0"/>
          </a:p>
          <a:p>
            <a:r>
              <a:rPr lang="en-US" b="1" dirty="0"/>
              <a:t>Load Balancing</a:t>
            </a:r>
            <a:r>
              <a:rPr lang="en-US" dirty="0"/>
              <a:t>:</a:t>
            </a:r>
          </a:p>
          <a:p>
            <a:pPr lvl="1"/>
            <a:r>
              <a:rPr lang="en-US" dirty="0"/>
              <a:t>Offers both </a:t>
            </a:r>
            <a:r>
              <a:rPr lang="en-US" b="1" dirty="0"/>
              <a:t>equal-cost</a:t>
            </a:r>
            <a:r>
              <a:rPr lang="en-US" dirty="0"/>
              <a:t> and </a:t>
            </a:r>
            <a:r>
              <a:rPr lang="en-US" b="1" dirty="0"/>
              <a:t>unequal-cost load balancing</a:t>
            </a:r>
            <a:r>
              <a:rPr lang="en-US" dirty="0"/>
              <a:t>, allowing efficient distribution of traffic across multiple links.</a:t>
            </a:r>
          </a:p>
          <a:p>
            <a:r>
              <a:rPr lang="en-US" b="1" dirty="0"/>
              <a:t>Efficient Updates</a:t>
            </a:r>
            <a:r>
              <a:rPr lang="en-US" dirty="0"/>
              <a:t>:</a:t>
            </a:r>
          </a:p>
          <a:p>
            <a:pPr lvl="1"/>
            <a:r>
              <a:rPr lang="en-US" dirty="0"/>
              <a:t>Uses </a:t>
            </a:r>
            <a:r>
              <a:rPr lang="en-US" b="1" dirty="0"/>
              <a:t>multicast</a:t>
            </a:r>
            <a:r>
              <a:rPr lang="en-US" dirty="0"/>
              <a:t> and </a:t>
            </a:r>
            <a:r>
              <a:rPr lang="en-US" b="1" dirty="0"/>
              <a:t>unicast updates</a:t>
            </a:r>
            <a:r>
              <a:rPr lang="en-US" dirty="0"/>
              <a:t>, transmitting routing information only when topology changes occur, thereby reducing bandwidth consumption.</a:t>
            </a:r>
            <a:endParaRPr lang="en-AU" dirty="0"/>
          </a:p>
        </p:txBody>
      </p:sp>
    </p:spTree>
    <p:extLst>
      <p:ext uri="{BB962C8B-B14F-4D97-AF65-F5344CB8AC3E}">
        <p14:creationId xmlns:p14="http://schemas.microsoft.com/office/powerpoint/2010/main" val="6346303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A066A7E-22CE-F34B-1AD7-E89579830875}"/>
              </a:ext>
            </a:extLst>
          </p:cNvPr>
          <p:cNvSpPr>
            <a:spLocks noGrp="1"/>
          </p:cNvSpPr>
          <p:nvPr>
            <p:ph type="ftr" sz="quarter" idx="11"/>
          </p:nvPr>
        </p:nvSpPr>
        <p:spPr/>
        <p:txBody>
          <a:bodyPr/>
          <a:lstStyle/>
          <a:p>
            <a:pPr defTabSz="609600"/>
            <a:r>
              <a:rPr lang="en-IN"/>
              <a:t>LABOR FOR THE FUTURE</a:t>
            </a:r>
            <a:endParaRPr lang="en-IN" dirty="0"/>
          </a:p>
        </p:txBody>
      </p:sp>
      <p:sp>
        <p:nvSpPr>
          <p:cNvPr id="4" name="TextBox 3">
            <a:extLst>
              <a:ext uri="{FF2B5EF4-FFF2-40B4-BE49-F238E27FC236}">
                <a16:creationId xmlns:a16="http://schemas.microsoft.com/office/drawing/2014/main" id="{1FE70883-0FB8-59F5-0CE2-DC388E1CBBB1}"/>
              </a:ext>
            </a:extLst>
          </p:cNvPr>
          <p:cNvSpPr txBox="1"/>
          <p:nvPr/>
        </p:nvSpPr>
        <p:spPr>
          <a:xfrm>
            <a:off x="107795" y="1031475"/>
            <a:ext cx="12002429" cy="5912516"/>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b="1" dirty="0"/>
              <a:t> Distance-Vector Routing Protocols</a:t>
            </a:r>
          </a:p>
          <a:p>
            <a:pPr>
              <a:lnSpc>
                <a:spcPct val="150000"/>
              </a:lnSpc>
              <a:buFont typeface="Arial" panose="020B0604020202020204" pitchFamily="34" charset="0"/>
              <a:buChar char="•"/>
            </a:pPr>
            <a:r>
              <a:rPr lang="en-US" b="1" dirty="0"/>
              <a:t>How they work:</a:t>
            </a:r>
            <a:endParaRPr lang="en-US" dirty="0"/>
          </a:p>
          <a:p>
            <a:pPr marL="742950" lvl="1" indent="-285750">
              <a:lnSpc>
                <a:spcPct val="150000"/>
              </a:lnSpc>
              <a:buFont typeface="Arial" panose="020B0604020202020204" pitchFamily="34" charset="0"/>
              <a:buChar char="•"/>
            </a:pPr>
            <a:r>
              <a:rPr lang="en-US" dirty="0"/>
              <a:t>Each router periodically sends its entire routing table (vector of distances) to its </a:t>
            </a:r>
            <a:r>
              <a:rPr lang="en-US" b="1" dirty="0"/>
              <a:t>neighbors only</a:t>
            </a:r>
            <a:r>
              <a:rPr lang="en-US" dirty="0"/>
              <a:t>.</a:t>
            </a:r>
          </a:p>
          <a:p>
            <a:pPr marL="742950" lvl="1" indent="-285750">
              <a:lnSpc>
                <a:spcPct val="150000"/>
              </a:lnSpc>
              <a:buFont typeface="Arial" panose="020B0604020202020204" pitchFamily="34" charset="0"/>
              <a:buChar char="•"/>
            </a:pPr>
            <a:r>
              <a:rPr lang="en-US" dirty="0"/>
              <a:t>Routers calculate routes based on </a:t>
            </a:r>
            <a:r>
              <a:rPr lang="en-US" b="1" dirty="0"/>
              <a:t>hop count or distance metric</a:t>
            </a:r>
            <a:r>
              <a:rPr lang="en-US" dirty="0"/>
              <a:t>.</a:t>
            </a:r>
          </a:p>
          <a:p>
            <a:pPr marL="742950" lvl="1" indent="-285750">
              <a:lnSpc>
                <a:spcPct val="150000"/>
              </a:lnSpc>
              <a:buFont typeface="Arial" panose="020B0604020202020204" pitchFamily="34" charset="0"/>
              <a:buChar char="•"/>
            </a:pPr>
            <a:r>
              <a:rPr lang="en-US" dirty="0"/>
              <a:t>They have a more </a:t>
            </a:r>
            <a:r>
              <a:rPr lang="en-US" b="1" dirty="0"/>
              <a:t>“tell my neighbor what I know”</a:t>
            </a:r>
            <a:r>
              <a:rPr lang="en-US" dirty="0"/>
              <a:t> approach.</a:t>
            </a:r>
          </a:p>
          <a:p>
            <a:pPr>
              <a:lnSpc>
                <a:spcPct val="150000"/>
              </a:lnSpc>
            </a:pPr>
            <a:r>
              <a:rPr lang="en-US" b="1" dirty="0"/>
              <a:t>Examples:</a:t>
            </a:r>
            <a:endParaRPr lang="en-US" dirty="0"/>
          </a:p>
          <a:p>
            <a:pPr>
              <a:lnSpc>
                <a:spcPct val="150000"/>
              </a:lnSpc>
            </a:pPr>
            <a:r>
              <a:rPr lang="en-US" b="1" dirty="0"/>
              <a:t>RIP (Routing Information Protocol)</a:t>
            </a:r>
            <a:endParaRPr lang="en-US" dirty="0"/>
          </a:p>
          <a:p>
            <a:pPr>
              <a:lnSpc>
                <a:spcPct val="150000"/>
              </a:lnSpc>
            </a:pPr>
            <a:r>
              <a:rPr lang="en-US" b="1" dirty="0"/>
              <a:t>IGRP</a:t>
            </a:r>
            <a:r>
              <a:rPr lang="en-US" dirty="0"/>
              <a:t> (Cisco proprietary, obsolete)</a:t>
            </a:r>
          </a:p>
          <a:p>
            <a:pPr marL="342900" indent="-342900">
              <a:lnSpc>
                <a:spcPct val="150000"/>
              </a:lnSpc>
              <a:buFont typeface="Wingdings" panose="05000000000000000000" pitchFamily="2" charset="2"/>
              <a:buChar char="Ø"/>
            </a:pPr>
            <a:r>
              <a:rPr lang="en-US" sz="2000" b="1" dirty="0"/>
              <a:t>Link-State Routing Protocols</a:t>
            </a:r>
          </a:p>
          <a:p>
            <a:pPr>
              <a:lnSpc>
                <a:spcPct val="150000"/>
              </a:lnSpc>
            </a:pPr>
            <a:r>
              <a:rPr lang="en-US" b="1" dirty="0"/>
              <a:t>How they work:</a:t>
            </a:r>
            <a:endParaRPr lang="en-US" dirty="0"/>
          </a:p>
          <a:p>
            <a:pPr lvl="1">
              <a:lnSpc>
                <a:spcPct val="150000"/>
              </a:lnSpc>
            </a:pPr>
            <a:r>
              <a:rPr lang="en-US" dirty="0"/>
              <a:t>Each router builds a </a:t>
            </a:r>
            <a:r>
              <a:rPr lang="en-US" b="1" dirty="0"/>
              <a:t>topology map of the entire network</a:t>
            </a:r>
            <a:r>
              <a:rPr lang="en-US" dirty="0"/>
              <a:t>.</a:t>
            </a:r>
          </a:p>
          <a:p>
            <a:pPr lvl="1">
              <a:lnSpc>
                <a:spcPct val="150000"/>
              </a:lnSpc>
            </a:pPr>
            <a:r>
              <a:rPr lang="en-US" dirty="0"/>
              <a:t>Routers flood </a:t>
            </a:r>
            <a:r>
              <a:rPr lang="en-US" b="1" dirty="0"/>
              <a:t>link-state advertisements (LSAs)</a:t>
            </a:r>
            <a:r>
              <a:rPr lang="en-US" dirty="0"/>
              <a:t> throughout the network.</a:t>
            </a:r>
          </a:p>
          <a:p>
            <a:pPr lvl="1">
              <a:lnSpc>
                <a:spcPct val="150000"/>
              </a:lnSpc>
            </a:pPr>
            <a:r>
              <a:rPr lang="en-US" dirty="0"/>
              <a:t>Each router independently runs </a:t>
            </a:r>
            <a:r>
              <a:rPr lang="en-US" b="1" dirty="0"/>
              <a:t>Dijkstra’s Shortest Path First (SPF)</a:t>
            </a:r>
            <a:r>
              <a:rPr lang="en-US" dirty="0"/>
              <a:t> algorithm to compute the best paths.</a:t>
            </a:r>
          </a:p>
          <a:p>
            <a:pPr lvl="1">
              <a:lnSpc>
                <a:spcPct val="150000"/>
              </a:lnSpc>
            </a:pPr>
            <a:endParaRPr lang="en-US" dirty="0"/>
          </a:p>
        </p:txBody>
      </p:sp>
      <p:sp>
        <p:nvSpPr>
          <p:cNvPr id="6" name="TextBox 5">
            <a:extLst>
              <a:ext uri="{FF2B5EF4-FFF2-40B4-BE49-F238E27FC236}">
                <a16:creationId xmlns:a16="http://schemas.microsoft.com/office/drawing/2014/main" id="{034AD6FD-41BE-47F3-70E1-1A0CB9900415}"/>
              </a:ext>
            </a:extLst>
          </p:cNvPr>
          <p:cNvSpPr txBox="1"/>
          <p:nvPr/>
        </p:nvSpPr>
        <p:spPr>
          <a:xfrm>
            <a:off x="543621" y="473254"/>
            <a:ext cx="9893919" cy="461665"/>
          </a:xfrm>
          <a:prstGeom prst="rect">
            <a:avLst/>
          </a:prstGeom>
          <a:noFill/>
        </p:spPr>
        <p:txBody>
          <a:bodyPr wrap="square">
            <a:spAutoFit/>
          </a:bodyPr>
          <a:lstStyle/>
          <a:p>
            <a:r>
              <a:rPr lang="en-US" sz="2400" b="1" dirty="0"/>
              <a:t>Link-State vs Distance-Vector routing protocols</a:t>
            </a:r>
            <a:r>
              <a:rPr lang="en-US" sz="2400" dirty="0"/>
              <a:t>.</a:t>
            </a:r>
            <a:endParaRPr lang="en-RW" sz="2400" dirty="0"/>
          </a:p>
        </p:txBody>
      </p:sp>
      <p:sp>
        <p:nvSpPr>
          <p:cNvPr id="8" name="TextBox 7">
            <a:extLst>
              <a:ext uri="{FF2B5EF4-FFF2-40B4-BE49-F238E27FC236}">
                <a16:creationId xmlns:a16="http://schemas.microsoft.com/office/drawing/2014/main" id="{487D361B-CA9A-D322-A652-2CA31B97BD29}"/>
              </a:ext>
            </a:extLst>
          </p:cNvPr>
          <p:cNvSpPr txBox="1"/>
          <p:nvPr/>
        </p:nvSpPr>
        <p:spPr>
          <a:xfrm>
            <a:off x="8912611" y="4501398"/>
            <a:ext cx="6105292" cy="1711366"/>
          </a:xfrm>
          <a:prstGeom prst="rect">
            <a:avLst/>
          </a:prstGeom>
          <a:noFill/>
        </p:spPr>
        <p:txBody>
          <a:bodyPr wrap="square">
            <a:spAutoFit/>
          </a:bodyPr>
          <a:lstStyle/>
          <a:p>
            <a:pPr lvl="1">
              <a:lnSpc>
                <a:spcPct val="150000"/>
              </a:lnSpc>
            </a:pPr>
            <a:endParaRPr lang="en-US" dirty="0"/>
          </a:p>
          <a:p>
            <a:pPr>
              <a:lnSpc>
                <a:spcPct val="150000"/>
              </a:lnSpc>
            </a:pPr>
            <a:r>
              <a:rPr lang="en-US" b="1" dirty="0"/>
              <a:t>Examples:</a:t>
            </a:r>
            <a:endParaRPr lang="en-US" dirty="0"/>
          </a:p>
          <a:p>
            <a:pPr lvl="1">
              <a:lnSpc>
                <a:spcPct val="150000"/>
              </a:lnSpc>
            </a:pPr>
            <a:r>
              <a:rPr lang="en-US" b="1" dirty="0"/>
              <a:t>OSPF (Open Shortest Path First)</a:t>
            </a:r>
            <a:endParaRPr lang="en-US" dirty="0"/>
          </a:p>
          <a:p>
            <a:pPr lvl="1">
              <a:lnSpc>
                <a:spcPct val="150000"/>
              </a:lnSpc>
            </a:pPr>
            <a:r>
              <a:rPr lang="en-US" b="1" dirty="0"/>
              <a:t>IS-IS</a:t>
            </a:r>
            <a:endParaRPr lang="en-US" dirty="0"/>
          </a:p>
        </p:txBody>
      </p:sp>
    </p:spTree>
    <p:extLst>
      <p:ext uri="{BB962C8B-B14F-4D97-AF65-F5344CB8AC3E}">
        <p14:creationId xmlns:p14="http://schemas.microsoft.com/office/powerpoint/2010/main" val="3684403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D4D593E-41A5-01DB-559C-444E52833EAD}"/>
              </a:ext>
            </a:extLst>
          </p:cNvPr>
          <p:cNvSpPr>
            <a:spLocks noGrp="1"/>
          </p:cNvSpPr>
          <p:nvPr>
            <p:ph type="ftr" sz="quarter" idx="11"/>
          </p:nvPr>
        </p:nvSpPr>
        <p:spPr/>
        <p:txBody>
          <a:bodyPr/>
          <a:lstStyle/>
          <a:p>
            <a:pPr defTabSz="609600"/>
            <a:r>
              <a:rPr lang="en-IN"/>
              <a:t>LABOR FOR THE FUTURE</a:t>
            </a:r>
            <a:endParaRPr lang="en-IN" dirty="0"/>
          </a:p>
        </p:txBody>
      </p:sp>
      <p:graphicFrame>
        <p:nvGraphicFramePr>
          <p:cNvPr id="3" name="Table 2">
            <a:extLst>
              <a:ext uri="{FF2B5EF4-FFF2-40B4-BE49-F238E27FC236}">
                <a16:creationId xmlns:a16="http://schemas.microsoft.com/office/drawing/2014/main" id="{68E47245-991D-A606-CD89-800D8A374220}"/>
              </a:ext>
            </a:extLst>
          </p:cNvPr>
          <p:cNvGraphicFramePr>
            <a:graphicFrameLocks noGrp="1"/>
          </p:cNvGraphicFramePr>
          <p:nvPr>
            <p:extLst>
              <p:ext uri="{D42A27DB-BD31-4B8C-83A1-F6EECF244321}">
                <p14:modId xmlns:p14="http://schemas.microsoft.com/office/powerpoint/2010/main" val="4109754311"/>
              </p:ext>
            </p:extLst>
          </p:nvPr>
        </p:nvGraphicFramePr>
        <p:xfrm>
          <a:off x="609600" y="1600200"/>
          <a:ext cx="10972800" cy="3657600"/>
        </p:xfrm>
        <a:graphic>
          <a:graphicData uri="http://schemas.openxmlformats.org/drawingml/2006/table">
            <a:tbl>
              <a:tblPr/>
              <a:tblGrid>
                <a:gridCol w="3657600">
                  <a:extLst>
                    <a:ext uri="{9D8B030D-6E8A-4147-A177-3AD203B41FA5}">
                      <a16:colId xmlns:a16="http://schemas.microsoft.com/office/drawing/2014/main" val="2199600094"/>
                    </a:ext>
                  </a:extLst>
                </a:gridCol>
                <a:gridCol w="3657600">
                  <a:extLst>
                    <a:ext uri="{9D8B030D-6E8A-4147-A177-3AD203B41FA5}">
                      <a16:colId xmlns:a16="http://schemas.microsoft.com/office/drawing/2014/main" val="4188292430"/>
                    </a:ext>
                  </a:extLst>
                </a:gridCol>
                <a:gridCol w="3657600">
                  <a:extLst>
                    <a:ext uri="{9D8B030D-6E8A-4147-A177-3AD203B41FA5}">
                      <a16:colId xmlns:a16="http://schemas.microsoft.com/office/drawing/2014/main" val="1042018683"/>
                    </a:ext>
                  </a:extLst>
                </a:gridCol>
              </a:tblGrid>
              <a:tr h="0">
                <a:tc>
                  <a:txBody>
                    <a:bodyPr/>
                    <a:lstStyle/>
                    <a:p>
                      <a:pPr>
                        <a:buNone/>
                      </a:pPr>
                      <a:r>
                        <a:rPr lang="en-US" b="1"/>
                        <a:t>Feature</a:t>
                      </a:r>
                    </a:p>
                  </a:txBody>
                  <a:tcPr anchor="ctr">
                    <a:lnL>
                      <a:noFill/>
                    </a:lnL>
                    <a:lnR>
                      <a:noFill/>
                    </a:lnR>
                    <a:lnT>
                      <a:noFill/>
                    </a:lnT>
                    <a:lnB>
                      <a:noFill/>
                    </a:lnB>
                    <a:noFill/>
                  </a:tcPr>
                </a:tc>
                <a:tc>
                  <a:txBody>
                    <a:bodyPr/>
                    <a:lstStyle/>
                    <a:p>
                      <a:pPr>
                        <a:buNone/>
                      </a:pPr>
                      <a:r>
                        <a:rPr lang="en-US" b="1"/>
                        <a:t>Distance-Vector</a:t>
                      </a:r>
                    </a:p>
                  </a:txBody>
                  <a:tcPr anchor="ctr">
                    <a:lnL>
                      <a:noFill/>
                    </a:lnL>
                    <a:lnR>
                      <a:noFill/>
                    </a:lnR>
                    <a:lnT>
                      <a:noFill/>
                    </a:lnT>
                    <a:lnB>
                      <a:noFill/>
                    </a:lnB>
                    <a:noFill/>
                  </a:tcPr>
                </a:tc>
                <a:tc>
                  <a:txBody>
                    <a:bodyPr/>
                    <a:lstStyle/>
                    <a:p>
                      <a:pPr>
                        <a:buNone/>
                      </a:pPr>
                      <a:r>
                        <a:rPr lang="en-US" b="1" dirty="0"/>
                        <a:t>Link-State</a:t>
                      </a:r>
                    </a:p>
                  </a:txBody>
                  <a:tcPr anchor="ctr">
                    <a:lnL>
                      <a:noFill/>
                    </a:lnL>
                    <a:lnR>
                      <a:noFill/>
                    </a:lnR>
                    <a:lnT>
                      <a:noFill/>
                    </a:lnT>
                    <a:lnB>
                      <a:noFill/>
                    </a:lnB>
                    <a:noFill/>
                  </a:tcPr>
                </a:tc>
                <a:extLst>
                  <a:ext uri="{0D108BD9-81ED-4DB2-BD59-A6C34878D82A}">
                    <a16:rowId xmlns:a16="http://schemas.microsoft.com/office/drawing/2014/main" val="2687525174"/>
                  </a:ext>
                </a:extLst>
              </a:tr>
              <a:tr h="0">
                <a:tc>
                  <a:txBody>
                    <a:bodyPr/>
                    <a:lstStyle/>
                    <a:p>
                      <a:pPr>
                        <a:buNone/>
                      </a:pPr>
                      <a:r>
                        <a:rPr lang="en-US" b="1"/>
                        <a:t>Knowledge of network</a:t>
                      </a:r>
                      <a:endParaRPr lang="en-US"/>
                    </a:p>
                  </a:txBody>
                  <a:tcPr anchor="ctr">
                    <a:lnL>
                      <a:noFill/>
                    </a:lnL>
                    <a:lnR>
                      <a:noFill/>
                    </a:lnR>
                    <a:lnT>
                      <a:noFill/>
                    </a:lnT>
                    <a:lnB>
                      <a:noFill/>
                    </a:lnB>
                    <a:noFill/>
                  </a:tcPr>
                </a:tc>
                <a:tc>
                  <a:txBody>
                    <a:bodyPr/>
                    <a:lstStyle/>
                    <a:p>
                      <a:pPr>
                        <a:buNone/>
                      </a:pPr>
                      <a:r>
                        <a:rPr lang="en-US"/>
                        <a:t>Knows only </a:t>
                      </a:r>
                      <a:r>
                        <a:rPr lang="en-US" b="1"/>
                        <a:t>neighbor’s info</a:t>
                      </a:r>
                      <a:r>
                        <a:rPr lang="en-US"/>
                        <a:t> (distance &amp; direction)</a:t>
                      </a:r>
                    </a:p>
                  </a:txBody>
                  <a:tcPr anchor="ctr">
                    <a:lnL>
                      <a:noFill/>
                    </a:lnL>
                    <a:lnR>
                      <a:noFill/>
                    </a:lnR>
                    <a:lnT>
                      <a:noFill/>
                    </a:lnT>
                    <a:lnB>
                      <a:noFill/>
                    </a:lnB>
                    <a:noFill/>
                  </a:tcPr>
                </a:tc>
                <a:tc>
                  <a:txBody>
                    <a:bodyPr/>
                    <a:lstStyle/>
                    <a:p>
                      <a:pPr>
                        <a:buNone/>
                      </a:pPr>
                      <a:r>
                        <a:rPr lang="en-US"/>
                        <a:t>Knows </a:t>
                      </a:r>
                      <a:r>
                        <a:rPr lang="en-US" b="1"/>
                        <a:t>full network topology</a:t>
                      </a:r>
                      <a:endParaRPr lang="en-US"/>
                    </a:p>
                  </a:txBody>
                  <a:tcPr anchor="ctr">
                    <a:lnL>
                      <a:noFill/>
                    </a:lnL>
                    <a:lnR>
                      <a:noFill/>
                    </a:lnR>
                    <a:lnT>
                      <a:noFill/>
                    </a:lnT>
                    <a:lnB>
                      <a:noFill/>
                    </a:lnB>
                    <a:noFill/>
                  </a:tcPr>
                </a:tc>
                <a:extLst>
                  <a:ext uri="{0D108BD9-81ED-4DB2-BD59-A6C34878D82A}">
                    <a16:rowId xmlns:a16="http://schemas.microsoft.com/office/drawing/2014/main" val="1104029452"/>
                  </a:ext>
                </a:extLst>
              </a:tr>
              <a:tr h="0">
                <a:tc>
                  <a:txBody>
                    <a:bodyPr/>
                    <a:lstStyle/>
                    <a:p>
                      <a:pPr>
                        <a:buNone/>
                      </a:pPr>
                      <a:r>
                        <a:rPr lang="en-US" b="1"/>
                        <a:t>Updates</a:t>
                      </a:r>
                      <a:endParaRPr lang="en-US"/>
                    </a:p>
                  </a:txBody>
                  <a:tcPr anchor="ctr">
                    <a:lnL>
                      <a:noFill/>
                    </a:lnL>
                    <a:lnR>
                      <a:noFill/>
                    </a:lnR>
                    <a:lnT>
                      <a:noFill/>
                    </a:lnT>
                    <a:lnB>
                      <a:noFill/>
                    </a:lnB>
                    <a:noFill/>
                  </a:tcPr>
                </a:tc>
                <a:tc>
                  <a:txBody>
                    <a:bodyPr/>
                    <a:lstStyle/>
                    <a:p>
                      <a:pPr>
                        <a:buNone/>
                      </a:pPr>
                      <a:r>
                        <a:rPr lang="en-US"/>
                        <a:t>Periodic full routing table updates to neighbors</a:t>
                      </a:r>
                    </a:p>
                  </a:txBody>
                  <a:tcPr anchor="ctr">
                    <a:lnL>
                      <a:noFill/>
                    </a:lnL>
                    <a:lnR>
                      <a:noFill/>
                    </a:lnR>
                    <a:lnT>
                      <a:noFill/>
                    </a:lnT>
                    <a:lnB>
                      <a:noFill/>
                    </a:lnB>
                    <a:noFill/>
                  </a:tcPr>
                </a:tc>
                <a:tc>
                  <a:txBody>
                    <a:bodyPr/>
                    <a:lstStyle/>
                    <a:p>
                      <a:pPr>
                        <a:buNone/>
                      </a:pPr>
                      <a:r>
                        <a:rPr lang="en-US" dirty="0"/>
                        <a:t>Sends only </a:t>
                      </a:r>
                      <a:r>
                        <a:rPr lang="en-US" b="1" dirty="0"/>
                        <a:t>LSAs (changes)</a:t>
                      </a:r>
                      <a:r>
                        <a:rPr lang="en-US" dirty="0"/>
                        <a:t>, flooded to all routers</a:t>
                      </a:r>
                    </a:p>
                  </a:txBody>
                  <a:tcPr anchor="ctr">
                    <a:lnL>
                      <a:noFill/>
                    </a:lnL>
                    <a:lnR>
                      <a:noFill/>
                    </a:lnR>
                    <a:lnT>
                      <a:noFill/>
                    </a:lnT>
                    <a:lnB>
                      <a:noFill/>
                    </a:lnB>
                    <a:noFill/>
                  </a:tcPr>
                </a:tc>
                <a:extLst>
                  <a:ext uri="{0D108BD9-81ED-4DB2-BD59-A6C34878D82A}">
                    <a16:rowId xmlns:a16="http://schemas.microsoft.com/office/drawing/2014/main" val="3188527395"/>
                  </a:ext>
                </a:extLst>
              </a:tr>
              <a:tr h="0">
                <a:tc>
                  <a:txBody>
                    <a:bodyPr/>
                    <a:lstStyle/>
                    <a:p>
                      <a:pPr>
                        <a:buNone/>
                      </a:pPr>
                      <a:r>
                        <a:rPr lang="en-US" b="1"/>
                        <a:t>Algorithm</a:t>
                      </a:r>
                      <a:endParaRPr lang="en-US"/>
                    </a:p>
                  </a:txBody>
                  <a:tcPr anchor="ctr">
                    <a:lnL>
                      <a:noFill/>
                    </a:lnL>
                    <a:lnR>
                      <a:noFill/>
                    </a:lnR>
                    <a:lnT>
                      <a:noFill/>
                    </a:lnT>
                    <a:lnB>
                      <a:noFill/>
                    </a:lnB>
                    <a:noFill/>
                  </a:tcPr>
                </a:tc>
                <a:tc>
                  <a:txBody>
                    <a:bodyPr/>
                    <a:lstStyle/>
                    <a:p>
                      <a:pPr>
                        <a:buNone/>
                      </a:pPr>
                      <a:r>
                        <a:rPr lang="en-US"/>
                        <a:t>Bellman-Ford</a:t>
                      </a:r>
                    </a:p>
                  </a:txBody>
                  <a:tcPr anchor="ctr">
                    <a:lnL>
                      <a:noFill/>
                    </a:lnL>
                    <a:lnR>
                      <a:noFill/>
                    </a:lnR>
                    <a:lnT>
                      <a:noFill/>
                    </a:lnT>
                    <a:lnB>
                      <a:noFill/>
                    </a:lnB>
                    <a:noFill/>
                  </a:tcPr>
                </a:tc>
                <a:tc>
                  <a:txBody>
                    <a:bodyPr/>
                    <a:lstStyle/>
                    <a:p>
                      <a:pPr>
                        <a:buNone/>
                      </a:pPr>
                      <a:r>
                        <a:rPr lang="en-US"/>
                        <a:t>Dijkstra’s SPF (Shortest Path First)</a:t>
                      </a:r>
                    </a:p>
                  </a:txBody>
                  <a:tcPr anchor="ctr">
                    <a:lnL>
                      <a:noFill/>
                    </a:lnL>
                    <a:lnR>
                      <a:noFill/>
                    </a:lnR>
                    <a:lnT>
                      <a:noFill/>
                    </a:lnT>
                    <a:lnB>
                      <a:noFill/>
                    </a:lnB>
                    <a:noFill/>
                  </a:tcPr>
                </a:tc>
                <a:extLst>
                  <a:ext uri="{0D108BD9-81ED-4DB2-BD59-A6C34878D82A}">
                    <a16:rowId xmlns:a16="http://schemas.microsoft.com/office/drawing/2014/main" val="3031698304"/>
                  </a:ext>
                </a:extLst>
              </a:tr>
              <a:tr h="0">
                <a:tc>
                  <a:txBody>
                    <a:bodyPr/>
                    <a:lstStyle/>
                    <a:p>
                      <a:pPr>
                        <a:buNone/>
                      </a:pPr>
                      <a:r>
                        <a:rPr lang="en-US" b="1"/>
                        <a:t>Convergence</a:t>
                      </a:r>
                      <a:endParaRPr lang="en-US"/>
                    </a:p>
                  </a:txBody>
                  <a:tcPr anchor="ctr">
                    <a:lnL>
                      <a:noFill/>
                    </a:lnL>
                    <a:lnR>
                      <a:noFill/>
                    </a:lnR>
                    <a:lnT>
                      <a:noFill/>
                    </a:lnT>
                    <a:lnB>
                      <a:noFill/>
                    </a:lnB>
                    <a:noFill/>
                  </a:tcPr>
                </a:tc>
                <a:tc>
                  <a:txBody>
                    <a:bodyPr/>
                    <a:lstStyle/>
                    <a:p>
                      <a:pPr>
                        <a:buNone/>
                      </a:pPr>
                      <a:r>
                        <a:rPr lang="en-US"/>
                        <a:t>Slower, risk of loops (e.g., count-to-infinity)</a:t>
                      </a:r>
                    </a:p>
                  </a:txBody>
                  <a:tcPr anchor="ctr">
                    <a:lnL>
                      <a:noFill/>
                    </a:lnL>
                    <a:lnR>
                      <a:noFill/>
                    </a:lnR>
                    <a:lnT>
                      <a:noFill/>
                    </a:lnT>
                    <a:lnB>
                      <a:noFill/>
                    </a:lnB>
                    <a:noFill/>
                  </a:tcPr>
                </a:tc>
                <a:tc>
                  <a:txBody>
                    <a:bodyPr/>
                    <a:lstStyle/>
                    <a:p>
                      <a:pPr>
                        <a:buNone/>
                      </a:pPr>
                      <a:r>
                        <a:rPr lang="en-US"/>
                        <a:t>Faster, loop-free once SPF runs</a:t>
                      </a:r>
                    </a:p>
                  </a:txBody>
                  <a:tcPr anchor="ctr">
                    <a:lnL>
                      <a:noFill/>
                    </a:lnL>
                    <a:lnR>
                      <a:noFill/>
                    </a:lnR>
                    <a:lnT>
                      <a:noFill/>
                    </a:lnT>
                    <a:lnB>
                      <a:noFill/>
                    </a:lnB>
                    <a:noFill/>
                  </a:tcPr>
                </a:tc>
                <a:extLst>
                  <a:ext uri="{0D108BD9-81ED-4DB2-BD59-A6C34878D82A}">
                    <a16:rowId xmlns:a16="http://schemas.microsoft.com/office/drawing/2014/main" val="2297132813"/>
                  </a:ext>
                </a:extLst>
              </a:tr>
              <a:tr h="0">
                <a:tc>
                  <a:txBody>
                    <a:bodyPr/>
                    <a:lstStyle/>
                    <a:p>
                      <a:pPr>
                        <a:buNone/>
                      </a:pPr>
                      <a:r>
                        <a:rPr lang="en-US" b="1"/>
                        <a:t>Scalability</a:t>
                      </a:r>
                      <a:endParaRPr lang="en-US"/>
                    </a:p>
                  </a:txBody>
                  <a:tcPr anchor="ctr">
                    <a:lnL>
                      <a:noFill/>
                    </a:lnL>
                    <a:lnR>
                      <a:noFill/>
                    </a:lnR>
                    <a:lnT>
                      <a:noFill/>
                    </a:lnT>
                    <a:lnB>
                      <a:noFill/>
                    </a:lnB>
                    <a:noFill/>
                  </a:tcPr>
                </a:tc>
                <a:tc>
                  <a:txBody>
                    <a:bodyPr/>
                    <a:lstStyle/>
                    <a:p>
                      <a:pPr>
                        <a:buNone/>
                      </a:pPr>
                      <a:r>
                        <a:rPr lang="en-US"/>
                        <a:t>Small networks (less resource use)</a:t>
                      </a:r>
                    </a:p>
                  </a:txBody>
                  <a:tcPr anchor="ctr">
                    <a:lnL>
                      <a:noFill/>
                    </a:lnL>
                    <a:lnR>
                      <a:noFill/>
                    </a:lnR>
                    <a:lnT>
                      <a:noFill/>
                    </a:lnT>
                    <a:lnB>
                      <a:noFill/>
                    </a:lnB>
                    <a:noFill/>
                  </a:tcPr>
                </a:tc>
                <a:tc>
                  <a:txBody>
                    <a:bodyPr/>
                    <a:lstStyle/>
                    <a:p>
                      <a:pPr>
                        <a:buNone/>
                      </a:pPr>
                      <a:r>
                        <a:rPr lang="en-US"/>
                        <a:t>Large networks (needs more CPU &amp; memory)</a:t>
                      </a:r>
                    </a:p>
                  </a:txBody>
                  <a:tcPr anchor="ctr">
                    <a:lnL>
                      <a:noFill/>
                    </a:lnL>
                    <a:lnR>
                      <a:noFill/>
                    </a:lnR>
                    <a:lnT>
                      <a:noFill/>
                    </a:lnT>
                    <a:lnB>
                      <a:noFill/>
                    </a:lnB>
                    <a:noFill/>
                  </a:tcPr>
                </a:tc>
                <a:extLst>
                  <a:ext uri="{0D108BD9-81ED-4DB2-BD59-A6C34878D82A}">
                    <a16:rowId xmlns:a16="http://schemas.microsoft.com/office/drawing/2014/main" val="2727609052"/>
                  </a:ext>
                </a:extLst>
              </a:tr>
              <a:tr h="0">
                <a:tc>
                  <a:txBody>
                    <a:bodyPr/>
                    <a:lstStyle/>
                    <a:p>
                      <a:pPr>
                        <a:buNone/>
                      </a:pPr>
                      <a:r>
                        <a:rPr lang="en-US" b="1"/>
                        <a:t>Examples</a:t>
                      </a:r>
                      <a:endParaRPr lang="en-US"/>
                    </a:p>
                  </a:txBody>
                  <a:tcPr anchor="ctr">
                    <a:lnL>
                      <a:noFill/>
                    </a:lnL>
                    <a:lnR>
                      <a:noFill/>
                    </a:lnR>
                    <a:lnT>
                      <a:noFill/>
                    </a:lnT>
                    <a:lnB>
                      <a:noFill/>
                    </a:lnB>
                    <a:noFill/>
                  </a:tcPr>
                </a:tc>
                <a:tc>
                  <a:txBody>
                    <a:bodyPr/>
                    <a:lstStyle/>
                    <a:p>
                      <a:pPr>
                        <a:buNone/>
                      </a:pPr>
                      <a:r>
                        <a:rPr lang="en-US"/>
                        <a:t>RIP, IGRP</a:t>
                      </a:r>
                    </a:p>
                  </a:txBody>
                  <a:tcPr anchor="ctr">
                    <a:lnL>
                      <a:noFill/>
                    </a:lnL>
                    <a:lnR>
                      <a:noFill/>
                    </a:lnR>
                    <a:lnT>
                      <a:noFill/>
                    </a:lnT>
                    <a:lnB>
                      <a:noFill/>
                    </a:lnB>
                    <a:noFill/>
                  </a:tcPr>
                </a:tc>
                <a:tc>
                  <a:txBody>
                    <a:bodyPr/>
                    <a:lstStyle/>
                    <a:p>
                      <a:pPr>
                        <a:buNone/>
                      </a:pPr>
                      <a:r>
                        <a:rPr lang="en-US" dirty="0"/>
                        <a:t>OSPF, IS-IS</a:t>
                      </a:r>
                    </a:p>
                  </a:txBody>
                  <a:tcPr anchor="ctr">
                    <a:lnL>
                      <a:noFill/>
                    </a:lnL>
                    <a:lnR>
                      <a:noFill/>
                    </a:lnR>
                    <a:lnT>
                      <a:noFill/>
                    </a:lnT>
                    <a:lnB>
                      <a:noFill/>
                    </a:lnB>
                    <a:noFill/>
                  </a:tcPr>
                </a:tc>
                <a:extLst>
                  <a:ext uri="{0D108BD9-81ED-4DB2-BD59-A6C34878D82A}">
                    <a16:rowId xmlns:a16="http://schemas.microsoft.com/office/drawing/2014/main" val="217577384"/>
                  </a:ext>
                </a:extLst>
              </a:tr>
            </a:tbl>
          </a:graphicData>
        </a:graphic>
      </p:graphicFrame>
      <p:sp>
        <p:nvSpPr>
          <p:cNvPr id="4" name="Rectangle 1">
            <a:extLst>
              <a:ext uri="{FF2B5EF4-FFF2-40B4-BE49-F238E27FC236}">
                <a16:creationId xmlns:a16="http://schemas.microsoft.com/office/drawing/2014/main" id="{7DC34B1C-87EE-D072-AAE0-15F1B7A3CC49}"/>
              </a:ext>
            </a:extLst>
          </p:cNvPr>
          <p:cNvSpPr>
            <a:spLocks noChangeArrowheads="1"/>
          </p:cNvSpPr>
          <p:nvPr/>
        </p:nvSpPr>
        <p:spPr bwMode="auto">
          <a:xfrm>
            <a:off x="609600" y="647782"/>
            <a:ext cx="11937406"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RW" altLang="en-RW" sz="2000" b="1" i="0" u="none" strike="noStrike" cap="none" normalizeH="0" baseline="0" dirty="0">
                <a:ln>
                  <a:noFill/>
                </a:ln>
                <a:solidFill>
                  <a:schemeClr val="tx1"/>
                </a:solidFill>
                <a:effectLst/>
                <a:latin typeface="Arial" panose="020B0604020202020204" pitchFamily="34" charset="0"/>
              </a:rPr>
              <a:t>quick summary table</a:t>
            </a:r>
            <a:r>
              <a:rPr kumimoji="0" lang="en-RW" altLang="en-RW" sz="2000" b="0" i="0" u="none" strike="noStrike" cap="none" normalizeH="0" baseline="0" dirty="0">
                <a:ln>
                  <a:noFill/>
                </a:ln>
                <a:solidFill>
                  <a:schemeClr val="tx1"/>
                </a:solidFill>
                <a:effectLst/>
                <a:latin typeface="Arial" panose="020B0604020202020204" pitchFamily="34" charset="0"/>
              </a:rPr>
              <a:t> of the main differences between </a:t>
            </a:r>
            <a:r>
              <a:rPr kumimoji="0" lang="en-RW" altLang="en-RW" sz="2000" b="1" i="0" u="none" strike="noStrike" cap="none" normalizeH="0" baseline="0" dirty="0">
                <a:ln>
                  <a:noFill/>
                </a:ln>
                <a:solidFill>
                  <a:schemeClr val="tx1"/>
                </a:solidFill>
                <a:effectLst/>
                <a:latin typeface="Arial" panose="020B0604020202020204" pitchFamily="34" charset="0"/>
              </a:rPr>
              <a:t>Link-State</a:t>
            </a:r>
            <a:r>
              <a:rPr kumimoji="0" lang="en-RW" altLang="en-RW" sz="2000" b="0" i="0" u="none" strike="noStrike" cap="none" normalizeH="0" baseline="0" dirty="0">
                <a:ln>
                  <a:noFill/>
                </a:ln>
                <a:solidFill>
                  <a:schemeClr val="tx1"/>
                </a:solidFill>
                <a:effectLst/>
                <a:latin typeface="Arial" panose="020B0604020202020204" pitchFamily="34" charset="0"/>
              </a:rPr>
              <a:t> and </a:t>
            </a:r>
            <a:r>
              <a:rPr kumimoji="0" lang="en-RW" altLang="en-RW" sz="2000" b="1" i="0" u="none" strike="noStrike" cap="none" normalizeH="0" baseline="0" dirty="0">
                <a:ln>
                  <a:noFill/>
                </a:ln>
                <a:solidFill>
                  <a:schemeClr val="tx1"/>
                </a:solidFill>
                <a:effectLst/>
                <a:latin typeface="Arial" panose="020B0604020202020204" pitchFamily="34" charset="0"/>
              </a:rPr>
              <a:t>Distance-Vector</a:t>
            </a:r>
            <a:r>
              <a:rPr kumimoji="0" lang="en-RW" altLang="en-RW" sz="2000" b="0" i="0" u="none" strike="noStrike" cap="none" normalizeH="0" baseline="0" dirty="0">
                <a:ln>
                  <a:noFill/>
                </a:ln>
                <a:solidFill>
                  <a:schemeClr val="tx1"/>
                </a:solidFill>
                <a:effectLst/>
                <a:latin typeface="Arial" panose="020B0604020202020204" pitchFamily="34" charset="0"/>
              </a:rPr>
              <a:t> routing protocols: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RW" altLang="en-RW"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74315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defTabSz="609600"/>
            <a:r>
              <a:rPr lang="en-IN"/>
              <a:t>LABOR FOR THE FUTURE</a:t>
            </a:r>
            <a:endParaRPr lang="en-IN" dirty="0"/>
          </a:p>
        </p:txBody>
      </p:sp>
      <p:sp>
        <p:nvSpPr>
          <p:cNvPr id="4" name="Rectangle 3"/>
          <p:cNvSpPr/>
          <p:nvPr/>
        </p:nvSpPr>
        <p:spPr>
          <a:xfrm>
            <a:off x="265042" y="733588"/>
            <a:ext cx="11502887" cy="5940857"/>
          </a:xfrm>
          <a:prstGeom prst="rect">
            <a:avLst/>
          </a:prstGeom>
        </p:spPr>
        <p:txBody>
          <a:bodyPr wrap="square">
            <a:spAutoFit/>
          </a:bodyPr>
          <a:lstStyle/>
          <a:p>
            <a:pPr>
              <a:lnSpc>
                <a:spcPct val="107000"/>
              </a:lnSpc>
              <a:spcAft>
                <a:spcPts val="80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Configuration of EIGRP</a:t>
            </a:r>
            <a:endParaRPr lang="en-US" sz="2000" dirty="0">
              <a:latin typeface="Calibri" panose="020F0502020204030204" charset="0"/>
              <a:ea typeface="Calibri" panose="020F0502020204030204" charset="0"/>
              <a:cs typeface="Times New Roman" panose="02020603050405020304" pitchFamily="18" charset="0"/>
            </a:endParaRPr>
          </a:p>
          <a:p>
            <a:pPr>
              <a:lnSpc>
                <a:spcPct val="107000"/>
              </a:lnSpc>
              <a:spcAft>
                <a:spcPts val="80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Here’s a simple EIGRP configuration guide for a Cisco router:</a:t>
            </a:r>
            <a:endParaRPr lang="en-US" sz="2000" dirty="0">
              <a:latin typeface="Calibri" panose="020F0502020204030204" charset="0"/>
              <a:ea typeface="Calibri" panose="020F0502020204030204" charset="0"/>
              <a:cs typeface="Times New Roman" panose="02020603050405020304" pitchFamily="18" charset="0"/>
            </a:endParaRPr>
          </a:p>
          <a:p>
            <a:pPr>
              <a:lnSpc>
                <a:spcPct val="107000"/>
              </a:lnSpc>
              <a:spcAft>
                <a:spcPts val="80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1. Enabling EIGRP</a:t>
            </a:r>
            <a:endParaRPr lang="en-US" sz="2000" dirty="0">
              <a:latin typeface="Calibri" panose="020F0502020204030204" charset="0"/>
              <a:ea typeface="Calibri" panose="020F050202020403020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Access the global configuration mode and enable EIGRP with an Autonomous System (AS) number, which must match on all routers for them to communicate.</a:t>
            </a:r>
            <a:endParaRPr lang="en-US" sz="2000" dirty="0">
              <a:latin typeface="Calibri" panose="020F0502020204030204" charset="0"/>
              <a:ea typeface="Calibri" panose="020F050202020403020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latin typeface="Courier New" panose="02070309020205020404" pitchFamily="49" charset="0"/>
                <a:ea typeface="Times New Roman" panose="02020603050405020304" pitchFamily="18" charset="0"/>
                <a:cs typeface="Times New Roman" panose="02020603050405020304" pitchFamily="18" charset="0"/>
              </a:rPr>
              <a:t>Router(</a:t>
            </a:r>
            <a:r>
              <a:rPr lang="en-US" sz="2000" dirty="0" err="1">
                <a:latin typeface="Courier New" panose="02070309020205020404" pitchFamily="49" charset="0"/>
                <a:ea typeface="Times New Roman" panose="02020603050405020304" pitchFamily="18" charset="0"/>
                <a:cs typeface="Times New Roman" panose="02020603050405020304" pitchFamily="18" charset="0"/>
              </a:rPr>
              <a:t>config</a:t>
            </a:r>
            <a:r>
              <a:rPr lang="en-US" sz="2000" dirty="0">
                <a:latin typeface="Courier New" panose="02070309020205020404" pitchFamily="49" charset="0"/>
                <a:ea typeface="Times New Roman" panose="02020603050405020304" pitchFamily="18" charset="0"/>
                <a:cs typeface="Times New Roman" panose="02020603050405020304" pitchFamily="18" charset="0"/>
              </a:rPr>
              <a:t>)# router </a:t>
            </a:r>
            <a:r>
              <a:rPr lang="en-US" sz="2000" dirty="0" err="1">
                <a:latin typeface="Courier New" panose="02070309020205020404" pitchFamily="49" charset="0"/>
                <a:ea typeface="Times New Roman" panose="02020603050405020304" pitchFamily="18" charset="0"/>
                <a:cs typeface="Times New Roman" panose="02020603050405020304" pitchFamily="18" charset="0"/>
              </a:rPr>
              <a:t>eigrp</a:t>
            </a:r>
            <a:r>
              <a:rPr lang="en-US" sz="2000" dirty="0">
                <a:latin typeface="Courier New" panose="02070309020205020404" pitchFamily="49" charset="0"/>
                <a:ea typeface="Times New Roman" panose="02020603050405020304" pitchFamily="18" charset="0"/>
                <a:cs typeface="Times New Roman" panose="02020603050405020304" pitchFamily="18" charset="0"/>
              </a:rPr>
              <a:t> &lt;AS-number&gt;</a:t>
            </a:r>
            <a:endParaRPr lang="en-US" sz="2000" dirty="0">
              <a:latin typeface="Calibri" panose="020F0502020204030204" charset="0"/>
              <a:ea typeface="Calibri" panose="020F0502020204030204" charset="0"/>
              <a:cs typeface="Times New Roman" panose="02020603050405020304" pitchFamily="18" charset="0"/>
            </a:endParaRPr>
          </a:p>
          <a:p>
            <a:pPr>
              <a:lnSpc>
                <a:spcPct val="107000"/>
              </a:lnSpc>
              <a:spcAft>
                <a:spcPts val="80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2. Advertising Networks</a:t>
            </a:r>
            <a:endParaRPr lang="en-US" sz="2000" dirty="0">
              <a:latin typeface="Calibri" panose="020F0502020204030204" charset="0"/>
              <a:ea typeface="Calibri" panose="020F050202020403020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Define the networks that will participate in EIGRP. Only interfaces that match these networks will be part of the EIGRP process.</a:t>
            </a:r>
            <a:endParaRPr lang="en-US" sz="2000" dirty="0">
              <a:latin typeface="Calibri" panose="020F0502020204030204" charset="0"/>
              <a:ea typeface="Calibri" panose="020F050202020403020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EIGRP will automatically calculate the best route for each subnet within these networks.</a:t>
            </a:r>
            <a:endParaRPr lang="en-US" sz="2000" dirty="0">
              <a:latin typeface="Calibri" panose="020F0502020204030204" charset="0"/>
              <a:ea typeface="Calibri" panose="020F050202020403020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latin typeface="Courier New" panose="02070309020205020404" pitchFamily="49" charset="0"/>
                <a:ea typeface="Times New Roman" panose="02020603050405020304" pitchFamily="18" charset="0"/>
                <a:cs typeface="Times New Roman" panose="02020603050405020304" pitchFamily="18" charset="0"/>
              </a:rPr>
              <a:t>Router(</a:t>
            </a:r>
            <a:r>
              <a:rPr lang="en-US" sz="2000" dirty="0" err="1">
                <a:latin typeface="Courier New" panose="02070309020205020404" pitchFamily="49" charset="0"/>
                <a:ea typeface="Times New Roman" panose="02020603050405020304" pitchFamily="18" charset="0"/>
                <a:cs typeface="Times New Roman" panose="02020603050405020304" pitchFamily="18" charset="0"/>
              </a:rPr>
              <a:t>config</a:t>
            </a:r>
            <a:r>
              <a:rPr lang="en-US" sz="2000" dirty="0">
                <a:latin typeface="Courier New" panose="02070309020205020404" pitchFamily="49" charset="0"/>
                <a:ea typeface="Times New Roman" panose="02020603050405020304" pitchFamily="18" charset="0"/>
                <a:cs typeface="Times New Roman" panose="02020603050405020304" pitchFamily="18" charset="0"/>
              </a:rPr>
              <a:t>-router)# network &lt;network-address&gt; &lt;wildcard-mask&gt;</a:t>
            </a:r>
            <a:endParaRPr lang="en-US" sz="2000" dirty="0">
              <a:latin typeface="Calibri" panose="020F0502020204030204" charset="0"/>
              <a:ea typeface="Calibri" panose="020F050202020403020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Example</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000" dirty="0">
              <a:latin typeface="Calibri" panose="020F0502020204030204" charset="0"/>
              <a:ea typeface="Calibri" panose="020F050202020403020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To advertise network 192.168.1.0/24:</a:t>
            </a:r>
            <a:endParaRPr lang="en-US" sz="2000" dirty="0">
              <a:latin typeface="Calibri" panose="020F0502020204030204" charset="0"/>
              <a:ea typeface="Calibri" panose="020F0502020204030204" charset="0"/>
              <a:cs typeface="Times New Roman" panose="02020603050405020304" pitchFamily="18" charset="0"/>
            </a:endParaRPr>
          </a:p>
          <a:p>
            <a:pPr marL="914400" marR="0">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latin typeface="Courier New" panose="02070309020205020404" pitchFamily="49" charset="0"/>
                <a:ea typeface="Times New Roman" panose="02020603050405020304" pitchFamily="18" charset="0"/>
                <a:cs typeface="Times New Roman" panose="02020603050405020304" pitchFamily="18" charset="0"/>
              </a:rPr>
              <a:t>Router(</a:t>
            </a:r>
            <a:r>
              <a:rPr lang="en-US" sz="2000" dirty="0" err="1">
                <a:latin typeface="Courier New" panose="02070309020205020404" pitchFamily="49" charset="0"/>
                <a:ea typeface="Times New Roman" panose="02020603050405020304" pitchFamily="18" charset="0"/>
                <a:cs typeface="Times New Roman" panose="02020603050405020304" pitchFamily="18" charset="0"/>
              </a:rPr>
              <a:t>config</a:t>
            </a:r>
            <a:r>
              <a:rPr lang="en-US" sz="2000" dirty="0">
                <a:latin typeface="Courier New" panose="02070309020205020404" pitchFamily="49" charset="0"/>
                <a:ea typeface="Times New Roman" panose="02020603050405020304" pitchFamily="18" charset="0"/>
                <a:cs typeface="Times New Roman" panose="02020603050405020304" pitchFamily="18" charset="0"/>
              </a:rPr>
              <a:t>-router)# network 192.168.1.0 0.0.0.255</a:t>
            </a:r>
          </a:p>
          <a:p>
            <a:pPr marL="914400" marR="0">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2000" dirty="0">
              <a:effectLst/>
              <a:latin typeface="Calibri" panose="020F0502020204030204" charset="0"/>
              <a:ea typeface="Calibri" panose="020F0502020204030204"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defTabSz="609600"/>
            <a:r>
              <a:rPr lang="en-IN"/>
              <a:t>LABOR FOR THE FUTURE</a:t>
            </a:r>
            <a:endParaRPr lang="en-IN" dirty="0"/>
          </a:p>
        </p:txBody>
      </p:sp>
      <p:sp>
        <p:nvSpPr>
          <p:cNvPr id="3" name="Rectangle 2"/>
          <p:cNvSpPr/>
          <p:nvPr/>
        </p:nvSpPr>
        <p:spPr>
          <a:xfrm>
            <a:off x="490330" y="445758"/>
            <a:ext cx="11224592" cy="6009850"/>
          </a:xfrm>
          <a:prstGeom prst="rect">
            <a:avLst/>
          </a:prstGeom>
        </p:spPr>
        <p:txBody>
          <a:bodyPr wrap="square">
            <a:spAutoFit/>
          </a:bodyPr>
          <a:lstStyle/>
          <a:p>
            <a:pPr>
              <a:lnSpc>
                <a:spcPct val="107000"/>
              </a:lnSpc>
              <a:spcAft>
                <a:spcPts val="800"/>
              </a:spcAft>
            </a:pPr>
            <a:r>
              <a:rPr lang="en-US" sz="1600" b="1" dirty="0">
                <a:ea typeface="Times New Roman" panose="02020603050405020304" pitchFamily="18" charset="0"/>
                <a:cs typeface="Times New Roman" panose="02020603050405020304" pitchFamily="18" charset="0"/>
              </a:rPr>
              <a:t>Example Configuration</a:t>
            </a:r>
            <a:endParaRPr lang="en-US" sz="1600" dirty="0">
              <a:ea typeface="Calibri" panose="020F0502020204030204" charset="0"/>
              <a:cs typeface="Times New Roman" panose="02020603050405020304" pitchFamily="18" charset="0"/>
            </a:endParaRPr>
          </a:p>
          <a:p>
            <a:pPr>
              <a:lnSpc>
                <a:spcPct val="107000"/>
              </a:lnSpc>
              <a:spcAft>
                <a:spcPts val="800"/>
              </a:spcAft>
            </a:pPr>
            <a:r>
              <a:rPr lang="en-US" sz="1600" dirty="0">
                <a:ea typeface="Times New Roman" panose="02020603050405020304" pitchFamily="18" charset="0"/>
                <a:cs typeface="Times New Roman" panose="02020603050405020304" pitchFamily="18" charset="0"/>
              </a:rPr>
              <a:t>Imagine you have two routers (R1 and R2) with directly connected interfaces and IP addresses in the 10.1.1.0/24 and 10.2.2.0/24 networks.</a:t>
            </a:r>
            <a:endParaRPr lang="en-US" sz="1600" dirty="0">
              <a:ea typeface="Calibri" panose="020F0502020204030204" charset="0"/>
              <a:cs typeface="Times New Roman" panose="02020603050405020304" pitchFamily="18" charset="0"/>
            </a:endParaRPr>
          </a:p>
          <a:p>
            <a:pPr>
              <a:lnSpc>
                <a:spcPct val="107000"/>
              </a:lnSpc>
              <a:spcAft>
                <a:spcPts val="800"/>
              </a:spcAft>
            </a:pPr>
            <a:r>
              <a:rPr lang="en-US" sz="1600" b="1" dirty="0">
                <a:ea typeface="Times New Roman" panose="02020603050405020304" pitchFamily="18" charset="0"/>
                <a:cs typeface="Times New Roman" panose="02020603050405020304" pitchFamily="18" charset="0"/>
              </a:rPr>
              <a:t>On Router 1:</a:t>
            </a:r>
            <a:endParaRPr lang="en-US" sz="1600" dirty="0">
              <a:ea typeface="Calibri" panose="020F050202020403020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dirty="0">
                <a:ea typeface="Times New Roman" panose="02020603050405020304" pitchFamily="18" charset="0"/>
                <a:cs typeface="Times New Roman" panose="02020603050405020304" pitchFamily="18" charset="0"/>
              </a:rPr>
              <a:t>Router(</a:t>
            </a:r>
            <a:r>
              <a:rPr lang="en-US" sz="1600" dirty="0" err="1">
                <a:ea typeface="Times New Roman" panose="02020603050405020304" pitchFamily="18" charset="0"/>
                <a:cs typeface="Times New Roman" panose="02020603050405020304" pitchFamily="18" charset="0"/>
              </a:rPr>
              <a:t>config</a:t>
            </a:r>
            <a:r>
              <a:rPr lang="en-US" sz="1600" dirty="0">
                <a:ea typeface="Times New Roman" panose="02020603050405020304" pitchFamily="18" charset="0"/>
                <a:cs typeface="Times New Roman" panose="02020603050405020304" pitchFamily="18" charset="0"/>
              </a:rPr>
              <a:t>)# router </a:t>
            </a:r>
            <a:r>
              <a:rPr lang="en-US" sz="1600" dirty="0" err="1">
                <a:ea typeface="Times New Roman" panose="02020603050405020304" pitchFamily="18" charset="0"/>
                <a:cs typeface="Times New Roman" panose="02020603050405020304" pitchFamily="18" charset="0"/>
              </a:rPr>
              <a:t>eigrp</a:t>
            </a:r>
            <a:r>
              <a:rPr lang="en-US" sz="1600" dirty="0">
                <a:ea typeface="Times New Roman" panose="02020603050405020304" pitchFamily="18" charset="0"/>
                <a:cs typeface="Times New Roman" panose="02020603050405020304" pitchFamily="18" charset="0"/>
              </a:rPr>
              <a:t> 100</a:t>
            </a:r>
            <a:endParaRPr lang="en-US" sz="1600" dirty="0">
              <a:ea typeface="Calibri" panose="020F050202020403020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dirty="0">
                <a:ea typeface="Times New Roman" panose="02020603050405020304" pitchFamily="18" charset="0"/>
                <a:cs typeface="Times New Roman" panose="02020603050405020304" pitchFamily="18" charset="0"/>
              </a:rPr>
              <a:t>Router(</a:t>
            </a:r>
            <a:r>
              <a:rPr lang="en-US" sz="1600" dirty="0" err="1">
                <a:ea typeface="Times New Roman" panose="02020603050405020304" pitchFamily="18" charset="0"/>
                <a:cs typeface="Times New Roman" panose="02020603050405020304" pitchFamily="18" charset="0"/>
              </a:rPr>
              <a:t>config</a:t>
            </a:r>
            <a:r>
              <a:rPr lang="en-US" sz="1600" dirty="0">
                <a:ea typeface="Times New Roman" panose="02020603050405020304" pitchFamily="18" charset="0"/>
                <a:cs typeface="Times New Roman" panose="02020603050405020304" pitchFamily="18" charset="0"/>
              </a:rPr>
              <a:t>-router)# network 10.1.1.0 0.0.0.255</a:t>
            </a:r>
            <a:endParaRPr lang="en-US" sz="1600" dirty="0">
              <a:ea typeface="Calibri" panose="020F050202020403020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dirty="0">
                <a:ea typeface="Times New Roman" panose="02020603050405020304" pitchFamily="18" charset="0"/>
                <a:cs typeface="Times New Roman" panose="02020603050405020304" pitchFamily="18" charset="0"/>
              </a:rPr>
              <a:t>Router(</a:t>
            </a:r>
            <a:r>
              <a:rPr lang="en-US" sz="1600" dirty="0" err="1">
                <a:ea typeface="Times New Roman" panose="02020603050405020304" pitchFamily="18" charset="0"/>
                <a:cs typeface="Times New Roman" panose="02020603050405020304" pitchFamily="18" charset="0"/>
              </a:rPr>
              <a:t>config</a:t>
            </a:r>
            <a:r>
              <a:rPr lang="en-US" sz="1600" dirty="0">
                <a:ea typeface="Times New Roman" panose="02020603050405020304" pitchFamily="18" charset="0"/>
                <a:cs typeface="Times New Roman" panose="02020603050405020304" pitchFamily="18" charset="0"/>
              </a:rPr>
              <a:t>-router)# network 10.2.2.0 0.0.0.255</a:t>
            </a:r>
            <a:endParaRPr lang="en-US" sz="1600" dirty="0">
              <a:ea typeface="Calibri" panose="020F0502020204030204" charset="0"/>
              <a:cs typeface="Times New Roman" panose="02020603050405020304" pitchFamily="18" charset="0"/>
            </a:endParaRPr>
          </a:p>
          <a:p>
            <a:pPr>
              <a:lnSpc>
                <a:spcPct val="107000"/>
              </a:lnSpc>
              <a:spcAft>
                <a:spcPts val="800"/>
              </a:spcAft>
            </a:pPr>
            <a:r>
              <a:rPr lang="en-US" sz="1600" b="1" dirty="0">
                <a:ea typeface="Times New Roman" panose="02020603050405020304" pitchFamily="18" charset="0"/>
                <a:cs typeface="Times New Roman" panose="02020603050405020304" pitchFamily="18" charset="0"/>
              </a:rPr>
              <a:t>On Router 2:</a:t>
            </a:r>
            <a:endParaRPr lang="en-US" sz="1600" dirty="0">
              <a:ea typeface="Calibri" panose="020F050202020403020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dirty="0">
                <a:ea typeface="Times New Roman" panose="02020603050405020304" pitchFamily="18" charset="0"/>
                <a:cs typeface="Times New Roman" panose="02020603050405020304" pitchFamily="18" charset="0"/>
              </a:rPr>
              <a:t>Router(</a:t>
            </a:r>
            <a:r>
              <a:rPr lang="en-US" sz="1600" dirty="0" err="1">
                <a:ea typeface="Times New Roman" panose="02020603050405020304" pitchFamily="18" charset="0"/>
                <a:cs typeface="Times New Roman" panose="02020603050405020304" pitchFamily="18" charset="0"/>
              </a:rPr>
              <a:t>config</a:t>
            </a:r>
            <a:r>
              <a:rPr lang="en-US" sz="1600" dirty="0">
                <a:ea typeface="Times New Roman" panose="02020603050405020304" pitchFamily="18" charset="0"/>
                <a:cs typeface="Times New Roman" panose="02020603050405020304" pitchFamily="18" charset="0"/>
              </a:rPr>
              <a:t>)# router </a:t>
            </a:r>
            <a:r>
              <a:rPr lang="en-US" sz="1600" dirty="0" err="1">
                <a:ea typeface="Times New Roman" panose="02020603050405020304" pitchFamily="18" charset="0"/>
                <a:cs typeface="Times New Roman" panose="02020603050405020304" pitchFamily="18" charset="0"/>
              </a:rPr>
              <a:t>eigrp</a:t>
            </a:r>
            <a:r>
              <a:rPr lang="en-US" sz="1600" dirty="0">
                <a:ea typeface="Times New Roman" panose="02020603050405020304" pitchFamily="18" charset="0"/>
                <a:cs typeface="Times New Roman" panose="02020603050405020304" pitchFamily="18" charset="0"/>
              </a:rPr>
              <a:t> 100</a:t>
            </a:r>
            <a:endParaRPr lang="en-US" sz="1600" dirty="0">
              <a:ea typeface="Calibri" panose="020F050202020403020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dirty="0">
                <a:ea typeface="Times New Roman" panose="02020603050405020304" pitchFamily="18" charset="0"/>
                <a:cs typeface="Times New Roman" panose="02020603050405020304" pitchFamily="18" charset="0"/>
              </a:rPr>
              <a:t>Router(</a:t>
            </a:r>
            <a:r>
              <a:rPr lang="en-US" sz="1600" dirty="0" err="1">
                <a:ea typeface="Times New Roman" panose="02020603050405020304" pitchFamily="18" charset="0"/>
                <a:cs typeface="Times New Roman" panose="02020603050405020304" pitchFamily="18" charset="0"/>
              </a:rPr>
              <a:t>config</a:t>
            </a:r>
            <a:r>
              <a:rPr lang="en-US" sz="1600" dirty="0">
                <a:ea typeface="Times New Roman" panose="02020603050405020304" pitchFamily="18" charset="0"/>
                <a:cs typeface="Times New Roman" panose="02020603050405020304" pitchFamily="18" charset="0"/>
              </a:rPr>
              <a:t>-router)# network 10.1.1.0 0.0.0.255</a:t>
            </a:r>
            <a:endParaRPr lang="en-US" sz="1600" dirty="0">
              <a:ea typeface="Calibri" panose="020F050202020403020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dirty="0">
                <a:ea typeface="Times New Roman" panose="02020603050405020304" pitchFamily="18" charset="0"/>
                <a:cs typeface="Times New Roman" panose="02020603050405020304" pitchFamily="18" charset="0"/>
              </a:rPr>
              <a:t>Router(</a:t>
            </a:r>
            <a:r>
              <a:rPr lang="en-US" sz="1600" dirty="0" err="1">
                <a:ea typeface="Times New Roman" panose="02020603050405020304" pitchFamily="18" charset="0"/>
                <a:cs typeface="Times New Roman" panose="02020603050405020304" pitchFamily="18" charset="0"/>
              </a:rPr>
              <a:t>config</a:t>
            </a:r>
            <a:r>
              <a:rPr lang="en-US" sz="1600" dirty="0">
                <a:ea typeface="Times New Roman" panose="02020603050405020304" pitchFamily="18" charset="0"/>
                <a:cs typeface="Times New Roman" panose="02020603050405020304" pitchFamily="18" charset="0"/>
              </a:rPr>
              <a:t>-router)# network 10.2.2.0 0.0.0.255</a:t>
            </a:r>
            <a:endParaRPr lang="en-US" sz="1600" dirty="0">
              <a:ea typeface="Calibri" panose="020F0502020204030204" charset="0"/>
              <a:cs typeface="Times New Roman" panose="02020603050405020304" pitchFamily="18" charset="0"/>
            </a:endParaRPr>
          </a:p>
          <a:p>
            <a:pPr>
              <a:lnSpc>
                <a:spcPct val="107000"/>
              </a:lnSpc>
              <a:spcAft>
                <a:spcPts val="800"/>
              </a:spcAft>
            </a:pPr>
            <a:r>
              <a:rPr lang="en-US" sz="1600" b="1" dirty="0">
                <a:ea typeface="Times New Roman" panose="02020603050405020304" pitchFamily="18" charset="0"/>
                <a:cs typeface="Times New Roman" panose="02020603050405020304" pitchFamily="18" charset="0"/>
              </a:rPr>
              <a:t>Note</a:t>
            </a:r>
            <a:r>
              <a:rPr lang="en-US" sz="1600" dirty="0">
                <a:ea typeface="Times New Roman" panose="02020603050405020304" pitchFamily="18" charset="0"/>
                <a:cs typeface="Times New Roman" panose="02020603050405020304" pitchFamily="18" charset="0"/>
              </a:rPr>
              <a:t>: The </a:t>
            </a:r>
            <a:r>
              <a:rPr lang="en-US" sz="1600" b="1" dirty="0">
                <a:ea typeface="Times New Roman" panose="02020603050405020304" pitchFamily="18" charset="0"/>
                <a:cs typeface="Times New Roman" panose="02020603050405020304" pitchFamily="18" charset="0"/>
              </a:rPr>
              <a:t>AS number (100)</a:t>
            </a:r>
            <a:r>
              <a:rPr lang="en-US" sz="1600" dirty="0">
                <a:ea typeface="Times New Roman" panose="02020603050405020304" pitchFamily="18" charset="0"/>
                <a:cs typeface="Times New Roman" panose="02020603050405020304" pitchFamily="18" charset="0"/>
              </a:rPr>
              <a:t> must be the same on both routers for them to establish an EIGRP relationship.</a:t>
            </a:r>
            <a:endParaRPr lang="en-US" sz="1600" dirty="0">
              <a:ea typeface="Calibri" panose="020F0502020204030204" charset="0"/>
              <a:cs typeface="Times New Roman" panose="02020603050405020304" pitchFamily="18" charset="0"/>
            </a:endParaRPr>
          </a:p>
          <a:p>
            <a:pPr>
              <a:lnSpc>
                <a:spcPct val="107000"/>
              </a:lnSpc>
              <a:spcAft>
                <a:spcPts val="800"/>
              </a:spcAft>
            </a:pPr>
            <a:r>
              <a:rPr lang="en-US" sz="1600" b="1" dirty="0">
                <a:ea typeface="Times New Roman" panose="02020603050405020304" pitchFamily="18" charset="0"/>
                <a:cs typeface="Times New Roman" panose="02020603050405020304" pitchFamily="18" charset="0"/>
              </a:rPr>
              <a:t>Additional Configuration Options</a:t>
            </a:r>
            <a:endParaRPr lang="en-US" sz="1600" dirty="0">
              <a:ea typeface="Calibri" panose="020F050202020403020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600" b="1" dirty="0">
                <a:ea typeface="Times New Roman" panose="02020603050405020304" pitchFamily="18" charset="0"/>
                <a:cs typeface="Times New Roman" panose="02020603050405020304" pitchFamily="18" charset="0"/>
              </a:rPr>
              <a:t>Adjusting Hello and Hold Timers</a:t>
            </a:r>
            <a:r>
              <a:rPr lang="en-US" sz="1600" dirty="0">
                <a:ea typeface="Times New Roman" panose="02020603050405020304" pitchFamily="18" charset="0"/>
                <a:cs typeface="Times New Roman" panose="02020603050405020304" pitchFamily="18" charset="0"/>
              </a:rPr>
              <a:t> (to control neighbor discovery times):</a:t>
            </a:r>
            <a:endParaRPr lang="en-US" sz="1600" dirty="0">
              <a:ea typeface="Calibri" panose="020F0502020204030204" charset="0"/>
              <a:cs typeface="Times New Roman" panose="02020603050405020304" pitchFamily="18" charset="0"/>
            </a:endParaRPr>
          </a:p>
          <a:p>
            <a:pPr marL="457200" marR="0">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dirty="0">
                <a:ea typeface="Times New Roman" panose="02020603050405020304" pitchFamily="18" charset="0"/>
                <a:cs typeface="Times New Roman" panose="02020603050405020304" pitchFamily="18" charset="0"/>
              </a:rPr>
              <a:t>Router(</a:t>
            </a:r>
            <a:r>
              <a:rPr lang="en-US" sz="1600" dirty="0" err="1">
                <a:ea typeface="Times New Roman" panose="02020603050405020304" pitchFamily="18" charset="0"/>
                <a:cs typeface="Times New Roman" panose="02020603050405020304" pitchFamily="18" charset="0"/>
              </a:rPr>
              <a:t>config</a:t>
            </a:r>
            <a:r>
              <a:rPr lang="en-US" sz="1600" dirty="0">
                <a:ea typeface="Times New Roman" panose="02020603050405020304" pitchFamily="18" charset="0"/>
                <a:cs typeface="Times New Roman" panose="02020603050405020304" pitchFamily="18" charset="0"/>
              </a:rPr>
              <a:t>-if)# ip hello-interval </a:t>
            </a:r>
            <a:r>
              <a:rPr lang="en-US" sz="1600" dirty="0" err="1">
                <a:ea typeface="Times New Roman" panose="02020603050405020304" pitchFamily="18" charset="0"/>
                <a:cs typeface="Times New Roman" panose="02020603050405020304" pitchFamily="18" charset="0"/>
              </a:rPr>
              <a:t>eigrp</a:t>
            </a:r>
            <a:r>
              <a:rPr lang="en-US" sz="1600" dirty="0">
                <a:ea typeface="Times New Roman" panose="02020603050405020304" pitchFamily="18" charset="0"/>
                <a:cs typeface="Times New Roman" panose="02020603050405020304" pitchFamily="18" charset="0"/>
              </a:rPr>
              <a:t> &lt;AS-number&gt; &lt;seconds&gt;</a:t>
            </a:r>
            <a:endParaRPr lang="en-US" sz="1600" dirty="0">
              <a:ea typeface="Calibri" panose="020F0502020204030204" charset="0"/>
              <a:cs typeface="Times New Roman" panose="02020603050405020304" pitchFamily="18" charset="0"/>
            </a:endParaRPr>
          </a:p>
          <a:p>
            <a:pPr marL="457200" marR="0">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dirty="0">
                <a:ea typeface="Times New Roman" panose="02020603050405020304" pitchFamily="18" charset="0"/>
                <a:cs typeface="Times New Roman" panose="02020603050405020304" pitchFamily="18" charset="0"/>
              </a:rPr>
              <a:t>Router(</a:t>
            </a:r>
            <a:r>
              <a:rPr lang="en-US" sz="1600" dirty="0" err="1">
                <a:ea typeface="Times New Roman" panose="02020603050405020304" pitchFamily="18" charset="0"/>
                <a:cs typeface="Times New Roman" panose="02020603050405020304" pitchFamily="18" charset="0"/>
              </a:rPr>
              <a:t>config</a:t>
            </a:r>
            <a:r>
              <a:rPr lang="en-US" sz="1600" dirty="0">
                <a:ea typeface="Times New Roman" panose="02020603050405020304" pitchFamily="18" charset="0"/>
                <a:cs typeface="Times New Roman" panose="02020603050405020304" pitchFamily="18" charset="0"/>
              </a:rPr>
              <a:t>-if)# ip hold-time </a:t>
            </a:r>
            <a:r>
              <a:rPr lang="en-US" sz="1600" dirty="0" err="1">
                <a:ea typeface="Times New Roman" panose="02020603050405020304" pitchFamily="18" charset="0"/>
                <a:cs typeface="Times New Roman" panose="02020603050405020304" pitchFamily="18" charset="0"/>
              </a:rPr>
              <a:t>eigrp</a:t>
            </a:r>
            <a:r>
              <a:rPr lang="en-US" sz="1600" dirty="0">
                <a:ea typeface="Times New Roman" panose="02020603050405020304" pitchFamily="18" charset="0"/>
                <a:cs typeface="Times New Roman" panose="02020603050405020304" pitchFamily="18" charset="0"/>
              </a:rPr>
              <a:t> &lt;AS-number&gt; &lt;seconds&gt;</a:t>
            </a:r>
            <a:endParaRPr lang="en-US" sz="1600" dirty="0">
              <a:ea typeface="Calibri" panose="020F050202020403020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startAt="2"/>
              <a:tabLst>
                <a:tab pos="457200" algn="l"/>
              </a:tabLst>
            </a:pPr>
            <a:r>
              <a:rPr lang="en-US" sz="1600" b="1" dirty="0">
                <a:ea typeface="Times New Roman" panose="02020603050405020304" pitchFamily="18" charset="0"/>
                <a:cs typeface="Times New Roman" panose="02020603050405020304" pitchFamily="18" charset="0"/>
              </a:rPr>
              <a:t>Unequal-Cost Load Balancing</a:t>
            </a:r>
            <a:r>
              <a:rPr lang="en-US" sz="1600" dirty="0">
                <a:ea typeface="Times New Roman" panose="02020603050405020304" pitchFamily="18" charset="0"/>
                <a:cs typeface="Times New Roman" panose="02020603050405020304" pitchFamily="18" charset="0"/>
              </a:rPr>
              <a:t>:</a:t>
            </a:r>
            <a:endParaRPr lang="en-US" sz="1600" dirty="0">
              <a:ea typeface="Calibri" panose="020F050202020403020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dirty="0">
                <a:ea typeface="Times New Roman" panose="02020603050405020304" pitchFamily="18" charset="0"/>
                <a:cs typeface="Times New Roman" panose="02020603050405020304" pitchFamily="18" charset="0"/>
              </a:rPr>
              <a:t>Enable </a:t>
            </a:r>
            <a:r>
              <a:rPr lang="en-US" sz="1600" b="1" dirty="0">
                <a:ea typeface="Times New Roman" panose="02020603050405020304" pitchFamily="18" charset="0"/>
                <a:cs typeface="Times New Roman" panose="02020603050405020304" pitchFamily="18" charset="0"/>
              </a:rPr>
              <a:t>Variance</a:t>
            </a:r>
            <a:r>
              <a:rPr lang="en-US" sz="1600" dirty="0">
                <a:ea typeface="Times New Roman" panose="02020603050405020304" pitchFamily="18" charset="0"/>
                <a:cs typeface="Times New Roman" panose="02020603050405020304" pitchFamily="18" charset="0"/>
              </a:rPr>
              <a:t> to support unequal-cost load balancing.</a:t>
            </a:r>
            <a:endParaRPr lang="en-US" sz="1600" dirty="0">
              <a:ea typeface="Calibri" panose="020F0502020204030204" charset="0"/>
              <a:cs typeface="Times New Roman" panose="02020603050405020304" pitchFamily="18" charset="0"/>
            </a:endParaRPr>
          </a:p>
          <a:p>
            <a:pPr marL="457200" marR="0">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dirty="0">
                <a:ea typeface="Times New Roman" panose="02020603050405020304" pitchFamily="18" charset="0"/>
                <a:cs typeface="Times New Roman" panose="02020603050405020304" pitchFamily="18" charset="0"/>
              </a:rPr>
              <a:t>Router(</a:t>
            </a:r>
            <a:r>
              <a:rPr lang="en-US" sz="1600" dirty="0" err="1">
                <a:ea typeface="Times New Roman" panose="02020603050405020304" pitchFamily="18" charset="0"/>
                <a:cs typeface="Times New Roman" panose="02020603050405020304" pitchFamily="18" charset="0"/>
              </a:rPr>
              <a:t>config</a:t>
            </a:r>
            <a:r>
              <a:rPr lang="en-US" sz="1600" dirty="0">
                <a:ea typeface="Times New Roman" panose="02020603050405020304" pitchFamily="18" charset="0"/>
                <a:cs typeface="Times New Roman" panose="02020603050405020304" pitchFamily="18" charset="0"/>
              </a:rPr>
              <a:t>-router)# variance &lt;multiplier&gt;</a:t>
            </a:r>
            <a:endParaRPr lang="en-US" sz="1600" dirty="0">
              <a:effectLst/>
              <a:ea typeface="Calibri" panose="020F0502020204030204" charset="0"/>
              <a:cs typeface="Times New Roman" panose="02020603050405020304" pitchFamily="18" charset="0"/>
            </a:endParaRPr>
          </a:p>
        </p:txBody>
      </p:sp>
      <p:sp>
        <p:nvSpPr>
          <p:cNvPr id="4" name="Rectangle 3"/>
          <p:cNvSpPr/>
          <p:nvPr/>
        </p:nvSpPr>
        <p:spPr>
          <a:xfrm>
            <a:off x="7734300" y="1142359"/>
            <a:ext cx="6096000" cy="2308324"/>
          </a:xfrm>
          <a:prstGeom prst="rect">
            <a:avLst/>
          </a:prstGeom>
        </p:spPr>
        <p:txBody>
          <a:bodyPr>
            <a:spAutoFit/>
          </a:bodyPr>
          <a:lstStyle/>
          <a:p>
            <a:endParaRPr lang="en-US" dirty="0"/>
          </a:p>
          <a:p>
            <a:r>
              <a:rPr lang="en-US" b="1" dirty="0"/>
              <a:t>Verify the EIGRP Configuration</a:t>
            </a:r>
          </a:p>
          <a:p>
            <a:r>
              <a:rPr lang="en-US" b="1" dirty="0"/>
              <a:t>View the EIGRP Neighbor Table:</a:t>
            </a:r>
          </a:p>
          <a:p>
            <a:r>
              <a:rPr lang="en-US" dirty="0"/>
              <a:t>Router# show ip </a:t>
            </a:r>
            <a:r>
              <a:rPr lang="en-US" dirty="0" err="1"/>
              <a:t>eigrp</a:t>
            </a:r>
            <a:r>
              <a:rPr lang="en-US" dirty="0"/>
              <a:t> neighbors</a:t>
            </a:r>
          </a:p>
          <a:p>
            <a:r>
              <a:rPr lang="en-US" b="1" dirty="0"/>
              <a:t>View the EIGRP Routing Table:</a:t>
            </a:r>
          </a:p>
          <a:p>
            <a:r>
              <a:rPr lang="en-US" dirty="0"/>
              <a:t>Router# show ip route </a:t>
            </a:r>
            <a:r>
              <a:rPr lang="en-US" dirty="0" err="1"/>
              <a:t>eigrp</a:t>
            </a:r>
            <a:endParaRPr lang="en-US" dirty="0"/>
          </a:p>
          <a:p>
            <a:r>
              <a:rPr lang="en-US" b="1" dirty="0"/>
              <a:t>View EIGRP Topology Information:</a:t>
            </a:r>
          </a:p>
          <a:p>
            <a:r>
              <a:rPr lang="en-US" dirty="0"/>
              <a:t>Router# show ip </a:t>
            </a:r>
            <a:r>
              <a:rPr lang="en-US" dirty="0" err="1"/>
              <a:t>eigrp</a:t>
            </a:r>
            <a:r>
              <a:rPr lang="en-US" dirty="0"/>
              <a:t> topology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defTabSz="609600"/>
            <a:r>
              <a:rPr lang="en-IN"/>
              <a:t>LABOR FOR THE FUTURE</a:t>
            </a:r>
            <a:endParaRPr lang="en-IN" dirty="0"/>
          </a:p>
        </p:txBody>
      </p:sp>
      <p:sp>
        <p:nvSpPr>
          <p:cNvPr id="3" name="Rectangle 2"/>
          <p:cNvSpPr/>
          <p:nvPr/>
        </p:nvSpPr>
        <p:spPr>
          <a:xfrm>
            <a:off x="370620" y="492588"/>
            <a:ext cx="11648660" cy="7940635"/>
          </a:xfrm>
          <a:prstGeom prst="rect">
            <a:avLst/>
          </a:prstGeom>
        </p:spPr>
        <p:txBody>
          <a:bodyPr wrap="square">
            <a:spAutoFit/>
          </a:bodyPr>
          <a:lstStyle/>
          <a:p>
            <a:pPr>
              <a:lnSpc>
                <a:spcPct val="150000"/>
              </a:lnSpc>
            </a:pPr>
            <a:r>
              <a:rPr lang="en-US" sz="2000" b="1" dirty="0"/>
              <a:t>Open Shortest Path First (OSPF)</a:t>
            </a:r>
            <a:r>
              <a:rPr lang="en-US" sz="2000" dirty="0"/>
              <a:t> is a widely used link-state routing protocol. Designed by the Internet Engineering Task Force (IETF), OSPF is an Interior Gateway Protocol (IGP), meaning it is used within a single autonomous system (AS). It is known for its fast convergence, hierarchical design, and ability to efficiently route data through large and complex networks.</a:t>
            </a:r>
          </a:p>
          <a:p>
            <a:pPr>
              <a:lnSpc>
                <a:spcPct val="150000"/>
              </a:lnSpc>
            </a:pPr>
            <a:r>
              <a:rPr lang="en-US" sz="2000" b="1" dirty="0"/>
              <a:t>Key Features of OSPF</a:t>
            </a:r>
          </a:p>
          <a:p>
            <a:pPr>
              <a:lnSpc>
                <a:spcPct val="150000"/>
              </a:lnSpc>
            </a:pPr>
            <a:r>
              <a:rPr lang="en-US" sz="2000" b="1" dirty="0"/>
              <a:t>Link-State Protocol</a:t>
            </a:r>
            <a:r>
              <a:rPr lang="en-US" sz="2000" dirty="0"/>
              <a:t>: Each router maintains a map of the network, using link-state advertisements (LSAs) to share information and build a complete topology.</a:t>
            </a:r>
          </a:p>
          <a:p>
            <a:pPr>
              <a:lnSpc>
                <a:spcPct val="150000"/>
              </a:lnSpc>
            </a:pPr>
            <a:r>
              <a:rPr lang="en-US" sz="2000" b="1" dirty="0" err="1"/>
              <a:t>Dijkstra's</a:t>
            </a:r>
            <a:r>
              <a:rPr lang="en-US" sz="2000" b="1" dirty="0"/>
              <a:t> Algorithm</a:t>
            </a:r>
            <a:r>
              <a:rPr lang="en-US" sz="2000" dirty="0"/>
              <a:t>: OSPF uses the </a:t>
            </a:r>
            <a:r>
              <a:rPr lang="en-US" sz="2000" dirty="0" err="1"/>
              <a:t>Dijkstra</a:t>
            </a:r>
            <a:r>
              <a:rPr lang="en-US" sz="2000" dirty="0"/>
              <a:t> algorithm to calculate the shortest path tree for routing decisions.</a:t>
            </a:r>
          </a:p>
          <a:p>
            <a:pPr>
              <a:lnSpc>
                <a:spcPct val="150000"/>
              </a:lnSpc>
            </a:pPr>
            <a:r>
              <a:rPr lang="en-US" sz="2000" b="1" dirty="0"/>
              <a:t>Area-Based Structure</a:t>
            </a:r>
            <a:r>
              <a:rPr lang="en-US" sz="2000" dirty="0"/>
              <a:t>: OSPF can divide networks into areas to simplify routing and reduce overhead.</a:t>
            </a:r>
          </a:p>
          <a:p>
            <a:pPr>
              <a:lnSpc>
                <a:spcPct val="150000"/>
              </a:lnSpc>
            </a:pPr>
            <a:r>
              <a:rPr lang="en-US" sz="2000" b="1" dirty="0"/>
              <a:t>Classless</a:t>
            </a:r>
            <a:r>
              <a:rPr lang="en-US" sz="2000" dirty="0"/>
              <a:t>: Supports Variable Length Subnet Masking (VLSM), allowing for flexible </a:t>
            </a:r>
            <a:r>
              <a:rPr lang="en-US" sz="2000" dirty="0" err="1"/>
              <a:t>subnetting</a:t>
            </a:r>
            <a:r>
              <a:rPr lang="en-US" sz="2000" dirty="0"/>
              <a:t>.</a:t>
            </a:r>
          </a:p>
          <a:p>
            <a:pPr>
              <a:lnSpc>
                <a:spcPct val="150000"/>
              </a:lnSpc>
            </a:pPr>
            <a:r>
              <a:rPr lang="en-US" sz="2000" b="1" dirty="0"/>
              <a:t>Cost Metric</a:t>
            </a:r>
            <a:r>
              <a:rPr lang="en-US" sz="2000" dirty="0"/>
              <a:t>: Routes are calculated based on cost, which is typically based on link bandwidth.</a:t>
            </a:r>
          </a:p>
          <a:p>
            <a:pPr>
              <a:lnSpc>
                <a:spcPct val="150000"/>
              </a:lnSpc>
            </a:pPr>
            <a:r>
              <a:rPr lang="en-US" sz="2000" b="1" dirty="0"/>
              <a:t>Efficient Convergence</a:t>
            </a:r>
            <a:r>
              <a:rPr lang="en-US" sz="2000" dirty="0"/>
              <a:t>: OSPF has fast convergence due to its periodic hello messages and database synchronization.</a:t>
            </a:r>
          </a:p>
          <a:p>
            <a:pPr>
              <a:lnSpc>
                <a:spcPct val="150000"/>
              </a:lnSpc>
            </a:pPr>
            <a:endParaRPr lang="en-US" sz="2000" dirty="0"/>
          </a:p>
          <a:p>
            <a:pPr>
              <a:lnSpc>
                <a:spcPct val="150000"/>
              </a:lnSpc>
            </a:pPr>
            <a:endParaRPr lang="en-US" sz="2000" dirty="0"/>
          </a:p>
          <a:p>
            <a:pPr>
              <a:lnSpc>
                <a:spcPct val="150000"/>
              </a:lnSpc>
            </a:pPr>
            <a:endParaRPr lang="en-US" sz="2000" dirty="0"/>
          </a:p>
        </p:txBody>
      </p:sp>
      <p:sp>
        <p:nvSpPr>
          <p:cNvPr id="4" name="Rectangle 3"/>
          <p:cNvSpPr/>
          <p:nvPr/>
        </p:nvSpPr>
        <p:spPr>
          <a:xfrm>
            <a:off x="2059035" y="-81710"/>
            <a:ext cx="5701689" cy="523220"/>
          </a:xfrm>
          <a:prstGeom prst="rect">
            <a:avLst/>
          </a:prstGeom>
        </p:spPr>
        <p:txBody>
          <a:bodyPr wrap="none">
            <a:spAutoFit/>
          </a:bodyPr>
          <a:lstStyle/>
          <a:p>
            <a:r>
              <a:rPr lang="en-US" sz="2800" b="1" dirty="0">
                <a:solidFill>
                  <a:prstClr val="black"/>
                </a:solidFill>
              </a:rPr>
              <a:t>Open Shortest Path First (OSPF)</a:t>
            </a:r>
            <a:r>
              <a:rPr lang="en-US" sz="2800" dirty="0">
                <a:solidFill>
                  <a:prstClr val="black"/>
                </a:solidFill>
              </a:rPr>
              <a:t> </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defTabSz="609600"/>
            <a:r>
              <a:rPr lang="en-IN"/>
              <a:t>LABOR FOR THE FUTURE</a:t>
            </a:r>
            <a:endParaRPr lang="en-IN" dirty="0"/>
          </a:p>
        </p:txBody>
      </p:sp>
      <p:sp>
        <p:nvSpPr>
          <p:cNvPr id="3" name="Rectangle 2"/>
          <p:cNvSpPr/>
          <p:nvPr/>
        </p:nvSpPr>
        <p:spPr>
          <a:xfrm>
            <a:off x="119270" y="103280"/>
            <a:ext cx="12072730" cy="6555641"/>
          </a:xfrm>
          <a:prstGeom prst="rect">
            <a:avLst/>
          </a:prstGeom>
        </p:spPr>
        <p:txBody>
          <a:bodyPr wrap="square">
            <a:spAutoFit/>
          </a:bodyPr>
          <a:lstStyle/>
          <a:p>
            <a:pPr>
              <a:lnSpc>
                <a:spcPct val="150000"/>
              </a:lnSpc>
            </a:pPr>
            <a:r>
              <a:rPr lang="en-US" sz="2000" b="1" dirty="0"/>
              <a:t>OSPF Network Types and Area Design</a:t>
            </a:r>
          </a:p>
          <a:p>
            <a:pPr>
              <a:lnSpc>
                <a:spcPct val="150000"/>
              </a:lnSpc>
              <a:buFont typeface="+mj-lt"/>
              <a:buAutoNum type="arabicPeriod"/>
            </a:pPr>
            <a:r>
              <a:rPr lang="en-US" sz="2000" b="1" dirty="0"/>
              <a:t>OSPF Areas</a:t>
            </a:r>
            <a:r>
              <a:rPr lang="en-US" sz="2000" dirty="0"/>
              <a:t>:</a:t>
            </a:r>
          </a:p>
          <a:p>
            <a:pPr marL="742950" lvl="1" indent="-285750">
              <a:lnSpc>
                <a:spcPct val="150000"/>
              </a:lnSpc>
              <a:buFont typeface="+mj-lt"/>
              <a:buAutoNum type="arabicPeriod"/>
            </a:pPr>
            <a:r>
              <a:rPr lang="en-US" sz="2000" b="1" dirty="0"/>
              <a:t>Backbone Area (Area 0)</a:t>
            </a:r>
            <a:r>
              <a:rPr lang="en-US" sz="2000" dirty="0"/>
              <a:t>: All other OSPF areas must connect to Area 0, which acts as the network’s backbone.</a:t>
            </a:r>
          </a:p>
          <a:p>
            <a:pPr marL="742950" lvl="1" indent="-285750">
              <a:lnSpc>
                <a:spcPct val="150000"/>
              </a:lnSpc>
              <a:buFont typeface="+mj-lt"/>
              <a:buAutoNum type="arabicPeriod"/>
            </a:pPr>
            <a:r>
              <a:rPr lang="en-US" sz="2000" b="1" dirty="0"/>
              <a:t>Standard Areas</a:t>
            </a:r>
            <a:r>
              <a:rPr lang="en-US" sz="2000" dirty="0"/>
              <a:t>: Regular areas that connect to the backbone area.</a:t>
            </a:r>
          </a:p>
          <a:p>
            <a:pPr marL="742950" lvl="1" indent="-285750">
              <a:lnSpc>
                <a:spcPct val="150000"/>
              </a:lnSpc>
              <a:buFont typeface="+mj-lt"/>
              <a:buAutoNum type="arabicPeriod"/>
            </a:pPr>
            <a:r>
              <a:rPr lang="en-US" sz="2000" b="1" dirty="0"/>
              <a:t>Stub, Totally Stubby, and Not-So-Stubby Areas (NSSA)</a:t>
            </a:r>
            <a:r>
              <a:rPr lang="en-US" sz="2000" dirty="0"/>
              <a:t>: Special area types that restrict external routes to simplify routing tables and reduce overhead.</a:t>
            </a:r>
          </a:p>
          <a:p>
            <a:pPr>
              <a:lnSpc>
                <a:spcPct val="150000"/>
              </a:lnSpc>
            </a:pPr>
            <a:r>
              <a:rPr lang="en-US" sz="2000" b="1" dirty="0"/>
              <a:t>Router Types in OSPF</a:t>
            </a:r>
            <a:r>
              <a:rPr lang="en-US" sz="2000" dirty="0"/>
              <a:t>:</a:t>
            </a:r>
          </a:p>
          <a:p>
            <a:pPr>
              <a:lnSpc>
                <a:spcPct val="150000"/>
              </a:lnSpc>
              <a:buFont typeface="Arial" panose="020B0604020202020204" pitchFamily="34" charset="0"/>
              <a:buChar char="•"/>
            </a:pPr>
            <a:r>
              <a:rPr lang="en-US" sz="2000" b="1" dirty="0"/>
              <a:t>Internal Router (IR)</a:t>
            </a:r>
            <a:r>
              <a:rPr lang="en-US" sz="2000" dirty="0"/>
              <a:t>: Routers within a single area.</a:t>
            </a:r>
          </a:p>
          <a:p>
            <a:pPr>
              <a:lnSpc>
                <a:spcPct val="150000"/>
              </a:lnSpc>
              <a:buFont typeface="Arial" panose="020B0604020202020204" pitchFamily="34" charset="0"/>
              <a:buChar char="•"/>
            </a:pPr>
            <a:r>
              <a:rPr lang="en-US" sz="2000" b="1" dirty="0"/>
              <a:t>Area Border Router (ABR)</a:t>
            </a:r>
            <a:r>
              <a:rPr lang="en-US" sz="2000" dirty="0"/>
              <a:t>: Routers that connect two or more areas, typically between Area 0 and a non-backbone area.</a:t>
            </a:r>
          </a:p>
          <a:p>
            <a:pPr>
              <a:lnSpc>
                <a:spcPct val="150000"/>
              </a:lnSpc>
              <a:buFont typeface="Arial" panose="020B0604020202020204" pitchFamily="34" charset="0"/>
              <a:buChar char="•"/>
            </a:pPr>
            <a:r>
              <a:rPr lang="en-US" sz="2000" b="1" dirty="0"/>
              <a:t>Autonomous System Boundary Router (ASBR)</a:t>
            </a:r>
            <a:r>
              <a:rPr lang="en-US" sz="2000" dirty="0"/>
              <a:t>: Routers that connect an OSPF network to an external network, like the Internet.</a:t>
            </a:r>
          </a:p>
          <a:p>
            <a:pPr>
              <a:lnSpc>
                <a:spcPct val="150000"/>
              </a:lnSpc>
            </a:pP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defTabSz="609600"/>
            <a:r>
              <a:rPr lang="en-IN"/>
              <a:t>LABOR FOR THE FUTURE</a:t>
            </a:r>
            <a:endParaRPr lang="en-IN" dirty="0"/>
          </a:p>
        </p:txBody>
      </p:sp>
      <p:sp>
        <p:nvSpPr>
          <p:cNvPr id="3" name="Rectangle 2"/>
          <p:cNvSpPr/>
          <p:nvPr/>
        </p:nvSpPr>
        <p:spPr>
          <a:xfrm>
            <a:off x="208924" y="0"/>
            <a:ext cx="11983076" cy="6867008"/>
          </a:xfrm>
          <a:prstGeom prst="rect">
            <a:avLst/>
          </a:prstGeom>
        </p:spPr>
        <p:txBody>
          <a:bodyPr wrap="square">
            <a:spAutoFit/>
          </a:bodyPr>
          <a:lstStyle/>
          <a:p>
            <a:pPr>
              <a:lnSpc>
                <a:spcPct val="150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2000" dirty="0">
              <a:ea typeface="Times New Roman" panose="02020603050405020304" pitchFamily="18" charset="0"/>
              <a:cs typeface="Times New Roman" panose="02020603050405020304" pitchFamily="18" charset="0"/>
            </a:endParaRPr>
          </a:p>
          <a:p>
            <a:pPr lvl="0">
              <a:lnSpc>
                <a:spcPct val="150000"/>
              </a:lnSpc>
              <a:spcAft>
                <a:spcPts val="800"/>
              </a:spcAft>
            </a:pPr>
            <a:r>
              <a:rPr lang="en-US" sz="2000" b="1" dirty="0">
                <a:solidFill>
                  <a:prstClr val="black"/>
                </a:solidFill>
                <a:ea typeface="Times New Roman" panose="02020603050405020304" pitchFamily="18" charset="0"/>
                <a:cs typeface="Times New Roman" panose="02020603050405020304" pitchFamily="18" charset="0"/>
              </a:rPr>
              <a:t>OSPF Configuration</a:t>
            </a:r>
            <a:endParaRPr lang="en-US" sz="2000" dirty="0">
              <a:solidFill>
                <a:prstClr val="black"/>
              </a:solidFill>
              <a:ea typeface="Calibri" panose="020F0502020204030204" charset="0"/>
              <a:cs typeface="Times New Roman" panose="02020603050405020304" pitchFamily="18" charset="0"/>
            </a:endParaRPr>
          </a:p>
          <a:p>
            <a:pPr lvl="0">
              <a:lnSpc>
                <a:spcPct val="150000"/>
              </a:lnSpc>
              <a:spcAft>
                <a:spcPts val="800"/>
              </a:spcAft>
            </a:pPr>
            <a:r>
              <a:rPr lang="en-US" sz="2000" dirty="0">
                <a:solidFill>
                  <a:prstClr val="black"/>
                </a:solidFill>
                <a:ea typeface="Times New Roman" panose="02020603050405020304" pitchFamily="18" charset="0"/>
                <a:cs typeface="Times New Roman" panose="02020603050405020304" pitchFamily="18" charset="0"/>
              </a:rPr>
              <a:t>Here's a step-by-step guide for configuring OSPF on Cisco routers.</a:t>
            </a:r>
            <a:endParaRPr lang="en-US" sz="2000" dirty="0">
              <a:solidFill>
                <a:prstClr val="black"/>
              </a:solidFill>
              <a:ea typeface="Calibri" panose="020F0502020204030204" charset="0"/>
              <a:cs typeface="Times New Roman" panose="02020603050405020304" pitchFamily="18" charset="0"/>
            </a:endParaRPr>
          </a:p>
          <a:p>
            <a:pPr lvl="0">
              <a:lnSpc>
                <a:spcPct val="150000"/>
              </a:lnSpc>
              <a:spcAft>
                <a:spcPts val="800"/>
              </a:spcAft>
            </a:pPr>
            <a:r>
              <a:rPr lang="en-US" sz="2000" b="1" dirty="0">
                <a:solidFill>
                  <a:prstClr val="black"/>
                </a:solidFill>
                <a:ea typeface="Times New Roman" panose="02020603050405020304" pitchFamily="18" charset="0"/>
                <a:cs typeface="Times New Roman" panose="02020603050405020304" pitchFamily="18" charset="0"/>
              </a:rPr>
              <a:t>1. Enable OSPF</a:t>
            </a:r>
            <a:endParaRPr lang="en-US" sz="2000" dirty="0">
              <a:solidFill>
                <a:prstClr val="black"/>
              </a:solidFill>
              <a:ea typeface="Calibri" panose="020F0502020204030204" charset="0"/>
              <a:cs typeface="Times New Roman" panose="02020603050405020304" pitchFamily="18" charset="0"/>
            </a:endParaRPr>
          </a:p>
          <a:p>
            <a:pPr marL="342900" lvl="0" indent="-342900">
              <a:lnSpc>
                <a:spcPct val="150000"/>
              </a:lnSpc>
              <a:spcAft>
                <a:spcPts val="800"/>
              </a:spcAft>
              <a:buSzPts val="1000"/>
              <a:buFont typeface="Symbol" panose="05050102010706020507" pitchFamily="18" charset="2"/>
              <a:buChar char=""/>
              <a:tabLst>
                <a:tab pos="457200" algn="l"/>
              </a:tabLst>
            </a:pPr>
            <a:r>
              <a:rPr lang="en-US" sz="2000" dirty="0">
                <a:solidFill>
                  <a:prstClr val="black"/>
                </a:solidFill>
                <a:ea typeface="Times New Roman" panose="02020603050405020304" pitchFamily="18" charset="0"/>
                <a:cs typeface="Times New Roman" panose="02020603050405020304" pitchFamily="18" charset="0"/>
              </a:rPr>
              <a:t>Access global configuration mode, enable OSPF with a chosen </a:t>
            </a:r>
            <a:r>
              <a:rPr lang="en-US" sz="2000" b="1" dirty="0">
                <a:solidFill>
                  <a:prstClr val="black"/>
                </a:solidFill>
                <a:ea typeface="Times New Roman" panose="02020603050405020304" pitchFamily="18" charset="0"/>
                <a:cs typeface="Times New Roman" panose="02020603050405020304" pitchFamily="18" charset="0"/>
              </a:rPr>
              <a:t>process ID</a:t>
            </a:r>
            <a:r>
              <a:rPr lang="en-US" sz="2000" dirty="0">
                <a:solidFill>
                  <a:prstClr val="black"/>
                </a:solidFill>
                <a:ea typeface="Times New Roman" panose="02020603050405020304" pitchFamily="18" charset="0"/>
                <a:cs typeface="Times New Roman" panose="02020603050405020304" pitchFamily="18" charset="0"/>
              </a:rPr>
              <a:t> (locally significant), and define the areas for each network.</a:t>
            </a:r>
            <a:endParaRPr lang="en-US" sz="2000" dirty="0"/>
          </a:p>
          <a:p>
            <a:pPr>
              <a:lnSpc>
                <a:spcPct val="150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ea typeface="Times New Roman" panose="02020603050405020304" pitchFamily="18" charset="0"/>
                <a:cs typeface="Times New Roman" panose="02020603050405020304" pitchFamily="18" charset="0"/>
              </a:rPr>
              <a:t>Router(</a:t>
            </a:r>
            <a:r>
              <a:rPr lang="en-US" sz="2000" dirty="0" err="1">
                <a:ea typeface="Times New Roman" panose="02020603050405020304" pitchFamily="18" charset="0"/>
                <a:cs typeface="Times New Roman" panose="02020603050405020304" pitchFamily="18" charset="0"/>
              </a:rPr>
              <a:t>config</a:t>
            </a:r>
            <a:r>
              <a:rPr lang="en-US" sz="2000" dirty="0">
                <a:ea typeface="Times New Roman" panose="02020603050405020304" pitchFamily="18" charset="0"/>
                <a:cs typeface="Times New Roman" panose="02020603050405020304" pitchFamily="18" charset="0"/>
              </a:rPr>
              <a:t>)# router </a:t>
            </a:r>
            <a:r>
              <a:rPr lang="en-US" sz="2000" dirty="0" err="1">
                <a:ea typeface="Times New Roman" panose="02020603050405020304" pitchFamily="18" charset="0"/>
                <a:cs typeface="Times New Roman" panose="02020603050405020304" pitchFamily="18" charset="0"/>
              </a:rPr>
              <a:t>ospf</a:t>
            </a:r>
            <a:r>
              <a:rPr lang="en-US" sz="2000" dirty="0">
                <a:ea typeface="Times New Roman" panose="02020603050405020304" pitchFamily="18" charset="0"/>
                <a:cs typeface="Times New Roman" panose="02020603050405020304" pitchFamily="18" charset="0"/>
              </a:rPr>
              <a:t> &lt;process-id&gt;</a:t>
            </a:r>
            <a:endParaRPr lang="en-US" sz="2000" dirty="0">
              <a:ea typeface="Calibri" panose="020F0502020204030204" charset="0"/>
              <a:cs typeface="Times New Roman" panose="02020603050405020304" pitchFamily="18" charset="0"/>
            </a:endParaRPr>
          </a:p>
          <a:p>
            <a:pPr>
              <a:lnSpc>
                <a:spcPct val="150000"/>
              </a:lnSpc>
              <a:spcAft>
                <a:spcPts val="800"/>
              </a:spcAft>
            </a:pPr>
            <a:r>
              <a:rPr lang="en-US" sz="2000" b="1" dirty="0">
                <a:ea typeface="Times New Roman" panose="02020603050405020304" pitchFamily="18" charset="0"/>
                <a:cs typeface="Times New Roman" panose="02020603050405020304" pitchFamily="18" charset="0"/>
              </a:rPr>
              <a:t>2. Advertise Networks in OSPF</a:t>
            </a:r>
            <a:endParaRPr lang="en-US" sz="2000" dirty="0">
              <a:ea typeface="Calibri" panose="020F0502020204030204" charset="0"/>
              <a:cs typeface="Times New Roman" panose="02020603050405020304" pitchFamily="18" charset="0"/>
            </a:endParaRPr>
          </a:p>
          <a:p>
            <a:pPr marL="342900" marR="0" lvl="0" indent="-342900">
              <a:lnSpc>
                <a:spcPct val="150000"/>
              </a:lnSpc>
              <a:spcBef>
                <a:spcPts val="0"/>
              </a:spcBef>
              <a:spcAft>
                <a:spcPts val="800"/>
              </a:spcAft>
              <a:buSzPts val="1000"/>
              <a:buFont typeface="Symbol" panose="05050102010706020507" pitchFamily="18" charset="2"/>
              <a:buChar char=""/>
              <a:tabLst>
                <a:tab pos="457200" algn="l"/>
              </a:tabLst>
            </a:pPr>
            <a:r>
              <a:rPr lang="en-US" sz="2000" dirty="0">
                <a:ea typeface="Times New Roman" panose="02020603050405020304" pitchFamily="18" charset="0"/>
                <a:cs typeface="Times New Roman" panose="02020603050405020304" pitchFamily="18" charset="0"/>
              </a:rPr>
              <a:t>Define the networks and assign them to specific OSPF areas.</a:t>
            </a:r>
            <a:endParaRPr lang="en-US" sz="2000" dirty="0">
              <a:ea typeface="Calibri" panose="020F0502020204030204" charset="0"/>
              <a:cs typeface="Times New Roman" panose="02020603050405020304" pitchFamily="18" charset="0"/>
            </a:endParaRPr>
          </a:p>
          <a:p>
            <a:pPr marL="342900" marR="0" lvl="0" indent="-342900">
              <a:lnSpc>
                <a:spcPct val="150000"/>
              </a:lnSpc>
              <a:spcBef>
                <a:spcPts val="0"/>
              </a:spcBef>
              <a:spcAft>
                <a:spcPts val="800"/>
              </a:spcAft>
              <a:buSzPts val="1000"/>
              <a:buFont typeface="Symbol" panose="05050102010706020507" pitchFamily="18" charset="2"/>
              <a:buChar char=""/>
              <a:tabLst>
                <a:tab pos="457200" algn="l"/>
              </a:tabLst>
            </a:pPr>
            <a:r>
              <a:rPr lang="en-US" sz="2000" dirty="0">
                <a:ea typeface="Times New Roman" panose="02020603050405020304" pitchFamily="18" charset="0"/>
                <a:cs typeface="Times New Roman" panose="02020603050405020304" pitchFamily="18" charset="0"/>
              </a:rPr>
              <a:t>The </a:t>
            </a:r>
            <a:r>
              <a:rPr lang="en-US" sz="2000" b="1" dirty="0">
                <a:ea typeface="Times New Roman" panose="02020603050405020304" pitchFamily="18" charset="0"/>
                <a:cs typeface="Times New Roman" panose="02020603050405020304" pitchFamily="18" charset="0"/>
              </a:rPr>
              <a:t>wildcard mask</a:t>
            </a:r>
            <a:r>
              <a:rPr lang="en-US" sz="2000" dirty="0">
                <a:ea typeface="Times New Roman" panose="02020603050405020304" pitchFamily="18" charset="0"/>
                <a:cs typeface="Times New Roman" panose="02020603050405020304" pitchFamily="18" charset="0"/>
              </a:rPr>
              <a:t> (opposite of a subnet mask) is used to define the range of addresses in the network.</a:t>
            </a:r>
            <a:endParaRPr lang="en-US" sz="2000" dirty="0">
              <a:ea typeface="Calibri" panose="020F0502020204030204" charset="0"/>
              <a:cs typeface="Times New Roman" panose="02020603050405020304" pitchFamily="18" charset="0"/>
            </a:endParaRPr>
          </a:p>
          <a:p>
            <a:pPr>
              <a:lnSpc>
                <a:spcPct val="150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ea typeface="Times New Roman" panose="02020603050405020304" pitchFamily="18" charset="0"/>
                <a:cs typeface="Times New Roman" panose="02020603050405020304" pitchFamily="18" charset="0"/>
              </a:rPr>
              <a:t>Router(</a:t>
            </a:r>
            <a:r>
              <a:rPr lang="en-US" sz="2000" dirty="0" err="1">
                <a:ea typeface="Times New Roman" panose="02020603050405020304" pitchFamily="18" charset="0"/>
                <a:cs typeface="Times New Roman" panose="02020603050405020304" pitchFamily="18" charset="0"/>
              </a:rPr>
              <a:t>config</a:t>
            </a:r>
            <a:r>
              <a:rPr lang="en-US" sz="2000" dirty="0">
                <a:ea typeface="Times New Roman" panose="02020603050405020304" pitchFamily="18" charset="0"/>
                <a:cs typeface="Times New Roman" panose="02020603050405020304" pitchFamily="18" charset="0"/>
              </a:rPr>
              <a:t>-router)# network &lt;network-address&gt; &lt;wildcard-mask&gt; area &lt;area-id&gt;</a:t>
            </a:r>
            <a:endParaRPr lang="en-US" sz="2000" dirty="0">
              <a:ea typeface="Calibri" panose="020F0502020204030204" charset="0"/>
              <a:cs typeface="Times New Roman" panose="02020603050405020304" pitchFamily="18" charset="0"/>
            </a:endParaRPr>
          </a:p>
          <a:p>
            <a:pPr marL="342900" marR="0" lvl="0" indent="-342900">
              <a:lnSpc>
                <a:spcPct val="150000"/>
              </a:lnSpc>
              <a:spcBef>
                <a:spcPts val="0"/>
              </a:spcBef>
              <a:spcAft>
                <a:spcPts val="800"/>
              </a:spcAft>
              <a:buSzPts val="1000"/>
              <a:buFont typeface="Symbol" panose="05050102010706020507" pitchFamily="18" charset="2"/>
              <a:buChar char=""/>
              <a:tabLst>
                <a:tab pos="457200" algn="l"/>
              </a:tabLst>
            </a:pPr>
            <a:r>
              <a:rPr lang="en-US" sz="2000" b="1" dirty="0">
                <a:ea typeface="Times New Roman" panose="02020603050405020304" pitchFamily="18" charset="0"/>
                <a:cs typeface="Times New Roman" panose="02020603050405020304" pitchFamily="18" charset="0"/>
              </a:rPr>
              <a:t>Example</a:t>
            </a:r>
            <a:r>
              <a:rPr lang="en-US" sz="2000" dirty="0">
                <a:ea typeface="Times New Roman" panose="02020603050405020304" pitchFamily="18" charset="0"/>
                <a:cs typeface="Times New Roman" panose="02020603050405020304" pitchFamily="18" charset="0"/>
              </a:rPr>
              <a:t>: To advertise the 192.168.1.0/24 network in Area 0:</a:t>
            </a:r>
            <a:endParaRPr lang="en-US" sz="2000" dirty="0">
              <a:ea typeface="Calibri" panose="020F0502020204030204" charset="0"/>
              <a:cs typeface="Times New Roman" panose="02020603050405020304" pitchFamily="18" charset="0"/>
            </a:endParaRPr>
          </a:p>
          <a:p>
            <a:pPr marL="457200" marR="0">
              <a:lnSpc>
                <a:spcPct val="15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ea typeface="Times New Roman" panose="02020603050405020304" pitchFamily="18" charset="0"/>
                <a:cs typeface="Times New Roman" panose="02020603050405020304" pitchFamily="18" charset="0"/>
              </a:rPr>
              <a:t>Router(</a:t>
            </a:r>
            <a:r>
              <a:rPr lang="en-US" sz="2000" dirty="0" err="1">
                <a:ea typeface="Times New Roman" panose="02020603050405020304" pitchFamily="18" charset="0"/>
                <a:cs typeface="Times New Roman" panose="02020603050405020304" pitchFamily="18" charset="0"/>
              </a:rPr>
              <a:t>config</a:t>
            </a:r>
            <a:r>
              <a:rPr lang="en-US" sz="2000" dirty="0">
                <a:ea typeface="Times New Roman" panose="02020603050405020304" pitchFamily="18" charset="0"/>
                <a:cs typeface="Times New Roman" panose="02020603050405020304" pitchFamily="18" charset="0"/>
              </a:rPr>
              <a:t>-router)# network 192.168.1.0 0.0.0.255 area 0</a:t>
            </a:r>
            <a:endParaRPr lang="en-US" sz="2000" dirty="0">
              <a:ea typeface="Calibri" panose="020F0502020204030204"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defTabSz="609600"/>
            <a:r>
              <a:rPr lang="en-IN"/>
              <a:t>LABOR FOR THE FUTURE</a:t>
            </a:r>
            <a:endParaRPr lang="en-IN" dirty="0"/>
          </a:p>
        </p:txBody>
      </p:sp>
      <p:sp>
        <p:nvSpPr>
          <p:cNvPr id="4" name="Rectangle 3"/>
          <p:cNvSpPr/>
          <p:nvPr/>
        </p:nvSpPr>
        <p:spPr>
          <a:xfrm>
            <a:off x="501286" y="555822"/>
            <a:ext cx="11937093" cy="5753498"/>
          </a:xfrm>
          <a:prstGeom prst="rect">
            <a:avLst/>
          </a:prstGeom>
        </p:spPr>
        <p:txBody>
          <a:bodyPr wrap="square">
            <a:spAutoFit/>
          </a:bodyPr>
          <a:lstStyle/>
          <a:p>
            <a:pPr>
              <a:lnSpc>
                <a:spcPct val="150000"/>
              </a:lnSpc>
              <a:spcAft>
                <a:spcPts val="800"/>
              </a:spcAft>
            </a:pPr>
            <a:r>
              <a:rPr lang="en-US" b="1" dirty="0">
                <a:ea typeface="Times New Roman" panose="02020603050405020304" pitchFamily="18" charset="0"/>
                <a:cs typeface="Times New Roman" panose="02020603050405020304" pitchFamily="18" charset="0"/>
              </a:rPr>
              <a:t>3. Assigning OSPF Cost Manually (Optional)</a:t>
            </a:r>
            <a:endParaRPr lang="en-US" dirty="0">
              <a:ea typeface="Calibri" panose="020F0502020204030204" charset="0"/>
              <a:cs typeface="Times New Roman" panose="02020603050405020304" pitchFamily="18" charset="0"/>
            </a:endParaRPr>
          </a:p>
          <a:p>
            <a:pPr marL="342900" marR="0" lvl="0" indent="-342900">
              <a:lnSpc>
                <a:spcPct val="150000"/>
              </a:lnSpc>
              <a:spcBef>
                <a:spcPts val="0"/>
              </a:spcBef>
              <a:spcAft>
                <a:spcPts val="800"/>
              </a:spcAft>
              <a:buSzPts val="1000"/>
              <a:buFont typeface="Symbol" panose="05050102010706020507" pitchFamily="18" charset="2"/>
              <a:buChar char=""/>
              <a:tabLst>
                <a:tab pos="457200" algn="l"/>
              </a:tabLst>
            </a:pPr>
            <a:r>
              <a:rPr lang="en-US" dirty="0">
                <a:ea typeface="Times New Roman" panose="02020603050405020304" pitchFamily="18" charset="0"/>
                <a:cs typeface="Times New Roman" panose="02020603050405020304" pitchFamily="18" charset="0"/>
              </a:rPr>
              <a:t>By default, OSPF calculates cost based on bandwidth, but you can manually set it if needed.</a:t>
            </a:r>
            <a:endParaRPr lang="en-US" dirty="0">
              <a:ea typeface="Calibri" panose="020F0502020204030204" charset="0"/>
              <a:cs typeface="Times New Roman" panose="02020603050405020304" pitchFamily="18" charset="0"/>
            </a:endParaRPr>
          </a:p>
          <a:p>
            <a:pPr>
              <a:lnSpc>
                <a:spcPct val="150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a typeface="Times New Roman" panose="02020603050405020304" pitchFamily="18" charset="0"/>
                <a:cs typeface="Times New Roman" panose="02020603050405020304" pitchFamily="18" charset="0"/>
              </a:rPr>
              <a:t>Router(</a:t>
            </a:r>
            <a:r>
              <a:rPr lang="en-US" dirty="0" err="1">
                <a:ea typeface="Times New Roman" panose="02020603050405020304" pitchFamily="18" charset="0"/>
                <a:cs typeface="Times New Roman" panose="02020603050405020304" pitchFamily="18" charset="0"/>
              </a:rPr>
              <a:t>config</a:t>
            </a:r>
            <a:r>
              <a:rPr lang="en-US" dirty="0">
                <a:ea typeface="Times New Roman" panose="02020603050405020304" pitchFamily="18" charset="0"/>
                <a:cs typeface="Times New Roman" panose="02020603050405020304" pitchFamily="18" charset="0"/>
              </a:rPr>
              <a:t>-if)# ip </a:t>
            </a:r>
            <a:r>
              <a:rPr lang="en-US" dirty="0" err="1">
                <a:ea typeface="Times New Roman" panose="02020603050405020304" pitchFamily="18" charset="0"/>
                <a:cs typeface="Times New Roman" panose="02020603050405020304" pitchFamily="18" charset="0"/>
              </a:rPr>
              <a:t>ospf</a:t>
            </a:r>
            <a:r>
              <a:rPr lang="en-US" dirty="0">
                <a:ea typeface="Times New Roman" panose="02020603050405020304" pitchFamily="18" charset="0"/>
                <a:cs typeface="Times New Roman" panose="02020603050405020304" pitchFamily="18" charset="0"/>
              </a:rPr>
              <a:t> cost &lt;cost-value&gt;</a:t>
            </a:r>
            <a:endParaRPr lang="en-US" dirty="0">
              <a:ea typeface="Calibri" panose="020F0502020204030204" charset="0"/>
              <a:cs typeface="Times New Roman" panose="02020603050405020304" pitchFamily="18" charset="0"/>
            </a:endParaRPr>
          </a:p>
          <a:p>
            <a:pPr>
              <a:lnSpc>
                <a:spcPct val="150000"/>
              </a:lnSpc>
              <a:spcAft>
                <a:spcPts val="800"/>
              </a:spcAft>
            </a:pPr>
            <a:r>
              <a:rPr lang="en-US" b="1" dirty="0">
                <a:ea typeface="Times New Roman" panose="02020603050405020304" pitchFamily="18" charset="0"/>
                <a:cs typeface="Times New Roman" panose="02020603050405020304" pitchFamily="18" charset="0"/>
              </a:rPr>
              <a:t>4. Configure OSPF Timers (Optional)</a:t>
            </a:r>
            <a:endParaRPr lang="en-US" dirty="0">
              <a:ea typeface="Calibri" panose="020F0502020204030204" charset="0"/>
              <a:cs typeface="Times New Roman" panose="02020603050405020304" pitchFamily="18" charset="0"/>
            </a:endParaRPr>
          </a:p>
          <a:p>
            <a:pPr marL="342900" marR="0" lvl="0" indent="-342900">
              <a:lnSpc>
                <a:spcPct val="150000"/>
              </a:lnSpc>
              <a:spcBef>
                <a:spcPts val="0"/>
              </a:spcBef>
              <a:spcAft>
                <a:spcPts val="800"/>
              </a:spcAft>
              <a:buSzPts val="1000"/>
              <a:buFont typeface="Symbol" panose="05050102010706020507" pitchFamily="18" charset="2"/>
              <a:buChar char=""/>
              <a:tabLst>
                <a:tab pos="457200" algn="l"/>
              </a:tabLst>
            </a:pPr>
            <a:r>
              <a:rPr lang="en-US" b="1" dirty="0">
                <a:ea typeface="Times New Roman" panose="02020603050405020304" pitchFamily="18" charset="0"/>
                <a:cs typeface="Times New Roman" panose="02020603050405020304" pitchFamily="18" charset="0"/>
              </a:rPr>
              <a:t>Dead Timer</a:t>
            </a:r>
            <a:r>
              <a:rPr lang="en-US" dirty="0">
                <a:ea typeface="Times New Roman" panose="02020603050405020304" pitchFamily="18" charset="0"/>
                <a:cs typeface="Times New Roman" panose="02020603050405020304" pitchFamily="18" charset="0"/>
              </a:rPr>
              <a:t>: How long OSPF waits to declare a neighbor down if it doesn't receive hello packets.</a:t>
            </a:r>
            <a:endParaRPr lang="en-US" dirty="0">
              <a:ea typeface="Calibri" panose="020F0502020204030204" charset="0"/>
              <a:cs typeface="Times New Roman" panose="02020603050405020304" pitchFamily="18" charset="0"/>
            </a:endParaRPr>
          </a:p>
          <a:p>
            <a:pPr marL="342900" marR="0" lvl="0" indent="-342900">
              <a:lnSpc>
                <a:spcPct val="150000"/>
              </a:lnSpc>
              <a:spcBef>
                <a:spcPts val="0"/>
              </a:spcBef>
              <a:spcAft>
                <a:spcPts val="800"/>
              </a:spcAft>
              <a:buSzPts val="1000"/>
              <a:buFont typeface="Symbol" panose="05050102010706020507" pitchFamily="18" charset="2"/>
              <a:buChar char=""/>
              <a:tabLst>
                <a:tab pos="457200" algn="l"/>
              </a:tabLst>
            </a:pPr>
            <a:r>
              <a:rPr lang="en-US" b="1" dirty="0">
                <a:ea typeface="Times New Roman" panose="02020603050405020304" pitchFamily="18" charset="0"/>
                <a:cs typeface="Times New Roman" panose="02020603050405020304" pitchFamily="18" charset="0"/>
              </a:rPr>
              <a:t>Hello Timer</a:t>
            </a:r>
            <a:r>
              <a:rPr lang="en-US" dirty="0">
                <a:ea typeface="Times New Roman" panose="02020603050405020304" pitchFamily="18" charset="0"/>
                <a:cs typeface="Times New Roman" panose="02020603050405020304" pitchFamily="18" charset="0"/>
              </a:rPr>
              <a:t>: How often OSPF sends hello packets to establish and maintain neighbor relationships.</a:t>
            </a:r>
            <a:endParaRPr lang="en-US" dirty="0">
              <a:ea typeface="Calibri" panose="020F0502020204030204" charset="0"/>
              <a:cs typeface="Times New Roman" panose="02020603050405020304" pitchFamily="18" charset="0"/>
            </a:endParaRPr>
          </a:p>
          <a:p>
            <a:pPr>
              <a:lnSpc>
                <a:spcPct val="150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a typeface="Times New Roman" panose="02020603050405020304" pitchFamily="18" charset="0"/>
                <a:cs typeface="Times New Roman" panose="02020603050405020304" pitchFamily="18" charset="0"/>
              </a:rPr>
              <a:t>Router(</a:t>
            </a:r>
            <a:r>
              <a:rPr lang="en-US" dirty="0" err="1">
                <a:ea typeface="Times New Roman" panose="02020603050405020304" pitchFamily="18" charset="0"/>
                <a:cs typeface="Times New Roman" panose="02020603050405020304" pitchFamily="18" charset="0"/>
              </a:rPr>
              <a:t>config</a:t>
            </a:r>
            <a:r>
              <a:rPr lang="en-US" dirty="0">
                <a:ea typeface="Times New Roman" panose="02020603050405020304" pitchFamily="18" charset="0"/>
                <a:cs typeface="Times New Roman" panose="02020603050405020304" pitchFamily="18" charset="0"/>
              </a:rPr>
              <a:t>-if)# ip </a:t>
            </a:r>
            <a:r>
              <a:rPr lang="en-US" dirty="0" err="1">
                <a:ea typeface="Times New Roman" panose="02020603050405020304" pitchFamily="18" charset="0"/>
                <a:cs typeface="Times New Roman" panose="02020603050405020304" pitchFamily="18" charset="0"/>
              </a:rPr>
              <a:t>ospf</a:t>
            </a:r>
            <a:r>
              <a:rPr lang="en-US" dirty="0">
                <a:ea typeface="Times New Roman" panose="02020603050405020304" pitchFamily="18" charset="0"/>
                <a:cs typeface="Times New Roman" panose="02020603050405020304" pitchFamily="18" charset="0"/>
              </a:rPr>
              <a:t> hello-interval &lt;seconds&gt;</a:t>
            </a:r>
            <a:endParaRPr lang="en-US" dirty="0">
              <a:ea typeface="Calibri" panose="020F0502020204030204" charset="0"/>
              <a:cs typeface="Times New Roman" panose="02020603050405020304" pitchFamily="18" charset="0"/>
            </a:endParaRPr>
          </a:p>
          <a:p>
            <a:pPr>
              <a:lnSpc>
                <a:spcPct val="150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a typeface="Times New Roman" panose="02020603050405020304" pitchFamily="18" charset="0"/>
                <a:cs typeface="Times New Roman" panose="02020603050405020304" pitchFamily="18" charset="0"/>
              </a:rPr>
              <a:t>Router(</a:t>
            </a:r>
            <a:r>
              <a:rPr lang="en-US" dirty="0" err="1">
                <a:ea typeface="Times New Roman" panose="02020603050405020304" pitchFamily="18" charset="0"/>
                <a:cs typeface="Times New Roman" panose="02020603050405020304" pitchFamily="18" charset="0"/>
              </a:rPr>
              <a:t>config</a:t>
            </a:r>
            <a:r>
              <a:rPr lang="en-US" dirty="0">
                <a:ea typeface="Times New Roman" panose="02020603050405020304" pitchFamily="18" charset="0"/>
                <a:cs typeface="Times New Roman" panose="02020603050405020304" pitchFamily="18" charset="0"/>
              </a:rPr>
              <a:t>-if)# ip </a:t>
            </a:r>
            <a:r>
              <a:rPr lang="en-US" dirty="0" err="1">
                <a:ea typeface="Times New Roman" panose="02020603050405020304" pitchFamily="18" charset="0"/>
                <a:cs typeface="Times New Roman" panose="02020603050405020304" pitchFamily="18" charset="0"/>
              </a:rPr>
              <a:t>ospf</a:t>
            </a:r>
            <a:r>
              <a:rPr lang="en-US" dirty="0">
                <a:ea typeface="Times New Roman" panose="02020603050405020304" pitchFamily="18" charset="0"/>
                <a:cs typeface="Times New Roman" panose="02020603050405020304" pitchFamily="18" charset="0"/>
              </a:rPr>
              <a:t> dead-interval &lt;seconds&gt;</a:t>
            </a:r>
            <a:endParaRPr lang="en-US" dirty="0">
              <a:ea typeface="Calibri" panose="020F0502020204030204" charset="0"/>
              <a:cs typeface="Times New Roman" panose="02020603050405020304" pitchFamily="18" charset="0"/>
            </a:endParaRPr>
          </a:p>
          <a:p>
            <a:pPr>
              <a:lnSpc>
                <a:spcPct val="150000"/>
              </a:lnSpc>
              <a:spcAft>
                <a:spcPts val="800"/>
              </a:spcAft>
            </a:pPr>
            <a:r>
              <a:rPr lang="en-US" b="1" dirty="0">
                <a:ea typeface="Times New Roman" panose="02020603050405020304" pitchFamily="18" charset="0"/>
                <a:cs typeface="Times New Roman" panose="02020603050405020304" pitchFamily="18" charset="0"/>
              </a:rPr>
              <a:t>5. Configure OSPF on Point-to-Point Links (Optional)</a:t>
            </a:r>
            <a:endParaRPr lang="en-US" dirty="0">
              <a:ea typeface="Calibri" panose="020F0502020204030204" charset="0"/>
              <a:cs typeface="Times New Roman" panose="02020603050405020304" pitchFamily="18" charset="0"/>
            </a:endParaRPr>
          </a:p>
          <a:p>
            <a:pPr marL="342900" marR="0" lvl="0" indent="-342900">
              <a:lnSpc>
                <a:spcPct val="150000"/>
              </a:lnSpc>
              <a:spcBef>
                <a:spcPts val="0"/>
              </a:spcBef>
              <a:spcAft>
                <a:spcPts val="800"/>
              </a:spcAft>
              <a:buSzPts val="1000"/>
              <a:buFont typeface="Symbol" panose="05050102010706020507" pitchFamily="18" charset="2"/>
              <a:buChar char=""/>
              <a:tabLst>
                <a:tab pos="457200" algn="l"/>
              </a:tabLst>
            </a:pPr>
            <a:r>
              <a:rPr lang="en-US" dirty="0">
                <a:ea typeface="Times New Roman" panose="02020603050405020304" pitchFamily="18" charset="0"/>
                <a:cs typeface="Times New Roman" panose="02020603050405020304" pitchFamily="18" charset="0"/>
              </a:rPr>
              <a:t>For specific network topologies, you may set the OSPF network type.</a:t>
            </a:r>
            <a:endParaRPr lang="en-US" dirty="0">
              <a:ea typeface="Calibri" panose="020F0502020204030204" charset="0"/>
              <a:cs typeface="Times New Roman" panose="02020603050405020304" pitchFamily="18" charset="0"/>
            </a:endParaRPr>
          </a:p>
          <a:p>
            <a:pPr>
              <a:lnSpc>
                <a:spcPct val="150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dirty="0">
                <a:ea typeface="Times New Roman" panose="02020603050405020304" pitchFamily="18" charset="0"/>
                <a:cs typeface="Times New Roman" panose="02020603050405020304" pitchFamily="18" charset="0"/>
              </a:rPr>
              <a:t>Router(</a:t>
            </a:r>
            <a:r>
              <a:rPr lang="en-US" dirty="0" err="1">
                <a:ea typeface="Times New Roman" panose="02020603050405020304" pitchFamily="18" charset="0"/>
                <a:cs typeface="Times New Roman" panose="02020603050405020304" pitchFamily="18" charset="0"/>
              </a:rPr>
              <a:t>config</a:t>
            </a:r>
            <a:r>
              <a:rPr lang="en-US" dirty="0">
                <a:ea typeface="Times New Roman" panose="02020603050405020304" pitchFamily="18" charset="0"/>
                <a:cs typeface="Times New Roman" panose="02020603050405020304" pitchFamily="18" charset="0"/>
              </a:rPr>
              <a:t>-if)# ip </a:t>
            </a:r>
            <a:r>
              <a:rPr lang="en-US" dirty="0" err="1">
                <a:ea typeface="Times New Roman" panose="02020603050405020304" pitchFamily="18" charset="0"/>
                <a:cs typeface="Times New Roman" panose="02020603050405020304" pitchFamily="18" charset="0"/>
              </a:rPr>
              <a:t>ospf</a:t>
            </a:r>
            <a:r>
              <a:rPr lang="en-US" dirty="0">
                <a:ea typeface="Times New Roman" panose="02020603050405020304" pitchFamily="18" charset="0"/>
                <a:cs typeface="Times New Roman" panose="02020603050405020304" pitchFamily="18" charset="0"/>
              </a:rPr>
              <a:t> network point-to-point</a:t>
            </a:r>
            <a:endParaRPr lang="en-US" dirty="0">
              <a:ea typeface="Calibri" panose="020F0502020204030204" charset="0"/>
              <a:cs typeface="Times New Roman" panose="02020603050405020304" pitchFamily="18" charset="0"/>
            </a:endParaRPr>
          </a:p>
          <a:p>
            <a:pPr>
              <a:lnSpc>
                <a:spcPct val="150000"/>
              </a:lnSpc>
            </a:pPr>
            <a:r>
              <a:rPr lang="en-US" dirty="0">
                <a:ea typeface="Times New Roman" panose="02020603050405020304" pitchFamily="18" charset="0"/>
                <a:cs typeface="Times New Roman" panose="02020603050405020304" pitchFamily="18" charset="0"/>
              </a:rPr>
              <a:t> </a:t>
            </a:r>
            <a:endParaRPr lang="en-US" dirty="0">
              <a:ea typeface="Calibri" panose="020F0502020204030204"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defTabSz="609600"/>
            <a:r>
              <a:rPr lang="en-IN"/>
              <a:t>LABOR FOR THE FUTURE</a:t>
            </a:r>
            <a:endParaRPr lang="en-IN" dirty="0"/>
          </a:p>
        </p:txBody>
      </p:sp>
      <p:sp>
        <p:nvSpPr>
          <p:cNvPr id="3" name="Rectangle 2"/>
          <p:cNvSpPr/>
          <p:nvPr/>
        </p:nvSpPr>
        <p:spPr>
          <a:xfrm>
            <a:off x="278295" y="177538"/>
            <a:ext cx="11039061" cy="6496907"/>
          </a:xfrm>
          <a:prstGeom prst="rect">
            <a:avLst/>
          </a:prstGeom>
        </p:spPr>
        <p:txBody>
          <a:bodyPr wrap="square">
            <a:spAutoFit/>
          </a:bodyPr>
          <a:lstStyle/>
          <a:p>
            <a:pPr>
              <a:lnSpc>
                <a:spcPct val="107000"/>
              </a:lnSpc>
              <a:spcAft>
                <a:spcPts val="800"/>
              </a:spcAft>
            </a:pPr>
            <a:r>
              <a:rPr lang="en-US" sz="2000" b="1" dirty="0">
                <a:ea typeface="Times New Roman" panose="02020603050405020304" pitchFamily="18" charset="0"/>
                <a:cs typeface="Times New Roman" panose="02020603050405020304" pitchFamily="18" charset="0"/>
              </a:rPr>
              <a:t>Example OSPF Configuration</a:t>
            </a:r>
            <a:endParaRPr lang="en-US" sz="2000" dirty="0">
              <a:ea typeface="Calibri" panose="020F0502020204030204" charset="0"/>
              <a:cs typeface="Times New Roman" panose="02020603050405020304" pitchFamily="18" charset="0"/>
            </a:endParaRPr>
          </a:p>
          <a:p>
            <a:pPr>
              <a:lnSpc>
                <a:spcPct val="107000"/>
              </a:lnSpc>
              <a:spcAft>
                <a:spcPts val="800"/>
              </a:spcAft>
            </a:pPr>
            <a:r>
              <a:rPr lang="en-US" sz="2000" dirty="0">
                <a:ea typeface="Times New Roman" panose="02020603050405020304" pitchFamily="18" charset="0"/>
                <a:cs typeface="Times New Roman" panose="02020603050405020304" pitchFamily="18" charset="0"/>
              </a:rPr>
              <a:t>For a network with two routers (R1 and R2), each with interfaces in Area 0 and directly connected:</a:t>
            </a:r>
            <a:endParaRPr lang="en-US" sz="2000" dirty="0">
              <a:ea typeface="Calibri" panose="020F0502020204030204" charset="0"/>
              <a:cs typeface="Times New Roman" panose="02020603050405020304" pitchFamily="18" charset="0"/>
            </a:endParaRPr>
          </a:p>
          <a:p>
            <a:pPr>
              <a:lnSpc>
                <a:spcPct val="107000"/>
              </a:lnSpc>
              <a:spcAft>
                <a:spcPts val="800"/>
              </a:spcAft>
            </a:pPr>
            <a:r>
              <a:rPr lang="en-US" sz="2000" b="1" dirty="0">
                <a:ea typeface="Times New Roman" panose="02020603050405020304" pitchFamily="18" charset="0"/>
                <a:cs typeface="Times New Roman" panose="02020603050405020304" pitchFamily="18" charset="0"/>
              </a:rPr>
              <a:t>On Router 1:</a:t>
            </a:r>
            <a:endParaRPr lang="en-US" sz="2000" dirty="0">
              <a:ea typeface="Calibri" panose="020F050202020403020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ea typeface="Times New Roman" panose="02020603050405020304" pitchFamily="18" charset="0"/>
                <a:cs typeface="Times New Roman" panose="02020603050405020304" pitchFamily="18" charset="0"/>
              </a:rPr>
              <a:t>Router(</a:t>
            </a:r>
            <a:r>
              <a:rPr lang="en-US" sz="2000" dirty="0" err="1">
                <a:ea typeface="Times New Roman" panose="02020603050405020304" pitchFamily="18" charset="0"/>
                <a:cs typeface="Times New Roman" panose="02020603050405020304" pitchFamily="18" charset="0"/>
              </a:rPr>
              <a:t>config</a:t>
            </a:r>
            <a:r>
              <a:rPr lang="en-US" sz="2000" dirty="0">
                <a:ea typeface="Times New Roman" panose="02020603050405020304" pitchFamily="18" charset="0"/>
                <a:cs typeface="Times New Roman" panose="02020603050405020304" pitchFamily="18" charset="0"/>
              </a:rPr>
              <a:t>)# router </a:t>
            </a:r>
            <a:r>
              <a:rPr lang="en-US" sz="2000" dirty="0" err="1">
                <a:ea typeface="Times New Roman" panose="02020603050405020304" pitchFamily="18" charset="0"/>
                <a:cs typeface="Times New Roman" panose="02020603050405020304" pitchFamily="18" charset="0"/>
              </a:rPr>
              <a:t>ospf</a:t>
            </a:r>
            <a:r>
              <a:rPr lang="en-US" sz="2000" dirty="0">
                <a:ea typeface="Times New Roman" panose="02020603050405020304" pitchFamily="18" charset="0"/>
                <a:cs typeface="Times New Roman" panose="02020603050405020304" pitchFamily="18" charset="0"/>
              </a:rPr>
              <a:t> 1</a:t>
            </a:r>
            <a:endParaRPr lang="en-US" sz="2000" dirty="0">
              <a:ea typeface="Calibri" panose="020F050202020403020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ea typeface="Times New Roman" panose="02020603050405020304" pitchFamily="18" charset="0"/>
                <a:cs typeface="Times New Roman" panose="02020603050405020304" pitchFamily="18" charset="0"/>
              </a:rPr>
              <a:t>Router(</a:t>
            </a:r>
            <a:r>
              <a:rPr lang="en-US" sz="2000" dirty="0" err="1">
                <a:ea typeface="Times New Roman" panose="02020603050405020304" pitchFamily="18" charset="0"/>
                <a:cs typeface="Times New Roman" panose="02020603050405020304" pitchFamily="18" charset="0"/>
              </a:rPr>
              <a:t>config</a:t>
            </a:r>
            <a:r>
              <a:rPr lang="en-US" sz="2000" dirty="0">
                <a:ea typeface="Times New Roman" panose="02020603050405020304" pitchFamily="18" charset="0"/>
                <a:cs typeface="Times New Roman" panose="02020603050405020304" pitchFamily="18" charset="0"/>
              </a:rPr>
              <a:t>-router)# network 10.1.1.0 0.0.0.255 area 0</a:t>
            </a:r>
            <a:endParaRPr lang="en-US" sz="2000" dirty="0">
              <a:ea typeface="Calibri" panose="020F050202020403020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ea typeface="Times New Roman" panose="02020603050405020304" pitchFamily="18" charset="0"/>
                <a:cs typeface="Times New Roman" panose="02020603050405020304" pitchFamily="18" charset="0"/>
              </a:rPr>
              <a:t>Router(</a:t>
            </a:r>
            <a:r>
              <a:rPr lang="en-US" sz="2000" dirty="0" err="1">
                <a:ea typeface="Times New Roman" panose="02020603050405020304" pitchFamily="18" charset="0"/>
                <a:cs typeface="Times New Roman" panose="02020603050405020304" pitchFamily="18" charset="0"/>
              </a:rPr>
              <a:t>config</a:t>
            </a:r>
            <a:r>
              <a:rPr lang="en-US" sz="2000" dirty="0">
                <a:ea typeface="Times New Roman" panose="02020603050405020304" pitchFamily="18" charset="0"/>
                <a:cs typeface="Times New Roman" panose="02020603050405020304" pitchFamily="18" charset="0"/>
              </a:rPr>
              <a:t>-router)# network 10.2.2.0 0.0.0.255 area 0</a:t>
            </a:r>
            <a:endParaRPr lang="en-US" sz="2000" dirty="0">
              <a:ea typeface="Calibri" panose="020F0502020204030204" charset="0"/>
              <a:cs typeface="Times New Roman" panose="02020603050405020304" pitchFamily="18" charset="0"/>
            </a:endParaRPr>
          </a:p>
          <a:p>
            <a:pPr>
              <a:lnSpc>
                <a:spcPct val="107000"/>
              </a:lnSpc>
              <a:spcAft>
                <a:spcPts val="800"/>
              </a:spcAft>
            </a:pPr>
            <a:r>
              <a:rPr lang="en-US" sz="2000" b="1" dirty="0">
                <a:ea typeface="Times New Roman" panose="02020603050405020304" pitchFamily="18" charset="0"/>
                <a:cs typeface="Times New Roman" panose="02020603050405020304" pitchFamily="18" charset="0"/>
              </a:rPr>
              <a:t>On Router 2:</a:t>
            </a:r>
            <a:endParaRPr lang="en-US" sz="2000" dirty="0">
              <a:ea typeface="Calibri" panose="020F050202020403020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ea typeface="Times New Roman" panose="02020603050405020304" pitchFamily="18" charset="0"/>
                <a:cs typeface="Times New Roman" panose="02020603050405020304" pitchFamily="18" charset="0"/>
              </a:rPr>
              <a:t>Router(</a:t>
            </a:r>
            <a:r>
              <a:rPr lang="en-US" sz="2000" dirty="0" err="1">
                <a:ea typeface="Times New Roman" panose="02020603050405020304" pitchFamily="18" charset="0"/>
                <a:cs typeface="Times New Roman" panose="02020603050405020304" pitchFamily="18" charset="0"/>
              </a:rPr>
              <a:t>config</a:t>
            </a:r>
            <a:r>
              <a:rPr lang="en-US" sz="2000" dirty="0">
                <a:ea typeface="Times New Roman" panose="02020603050405020304" pitchFamily="18" charset="0"/>
                <a:cs typeface="Times New Roman" panose="02020603050405020304" pitchFamily="18" charset="0"/>
              </a:rPr>
              <a:t>)# router </a:t>
            </a:r>
            <a:r>
              <a:rPr lang="en-US" sz="2000" dirty="0" err="1">
                <a:ea typeface="Times New Roman" panose="02020603050405020304" pitchFamily="18" charset="0"/>
                <a:cs typeface="Times New Roman" panose="02020603050405020304" pitchFamily="18" charset="0"/>
              </a:rPr>
              <a:t>ospf</a:t>
            </a:r>
            <a:r>
              <a:rPr lang="en-US" sz="2000" dirty="0">
                <a:ea typeface="Times New Roman" panose="02020603050405020304" pitchFamily="18" charset="0"/>
                <a:cs typeface="Times New Roman" panose="02020603050405020304" pitchFamily="18" charset="0"/>
              </a:rPr>
              <a:t> 1</a:t>
            </a:r>
            <a:endParaRPr lang="en-US" sz="2000" dirty="0">
              <a:ea typeface="Calibri" panose="020F050202020403020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ea typeface="Times New Roman" panose="02020603050405020304" pitchFamily="18" charset="0"/>
                <a:cs typeface="Times New Roman" panose="02020603050405020304" pitchFamily="18" charset="0"/>
              </a:rPr>
              <a:t>Router(</a:t>
            </a:r>
            <a:r>
              <a:rPr lang="en-US" sz="2000" dirty="0" err="1">
                <a:ea typeface="Times New Roman" panose="02020603050405020304" pitchFamily="18" charset="0"/>
                <a:cs typeface="Times New Roman" panose="02020603050405020304" pitchFamily="18" charset="0"/>
              </a:rPr>
              <a:t>config</a:t>
            </a:r>
            <a:r>
              <a:rPr lang="en-US" sz="2000" dirty="0">
                <a:ea typeface="Times New Roman" panose="02020603050405020304" pitchFamily="18" charset="0"/>
                <a:cs typeface="Times New Roman" panose="02020603050405020304" pitchFamily="18" charset="0"/>
              </a:rPr>
              <a:t>-router)# network 10.1.1.0 0.0.0.255 area 0</a:t>
            </a:r>
            <a:endParaRPr lang="en-US" sz="2000" dirty="0">
              <a:ea typeface="Calibri" panose="020F050202020403020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ea typeface="Times New Roman" panose="02020603050405020304" pitchFamily="18" charset="0"/>
                <a:cs typeface="Times New Roman" panose="02020603050405020304" pitchFamily="18" charset="0"/>
              </a:rPr>
              <a:t>Router(</a:t>
            </a:r>
            <a:r>
              <a:rPr lang="en-US" sz="2000" dirty="0" err="1">
                <a:ea typeface="Times New Roman" panose="02020603050405020304" pitchFamily="18" charset="0"/>
                <a:cs typeface="Times New Roman" panose="02020603050405020304" pitchFamily="18" charset="0"/>
              </a:rPr>
              <a:t>config</a:t>
            </a:r>
            <a:r>
              <a:rPr lang="en-US" sz="2000" dirty="0">
                <a:ea typeface="Times New Roman" panose="02020603050405020304" pitchFamily="18" charset="0"/>
                <a:cs typeface="Times New Roman" panose="02020603050405020304" pitchFamily="18" charset="0"/>
              </a:rPr>
              <a:t>-router)# network 10.3.3.0 0.0.0.255 area 0</a:t>
            </a:r>
            <a:endParaRPr lang="en-US" sz="2000" dirty="0">
              <a:ea typeface="Calibri" panose="020F0502020204030204" charset="0"/>
              <a:cs typeface="Times New Roman" panose="02020603050405020304" pitchFamily="18" charset="0"/>
            </a:endParaRPr>
          </a:p>
          <a:p>
            <a:pPr>
              <a:lnSpc>
                <a:spcPct val="107000"/>
              </a:lnSpc>
              <a:spcAft>
                <a:spcPts val="800"/>
              </a:spcAft>
            </a:pPr>
            <a:r>
              <a:rPr lang="en-US" sz="2000" b="1" dirty="0">
                <a:ea typeface="Times New Roman" panose="02020603050405020304" pitchFamily="18" charset="0"/>
                <a:cs typeface="Times New Roman" panose="02020603050405020304" pitchFamily="18" charset="0"/>
              </a:rPr>
              <a:t>Verifying OSPF Configuration</a:t>
            </a:r>
            <a:endParaRPr lang="en-US" sz="2000" dirty="0">
              <a:ea typeface="Calibri" panose="020F050202020403020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2000" b="1" dirty="0">
                <a:ea typeface="Times New Roman" panose="02020603050405020304" pitchFamily="18" charset="0"/>
                <a:cs typeface="Times New Roman" panose="02020603050405020304" pitchFamily="18" charset="0"/>
              </a:rPr>
              <a:t>View OSPF Neighbors</a:t>
            </a:r>
            <a:r>
              <a:rPr lang="en-US" sz="2000" dirty="0">
                <a:ea typeface="Times New Roman" panose="02020603050405020304" pitchFamily="18" charset="0"/>
                <a:cs typeface="Times New Roman" panose="02020603050405020304" pitchFamily="18" charset="0"/>
              </a:rPr>
              <a:t>:</a:t>
            </a:r>
            <a:endParaRPr lang="en-US" sz="2000" dirty="0">
              <a:ea typeface="Calibri" panose="020F0502020204030204" charset="0"/>
              <a:cs typeface="Times New Roman" panose="02020603050405020304" pitchFamily="18" charset="0"/>
            </a:endParaRPr>
          </a:p>
          <a:p>
            <a:pPr marL="457200" marR="0">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ea typeface="Times New Roman" panose="02020603050405020304" pitchFamily="18" charset="0"/>
                <a:cs typeface="Times New Roman" panose="02020603050405020304" pitchFamily="18" charset="0"/>
              </a:rPr>
              <a:t>Router# show ip </a:t>
            </a:r>
            <a:r>
              <a:rPr lang="en-US" sz="2000" dirty="0" err="1">
                <a:ea typeface="Times New Roman" panose="02020603050405020304" pitchFamily="18" charset="0"/>
                <a:cs typeface="Times New Roman" panose="02020603050405020304" pitchFamily="18" charset="0"/>
              </a:rPr>
              <a:t>ospf</a:t>
            </a:r>
            <a:r>
              <a:rPr lang="en-US" sz="2000" dirty="0">
                <a:ea typeface="Times New Roman" panose="02020603050405020304" pitchFamily="18" charset="0"/>
                <a:cs typeface="Times New Roman" panose="02020603050405020304" pitchFamily="18" charset="0"/>
              </a:rPr>
              <a:t> neighbor</a:t>
            </a:r>
            <a:endParaRPr lang="en-US" sz="2000" dirty="0">
              <a:ea typeface="Calibri" panose="020F050202020403020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startAt="2"/>
              <a:tabLst>
                <a:tab pos="457200" algn="l"/>
              </a:tabLst>
            </a:pPr>
            <a:r>
              <a:rPr lang="en-US" sz="2000" b="1" dirty="0">
                <a:ea typeface="Times New Roman" panose="02020603050405020304" pitchFamily="18" charset="0"/>
                <a:cs typeface="Times New Roman" panose="02020603050405020304" pitchFamily="18" charset="0"/>
              </a:rPr>
              <a:t>View OSPF Routes</a:t>
            </a:r>
            <a:r>
              <a:rPr lang="en-US" sz="2000" dirty="0">
                <a:ea typeface="Times New Roman" panose="02020603050405020304" pitchFamily="18" charset="0"/>
                <a:cs typeface="Times New Roman" panose="02020603050405020304" pitchFamily="18" charset="0"/>
              </a:rPr>
              <a:t>:</a:t>
            </a:r>
            <a:endParaRPr lang="en-US" sz="2000" dirty="0">
              <a:ea typeface="Calibri" panose="020F0502020204030204" charset="0"/>
              <a:cs typeface="Times New Roman" panose="02020603050405020304" pitchFamily="18" charset="0"/>
            </a:endParaRPr>
          </a:p>
          <a:p>
            <a:pPr marL="457200" marR="0">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ea typeface="Times New Roman" panose="02020603050405020304" pitchFamily="18" charset="0"/>
                <a:cs typeface="Times New Roman" panose="02020603050405020304" pitchFamily="18" charset="0"/>
              </a:rPr>
              <a:t>Router# show ip route </a:t>
            </a:r>
            <a:r>
              <a:rPr lang="en-US" sz="2000" dirty="0" err="1">
                <a:ea typeface="Times New Roman" panose="02020603050405020304" pitchFamily="18" charset="0"/>
                <a:cs typeface="Times New Roman" panose="02020603050405020304" pitchFamily="18" charset="0"/>
              </a:rPr>
              <a:t>ospf</a:t>
            </a:r>
            <a:endParaRPr lang="en-US" sz="2000" dirty="0">
              <a:ea typeface="Calibri" panose="020F050202020403020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startAt="3"/>
              <a:tabLst>
                <a:tab pos="457200" algn="l"/>
              </a:tabLst>
            </a:pPr>
            <a:r>
              <a:rPr lang="en-US" sz="2000" b="1" dirty="0">
                <a:ea typeface="Times New Roman" panose="02020603050405020304" pitchFamily="18" charset="0"/>
                <a:cs typeface="Times New Roman" panose="02020603050405020304" pitchFamily="18" charset="0"/>
              </a:rPr>
              <a:t>View OSPF Database</a:t>
            </a:r>
            <a:r>
              <a:rPr lang="en-US" sz="2000" dirty="0">
                <a:ea typeface="Times New Roman" panose="02020603050405020304" pitchFamily="18" charset="0"/>
                <a:cs typeface="Times New Roman" panose="02020603050405020304" pitchFamily="18" charset="0"/>
              </a:rPr>
              <a:t>:</a:t>
            </a:r>
            <a:endParaRPr lang="en-US" sz="2000" dirty="0">
              <a:ea typeface="Calibri" panose="020F0502020204030204" charset="0"/>
              <a:cs typeface="Times New Roman" panose="02020603050405020304" pitchFamily="18" charset="0"/>
            </a:endParaRPr>
          </a:p>
          <a:p>
            <a:pPr marL="457200" marR="0">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ea typeface="Times New Roman" panose="02020603050405020304" pitchFamily="18" charset="0"/>
                <a:cs typeface="Times New Roman" panose="02020603050405020304" pitchFamily="18" charset="0"/>
              </a:rPr>
              <a:t>Router# show ip </a:t>
            </a:r>
            <a:r>
              <a:rPr lang="en-US" sz="2000" dirty="0" err="1">
                <a:ea typeface="Times New Roman" panose="02020603050405020304" pitchFamily="18" charset="0"/>
                <a:cs typeface="Times New Roman" panose="02020603050405020304" pitchFamily="18" charset="0"/>
              </a:rPr>
              <a:t>ospf</a:t>
            </a:r>
            <a:r>
              <a:rPr lang="en-US" sz="2000" dirty="0">
                <a:ea typeface="Times New Roman" panose="02020603050405020304" pitchFamily="18" charset="0"/>
                <a:cs typeface="Times New Roman" panose="02020603050405020304" pitchFamily="18" charset="0"/>
              </a:rPr>
              <a:t> database</a:t>
            </a:r>
            <a:endParaRPr lang="en-US" sz="2000" dirty="0">
              <a:effectLst/>
              <a:ea typeface="Calibri" panose="020F0502020204030204"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defTabSz="609600"/>
            <a:r>
              <a:rPr lang="en-IN"/>
              <a:t>LABOR FOR THE FUTURE</a:t>
            </a:r>
            <a:endParaRPr lang="en-IN" dirty="0"/>
          </a:p>
        </p:txBody>
      </p:sp>
      <p:sp>
        <p:nvSpPr>
          <p:cNvPr id="3" name="Rectangle 2"/>
          <p:cNvSpPr/>
          <p:nvPr/>
        </p:nvSpPr>
        <p:spPr>
          <a:xfrm>
            <a:off x="481264" y="721515"/>
            <a:ext cx="11036968" cy="6507935"/>
          </a:xfrm>
          <a:prstGeom prst="rect">
            <a:avLst/>
          </a:prstGeom>
        </p:spPr>
        <p:txBody>
          <a:bodyPr wrap="square">
            <a:spAutoFit/>
          </a:bodyPr>
          <a:lstStyle/>
          <a:p>
            <a:pPr>
              <a:lnSpc>
                <a:spcPct val="150000"/>
              </a:lnSpc>
            </a:pPr>
            <a:r>
              <a:rPr lang="en-US" sz="2000" b="1" dirty="0"/>
              <a:t>Border Gateway Protocol (BGP</a:t>
            </a:r>
            <a:r>
              <a:rPr lang="en-US" sz="2000" dirty="0"/>
              <a:t>) is the primary routing protocol used to exchange routing information across different autonomous systems (AS) on the Internet. BGP enables routers in different networks (often belonging to different organizations) to communicate and determine the best paths for data traffic across the Internet.</a:t>
            </a:r>
          </a:p>
          <a:p>
            <a:pPr>
              <a:lnSpc>
                <a:spcPct val="150000"/>
              </a:lnSpc>
            </a:pPr>
            <a:r>
              <a:rPr lang="en-US" sz="2000" b="1" dirty="0"/>
              <a:t>Key Features of BGP</a:t>
            </a:r>
          </a:p>
          <a:p>
            <a:pPr>
              <a:lnSpc>
                <a:spcPct val="150000"/>
              </a:lnSpc>
              <a:buFont typeface="Arial" panose="020B0604020202020204" pitchFamily="34" charset="0"/>
              <a:buChar char="•"/>
            </a:pPr>
            <a:r>
              <a:rPr lang="en-US" sz="2000" b="1" dirty="0"/>
              <a:t>Path Vector Protocol</a:t>
            </a:r>
            <a:r>
              <a:rPr lang="en-US" sz="2000" dirty="0"/>
              <a:t>: BGP uses path vector mechanisms to share routes, providing the AS path for each route. This helps prevent routing loops.</a:t>
            </a:r>
          </a:p>
          <a:p>
            <a:pPr>
              <a:lnSpc>
                <a:spcPct val="150000"/>
              </a:lnSpc>
              <a:buFont typeface="Arial" panose="020B0604020202020204" pitchFamily="34" charset="0"/>
              <a:buChar char="•"/>
            </a:pPr>
            <a:r>
              <a:rPr lang="en-US" sz="2000" b="1" dirty="0"/>
              <a:t>Scalability</a:t>
            </a:r>
            <a:r>
              <a:rPr lang="en-US" sz="2000" dirty="0"/>
              <a:t>: BGP is highly scalable and can manage complex routing in large networks like the Internet.</a:t>
            </a:r>
          </a:p>
          <a:p>
            <a:pPr>
              <a:lnSpc>
                <a:spcPct val="150000"/>
              </a:lnSpc>
              <a:buFont typeface="Arial" panose="020B0604020202020204" pitchFamily="34" charset="0"/>
              <a:buChar char="•"/>
            </a:pPr>
            <a:r>
              <a:rPr lang="en-US" sz="2000" b="1" dirty="0"/>
              <a:t>Policies and Path Control</a:t>
            </a:r>
            <a:r>
              <a:rPr lang="en-US" sz="2000" dirty="0"/>
              <a:t>: BGP allows for advanced control over route selection through attributes (like AS-path, Next Hop, Local Preference, MED), making it highly customizable.</a:t>
            </a:r>
          </a:p>
          <a:p>
            <a:pPr>
              <a:lnSpc>
                <a:spcPct val="150000"/>
              </a:lnSpc>
              <a:buFont typeface="Arial" panose="020B0604020202020204" pitchFamily="34" charset="0"/>
              <a:buChar char="•"/>
            </a:pPr>
            <a:r>
              <a:rPr lang="en-US" sz="2000" b="1" dirty="0"/>
              <a:t>Slow Convergence</a:t>
            </a:r>
            <a:r>
              <a:rPr lang="en-US" sz="2000" dirty="0"/>
              <a:t>: BGP is designed for stable connections and thus has slower convergence than interior gateway protocols like OSPF or EIGRP.</a:t>
            </a:r>
          </a:p>
          <a:p>
            <a:pPr>
              <a:lnSpc>
                <a:spcPct val="150000"/>
              </a:lnSpc>
            </a:pPr>
            <a:endParaRPr lang="en-US" sz="2000" dirty="0"/>
          </a:p>
        </p:txBody>
      </p:sp>
      <p:sp>
        <p:nvSpPr>
          <p:cNvPr id="4" name="Rectangle 3"/>
          <p:cNvSpPr/>
          <p:nvPr/>
        </p:nvSpPr>
        <p:spPr>
          <a:xfrm>
            <a:off x="2671198" y="244461"/>
            <a:ext cx="4523674" cy="477054"/>
          </a:xfrm>
          <a:prstGeom prst="rect">
            <a:avLst/>
          </a:prstGeom>
        </p:spPr>
        <p:txBody>
          <a:bodyPr wrap="none">
            <a:spAutoFit/>
          </a:bodyPr>
          <a:lstStyle/>
          <a:p>
            <a:r>
              <a:rPr lang="en-US" sz="2500" dirty="0"/>
              <a:t>Border Gateway Protocol (BGP)</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defTabSz="609600"/>
            <a:r>
              <a:rPr lang="en-IN"/>
              <a:t>LABOR FOR THE FUTURE</a:t>
            </a:r>
            <a:endParaRPr lang="en-IN" dirty="0"/>
          </a:p>
        </p:txBody>
      </p:sp>
      <p:sp>
        <p:nvSpPr>
          <p:cNvPr id="3" name="Rectangle 2"/>
          <p:cNvSpPr/>
          <p:nvPr/>
        </p:nvSpPr>
        <p:spPr>
          <a:xfrm>
            <a:off x="689811" y="953506"/>
            <a:ext cx="11373852" cy="2126864"/>
          </a:xfrm>
          <a:prstGeom prst="rect">
            <a:avLst/>
          </a:prstGeom>
        </p:spPr>
        <p:txBody>
          <a:bodyPr wrap="square">
            <a:spAutoFit/>
          </a:bodyPr>
          <a:lstStyle/>
          <a:p>
            <a:pPr>
              <a:lnSpc>
                <a:spcPct val="150000"/>
              </a:lnSpc>
            </a:pPr>
            <a:r>
              <a:rPr lang="en-US" b="1" dirty="0"/>
              <a:t>Types of BGP</a:t>
            </a:r>
          </a:p>
          <a:p>
            <a:pPr>
              <a:lnSpc>
                <a:spcPct val="150000"/>
              </a:lnSpc>
              <a:buFont typeface="+mj-lt"/>
              <a:buAutoNum type="arabicPeriod"/>
            </a:pPr>
            <a:r>
              <a:rPr lang="en-US" b="1" dirty="0" err="1"/>
              <a:t>eBGP</a:t>
            </a:r>
            <a:r>
              <a:rPr lang="en-US" b="1" dirty="0"/>
              <a:t> (External BGP)</a:t>
            </a:r>
            <a:r>
              <a:rPr lang="en-US" dirty="0"/>
              <a:t>:</a:t>
            </a:r>
          </a:p>
          <a:p>
            <a:pPr marL="742950" lvl="1" indent="-285750">
              <a:lnSpc>
                <a:spcPct val="150000"/>
              </a:lnSpc>
              <a:buFont typeface="+mj-lt"/>
              <a:buAutoNum type="arabicPeriod"/>
            </a:pPr>
            <a:r>
              <a:rPr lang="en-US" dirty="0"/>
              <a:t>Used to exchange routing information between different </a:t>
            </a:r>
            <a:r>
              <a:rPr lang="en-US" dirty="0" err="1"/>
              <a:t>ASes</a:t>
            </a:r>
            <a:r>
              <a:rPr lang="en-US" dirty="0"/>
              <a:t> (external networks).</a:t>
            </a:r>
          </a:p>
          <a:p>
            <a:pPr>
              <a:lnSpc>
                <a:spcPct val="150000"/>
              </a:lnSpc>
              <a:buFont typeface="+mj-lt"/>
              <a:buAutoNum type="arabicPeriod"/>
            </a:pPr>
            <a:r>
              <a:rPr lang="en-US" b="1" dirty="0" err="1"/>
              <a:t>iBGP</a:t>
            </a:r>
            <a:r>
              <a:rPr lang="en-US" b="1" dirty="0"/>
              <a:t> (Internal BGP)</a:t>
            </a:r>
            <a:r>
              <a:rPr lang="en-US" dirty="0"/>
              <a:t>:</a:t>
            </a:r>
          </a:p>
          <a:p>
            <a:pPr marL="742950" lvl="1" indent="-285750">
              <a:lnSpc>
                <a:spcPct val="150000"/>
              </a:lnSpc>
              <a:buFont typeface="+mj-lt"/>
              <a:buAutoNum type="arabicPeriod"/>
            </a:pPr>
            <a:r>
              <a:rPr lang="en-US" dirty="0"/>
              <a:t>Used within a single AS to distribute BGP routes across routers in the same network.</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defTabSz="609600"/>
            <a:r>
              <a:rPr lang="en-IN"/>
              <a:t>LABOR FOR THE FUTURE</a:t>
            </a:r>
            <a:endParaRPr lang="en-IN" dirty="0"/>
          </a:p>
        </p:txBody>
      </p:sp>
      <p:sp>
        <p:nvSpPr>
          <p:cNvPr id="3" name="Rectangle 2"/>
          <p:cNvSpPr/>
          <p:nvPr/>
        </p:nvSpPr>
        <p:spPr>
          <a:xfrm>
            <a:off x="244928" y="191996"/>
            <a:ext cx="11737091" cy="7017306"/>
          </a:xfrm>
          <a:prstGeom prst="rect">
            <a:avLst/>
          </a:prstGeom>
        </p:spPr>
        <p:txBody>
          <a:bodyPr wrap="square">
            <a:spAutoFit/>
          </a:bodyPr>
          <a:lstStyle/>
          <a:p>
            <a:pPr>
              <a:lnSpc>
                <a:spcPct val="150000"/>
              </a:lnSpc>
              <a:spcAft>
                <a:spcPts val="800"/>
              </a:spcAft>
            </a:pPr>
            <a:r>
              <a:rPr lang="en-US" sz="2000" b="1" dirty="0">
                <a:ea typeface="Times New Roman" panose="02020603050405020304" pitchFamily="18" charset="0"/>
                <a:cs typeface="Times New Roman" panose="02020603050405020304" pitchFamily="18" charset="0"/>
              </a:rPr>
              <a:t>BGP Configuration</a:t>
            </a:r>
            <a:endParaRPr lang="en-US" sz="2000" dirty="0">
              <a:ea typeface="Calibri" panose="020F0502020204030204" charset="0"/>
              <a:cs typeface="Times New Roman" panose="02020603050405020304" pitchFamily="18" charset="0"/>
            </a:endParaRPr>
          </a:p>
          <a:p>
            <a:pPr>
              <a:lnSpc>
                <a:spcPct val="150000"/>
              </a:lnSpc>
              <a:spcAft>
                <a:spcPts val="800"/>
              </a:spcAft>
            </a:pPr>
            <a:r>
              <a:rPr lang="en-US" sz="2000" dirty="0">
                <a:ea typeface="Times New Roman" panose="02020603050405020304" pitchFamily="18" charset="0"/>
                <a:cs typeface="Times New Roman" panose="02020603050405020304" pitchFamily="18" charset="0"/>
              </a:rPr>
              <a:t>Here’s a simple guide to configure BGP on Cisco routers:</a:t>
            </a:r>
            <a:endParaRPr lang="en-US" sz="2000" dirty="0">
              <a:ea typeface="Calibri" panose="020F0502020204030204" charset="0"/>
              <a:cs typeface="Times New Roman" panose="02020603050405020304" pitchFamily="18" charset="0"/>
            </a:endParaRPr>
          </a:p>
          <a:p>
            <a:pPr>
              <a:lnSpc>
                <a:spcPct val="150000"/>
              </a:lnSpc>
              <a:spcAft>
                <a:spcPts val="800"/>
              </a:spcAft>
            </a:pPr>
            <a:r>
              <a:rPr lang="en-US" sz="2000" b="1" dirty="0">
                <a:ea typeface="Times New Roman" panose="02020603050405020304" pitchFamily="18" charset="0"/>
                <a:cs typeface="Times New Roman" panose="02020603050405020304" pitchFamily="18" charset="0"/>
              </a:rPr>
              <a:t>1. Define the BGP Process and Specify the AS</a:t>
            </a:r>
            <a:endParaRPr lang="en-US" sz="2000" dirty="0">
              <a:ea typeface="Calibri" panose="020F0502020204030204" charset="0"/>
              <a:cs typeface="Times New Roman" panose="02020603050405020304" pitchFamily="18" charset="0"/>
            </a:endParaRPr>
          </a:p>
          <a:p>
            <a:pPr marL="342900" marR="0" lvl="0" indent="-342900">
              <a:lnSpc>
                <a:spcPct val="150000"/>
              </a:lnSpc>
              <a:spcBef>
                <a:spcPts val="0"/>
              </a:spcBef>
              <a:spcAft>
                <a:spcPts val="800"/>
              </a:spcAft>
              <a:buSzPts val="1000"/>
              <a:buFont typeface="Symbol" panose="05050102010706020507" pitchFamily="18" charset="2"/>
              <a:buChar char=""/>
              <a:tabLst>
                <a:tab pos="457200" algn="l"/>
              </a:tabLst>
            </a:pPr>
            <a:r>
              <a:rPr lang="en-US" sz="2000" dirty="0">
                <a:ea typeface="Times New Roman" panose="02020603050405020304" pitchFamily="18" charset="0"/>
                <a:cs typeface="Times New Roman" panose="02020603050405020304" pitchFamily="18" charset="0"/>
              </a:rPr>
              <a:t>Start the BGP process by specifying your autonomous system number.</a:t>
            </a:r>
            <a:endParaRPr lang="en-US" sz="2000" dirty="0">
              <a:ea typeface="Calibri" panose="020F0502020204030204" charset="0"/>
              <a:cs typeface="Times New Roman" panose="02020603050405020304" pitchFamily="18" charset="0"/>
            </a:endParaRPr>
          </a:p>
          <a:p>
            <a:pPr>
              <a:lnSpc>
                <a:spcPct val="150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ea typeface="Times New Roman" panose="02020603050405020304" pitchFamily="18" charset="0"/>
                <a:cs typeface="Times New Roman" panose="02020603050405020304" pitchFamily="18" charset="0"/>
              </a:rPr>
              <a:t>Router(</a:t>
            </a:r>
            <a:r>
              <a:rPr lang="en-US" sz="2000" dirty="0" err="1">
                <a:ea typeface="Times New Roman" panose="02020603050405020304" pitchFamily="18" charset="0"/>
                <a:cs typeface="Times New Roman" panose="02020603050405020304" pitchFamily="18" charset="0"/>
              </a:rPr>
              <a:t>config</a:t>
            </a:r>
            <a:r>
              <a:rPr lang="en-US" sz="2000" dirty="0">
                <a:ea typeface="Times New Roman" panose="02020603050405020304" pitchFamily="18" charset="0"/>
                <a:cs typeface="Times New Roman" panose="02020603050405020304" pitchFamily="18" charset="0"/>
              </a:rPr>
              <a:t>)# router </a:t>
            </a:r>
            <a:r>
              <a:rPr lang="en-US" sz="2000" dirty="0" err="1">
                <a:ea typeface="Times New Roman" panose="02020603050405020304" pitchFamily="18" charset="0"/>
                <a:cs typeface="Times New Roman" panose="02020603050405020304" pitchFamily="18" charset="0"/>
              </a:rPr>
              <a:t>bgp</a:t>
            </a:r>
            <a:r>
              <a:rPr lang="en-US" sz="2000" dirty="0">
                <a:ea typeface="Times New Roman" panose="02020603050405020304" pitchFamily="18" charset="0"/>
                <a:cs typeface="Times New Roman" panose="02020603050405020304" pitchFamily="18" charset="0"/>
              </a:rPr>
              <a:t> &lt;AS-number&gt;</a:t>
            </a:r>
            <a:endParaRPr lang="en-US" sz="2000" dirty="0">
              <a:ea typeface="Calibri" panose="020F0502020204030204" charset="0"/>
              <a:cs typeface="Times New Roman" panose="02020603050405020304" pitchFamily="18" charset="0"/>
            </a:endParaRPr>
          </a:p>
          <a:p>
            <a:pPr>
              <a:lnSpc>
                <a:spcPct val="150000"/>
              </a:lnSpc>
              <a:spcAft>
                <a:spcPts val="800"/>
              </a:spcAft>
            </a:pPr>
            <a:r>
              <a:rPr lang="en-US" sz="2000" b="1" dirty="0">
                <a:ea typeface="Times New Roman" panose="02020603050405020304" pitchFamily="18" charset="0"/>
                <a:cs typeface="Times New Roman" panose="02020603050405020304" pitchFamily="18" charset="0"/>
              </a:rPr>
              <a:t>2. Configure BGP Neighbors</a:t>
            </a:r>
            <a:endParaRPr lang="en-US" sz="2000" dirty="0">
              <a:ea typeface="Calibri" panose="020F0502020204030204" charset="0"/>
              <a:cs typeface="Times New Roman" panose="02020603050405020304" pitchFamily="18" charset="0"/>
            </a:endParaRPr>
          </a:p>
          <a:p>
            <a:pPr marL="342900" marR="0" lvl="0" indent="-342900">
              <a:lnSpc>
                <a:spcPct val="150000"/>
              </a:lnSpc>
              <a:spcBef>
                <a:spcPts val="0"/>
              </a:spcBef>
              <a:spcAft>
                <a:spcPts val="800"/>
              </a:spcAft>
              <a:buSzPts val="1000"/>
              <a:buFont typeface="Symbol" panose="05050102010706020507" pitchFamily="18" charset="2"/>
              <a:buChar char=""/>
              <a:tabLst>
                <a:tab pos="457200" algn="l"/>
              </a:tabLst>
            </a:pPr>
            <a:r>
              <a:rPr lang="en-US" sz="2000" dirty="0">
                <a:ea typeface="Times New Roman" panose="02020603050405020304" pitchFamily="18" charset="0"/>
                <a:cs typeface="Times New Roman" panose="02020603050405020304" pitchFamily="18" charset="0"/>
              </a:rPr>
              <a:t>BGP requires manual configuration of neighbors (also called peers).</a:t>
            </a:r>
            <a:endParaRPr lang="en-US" sz="2000" dirty="0">
              <a:ea typeface="Calibri" panose="020F0502020204030204" charset="0"/>
              <a:cs typeface="Times New Roman" panose="02020603050405020304" pitchFamily="18" charset="0"/>
            </a:endParaRPr>
          </a:p>
          <a:p>
            <a:pPr marL="342900" marR="0" lvl="0" indent="-342900">
              <a:lnSpc>
                <a:spcPct val="150000"/>
              </a:lnSpc>
              <a:spcBef>
                <a:spcPts val="0"/>
              </a:spcBef>
              <a:spcAft>
                <a:spcPts val="800"/>
              </a:spcAft>
              <a:buSzPts val="1000"/>
              <a:buFont typeface="Symbol" panose="05050102010706020507" pitchFamily="18" charset="2"/>
              <a:buChar char=""/>
              <a:tabLst>
                <a:tab pos="457200" algn="l"/>
              </a:tabLst>
            </a:pPr>
            <a:r>
              <a:rPr lang="en-US" sz="2000" dirty="0">
                <a:ea typeface="Times New Roman" panose="02020603050405020304" pitchFamily="18" charset="0"/>
                <a:cs typeface="Times New Roman" panose="02020603050405020304" pitchFamily="18" charset="0"/>
              </a:rPr>
              <a:t>For </a:t>
            </a:r>
            <a:r>
              <a:rPr lang="en-US" sz="2000" dirty="0" err="1">
                <a:ea typeface="Times New Roman" panose="02020603050405020304" pitchFamily="18" charset="0"/>
                <a:cs typeface="Times New Roman" panose="02020603050405020304" pitchFamily="18" charset="0"/>
              </a:rPr>
              <a:t>eBGP</a:t>
            </a:r>
            <a:r>
              <a:rPr lang="en-US" sz="2000" dirty="0">
                <a:ea typeface="Times New Roman" panose="02020603050405020304" pitchFamily="18" charset="0"/>
                <a:cs typeface="Times New Roman" panose="02020603050405020304" pitchFamily="18" charset="0"/>
              </a:rPr>
              <a:t>, neighbors are in a different AS. For </a:t>
            </a:r>
            <a:r>
              <a:rPr lang="en-US" sz="2000" dirty="0" err="1">
                <a:ea typeface="Times New Roman" panose="02020603050405020304" pitchFamily="18" charset="0"/>
                <a:cs typeface="Times New Roman" panose="02020603050405020304" pitchFamily="18" charset="0"/>
              </a:rPr>
              <a:t>iBGP</a:t>
            </a:r>
            <a:r>
              <a:rPr lang="en-US" sz="2000" dirty="0">
                <a:ea typeface="Times New Roman" panose="02020603050405020304" pitchFamily="18" charset="0"/>
                <a:cs typeface="Times New Roman" panose="02020603050405020304" pitchFamily="18" charset="0"/>
              </a:rPr>
              <a:t>, neighbors are in the same AS.</a:t>
            </a:r>
            <a:endParaRPr lang="en-US" sz="2000" dirty="0">
              <a:ea typeface="Calibri" panose="020F0502020204030204" charset="0"/>
              <a:cs typeface="Times New Roman" panose="02020603050405020304" pitchFamily="18" charset="0"/>
            </a:endParaRPr>
          </a:p>
          <a:p>
            <a:pPr>
              <a:lnSpc>
                <a:spcPct val="150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ea typeface="Times New Roman" panose="02020603050405020304" pitchFamily="18" charset="0"/>
                <a:cs typeface="Times New Roman" panose="02020603050405020304" pitchFamily="18" charset="0"/>
              </a:rPr>
              <a:t>Router(</a:t>
            </a:r>
            <a:r>
              <a:rPr lang="en-US" sz="2000" dirty="0" err="1">
                <a:ea typeface="Times New Roman" panose="02020603050405020304" pitchFamily="18" charset="0"/>
                <a:cs typeface="Times New Roman" panose="02020603050405020304" pitchFamily="18" charset="0"/>
              </a:rPr>
              <a:t>config</a:t>
            </a:r>
            <a:r>
              <a:rPr lang="en-US" sz="2000" dirty="0">
                <a:ea typeface="Times New Roman" panose="02020603050405020304" pitchFamily="18" charset="0"/>
                <a:cs typeface="Times New Roman" panose="02020603050405020304" pitchFamily="18" charset="0"/>
              </a:rPr>
              <a:t>-router)# neighbor &lt;neighbor-IP-address&gt; remote-as &lt;neighbor-AS-number&gt;</a:t>
            </a:r>
            <a:endParaRPr lang="en-US" sz="2000" dirty="0">
              <a:ea typeface="Calibri" panose="020F0502020204030204" charset="0"/>
              <a:cs typeface="Times New Roman" panose="02020603050405020304" pitchFamily="18" charset="0"/>
            </a:endParaRPr>
          </a:p>
          <a:p>
            <a:pPr>
              <a:lnSpc>
                <a:spcPct val="150000"/>
              </a:lnSpc>
              <a:spcAft>
                <a:spcPts val="800"/>
              </a:spcAft>
            </a:pPr>
            <a:r>
              <a:rPr lang="en-US" sz="2000" b="1" dirty="0">
                <a:ea typeface="Times New Roman" panose="02020603050405020304" pitchFamily="18" charset="0"/>
                <a:cs typeface="Times New Roman" panose="02020603050405020304" pitchFamily="18" charset="0"/>
              </a:rPr>
              <a:t>3. Advertising Networks in BGP</a:t>
            </a:r>
            <a:endParaRPr lang="en-US" sz="2000" dirty="0">
              <a:ea typeface="Calibri" panose="020F0502020204030204" charset="0"/>
              <a:cs typeface="Times New Roman" panose="02020603050405020304" pitchFamily="18" charset="0"/>
            </a:endParaRPr>
          </a:p>
          <a:p>
            <a:pPr marL="342900" marR="0" lvl="0" indent="-342900">
              <a:lnSpc>
                <a:spcPct val="150000"/>
              </a:lnSpc>
              <a:spcBef>
                <a:spcPts val="0"/>
              </a:spcBef>
              <a:spcAft>
                <a:spcPts val="800"/>
              </a:spcAft>
              <a:buSzPts val="1000"/>
              <a:buFont typeface="Symbol" panose="05050102010706020507" pitchFamily="18" charset="2"/>
              <a:buChar char=""/>
              <a:tabLst>
                <a:tab pos="457200" algn="l"/>
              </a:tabLst>
            </a:pPr>
            <a:r>
              <a:rPr lang="en-US" sz="2000" dirty="0">
                <a:ea typeface="Times New Roman" panose="02020603050405020304" pitchFamily="18" charset="0"/>
                <a:cs typeface="Times New Roman" panose="02020603050405020304" pitchFamily="18" charset="0"/>
              </a:rPr>
              <a:t>Specify which networks to advertise. For BGP, you should specify exact routes that exist in the router’s routing table.</a:t>
            </a:r>
            <a:endParaRPr lang="en-US" sz="2000" dirty="0">
              <a:ea typeface="Calibri" panose="020F0502020204030204" charset="0"/>
              <a:cs typeface="Times New Roman" panose="02020603050405020304" pitchFamily="18" charset="0"/>
            </a:endParaRPr>
          </a:p>
          <a:p>
            <a:pPr>
              <a:lnSpc>
                <a:spcPct val="150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ea typeface="Times New Roman" panose="02020603050405020304" pitchFamily="18" charset="0"/>
                <a:cs typeface="Times New Roman" panose="02020603050405020304" pitchFamily="18" charset="0"/>
              </a:rPr>
              <a:t>Router(</a:t>
            </a:r>
            <a:r>
              <a:rPr lang="en-US" sz="2000" dirty="0" err="1">
                <a:ea typeface="Times New Roman" panose="02020603050405020304" pitchFamily="18" charset="0"/>
                <a:cs typeface="Times New Roman" panose="02020603050405020304" pitchFamily="18" charset="0"/>
              </a:rPr>
              <a:t>config</a:t>
            </a:r>
            <a:r>
              <a:rPr lang="en-US" sz="2000" dirty="0">
                <a:ea typeface="Times New Roman" panose="02020603050405020304" pitchFamily="18" charset="0"/>
                <a:cs typeface="Times New Roman" panose="02020603050405020304" pitchFamily="18" charset="0"/>
              </a:rPr>
              <a:t>-router)# network &lt;network-address&gt; mask &lt;subnet-mask&gt;</a:t>
            </a:r>
            <a:endParaRPr lang="en-US" sz="2000" dirty="0">
              <a:effectLst/>
              <a:ea typeface="Calibri" panose="020F0502020204030204"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defTabSz="609600"/>
            <a:r>
              <a:rPr lang="en-IN"/>
              <a:t>LABOR FOR THE FUTURE</a:t>
            </a:r>
            <a:endParaRPr lang="en-IN" dirty="0"/>
          </a:p>
        </p:txBody>
      </p:sp>
      <p:sp>
        <p:nvSpPr>
          <p:cNvPr id="3" name="Rectangle 2"/>
          <p:cNvSpPr/>
          <p:nvPr/>
        </p:nvSpPr>
        <p:spPr>
          <a:xfrm>
            <a:off x="385010" y="770021"/>
            <a:ext cx="11806990" cy="5912388"/>
          </a:xfrm>
          <a:prstGeom prst="rect">
            <a:avLst/>
          </a:prstGeom>
        </p:spPr>
        <p:txBody>
          <a:bodyPr wrap="square">
            <a:spAutoFit/>
          </a:bodyPr>
          <a:lstStyle/>
          <a:p>
            <a:pPr>
              <a:lnSpc>
                <a:spcPct val="107000"/>
              </a:lnSpc>
              <a:spcAft>
                <a:spcPts val="800"/>
              </a:spcAft>
            </a:pPr>
            <a:r>
              <a:rPr lang="en-US" sz="2000" b="1" dirty="0">
                <a:ea typeface="Times New Roman" panose="02020603050405020304" pitchFamily="18" charset="0"/>
                <a:cs typeface="Times New Roman" panose="02020603050405020304" pitchFamily="18" charset="0"/>
              </a:rPr>
              <a:t>Example BGP Configuration</a:t>
            </a:r>
            <a:endParaRPr lang="en-US" sz="2000" dirty="0">
              <a:ea typeface="Calibri" panose="020F0502020204030204" charset="0"/>
              <a:cs typeface="Times New Roman" panose="02020603050405020304" pitchFamily="18" charset="0"/>
            </a:endParaRPr>
          </a:p>
          <a:p>
            <a:pPr>
              <a:lnSpc>
                <a:spcPct val="107000"/>
              </a:lnSpc>
              <a:spcAft>
                <a:spcPts val="800"/>
              </a:spcAft>
            </a:pPr>
            <a:r>
              <a:rPr lang="en-US" sz="2000" dirty="0">
                <a:ea typeface="Times New Roman" panose="02020603050405020304" pitchFamily="18" charset="0"/>
                <a:cs typeface="Times New Roman" panose="02020603050405020304" pitchFamily="18" charset="0"/>
              </a:rPr>
              <a:t>Let’s say we have two routers, R1 and R2, in different autonomous systems (AS 100 and AS 200):</a:t>
            </a:r>
            <a:endParaRPr lang="en-US" sz="2000" dirty="0">
              <a:ea typeface="Calibri" panose="020F0502020204030204" charset="0"/>
              <a:cs typeface="Times New Roman" panose="02020603050405020304" pitchFamily="18" charset="0"/>
            </a:endParaRPr>
          </a:p>
          <a:p>
            <a:pPr>
              <a:lnSpc>
                <a:spcPct val="107000"/>
              </a:lnSpc>
              <a:spcAft>
                <a:spcPts val="800"/>
              </a:spcAft>
            </a:pPr>
            <a:r>
              <a:rPr lang="en-US" sz="2000" b="1" dirty="0">
                <a:ea typeface="Times New Roman" panose="02020603050405020304" pitchFamily="18" charset="0"/>
                <a:cs typeface="Times New Roman" panose="02020603050405020304" pitchFamily="18" charset="0"/>
              </a:rPr>
              <a:t>On Router 1 (AS 100):</a:t>
            </a:r>
            <a:endParaRPr lang="en-US" sz="2000" dirty="0">
              <a:ea typeface="Calibri" panose="020F050202020403020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ea typeface="Times New Roman" panose="02020603050405020304" pitchFamily="18" charset="0"/>
                <a:cs typeface="Times New Roman" panose="02020603050405020304" pitchFamily="18" charset="0"/>
              </a:rPr>
              <a:t>Router(</a:t>
            </a:r>
            <a:r>
              <a:rPr lang="en-US" sz="2000" dirty="0" err="1">
                <a:ea typeface="Times New Roman" panose="02020603050405020304" pitchFamily="18" charset="0"/>
                <a:cs typeface="Times New Roman" panose="02020603050405020304" pitchFamily="18" charset="0"/>
              </a:rPr>
              <a:t>config</a:t>
            </a:r>
            <a:r>
              <a:rPr lang="en-US" sz="2000" dirty="0">
                <a:ea typeface="Times New Roman" panose="02020603050405020304" pitchFamily="18" charset="0"/>
                <a:cs typeface="Times New Roman" panose="02020603050405020304" pitchFamily="18" charset="0"/>
              </a:rPr>
              <a:t>)# router </a:t>
            </a:r>
            <a:r>
              <a:rPr lang="en-US" sz="2000" dirty="0" err="1">
                <a:ea typeface="Times New Roman" panose="02020603050405020304" pitchFamily="18" charset="0"/>
                <a:cs typeface="Times New Roman" panose="02020603050405020304" pitchFamily="18" charset="0"/>
              </a:rPr>
              <a:t>bgp</a:t>
            </a:r>
            <a:r>
              <a:rPr lang="en-US" sz="2000" dirty="0">
                <a:ea typeface="Times New Roman" panose="02020603050405020304" pitchFamily="18" charset="0"/>
                <a:cs typeface="Times New Roman" panose="02020603050405020304" pitchFamily="18" charset="0"/>
              </a:rPr>
              <a:t> 100</a:t>
            </a: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ea typeface="Times New Roman" panose="02020603050405020304" pitchFamily="18" charset="0"/>
                <a:cs typeface="Times New Roman" panose="02020603050405020304" pitchFamily="18" charset="0"/>
              </a:rPr>
              <a:t>Router(</a:t>
            </a:r>
            <a:r>
              <a:rPr lang="en-US" sz="2000" dirty="0" err="1">
                <a:ea typeface="Times New Roman" panose="02020603050405020304" pitchFamily="18" charset="0"/>
                <a:cs typeface="Times New Roman" panose="02020603050405020304" pitchFamily="18" charset="0"/>
              </a:rPr>
              <a:t>config</a:t>
            </a:r>
            <a:r>
              <a:rPr lang="en-US" sz="2000" dirty="0">
                <a:ea typeface="Times New Roman" panose="02020603050405020304" pitchFamily="18" charset="0"/>
                <a:cs typeface="Times New Roman" panose="02020603050405020304" pitchFamily="18" charset="0"/>
              </a:rPr>
              <a:t>)# </a:t>
            </a:r>
            <a:r>
              <a:rPr lang="en-US" sz="2000" dirty="0" err="1">
                <a:ea typeface="Times New Roman" panose="02020603050405020304" pitchFamily="18" charset="0"/>
                <a:cs typeface="Times New Roman" panose="02020603050405020304" pitchFamily="18" charset="0"/>
              </a:rPr>
              <a:t>bgp</a:t>
            </a:r>
            <a:r>
              <a:rPr lang="en-US" sz="2000">
                <a:ea typeface="Times New Roman" panose="02020603050405020304" pitchFamily="18" charset="0"/>
                <a:cs typeface="Times New Roman" panose="02020603050405020304" pitchFamily="18" charset="0"/>
              </a:rPr>
              <a:t> router-ID  10.10.10.10</a:t>
            </a:r>
            <a:endParaRPr lang="en-US" sz="2000" dirty="0">
              <a:ea typeface="Calibri" panose="020F050202020403020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ea typeface="Times New Roman" panose="02020603050405020304" pitchFamily="18" charset="0"/>
                <a:cs typeface="Times New Roman" panose="02020603050405020304" pitchFamily="18" charset="0"/>
              </a:rPr>
              <a:t>Router(</a:t>
            </a:r>
            <a:r>
              <a:rPr lang="en-US" sz="2000" dirty="0" err="1">
                <a:ea typeface="Times New Roman" panose="02020603050405020304" pitchFamily="18" charset="0"/>
                <a:cs typeface="Times New Roman" panose="02020603050405020304" pitchFamily="18" charset="0"/>
              </a:rPr>
              <a:t>config</a:t>
            </a:r>
            <a:r>
              <a:rPr lang="en-US" sz="2000" dirty="0">
                <a:ea typeface="Times New Roman" panose="02020603050405020304" pitchFamily="18" charset="0"/>
                <a:cs typeface="Times New Roman" panose="02020603050405020304" pitchFamily="18" charset="0"/>
              </a:rPr>
              <a:t>-router)# neighbor 192.168.2.2 remote-as 200</a:t>
            </a:r>
            <a:endParaRPr lang="en-US" sz="2000" dirty="0">
              <a:ea typeface="Calibri" panose="020F050202020403020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ea typeface="Times New Roman" panose="02020603050405020304" pitchFamily="18" charset="0"/>
                <a:cs typeface="Times New Roman" panose="02020603050405020304" pitchFamily="18" charset="0"/>
              </a:rPr>
              <a:t>Router(</a:t>
            </a:r>
            <a:r>
              <a:rPr lang="en-US" sz="2000" dirty="0" err="1">
                <a:ea typeface="Times New Roman" panose="02020603050405020304" pitchFamily="18" charset="0"/>
                <a:cs typeface="Times New Roman" panose="02020603050405020304" pitchFamily="18" charset="0"/>
              </a:rPr>
              <a:t>config</a:t>
            </a:r>
            <a:r>
              <a:rPr lang="en-US" sz="2000" dirty="0">
                <a:ea typeface="Times New Roman" panose="02020603050405020304" pitchFamily="18" charset="0"/>
                <a:cs typeface="Times New Roman" panose="02020603050405020304" pitchFamily="18" charset="0"/>
              </a:rPr>
              <a:t>-router)# network 10.1.1.0 mask 255.255.255.0</a:t>
            </a:r>
            <a:endParaRPr lang="en-US" sz="2000" dirty="0">
              <a:ea typeface="Calibri" panose="020F0502020204030204" charset="0"/>
              <a:cs typeface="Times New Roman" panose="02020603050405020304" pitchFamily="18" charset="0"/>
            </a:endParaRPr>
          </a:p>
          <a:p>
            <a:pPr>
              <a:lnSpc>
                <a:spcPct val="107000"/>
              </a:lnSpc>
              <a:spcAft>
                <a:spcPts val="800"/>
              </a:spcAft>
            </a:pPr>
            <a:r>
              <a:rPr lang="en-US" sz="2000" b="1" dirty="0">
                <a:ea typeface="Times New Roman" panose="02020603050405020304" pitchFamily="18" charset="0"/>
                <a:cs typeface="Times New Roman" panose="02020603050405020304" pitchFamily="18" charset="0"/>
              </a:rPr>
              <a:t>On Router 2 (AS 200):</a:t>
            </a:r>
            <a:endParaRPr lang="en-US" sz="2000" dirty="0">
              <a:ea typeface="Calibri" panose="020F050202020403020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ea typeface="Times New Roman" panose="02020603050405020304" pitchFamily="18" charset="0"/>
                <a:cs typeface="Times New Roman" panose="02020603050405020304" pitchFamily="18" charset="0"/>
              </a:rPr>
              <a:t>Router(</a:t>
            </a:r>
            <a:r>
              <a:rPr lang="en-US" sz="2000" dirty="0" err="1">
                <a:ea typeface="Times New Roman" panose="02020603050405020304" pitchFamily="18" charset="0"/>
                <a:cs typeface="Times New Roman" panose="02020603050405020304" pitchFamily="18" charset="0"/>
              </a:rPr>
              <a:t>config</a:t>
            </a:r>
            <a:r>
              <a:rPr lang="en-US" sz="2000" dirty="0">
                <a:ea typeface="Times New Roman" panose="02020603050405020304" pitchFamily="18" charset="0"/>
                <a:cs typeface="Times New Roman" panose="02020603050405020304" pitchFamily="18" charset="0"/>
              </a:rPr>
              <a:t>)# router </a:t>
            </a:r>
            <a:r>
              <a:rPr lang="en-US" sz="2000" dirty="0" err="1">
                <a:ea typeface="Times New Roman" panose="02020603050405020304" pitchFamily="18" charset="0"/>
                <a:cs typeface="Times New Roman" panose="02020603050405020304" pitchFamily="18" charset="0"/>
              </a:rPr>
              <a:t>bgp</a:t>
            </a:r>
            <a:r>
              <a:rPr lang="en-US" sz="2000" dirty="0">
                <a:ea typeface="Times New Roman" panose="02020603050405020304" pitchFamily="18" charset="0"/>
                <a:cs typeface="Times New Roman" panose="02020603050405020304" pitchFamily="18" charset="0"/>
              </a:rPr>
              <a:t> 200</a:t>
            </a:r>
            <a:endParaRPr lang="en-US" sz="2000" dirty="0">
              <a:ea typeface="Calibri" panose="020F050202020403020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ea typeface="Times New Roman" panose="02020603050405020304" pitchFamily="18" charset="0"/>
                <a:cs typeface="Times New Roman" panose="02020603050405020304" pitchFamily="18" charset="0"/>
              </a:rPr>
              <a:t>Router(</a:t>
            </a:r>
            <a:r>
              <a:rPr lang="en-US" sz="2000" dirty="0" err="1">
                <a:ea typeface="Times New Roman" panose="02020603050405020304" pitchFamily="18" charset="0"/>
                <a:cs typeface="Times New Roman" panose="02020603050405020304" pitchFamily="18" charset="0"/>
              </a:rPr>
              <a:t>config</a:t>
            </a:r>
            <a:r>
              <a:rPr lang="en-US" sz="2000" dirty="0">
                <a:ea typeface="Times New Roman" panose="02020603050405020304" pitchFamily="18" charset="0"/>
                <a:cs typeface="Times New Roman" panose="02020603050405020304" pitchFamily="18" charset="0"/>
              </a:rPr>
              <a:t>-router)# neighbor 192.168.2.1 remote-as 100</a:t>
            </a:r>
            <a:endParaRPr lang="en-US" sz="2000" dirty="0">
              <a:ea typeface="Calibri" panose="020F050202020403020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ea typeface="Times New Roman" panose="02020603050405020304" pitchFamily="18" charset="0"/>
                <a:cs typeface="Times New Roman" panose="02020603050405020304" pitchFamily="18" charset="0"/>
              </a:rPr>
              <a:t>Router(</a:t>
            </a:r>
            <a:r>
              <a:rPr lang="en-US" sz="2000" dirty="0" err="1">
                <a:ea typeface="Times New Roman" panose="02020603050405020304" pitchFamily="18" charset="0"/>
                <a:cs typeface="Times New Roman" panose="02020603050405020304" pitchFamily="18" charset="0"/>
              </a:rPr>
              <a:t>config</a:t>
            </a:r>
            <a:r>
              <a:rPr lang="en-US" sz="2000" dirty="0">
                <a:ea typeface="Times New Roman" panose="02020603050405020304" pitchFamily="18" charset="0"/>
                <a:cs typeface="Times New Roman" panose="02020603050405020304" pitchFamily="18" charset="0"/>
              </a:rPr>
              <a:t>-router)# network 10.2.2.0 mask 255.255.255.0</a:t>
            </a:r>
            <a:endParaRPr lang="en-US" sz="2000" dirty="0">
              <a:ea typeface="Calibri" panose="020F0502020204030204" charset="0"/>
              <a:cs typeface="Times New Roman" panose="02020603050405020304" pitchFamily="18" charset="0"/>
            </a:endParaRPr>
          </a:p>
          <a:p>
            <a:pPr>
              <a:lnSpc>
                <a:spcPct val="107000"/>
              </a:lnSpc>
              <a:spcAft>
                <a:spcPts val="800"/>
              </a:spcAft>
            </a:pPr>
            <a:r>
              <a:rPr lang="en-US" sz="2000" dirty="0">
                <a:ea typeface="Times New Roman" panose="02020603050405020304" pitchFamily="18" charset="0"/>
                <a:cs typeface="Times New Roman" panose="02020603050405020304" pitchFamily="18" charset="0"/>
              </a:rPr>
              <a:t>In this example:</a:t>
            </a:r>
            <a:endParaRPr lang="en-US" sz="2000" dirty="0">
              <a:ea typeface="Calibri" panose="020F0502020204030204" charset="0"/>
              <a:cs typeface="Times New Roman" panose="02020603050405020304" pitchFamily="18" charset="0"/>
            </a:endParaRPr>
          </a:p>
          <a:p>
            <a:pPr marR="0" lvl="0">
              <a:lnSpc>
                <a:spcPct val="107000"/>
              </a:lnSpc>
              <a:spcBef>
                <a:spcPts val="0"/>
              </a:spcBef>
              <a:spcAft>
                <a:spcPts val="800"/>
              </a:spcAft>
              <a:buSzPts val="1000"/>
              <a:tabLst>
                <a:tab pos="457200" algn="l"/>
              </a:tabLst>
            </a:pPr>
            <a:r>
              <a:rPr lang="en-US" sz="2000" dirty="0">
                <a:ea typeface="Times New Roman" panose="02020603050405020304" pitchFamily="18" charset="0"/>
                <a:cs typeface="Times New Roman" panose="02020603050405020304" pitchFamily="18" charset="0"/>
              </a:rPr>
              <a:t>R1 advertises the 10.1.1.0/24 network to R2.</a:t>
            </a:r>
            <a:endParaRPr lang="en-US" sz="2000" dirty="0">
              <a:ea typeface="Calibri" panose="020F0502020204030204" charset="0"/>
              <a:cs typeface="Times New Roman" panose="02020603050405020304" pitchFamily="18" charset="0"/>
            </a:endParaRPr>
          </a:p>
          <a:p>
            <a:r>
              <a:rPr lang="en-US" sz="2000" dirty="0">
                <a:ea typeface="Times New Roman" panose="02020603050405020304" pitchFamily="18" charset="0"/>
              </a:rPr>
              <a:t>R2 advertises the 10.2.2.0/24 network to R1.</a:t>
            </a:r>
          </a:p>
          <a:p>
            <a:endParaRPr lang="en-US" sz="2000" dirty="0"/>
          </a:p>
          <a:p>
            <a:endParaRPr lang="en-US" sz="2000" dirty="0"/>
          </a:p>
        </p:txBody>
      </p:sp>
      <p:pic>
        <p:nvPicPr>
          <p:cNvPr id="5" name="Picture 4"/>
          <p:cNvPicPr>
            <a:picLocks noChangeAspect="1"/>
          </p:cNvPicPr>
          <p:nvPr/>
        </p:nvPicPr>
        <p:blipFill>
          <a:blip r:embed="rId2"/>
          <a:stretch>
            <a:fillRect/>
          </a:stretch>
        </p:blipFill>
        <p:spPr>
          <a:xfrm>
            <a:off x="8045771" y="1772708"/>
            <a:ext cx="3383573" cy="241422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6408" y="1050471"/>
            <a:ext cx="10468864" cy="1828800"/>
          </a:xfrm>
        </p:spPr>
        <p:txBody>
          <a:bodyPr>
            <a:normAutofit/>
          </a:bodyPr>
          <a:lstStyle/>
          <a:p>
            <a:pPr algn="l"/>
            <a:r>
              <a:rPr lang="en-US" sz="3200" dirty="0">
                <a:latin typeface="Bahnschrift SemiBold" panose="020B0502040204020203" pitchFamily="34" charset="0"/>
              </a:rPr>
              <a:t>Thank you for your support and dedication throughout this module! Your commitment and engagement made it an enjoyable and rewarding experience.</a:t>
            </a:r>
            <a:endParaRPr lang="en-AU" sz="3200" dirty="0">
              <a:latin typeface="Bahnschrift SemiBold" panose="020B0502040204020203" pitchFamily="34" charset="0"/>
            </a:endParaRPr>
          </a:p>
        </p:txBody>
      </p:sp>
      <p:sp>
        <p:nvSpPr>
          <p:cNvPr id="3" name="Subtitle 2"/>
          <p:cNvSpPr>
            <a:spLocks noGrp="1"/>
          </p:cNvSpPr>
          <p:nvPr>
            <p:ph type="subTitle" idx="1"/>
          </p:nvPr>
        </p:nvSpPr>
        <p:spPr>
          <a:xfrm>
            <a:off x="602344" y="5498206"/>
            <a:ext cx="10472928" cy="897150"/>
          </a:xfrm>
        </p:spPr>
        <p:txBody>
          <a:bodyPr/>
          <a:lstStyle/>
          <a:p>
            <a:r>
              <a:rPr lang="en-US" dirty="0"/>
              <a:t>We wish you all the very best in your future endeavors</a:t>
            </a:r>
            <a:endParaRPr lang="en-AU" dirty="0"/>
          </a:p>
        </p:txBody>
      </p:sp>
      <p:sp>
        <p:nvSpPr>
          <p:cNvPr id="4" name="Footer Placeholder 3"/>
          <p:cNvSpPr>
            <a:spLocks noGrp="1"/>
          </p:cNvSpPr>
          <p:nvPr>
            <p:ph type="ftr" sz="quarter" idx="11"/>
          </p:nvPr>
        </p:nvSpPr>
        <p:spPr/>
        <p:txBody>
          <a:bodyPr/>
          <a:lstStyle/>
          <a:p>
            <a:pPr defTabSz="609600"/>
            <a:r>
              <a:rPr lang="en-IN"/>
              <a:t>LABOR FOR THE FUTURE</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TotalTime>
  <Words>2894</Words>
  <Application>Microsoft Office PowerPoint</Application>
  <PresentationFormat>Widescreen</PresentationFormat>
  <Paragraphs>304</Paragraphs>
  <Slides>26</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26</vt:i4>
      </vt:variant>
    </vt:vector>
  </HeadingPairs>
  <TitlesOfParts>
    <vt:vector size="37" baseType="lpstr">
      <vt:lpstr>Arial</vt:lpstr>
      <vt:lpstr>Arial Black</vt:lpstr>
      <vt:lpstr>Bahnschrift SemiBold</vt:lpstr>
      <vt:lpstr>Calibri</vt:lpstr>
      <vt:lpstr>Constantia</vt:lpstr>
      <vt:lpstr>Courier New</vt:lpstr>
      <vt:lpstr>Symbol</vt:lpstr>
      <vt:lpstr>Times New Roman</vt:lpstr>
      <vt:lpstr>Wingdings</vt:lpstr>
      <vt:lpstr>Wingdings 2</vt:lpstr>
      <vt:lpstr>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for your support and dedication throughout this module! Your commitment and engagement made it an enjoyable and rewarding experience.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Fred Kagame</dc:creator>
  <cp:lastModifiedBy>Kagame Fred</cp:lastModifiedBy>
  <cp:revision>114</cp:revision>
  <dcterms:created xsi:type="dcterms:W3CDTF">2024-10-03T07:01:00Z</dcterms:created>
  <dcterms:modified xsi:type="dcterms:W3CDTF">2025-08-25T16:20:00Z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1033-11.8.2.8426</vt:lpwstr>
  </property>
</Properties>
</file>