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4"/>
  </p:notesMasterIdLst>
  <p:sldIdLst>
    <p:sldId id="256" r:id="rId2"/>
    <p:sldId id="259" r:id="rId3"/>
    <p:sldId id="260" r:id="rId4"/>
    <p:sldId id="294" r:id="rId5"/>
    <p:sldId id="283" r:id="rId6"/>
    <p:sldId id="280" r:id="rId7"/>
    <p:sldId id="281" r:id="rId8"/>
    <p:sldId id="282" r:id="rId9"/>
    <p:sldId id="284" r:id="rId10"/>
    <p:sldId id="285" r:id="rId11"/>
    <p:sldId id="286" r:id="rId12"/>
    <p:sldId id="287" r:id="rId13"/>
    <p:sldId id="288" r:id="rId14"/>
    <p:sldId id="289" r:id="rId15"/>
    <p:sldId id="290" r:id="rId16"/>
    <p:sldId id="291" r:id="rId17"/>
    <p:sldId id="292" r:id="rId18"/>
    <p:sldId id="293" r:id="rId19"/>
    <p:sldId id="261" r:id="rId20"/>
    <p:sldId id="262" r:id="rId21"/>
    <p:sldId id="263" r:id="rId22"/>
    <p:sldId id="264" r:id="rId23"/>
    <p:sldId id="265" r:id="rId24"/>
    <p:sldId id="266" r:id="rId25"/>
    <p:sldId id="267" r:id="rId26"/>
    <p:sldId id="297" r:id="rId27"/>
    <p:sldId id="295" r:id="rId28"/>
    <p:sldId id="296" r:id="rId29"/>
    <p:sldId id="268" r:id="rId30"/>
    <p:sldId id="298" r:id="rId31"/>
    <p:sldId id="269" r:id="rId32"/>
    <p:sldId id="299" r:id="rId33"/>
    <p:sldId id="300" r:id="rId34"/>
    <p:sldId id="270" r:id="rId35"/>
    <p:sldId id="301" r:id="rId36"/>
    <p:sldId id="271" r:id="rId37"/>
    <p:sldId id="272" r:id="rId38"/>
    <p:sldId id="273" r:id="rId39"/>
    <p:sldId id="274" r:id="rId40"/>
    <p:sldId id="275" r:id="rId41"/>
    <p:sldId id="276" r:id="rId42"/>
    <p:sldId id="277" r:id="rId43"/>
  </p:sldIdLst>
  <p:sldSz cx="9144000" cy="5143500" type="screen16x9"/>
  <p:notesSz cx="9144000" cy="6858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285"/>
    <p:restoredTop sz="94694"/>
  </p:normalViewPr>
  <p:slideViewPr>
    <p:cSldViewPr>
      <p:cViewPr varScale="1">
        <p:scale>
          <a:sx n="161" d="100"/>
          <a:sy n="161" d="100"/>
        </p:scale>
        <p:origin x="1056" y="200"/>
      </p:cViewPr>
      <p:guideLst>
        <p:guide orient="horz" pos="216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RW"/>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BE2CEF37-359C-6349-AC44-CD8386404C05}" type="datetimeFigureOut">
              <a:rPr lang="en-RW" smtClean="0"/>
              <a:t>17/11/2025</a:t>
            </a:fld>
            <a:endParaRPr lang="en-RW"/>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RW"/>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RW"/>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RW"/>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9D4DBB6C-0F28-E44F-8654-F3B88F71A3D6}" type="slidenum">
              <a:rPr lang="en-RW" smtClean="0"/>
              <a:t>‹#›</a:t>
            </a:fld>
            <a:endParaRPr lang="en-RW"/>
          </a:p>
        </p:txBody>
      </p:sp>
    </p:spTree>
    <p:extLst>
      <p:ext uri="{BB962C8B-B14F-4D97-AF65-F5344CB8AC3E}">
        <p14:creationId xmlns:p14="http://schemas.microsoft.com/office/powerpoint/2010/main" val="1876347901"/>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1594485"/>
            <a:ext cx="7772400" cy="769441"/>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2880361"/>
            <a:ext cx="640080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888888"/>
                </a:solidFill>
                <a:latin typeface="Calibri"/>
                <a:cs typeface="Calibri"/>
              </a:defRPr>
            </a:lvl1pPr>
          </a:lstStyle>
          <a:p>
            <a:pPr marL="9525">
              <a:lnSpc>
                <a:spcPts val="930"/>
              </a:lnSpc>
            </a:pPr>
            <a:r>
              <a:rPr lang="en-US"/>
              <a:t>6</a:t>
            </a:r>
            <a:r>
              <a:rPr lang="en-US" spc="4"/>
              <a:t>/</a:t>
            </a:r>
            <a:r>
              <a:rPr lang="en-US"/>
              <a:t>25/2021</a:t>
            </a:r>
            <a:endParaRPr lang="en-US"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DE46C07D-7B73-7F48-A89B-F9FB88FCA940}" type="datetime1">
              <a:rPr lang="en-US" smtClean="0"/>
              <a:t>11/17/25</a:t>
            </a:fld>
            <a:endParaRPr lang="en-US"/>
          </a:p>
        </p:txBody>
      </p:sp>
      <p:sp>
        <p:nvSpPr>
          <p:cNvPr id="6" name="Holder 6"/>
          <p:cNvSpPr>
            <a:spLocks noGrp="1"/>
          </p:cNvSpPr>
          <p:nvPr>
            <p:ph type="sldNum" sz="quarter" idx="7"/>
          </p:nvPr>
        </p:nvSpPr>
        <p:spPr/>
        <p:txBody>
          <a:bodyPr lIns="0" tIns="0" rIns="0" bIns="0"/>
          <a:lstStyle>
            <a:lvl1pPr>
              <a:defRPr sz="900" b="0" i="0">
                <a:solidFill>
                  <a:srgbClr val="888888"/>
                </a:solidFill>
                <a:latin typeface="Calibri"/>
                <a:cs typeface="Calibri"/>
              </a:defRPr>
            </a:lvl1pPr>
          </a:lstStyle>
          <a:p>
            <a:pPr marL="28575">
              <a:lnSpc>
                <a:spcPts val="930"/>
              </a:lnSpc>
            </a:pPr>
            <a:fld id="{81D60167-4931-47E6-BA6A-407CBD079E47}" type="slidenum">
              <a:rPr lang="en-US" smtClean="0"/>
              <a:pPr marL="28575">
                <a:lnSpc>
                  <a:spcPts val="930"/>
                </a:lnSpc>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3190495" y="1862480"/>
            <a:ext cx="2763011" cy="577081"/>
          </a:xfrm>
        </p:spPr>
        <p:txBody>
          <a:bodyPr lIns="0" tIns="0" rIns="0" bIns="0"/>
          <a:lstStyle>
            <a:lvl1pPr>
              <a:defRPr sz="3750" b="0" i="0">
                <a:solidFill>
                  <a:schemeClr val="bg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888888"/>
                </a:solidFill>
                <a:latin typeface="Calibri"/>
                <a:cs typeface="Calibri"/>
              </a:defRPr>
            </a:lvl1pPr>
          </a:lstStyle>
          <a:p>
            <a:pPr marL="9525">
              <a:lnSpc>
                <a:spcPts val="930"/>
              </a:lnSpc>
            </a:pPr>
            <a:r>
              <a:rPr lang="en-US"/>
              <a:t>6</a:t>
            </a:r>
            <a:r>
              <a:rPr lang="en-US" spc="4"/>
              <a:t>/</a:t>
            </a:r>
            <a:r>
              <a:rPr lang="en-US"/>
              <a:t>25/2021</a:t>
            </a:r>
            <a:endParaRPr lang="en-US"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89544584-E348-BA45-9B1A-E595AC20BAB8}" type="datetime1">
              <a:rPr lang="en-US" smtClean="0"/>
              <a:t>11/17/25</a:t>
            </a:fld>
            <a:endParaRPr lang="en-US"/>
          </a:p>
        </p:txBody>
      </p:sp>
      <p:sp>
        <p:nvSpPr>
          <p:cNvPr id="6" name="Holder 6"/>
          <p:cNvSpPr>
            <a:spLocks noGrp="1"/>
          </p:cNvSpPr>
          <p:nvPr>
            <p:ph type="sldNum" sz="quarter" idx="7"/>
          </p:nvPr>
        </p:nvSpPr>
        <p:spPr/>
        <p:txBody>
          <a:bodyPr lIns="0" tIns="0" rIns="0" bIns="0"/>
          <a:lstStyle>
            <a:lvl1pPr>
              <a:defRPr sz="900" b="0" i="0">
                <a:solidFill>
                  <a:srgbClr val="888888"/>
                </a:solidFill>
                <a:latin typeface="Calibri"/>
                <a:cs typeface="Calibri"/>
              </a:defRPr>
            </a:lvl1pPr>
          </a:lstStyle>
          <a:p>
            <a:pPr marL="28575">
              <a:lnSpc>
                <a:spcPts val="930"/>
              </a:lnSpc>
            </a:pPr>
            <a:fld id="{81D60167-4931-47E6-BA6A-407CBD079E47}" type="slidenum">
              <a:rPr lang="en-US" smtClean="0"/>
              <a:pPr marL="28575">
                <a:lnSpc>
                  <a:spcPts val="930"/>
                </a:lnSpc>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3190495" y="1862480"/>
            <a:ext cx="2763011" cy="577081"/>
          </a:xfrm>
        </p:spPr>
        <p:txBody>
          <a:bodyPr lIns="0" tIns="0" rIns="0" bIns="0"/>
          <a:lstStyle>
            <a:lvl1pPr>
              <a:defRPr sz="3750" b="0" i="0">
                <a:solidFill>
                  <a:schemeClr val="bg1"/>
                </a:solidFill>
                <a:latin typeface="Times New Roman"/>
                <a:cs typeface="Times New Roman"/>
              </a:defRPr>
            </a:lvl1pPr>
          </a:lstStyle>
          <a:p>
            <a:endParaRPr/>
          </a:p>
        </p:txBody>
      </p:sp>
      <p:sp>
        <p:nvSpPr>
          <p:cNvPr id="3" name="Holder 3"/>
          <p:cNvSpPr>
            <a:spLocks noGrp="1"/>
          </p:cNvSpPr>
          <p:nvPr>
            <p:ph sz="half" idx="2"/>
          </p:nvPr>
        </p:nvSpPr>
        <p:spPr>
          <a:xfrm>
            <a:off x="457200" y="1183006"/>
            <a:ext cx="397764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6"/>
            <a:ext cx="3977640" cy="27699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888888"/>
                </a:solidFill>
                <a:latin typeface="Calibri"/>
                <a:cs typeface="Calibri"/>
              </a:defRPr>
            </a:lvl1pPr>
          </a:lstStyle>
          <a:p>
            <a:pPr marL="9525">
              <a:lnSpc>
                <a:spcPts val="930"/>
              </a:lnSpc>
            </a:pPr>
            <a:r>
              <a:rPr lang="en-US"/>
              <a:t>6</a:t>
            </a:r>
            <a:r>
              <a:rPr lang="en-US" spc="4"/>
              <a:t>/</a:t>
            </a:r>
            <a:r>
              <a:rPr lang="en-US"/>
              <a:t>25/2021</a:t>
            </a:r>
            <a:endParaRPr lang="en-US"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F623DF47-580A-5D4C-8E91-283EC9E9A682}" type="datetime1">
              <a:rPr lang="en-US" smtClean="0"/>
              <a:t>11/17/25</a:t>
            </a:fld>
            <a:endParaRPr lang="en-US"/>
          </a:p>
        </p:txBody>
      </p:sp>
      <p:sp>
        <p:nvSpPr>
          <p:cNvPr id="7" name="Holder 7"/>
          <p:cNvSpPr>
            <a:spLocks noGrp="1"/>
          </p:cNvSpPr>
          <p:nvPr>
            <p:ph type="sldNum" sz="quarter" idx="7"/>
          </p:nvPr>
        </p:nvSpPr>
        <p:spPr/>
        <p:txBody>
          <a:bodyPr lIns="0" tIns="0" rIns="0" bIns="0"/>
          <a:lstStyle>
            <a:lvl1pPr>
              <a:defRPr sz="900" b="0" i="0">
                <a:solidFill>
                  <a:srgbClr val="888888"/>
                </a:solidFill>
                <a:latin typeface="Calibri"/>
                <a:cs typeface="Calibri"/>
              </a:defRPr>
            </a:lvl1pPr>
          </a:lstStyle>
          <a:p>
            <a:pPr marL="28575">
              <a:lnSpc>
                <a:spcPts val="930"/>
              </a:lnSpc>
            </a:pPr>
            <a:fld id="{81D60167-4931-47E6-BA6A-407CBD079E47}" type="slidenum">
              <a:rPr lang="en-US" smtClean="0"/>
              <a:pPr marL="28575">
                <a:lnSpc>
                  <a:spcPts val="930"/>
                </a:lnSpc>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3190495" y="1862480"/>
            <a:ext cx="2763011" cy="577081"/>
          </a:xfrm>
        </p:spPr>
        <p:txBody>
          <a:bodyPr lIns="0" tIns="0" rIns="0" bIns="0"/>
          <a:lstStyle>
            <a:lvl1pPr>
              <a:defRPr sz="3750" b="0" i="0">
                <a:solidFill>
                  <a:schemeClr val="bg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900" b="0" i="0">
                <a:solidFill>
                  <a:srgbClr val="888888"/>
                </a:solidFill>
                <a:latin typeface="Calibri"/>
                <a:cs typeface="Calibri"/>
              </a:defRPr>
            </a:lvl1pPr>
          </a:lstStyle>
          <a:p>
            <a:pPr marL="9525">
              <a:lnSpc>
                <a:spcPts val="930"/>
              </a:lnSpc>
            </a:pPr>
            <a:r>
              <a:rPr lang="en-US"/>
              <a:t>6</a:t>
            </a:r>
            <a:r>
              <a:rPr lang="en-US" spc="4"/>
              <a:t>/</a:t>
            </a:r>
            <a:r>
              <a:rPr lang="en-US"/>
              <a:t>25/2021</a:t>
            </a:r>
            <a:endParaRPr lang="en-US" dirty="0"/>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07553507-24D6-7C41-965D-F16F7353BB5F}" type="datetime1">
              <a:rPr lang="en-US" smtClean="0"/>
              <a:t>11/17/25</a:t>
            </a:fld>
            <a:endParaRPr lang="en-US"/>
          </a:p>
        </p:txBody>
      </p:sp>
      <p:sp>
        <p:nvSpPr>
          <p:cNvPr id="5" name="Holder 5"/>
          <p:cNvSpPr>
            <a:spLocks noGrp="1"/>
          </p:cNvSpPr>
          <p:nvPr>
            <p:ph type="sldNum" sz="quarter" idx="7"/>
          </p:nvPr>
        </p:nvSpPr>
        <p:spPr/>
        <p:txBody>
          <a:bodyPr lIns="0" tIns="0" rIns="0" bIns="0"/>
          <a:lstStyle>
            <a:lvl1pPr>
              <a:defRPr sz="900" b="0" i="0">
                <a:solidFill>
                  <a:srgbClr val="888888"/>
                </a:solidFill>
                <a:latin typeface="Calibri"/>
                <a:cs typeface="Calibri"/>
              </a:defRPr>
            </a:lvl1pPr>
          </a:lstStyle>
          <a:p>
            <a:pPr marL="28575">
              <a:lnSpc>
                <a:spcPts val="930"/>
              </a:lnSpc>
            </a:pPr>
            <a:fld id="{81D60167-4931-47E6-BA6A-407CBD079E47}" type="slidenum">
              <a:rPr lang="en-US" smtClean="0"/>
              <a:pPr marL="28575">
                <a:lnSpc>
                  <a:spcPts val="930"/>
                </a:lnSpc>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900" b="0" i="0">
                <a:solidFill>
                  <a:srgbClr val="888888"/>
                </a:solidFill>
                <a:latin typeface="Calibri"/>
                <a:cs typeface="Calibri"/>
              </a:defRPr>
            </a:lvl1pPr>
          </a:lstStyle>
          <a:p>
            <a:pPr marL="9525">
              <a:lnSpc>
                <a:spcPts val="930"/>
              </a:lnSpc>
            </a:pPr>
            <a:r>
              <a:rPr lang="en-US"/>
              <a:t>6</a:t>
            </a:r>
            <a:r>
              <a:rPr lang="en-US" spc="4"/>
              <a:t>/</a:t>
            </a:r>
            <a:r>
              <a:rPr lang="en-US"/>
              <a:t>25/2021</a:t>
            </a:r>
            <a:endParaRPr lang="en-US" dirty="0"/>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C80290BD-DF1F-DD4E-8D8E-4F1A2384B57E}" type="datetime1">
              <a:rPr lang="en-US" smtClean="0"/>
              <a:t>11/17/25</a:t>
            </a:fld>
            <a:endParaRPr lang="en-US"/>
          </a:p>
        </p:txBody>
      </p:sp>
      <p:sp>
        <p:nvSpPr>
          <p:cNvPr id="4" name="Holder 4"/>
          <p:cNvSpPr>
            <a:spLocks noGrp="1"/>
          </p:cNvSpPr>
          <p:nvPr>
            <p:ph type="sldNum" sz="quarter" idx="7"/>
          </p:nvPr>
        </p:nvSpPr>
        <p:spPr/>
        <p:txBody>
          <a:bodyPr lIns="0" tIns="0" rIns="0" bIns="0"/>
          <a:lstStyle>
            <a:lvl1pPr>
              <a:defRPr sz="900" b="0" i="0">
                <a:solidFill>
                  <a:srgbClr val="888888"/>
                </a:solidFill>
                <a:latin typeface="Calibri"/>
                <a:cs typeface="Calibri"/>
              </a:defRPr>
            </a:lvl1pPr>
          </a:lstStyle>
          <a:p>
            <a:pPr marL="28575">
              <a:lnSpc>
                <a:spcPts val="930"/>
              </a:lnSpc>
            </a:pPr>
            <a:fld id="{81D60167-4931-47E6-BA6A-407CBD079E47}" type="slidenum">
              <a:rPr lang="en-US" smtClean="0"/>
              <a:pPr marL="28575">
                <a:lnSpc>
                  <a:spcPts val="930"/>
                </a:lnSpc>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1" y="0"/>
            <a:ext cx="9143999" cy="5143497"/>
          </a:xfrm>
          <a:prstGeom prst="rect">
            <a:avLst/>
          </a:prstGeom>
        </p:spPr>
      </p:pic>
      <p:sp>
        <p:nvSpPr>
          <p:cNvPr id="2" name="Holder 2"/>
          <p:cNvSpPr>
            <a:spLocks noGrp="1"/>
          </p:cNvSpPr>
          <p:nvPr>
            <p:ph type="title"/>
          </p:nvPr>
        </p:nvSpPr>
        <p:spPr>
          <a:xfrm>
            <a:off x="3190495" y="1862480"/>
            <a:ext cx="2763011" cy="769441"/>
          </a:xfrm>
          <a:prstGeom prst="rect">
            <a:avLst/>
          </a:prstGeom>
        </p:spPr>
        <p:txBody>
          <a:bodyPr wrap="square" lIns="0" tIns="0" rIns="0" bIns="0">
            <a:spAutoFit/>
          </a:bodyPr>
          <a:lstStyle>
            <a:lvl1pPr>
              <a:defRPr sz="5000" b="0" i="0">
                <a:solidFill>
                  <a:schemeClr val="bg1"/>
                </a:solidFill>
                <a:latin typeface="Times New Roman"/>
                <a:cs typeface="Times New Roman"/>
              </a:defRPr>
            </a:lvl1pPr>
          </a:lstStyle>
          <a:p>
            <a:endParaRPr/>
          </a:p>
        </p:txBody>
      </p:sp>
      <p:sp>
        <p:nvSpPr>
          <p:cNvPr id="3" name="Holder 3"/>
          <p:cNvSpPr>
            <a:spLocks noGrp="1"/>
          </p:cNvSpPr>
          <p:nvPr>
            <p:ph type="body" idx="1"/>
          </p:nvPr>
        </p:nvSpPr>
        <p:spPr>
          <a:xfrm>
            <a:off x="535941" y="1753458"/>
            <a:ext cx="8072119" cy="276999"/>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535940" y="4848510"/>
            <a:ext cx="687705" cy="117020"/>
          </a:xfrm>
          <a:prstGeom prst="rect">
            <a:avLst/>
          </a:prstGeom>
        </p:spPr>
        <p:txBody>
          <a:bodyPr wrap="square" lIns="0" tIns="0" rIns="0" bIns="0">
            <a:spAutoFit/>
          </a:bodyPr>
          <a:lstStyle>
            <a:lvl1pPr>
              <a:defRPr sz="900" b="0" i="0">
                <a:solidFill>
                  <a:srgbClr val="888888"/>
                </a:solidFill>
                <a:latin typeface="Calibri"/>
                <a:cs typeface="Calibri"/>
              </a:defRPr>
            </a:lvl1pPr>
          </a:lstStyle>
          <a:p>
            <a:pPr marL="9525">
              <a:lnSpc>
                <a:spcPts val="930"/>
              </a:lnSpc>
            </a:pPr>
            <a:r>
              <a:rPr lang="en-US"/>
              <a:t>6</a:t>
            </a:r>
            <a:r>
              <a:rPr lang="en-US" spc="4"/>
              <a:t>/</a:t>
            </a:r>
            <a:r>
              <a:rPr lang="en-US"/>
              <a:t>25/2021</a:t>
            </a:r>
            <a:endParaRPr lang="en-US" dirty="0"/>
          </a:p>
        </p:txBody>
      </p:sp>
      <p:sp>
        <p:nvSpPr>
          <p:cNvPr id="5" name="Holder 5"/>
          <p:cNvSpPr>
            <a:spLocks noGrp="1"/>
          </p:cNvSpPr>
          <p:nvPr>
            <p:ph type="dt" sz="half" idx="6"/>
          </p:nvPr>
        </p:nvSpPr>
        <p:spPr>
          <a:xfrm>
            <a:off x="457200" y="4783456"/>
            <a:ext cx="2103120" cy="207749"/>
          </a:xfrm>
          <a:prstGeom prst="rect">
            <a:avLst/>
          </a:prstGeom>
        </p:spPr>
        <p:txBody>
          <a:bodyPr wrap="square" lIns="0" tIns="0" rIns="0" bIns="0">
            <a:spAutoFit/>
          </a:bodyPr>
          <a:lstStyle>
            <a:lvl1pPr algn="l">
              <a:defRPr>
                <a:solidFill>
                  <a:schemeClr val="tx1">
                    <a:tint val="75000"/>
                  </a:schemeClr>
                </a:solidFill>
              </a:defRPr>
            </a:lvl1pPr>
          </a:lstStyle>
          <a:p>
            <a:fld id="{42AD2F48-3C9E-4D47-A330-F6B24A3208B0}" type="datetime1">
              <a:rPr lang="en-US" smtClean="0"/>
              <a:t>11/17/25</a:t>
            </a:fld>
            <a:endParaRPr lang="en-US"/>
          </a:p>
        </p:txBody>
      </p:sp>
      <p:sp>
        <p:nvSpPr>
          <p:cNvPr id="6" name="Holder 6"/>
          <p:cNvSpPr>
            <a:spLocks noGrp="1"/>
          </p:cNvSpPr>
          <p:nvPr>
            <p:ph type="sldNum" sz="quarter" idx="7"/>
          </p:nvPr>
        </p:nvSpPr>
        <p:spPr>
          <a:xfrm>
            <a:off x="8401558" y="4848510"/>
            <a:ext cx="231775" cy="117020"/>
          </a:xfrm>
          <a:prstGeom prst="rect">
            <a:avLst/>
          </a:prstGeom>
        </p:spPr>
        <p:txBody>
          <a:bodyPr wrap="square" lIns="0" tIns="0" rIns="0" bIns="0">
            <a:spAutoFit/>
          </a:bodyPr>
          <a:lstStyle>
            <a:lvl1pPr>
              <a:defRPr sz="900" b="0" i="0">
                <a:solidFill>
                  <a:srgbClr val="888888"/>
                </a:solidFill>
                <a:latin typeface="Calibri"/>
                <a:cs typeface="Calibri"/>
              </a:defRPr>
            </a:lvl1pPr>
          </a:lstStyle>
          <a:p>
            <a:pPr marL="28575">
              <a:lnSpc>
                <a:spcPts val="930"/>
              </a:lnSpc>
            </a:pPr>
            <a:fld id="{81D60167-4931-47E6-BA6A-407CBD079E47}" type="slidenum">
              <a:rPr lang="en-US" smtClean="0"/>
              <a:pPr marL="28575">
                <a:lnSpc>
                  <a:spcPts val="930"/>
                </a:lnSpc>
              </a:pPr>
              <a:t>‹#›</a:t>
            </a:fld>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sldNum="0" hdr="0" ftr="0"/>
  <p:txStyles>
    <p:titleStyle>
      <a:lvl1pPr>
        <a:defRPr>
          <a:latin typeface="+mj-lt"/>
          <a:ea typeface="+mj-ea"/>
          <a:cs typeface="+mj-cs"/>
        </a:defRPr>
      </a:lvl1pPr>
    </p:titleStyle>
    <p:bodyStyle>
      <a:lvl1pPr marL="0">
        <a:defRPr>
          <a:latin typeface="+mn-lt"/>
          <a:ea typeface="+mn-ea"/>
          <a:cs typeface="+mn-cs"/>
        </a:defRPr>
      </a:lvl1pPr>
      <a:lvl2pPr marL="342900">
        <a:defRPr>
          <a:latin typeface="+mn-lt"/>
          <a:ea typeface="+mn-ea"/>
          <a:cs typeface="+mn-cs"/>
        </a:defRPr>
      </a:lvl2pPr>
      <a:lvl3pPr marL="685800">
        <a:defRPr>
          <a:latin typeface="+mn-lt"/>
          <a:ea typeface="+mn-ea"/>
          <a:cs typeface="+mn-cs"/>
        </a:defRPr>
      </a:lvl3pPr>
      <a:lvl4pPr marL="1028700">
        <a:defRPr>
          <a:latin typeface="+mn-lt"/>
          <a:ea typeface="+mn-ea"/>
          <a:cs typeface="+mn-cs"/>
        </a:defRPr>
      </a:lvl4pPr>
      <a:lvl5pPr marL="1371600">
        <a:defRPr>
          <a:latin typeface="+mn-lt"/>
          <a:ea typeface="+mn-ea"/>
          <a:cs typeface="+mn-cs"/>
        </a:defRPr>
      </a:lvl5pPr>
      <a:lvl6pPr marL="1714500">
        <a:defRPr>
          <a:latin typeface="+mn-lt"/>
          <a:ea typeface="+mn-ea"/>
          <a:cs typeface="+mn-cs"/>
        </a:defRPr>
      </a:lvl6pPr>
      <a:lvl7pPr marL="2057400">
        <a:defRPr>
          <a:latin typeface="+mn-lt"/>
          <a:ea typeface="+mn-ea"/>
          <a:cs typeface="+mn-cs"/>
        </a:defRPr>
      </a:lvl7pPr>
      <a:lvl8pPr marL="2400300">
        <a:defRPr>
          <a:latin typeface="+mn-lt"/>
          <a:ea typeface="+mn-ea"/>
          <a:cs typeface="+mn-cs"/>
        </a:defRPr>
      </a:lvl8pPr>
      <a:lvl9pPr marL="2743200">
        <a:defRPr>
          <a:latin typeface="+mn-lt"/>
          <a:ea typeface="+mn-ea"/>
          <a:cs typeface="+mn-cs"/>
        </a:defRPr>
      </a:lvl9pPr>
    </p:bodyStyle>
    <p:otherStyle>
      <a:lvl1pPr marL="0">
        <a:defRPr>
          <a:latin typeface="+mn-lt"/>
          <a:ea typeface="+mn-ea"/>
          <a:cs typeface="+mn-cs"/>
        </a:defRPr>
      </a:lvl1pPr>
      <a:lvl2pPr marL="342900">
        <a:defRPr>
          <a:latin typeface="+mn-lt"/>
          <a:ea typeface="+mn-ea"/>
          <a:cs typeface="+mn-cs"/>
        </a:defRPr>
      </a:lvl2pPr>
      <a:lvl3pPr marL="685800">
        <a:defRPr>
          <a:latin typeface="+mn-lt"/>
          <a:ea typeface="+mn-ea"/>
          <a:cs typeface="+mn-cs"/>
        </a:defRPr>
      </a:lvl3pPr>
      <a:lvl4pPr marL="1028700">
        <a:defRPr>
          <a:latin typeface="+mn-lt"/>
          <a:ea typeface="+mn-ea"/>
          <a:cs typeface="+mn-cs"/>
        </a:defRPr>
      </a:lvl4pPr>
      <a:lvl5pPr marL="1371600">
        <a:defRPr>
          <a:latin typeface="+mn-lt"/>
          <a:ea typeface="+mn-ea"/>
          <a:cs typeface="+mn-cs"/>
        </a:defRPr>
      </a:lvl5pPr>
      <a:lvl6pPr marL="1714500">
        <a:defRPr>
          <a:latin typeface="+mn-lt"/>
          <a:ea typeface="+mn-ea"/>
          <a:cs typeface="+mn-cs"/>
        </a:defRPr>
      </a:lvl6pPr>
      <a:lvl7pPr marL="2057400">
        <a:defRPr>
          <a:latin typeface="+mn-lt"/>
          <a:ea typeface="+mn-ea"/>
          <a:cs typeface="+mn-cs"/>
        </a:defRPr>
      </a:lvl7pPr>
      <a:lvl8pPr marL="2400300">
        <a:defRPr>
          <a:latin typeface="+mn-lt"/>
          <a:ea typeface="+mn-ea"/>
          <a:cs typeface="+mn-cs"/>
        </a:defRPr>
      </a:lvl8pPr>
      <a:lvl9pPr marL="27432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 y="0"/>
            <a:ext cx="9143999" cy="5143497"/>
          </a:xfrm>
          <a:prstGeom prst="rect">
            <a:avLst/>
          </a:prstGeom>
        </p:spPr>
      </p:pic>
      <p:sp>
        <p:nvSpPr>
          <p:cNvPr id="3" name="object 3"/>
          <p:cNvSpPr txBox="1">
            <a:spLocks noGrp="1"/>
          </p:cNvSpPr>
          <p:nvPr>
            <p:ph type="title"/>
          </p:nvPr>
        </p:nvSpPr>
        <p:spPr>
          <a:xfrm>
            <a:off x="2074851" y="14954"/>
            <a:ext cx="4993481" cy="1394132"/>
          </a:xfrm>
          <a:prstGeom prst="rect">
            <a:avLst/>
          </a:prstGeom>
        </p:spPr>
        <p:txBody>
          <a:bodyPr vert="horz" wrap="square" lIns="0" tIns="9049" rIns="0" bIns="0" rtlCol="0">
            <a:spAutoFit/>
          </a:bodyPr>
          <a:lstStyle/>
          <a:p>
            <a:pPr algn="ctr">
              <a:spcBef>
                <a:spcPts val="79"/>
              </a:spcBef>
            </a:pPr>
            <a:r>
              <a:rPr sz="3000" b="1" spc="-4" dirty="0"/>
              <a:t>Data mining</a:t>
            </a:r>
            <a:r>
              <a:rPr sz="3000" b="1" dirty="0"/>
              <a:t> </a:t>
            </a:r>
            <a:r>
              <a:rPr sz="3000" b="1" spc="-4" dirty="0"/>
              <a:t>and</a:t>
            </a:r>
            <a:r>
              <a:rPr sz="3000" b="1" spc="-45" dirty="0"/>
              <a:t> </a:t>
            </a:r>
            <a:r>
              <a:rPr sz="3000" b="1" spc="-23" dirty="0"/>
              <a:t>Warehousing</a:t>
            </a:r>
            <a:br>
              <a:rPr lang="en-US" sz="3000" b="1" spc="-23" dirty="0"/>
            </a:br>
            <a:r>
              <a:rPr lang="en-US" sz="3000" dirty="0">
                <a:solidFill>
                  <a:schemeClr val="tx1"/>
                </a:solidFill>
              </a:rPr>
              <a:t>Unit</a:t>
            </a:r>
            <a:r>
              <a:rPr lang="en-US" sz="3000" spc="-30" dirty="0">
                <a:solidFill>
                  <a:schemeClr val="tx1"/>
                </a:solidFill>
              </a:rPr>
              <a:t> </a:t>
            </a:r>
            <a:r>
              <a:rPr lang="en-US" sz="3000" dirty="0">
                <a:solidFill>
                  <a:schemeClr val="tx1"/>
                </a:solidFill>
              </a:rPr>
              <a:t>2:</a:t>
            </a:r>
            <a:br>
              <a:rPr lang="en-US" sz="3000" dirty="0">
                <a:solidFill>
                  <a:schemeClr val="tx1"/>
                </a:solidFill>
              </a:rPr>
            </a:br>
            <a:r>
              <a:rPr lang="en-US" sz="3000" dirty="0">
                <a:solidFill>
                  <a:schemeClr val="tx1"/>
                </a:solidFill>
              </a:rPr>
              <a:t>Data</a:t>
            </a:r>
            <a:r>
              <a:rPr lang="en-US" sz="3000" spc="-34" dirty="0">
                <a:solidFill>
                  <a:schemeClr val="tx1"/>
                </a:solidFill>
              </a:rPr>
              <a:t> </a:t>
            </a:r>
            <a:r>
              <a:rPr lang="en-US" sz="3000" dirty="0">
                <a:solidFill>
                  <a:schemeClr val="tx1"/>
                </a:solidFill>
              </a:rPr>
              <a:t>mining</a:t>
            </a:r>
            <a:r>
              <a:rPr lang="en-US" sz="3000" spc="-15" dirty="0">
                <a:solidFill>
                  <a:schemeClr val="tx1"/>
                </a:solidFill>
              </a:rPr>
              <a:t> </a:t>
            </a:r>
            <a:r>
              <a:rPr lang="en-US" sz="3000" dirty="0">
                <a:solidFill>
                  <a:schemeClr val="tx1"/>
                </a:solidFill>
              </a:rPr>
              <a:t>Description</a:t>
            </a:r>
            <a:endParaRPr sz="3000" dirty="0">
              <a:solidFill>
                <a:schemeClr val="tx1"/>
              </a:solidFill>
            </a:endParaRPr>
          </a:p>
        </p:txBody>
      </p:sp>
      <p:sp>
        <p:nvSpPr>
          <p:cNvPr id="4" name="object 4"/>
          <p:cNvSpPr txBox="1"/>
          <p:nvPr/>
        </p:nvSpPr>
        <p:spPr>
          <a:xfrm>
            <a:off x="2743201" y="1764336"/>
            <a:ext cx="3922871" cy="806792"/>
          </a:xfrm>
          <a:prstGeom prst="rect">
            <a:avLst/>
          </a:prstGeom>
        </p:spPr>
        <p:txBody>
          <a:bodyPr vert="horz" wrap="square" lIns="0" tIns="9049" rIns="0" bIns="0" rtlCol="0">
            <a:spAutoFit/>
          </a:bodyPr>
          <a:lstStyle/>
          <a:p>
            <a:pPr marL="9525">
              <a:spcBef>
                <a:spcPts val="71"/>
              </a:spcBef>
              <a:tabLst>
                <a:tab pos="2390775" algn="l"/>
              </a:tabLst>
            </a:pPr>
            <a:r>
              <a:rPr sz="3000" spc="-4" dirty="0">
                <a:latin typeface="Times New Roman"/>
                <a:cs typeface="Times New Roman"/>
              </a:rPr>
              <a:t>Mod</a:t>
            </a:r>
            <a:r>
              <a:rPr sz="3000" spc="4" dirty="0">
                <a:latin typeface="Times New Roman"/>
                <a:cs typeface="Times New Roman"/>
              </a:rPr>
              <a:t>u</a:t>
            </a:r>
            <a:r>
              <a:rPr sz="3000" spc="-4" dirty="0">
                <a:latin typeface="Times New Roman"/>
                <a:cs typeface="Times New Roman"/>
              </a:rPr>
              <a:t>le</a:t>
            </a:r>
            <a:r>
              <a:rPr sz="3000" spc="8" dirty="0">
                <a:latin typeface="Times New Roman"/>
                <a:cs typeface="Times New Roman"/>
              </a:rPr>
              <a:t> </a:t>
            </a:r>
            <a:r>
              <a:rPr sz="3000" spc="-4" dirty="0">
                <a:latin typeface="Times New Roman"/>
                <a:cs typeface="Times New Roman"/>
              </a:rPr>
              <a:t>Cod</a:t>
            </a:r>
            <a:r>
              <a:rPr sz="3000" dirty="0">
                <a:latin typeface="Times New Roman"/>
                <a:cs typeface="Times New Roman"/>
              </a:rPr>
              <a:t>e</a:t>
            </a:r>
            <a:r>
              <a:rPr sz="3000" spc="-4" dirty="0">
                <a:latin typeface="Times New Roman"/>
                <a:cs typeface="Times New Roman"/>
              </a:rPr>
              <a:t>:</a:t>
            </a:r>
            <a:r>
              <a:rPr sz="3000" dirty="0">
                <a:latin typeface="Times New Roman"/>
                <a:cs typeface="Times New Roman"/>
              </a:rPr>
              <a:t>	</a:t>
            </a:r>
            <a:r>
              <a:rPr sz="3000" b="1" spc="-4" dirty="0">
                <a:solidFill>
                  <a:srgbClr val="FFFFFF"/>
                </a:solidFill>
                <a:latin typeface="Times New Roman"/>
                <a:cs typeface="Times New Roman"/>
              </a:rPr>
              <a:t>CS</a:t>
            </a:r>
            <a:r>
              <a:rPr sz="3000" b="1" spc="-15" dirty="0">
                <a:solidFill>
                  <a:srgbClr val="FFFFFF"/>
                </a:solidFill>
                <a:latin typeface="Times New Roman"/>
                <a:cs typeface="Times New Roman"/>
              </a:rPr>
              <a:t>C</a:t>
            </a:r>
            <a:r>
              <a:rPr sz="3000" b="1" spc="-4" dirty="0">
                <a:solidFill>
                  <a:srgbClr val="FFFFFF"/>
                </a:solidFill>
                <a:latin typeface="Times New Roman"/>
                <a:cs typeface="Times New Roman"/>
              </a:rPr>
              <a:t>5</a:t>
            </a:r>
            <a:r>
              <a:rPr sz="3000" b="1" dirty="0">
                <a:solidFill>
                  <a:srgbClr val="FFFFFF"/>
                </a:solidFill>
                <a:latin typeface="Times New Roman"/>
                <a:cs typeface="Times New Roman"/>
              </a:rPr>
              <a:t>9</a:t>
            </a:r>
            <a:r>
              <a:rPr sz="3000" b="1" spc="-4" dirty="0">
                <a:solidFill>
                  <a:srgbClr val="FFFFFF"/>
                </a:solidFill>
                <a:latin typeface="Times New Roman"/>
                <a:cs typeface="Times New Roman"/>
              </a:rPr>
              <a:t>01</a:t>
            </a:r>
            <a:endParaRPr sz="4350" dirty="0">
              <a:latin typeface="Times New Roman"/>
              <a:cs typeface="Times New Roman"/>
            </a:endParaRPr>
          </a:p>
          <a:p>
            <a:pPr marL="9525">
              <a:spcBef>
                <a:spcPts val="79"/>
              </a:spcBef>
            </a:pPr>
            <a:r>
              <a:rPr lang="en-US" sz="2100" dirty="0">
                <a:solidFill>
                  <a:srgbClr val="FFC000"/>
                </a:solidFill>
                <a:latin typeface="MS PGothic"/>
                <a:cs typeface="MS PGothic"/>
              </a:rPr>
              <a:t>Olivier Angel Kevin ISHIMWE</a:t>
            </a:r>
            <a:endParaRPr lang="en-US" sz="2100" dirty="0">
              <a:latin typeface="MS PGothic"/>
              <a:cs typeface="MS PGothic"/>
            </a:endParaRPr>
          </a:p>
        </p:txBody>
      </p:sp>
      <p:sp>
        <p:nvSpPr>
          <p:cNvPr id="6" name="object 6"/>
          <p:cNvSpPr txBox="1"/>
          <p:nvPr/>
        </p:nvSpPr>
        <p:spPr>
          <a:xfrm>
            <a:off x="4053649" y="4819879"/>
            <a:ext cx="1037273" cy="148117"/>
          </a:xfrm>
          <a:prstGeom prst="rect">
            <a:avLst/>
          </a:prstGeom>
        </p:spPr>
        <p:txBody>
          <a:bodyPr vert="horz" wrap="square" lIns="0" tIns="9525" rIns="0" bIns="0" rtlCol="0">
            <a:spAutoFit/>
          </a:bodyPr>
          <a:lstStyle/>
          <a:p>
            <a:pPr marL="9525">
              <a:spcBef>
                <a:spcPts val="75"/>
              </a:spcBef>
            </a:pPr>
            <a:r>
              <a:rPr sz="900" spc="-8" dirty="0">
                <a:solidFill>
                  <a:srgbClr val="888888"/>
                </a:solidFill>
                <a:latin typeface="Calibri"/>
                <a:cs typeface="Calibri"/>
              </a:rPr>
              <a:t>Course</a:t>
            </a:r>
            <a:r>
              <a:rPr sz="900" spc="180" dirty="0">
                <a:solidFill>
                  <a:srgbClr val="888888"/>
                </a:solidFill>
                <a:latin typeface="Calibri"/>
                <a:cs typeface="Calibri"/>
              </a:rPr>
              <a:t> </a:t>
            </a:r>
            <a:r>
              <a:rPr sz="900" spc="-4" dirty="0">
                <a:solidFill>
                  <a:srgbClr val="888888"/>
                </a:solidFill>
                <a:latin typeface="Calibri"/>
                <a:cs typeface="Calibri"/>
              </a:rPr>
              <a:t>Code </a:t>
            </a:r>
            <a:r>
              <a:rPr sz="900" dirty="0">
                <a:solidFill>
                  <a:srgbClr val="888888"/>
                </a:solidFill>
                <a:latin typeface="Calibri"/>
                <a:cs typeface="Calibri"/>
              </a:rPr>
              <a:t>&amp;</a:t>
            </a:r>
            <a:r>
              <a:rPr sz="900" spc="-19" dirty="0">
                <a:solidFill>
                  <a:srgbClr val="888888"/>
                </a:solidFill>
                <a:latin typeface="Calibri"/>
                <a:cs typeface="Calibri"/>
              </a:rPr>
              <a:t> </a:t>
            </a:r>
            <a:r>
              <a:rPr sz="900" dirty="0">
                <a:solidFill>
                  <a:srgbClr val="888888"/>
                </a:solidFill>
                <a:latin typeface="Calibri"/>
                <a:cs typeface="Calibri"/>
              </a:rPr>
              <a:t>Name</a:t>
            </a:r>
            <a:endParaRPr sz="900">
              <a:latin typeface="Calibri"/>
              <a:cs typeface="Calibri"/>
            </a:endParaRPr>
          </a:p>
        </p:txBody>
      </p:sp>
      <p:sp>
        <p:nvSpPr>
          <p:cNvPr id="7" name="object 7"/>
          <p:cNvSpPr txBox="1"/>
          <p:nvPr/>
        </p:nvSpPr>
        <p:spPr>
          <a:xfrm>
            <a:off x="7521511" y="4819879"/>
            <a:ext cx="77153" cy="148117"/>
          </a:xfrm>
          <a:prstGeom prst="rect">
            <a:avLst/>
          </a:prstGeom>
        </p:spPr>
        <p:txBody>
          <a:bodyPr vert="horz" wrap="square" lIns="0" tIns="9525" rIns="0" bIns="0" rtlCol="0">
            <a:spAutoFit/>
          </a:bodyPr>
          <a:lstStyle/>
          <a:p>
            <a:pPr marL="9525">
              <a:spcBef>
                <a:spcPts val="75"/>
              </a:spcBef>
            </a:pPr>
            <a:r>
              <a:rPr sz="900" dirty="0">
                <a:solidFill>
                  <a:srgbClr val="888888"/>
                </a:solidFill>
                <a:latin typeface="Calibri"/>
                <a:cs typeface="Calibri"/>
              </a:rPr>
              <a:t>1</a:t>
            </a:r>
            <a:endParaRPr sz="900">
              <a:latin typeface="Calibri"/>
              <a:cs typeface="Calibri"/>
            </a:endParaRPr>
          </a:p>
        </p:txBody>
      </p:sp>
      <p:sp>
        <p:nvSpPr>
          <p:cNvPr id="8" name="Date Placeholder 7">
            <a:extLst>
              <a:ext uri="{FF2B5EF4-FFF2-40B4-BE49-F238E27FC236}">
                <a16:creationId xmlns:a16="http://schemas.microsoft.com/office/drawing/2014/main" id="{B5459A22-4EB1-642B-6620-53B340C42844}"/>
              </a:ext>
            </a:extLst>
          </p:cNvPr>
          <p:cNvSpPr>
            <a:spLocks noGrp="1"/>
          </p:cNvSpPr>
          <p:nvPr>
            <p:ph type="dt" sz="half" idx="6"/>
          </p:nvPr>
        </p:nvSpPr>
        <p:spPr/>
        <p:txBody>
          <a:bodyPr/>
          <a:lstStyle/>
          <a:p>
            <a:fld id="{20120C1A-8F02-704A-AF77-B0A68D337A85}" type="datetime1">
              <a:rPr lang="en-US" smtClean="0"/>
              <a:t>11/17/25</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05407" y="977989"/>
            <a:ext cx="6072188" cy="470802"/>
          </a:xfrm>
          <a:prstGeom prst="rect">
            <a:avLst/>
          </a:prstGeom>
        </p:spPr>
        <p:txBody>
          <a:bodyPr vert="horz" wrap="square" lIns="0" tIns="9049" rIns="0" bIns="0" rtlCol="0">
            <a:spAutoFit/>
          </a:bodyPr>
          <a:lstStyle/>
          <a:p>
            <a:pPr marL="9525">
              <a:spcBef>
                <a:spcPts val="71"/>
              </a:spcBef>
            </a:pPr>
            <a:r>
              <a:rPr sz="3000" spc="-4" dirty="0">
                <a:solidFill>
                  <a:srgbClr val="C00000"/>
                </a:solidFill>
              </a:rPr>
              <a:t>Steps</a:t>
            </a:r>
            <a:r>
              <a:rPr sz="3000" spc="-8" dirty="0">
                <a:solidFill>
                  <a:srgbClr val="C00000"/>
                </a:solidFill>
              </a:rPr>
              <a:t> </a:t>
            </a:r>
            <a:r>
              <a:rPr sz="3000" dirty="0">
                <a:solidFill>
                  <a:srgbClr val="C00000"/>
                </a:solidFill>
              </a:rPr>
              <a:t>involved</a:t>
            </a:r>
            <a:r>
              <a:rPr sz="3000" spc="-19" dirty="0">
                <a:solidFill>
                  <a:srgbClr val="C00000"/>
                </a:solidFill>
              </a:rPr>
              <a:t> </a:t>
            </a:r>
            <a:r>
              <a:rPr sz="3000" spc="-4" dirty="0">
                <a:solidFill>
                  <a:srgbClr val="C00000"/>
                </a:solidFill>
              </a:rPr>
              <a:t>in</a:t>
            </a:r>
            <a:r>
              <a:rPr sz="3000" dirty="0">
                <a:solidFill>
                  <a:srgbClr val="C00000"/>
                </a:solidFill>
              </a:rPr>
              <a:t> </a:t>
            </a:r>
            <a:r>
              <a:rPr sz="3000" spc="-4" dirty="0">
                <a:solidFill>
                  <a:srgbClr val="C00000"/>
                </a:solidFill>
              </a:rPr>
              <a:t>a </a:t>
            </a:r>
            <a:r>
              <a:rPr sz="3000" dirty="0">
                <a:solidFill>
                  <a:srgbClr val="C00000"/>
                </a:solidFill>
              </a:rPr>
              <a:t>data</a:t>
            </a:r>
            <a:r>
              <a:rPr sz="3000" spc="-4" dirty="0">
                <a:solidFill>
                  <a:srgbClr val="C00000"/>
                </a:solidFill>
              </a:rPr>
              <a:t> </a:t>
            </a:r>
            <a:r>
              <a:rPr sz="3000" dirty="0">
                <a:solidFill>
                  <a:srgbClr val="C00000"/>
                </a:solidFill>
              </a:rPr>
              <a:t>mining</a:t>
            </a:r>
            <a:r>
              <a:rPr sz="3000" spc="-8" dirty="0">
                <a:solidFill>
                  <a:srgbClr val="C00000"/>
                </a:solidFill>
              </a:rPr>
              <a:t> </a:t>
            </a:r>
            <a:r>
              <a:rPr sz="3000" spc="-4" dirty="0">
                <a:solidFill>
                  <a:srgbClr val="C00000"/>
                </a:solidFill>
              </a:rPr>
              <a:t>process</a:t>
            </a:r>
            <a:endParaRPr sz="3000" dirty="0"/>
          </a:p>
        </p:txBody>
      </p:sp>
      <p:sp>
        <p:nvSpPr>
          <p:cNvPr id="3" name="object 3"/>
          <p:cNvSpPr txBox="1"/>
          <p:nvPr/>
        </p:nvSpPr>
        <p:spPr>
          <a:xfrm>
            <a:off x="685800" y="1771746"/>
            <a:ext cx="8115300" cy="2087590"/>
          </a:xfrm>
          <a:prstGeom prst="rect">
            <a:avLst/>
          </a:prstGeom>
        </p:spPr>
        <p:txBody>
          <a:bodyPr vert="horz" wrap="square" lIns="0" tIns="48101" rIns="0" bIns="0" rtlCol="0">
            <a:spAutoFit/>
          </a:bodyPr>
          <a:lstStyle/>
          <a:p>
            <a:pPr marL="352425" marR="422434" indent="-343376">
              <a:lnSpc>
                <a:spcPts val="2430"/>
              </a:lnSpc>
              <a:spcBef>
                <a:spcPts val="379"/>
              </a:spcBef>
              <a:buFont typeface="Arial MT"/>
              <a:buChar char="•"/>
              <a:tabLst>
                <a:tab pos="352425" algn="l"/>
                <a:tab pos="352901" algn="l"/>
              </a:tabLst>
            </a:pPr>
            <a:r>
              <a:rPr sz="2400" spc="-4" dirty="0">
                <a:latin typeface="MS PGothic"/>
                <a:cs typeface="MS PGothic"/>
              </a:rPr>
              <a:t>Extract,</a:t>
            </a:r>
            <a:r>
              <a:rPr sz="2400" spc="-19" dirty="0">
                <a:latin typeface="MS PGothic"/>
                <a:cs typeface="MS PGothic"/>
              </a:rPr>
              <a:t> </a:t>
            </a:r>
            <a:r>
              <a:rPr sz="2400" spc="-4" dirty="0">
                <a:latin typeface="MS PGothic"/>
                <a:cs typeface="MS PGothic"/>
              </a:rPr>
              <a:t>transform</a:t>
            </a:r>
            <a:r>
              <a:rPr sz="2400" spc="-23" dirty="0">
                <a:latin typeface="MS PGothic"/>
                <a:cs typeface="MS PGothic"/>
              </a:rPr>
              <a:t> </a:t>
            </a:r>
            <a:r>
              <a:rPr sz="2400" dirty="0">
                <a:latin typeface="MS PGothic"/>
                <a:cs typeface="MS PGothic"/>
              </a:rPr>
              <a:t>and</a:t>
            </a:r>
            <a:r>
              <a:rPr sz="2400" spc="-4" dirty="0">
                <a:latin typeface="MS PGothic"/>
                <a:cs typeface="MS PGothic"/>
              </a:rPr>
              <a:t> </a:t>
            </a:r>
            <a:r>
              <a:rPr sz="2400" dirty="0">
                <a:latin typeface="MS PGothic"/>
                <a:cs typeface="MS PGothic"/>
              </a:rPr>
              <a:t>load</a:t>
            </a:r>
            <a:r>
              <a:rPr sz="2400" spc="-15" dirty="0">
                <a:latin typeface="MS PGothic"/>
                <a:cs typeface="MS PGothic"/>
              </a:rPr>
              <a:t> </a:t>
            </a:r>
            <a:r>
              <a:rPr sz="2400" spc="-4" dirty="0">
                <a:latin typeface="MS PGothic"/>
                <a:cs typeface="MS PGothic"/>
              </a:rPr>
              <a:t>data</a:t>
            </a:r>
            <a:r>
              <a:rPr sz="2400" spc="-23" dirty="0">
                <a:latin typeface="MS PGothic"/>
                <a:cs typeface="MS PGothic"/>
              </a:rPr>
              <a:t> </a:t>
            </a:r>
            <a:r>
              <a:rPr sz="2400" dirty="0">
                <a:latin typeface="MS PGothic"/>
                <a:cs typeface="MS PGothic"/>
              </a:rPr>
              <a:t>into</a:t>
            </a:r>
            <a:r>
              <a:rPr sz="2400" spc="-19" dirty="0">
                <a:latin typeface="MS PGothic"/>
                <a:cs typeface="MS PGothic"/>
              </a:rPr>
              <a:t> </a:t>
            </a:r>
            <a:r>
              <a:rPr sz="2400" dirty="0">
                <a:latin typeface="MS PGothic"/>
                <a:cs typeface="MS PGothic"/>
              </a:rPr>
              <a:t>a</a:t>
            </a:r>
            <a:r>
              <a:rPr sz="2400" spc="-4" dirty="0">
                <a:latin typeface="MS PGothic"/>
                <a:cs typeface="MS PGothic"/>
              </a:rPr>
              <a:t> data </a:t>
            </a:r>
            <a:r>
              <a:rPr sz="2400" spc="-675" dirty="0">
                <a:latin typeface="MS PGothic"/>
                <a:cs typeface="MS PGothic"/>
              </a:rPr>
              <a:t> </a:t>
            </a:r>
            <a:r>
              <a:rPr sz="2400" spc="-4" dirty="0">
                <a:latin typeface="MS PGothic"/>
                <a:cs typeface="MS PGothic"/>
              </a:rPr>
              <a:t>warehouse</a:t>
            </a:r>
            <a:endParaRPr sz="2400" dirty="0">
              <a:latin typeface="MS PGothic"/>
              <a:cs typeface="MS PGothic"/>
            </a:endParaRPr>
          </a:p>
          <a:p>
            <a:pPr marL="352425" marR="326707" indent="-343376">
              <a:lnSpc>
                <a:spcPts val="2430"/>
              </a:lnSpc>
              <a:spcBef>
                <a:spcPts val="540"/>
              </a:spcBef>
              <a:buFont typeface="Arial MT"/>
              <a:buChar char="•"/>
              <a:tabLst>
                <a:tab pos="352425" algn="l"/>
                <a:tab pos="352901" algn="l"/>
              </a:tabLst>
            </a:pPr>
            <a:r>
              <a:rPr sz="2400" spc="-4" dirty="0">
                <a:latin typeface="MS PGothic"/>
                <a:cs typeface="MS PGothic"/>
              </a:rPr>
              <a:t>Store </a:t>
            </a:r>
            <a:r>
              <a:rPr sz="2400" dirty="0">
                <a:latin typeface="MS PGothic"/>
                <a:cs typeface="MS PGothic"/>
              </a:rPr>
              <a:t>and </a:t>
            </a:r>
            <a:r>
              <a:rPr sz="2400" spc="-4" dirty="0">
                <a:latin typeface="MS PGothic"/>
                <a:cs typeface="MS PGothic"/>
              </a:rPr>
              <a:t>manage data </a:t>
            </a:r>
            <a:r>
              <a:rPr sz="2400" dirty="0">
                <a:latin typeface="MS PGothic"/>
                <a:cs typeface="MS PGothic"/>
              </a:rPr>
              <a:t>in a </a:t>
            </a:r>
            <a:r>
              <a:rPr sz="2400" spc="-4" dirty="0">
                <a:latin typeface="MS PGothic"/>
                <a:cs typeface="MS PGothic"/>
              </a:rPr>
              <a:t>multidimensional </a:t>
            </a:r>
            <a:r>
              <a:rPr sz="2400" spc="-675" dirty="0">
                <a:latin typeface="MS PGothic"/>
                <a:cs typeface="MS PGothic"/>
              </a:rPr>
              <a:t> </a:t>
            </a:r>
            <a:r>
              <a:rPr sz="2400" spc="-4" dirty="0">
                <a:latin typeface="MS PGothic"/>
                <a:cs typeface="MS PGothic"/>
              </a:rPr>
              <a:t>databases</a:t>
            </a:r>
            <a:endParaRPr sz="2400" dirty="0">
              <a:latin typeface="MS PGothic"/>
              <a:cs typeface="MS PGothic"/>
            </a:endParaRPr>
          </a:p>
          <a:p>
            <a:pPr marL="352425" marR="3810" indent="-343376">
              <a:lnSpc>
                <a:spcPts val="2430"/>
              </a:lnSpc>
              <a:spcBef>
                <a:spcPts val="544"/>
              </a:spcBef>
              <a:buFont typeface="Arial MT"/>
              <a:buChar char="•"/>
              <a:tabLst>
                <a:tab pos="352425" algn="l"/>
                <a:tab pos="352901" algn="l"/>
              </a:tabLst>
            </a:pPr>
            <a:r>
              <a:rPr sz="2400" spc="-4" dirty="0">
                <a:latin typeface="MS PGothic"/>
                <a:cs typeface="MS PGothic"/>
              </a:rPr>
              <a:t>Provide data </a:t>
            </a:r>
            <a:r>
              <a:rPr sz="2400" dirty="0">
                <a:latin typeface="MS PGothic"/>
                <a:cs typeface="MS PGothic"/>
              </a:rPr>
              <a:t>access to </a:t>
            </a:r>
            <a:r>
              <a:rPr sz="2400" spc="-4" dirty="0">
                <a:latin typeface="MS PGothic"/>
                <a:cs typeface="MS PGothic"/>
              </a:rPr>
              <a:t>business </a:t>
            </a:r>
            <a:r>
              <a:rPr sz="2400" dirty="0">
                <a:latin typeface="MS PGothic"/>
                <a:cs typeface="MS PGothic"/>
              </a:rPr>
              <a:t>analysts using </a:t>
            </a:r>
            <a:r>
              <a:rPr sz="2400" spc="-679" dirty="0">
                <a:latin typeface="MS PGothic"/>
                <a:cs typeface="MS PGothic"/>
              </a:rPr>
              <a:t> </a:t>
            </a:r>
            <a:r>
              <a:rPr sz="2400" dirty="0">
                <a:latin typeface="MS PGothic"/>
                <a:cs typeface="MS PGothic"/>
              </a:rPr>
              <a:t>application</a:t>
            </a:r>
            <a:r>
              <a:rPr sz="2400" spc="-11" dirty="0">
                <a:latin typeface="MS PGothic"/>
                <a:cs typeface="MS PGothic"/>
              </a:rPr>
              <a:t> </a:t>
            </a:r>
            <a:r>
              <a:rPr sz="2400" spc="-4" dirty="0">
                <a:latin typeface="MS PGothic"/>
                <a:cs typeface="MS PGothic"/>
              </a:rPr>
              <a:t>software</a:t>
            </a:r>
            <a:endParaRPr sz="2400" dirty="0">
              <a:latin typeface="MS PGothic"/>
              <a:cs typeface="MS PGothic"/>
            </a:endParaRPr>
          </a:p>
          <a:p>
            <a:pPr marL="352425" marR="41910" indent="-343376">
              <a:lnSpc>
                <a:spcPts val="2430"/>
              </a:lnSpc>
              <a:spcBef>
                <a:spcPts val="540"/>
              </a:spcBef>
              <a:buFont typeface="Arial MT"/>
              <a:buChar char="•"/>
              <a:tabLst>
                <a:tab pos="352425" algn="l"/>
                <a:tab pos="352901" algn="l"/>
              </a:tabLst>
            </a:pPr>
            <a:r>
              <a:rPr sz="2400" spc="-4" dirty="0">
                <a:latin typeface="MS PGothic"/>
                <a:cs typeface="MS PGothic"/>
              </a:rPr>
              <a:t>Present </a:t>
            </a:r>
            <a:r>
              <a:rPr sz="2400" dirty="0">
                <a:latin typeface="MS PGothic"/>
                <a:cs typeface="MS PGothic"/>
              </a:rPr>
              <a:t>analyzed </a:t>
            </a:r>
            <a:r>
              <a:rPr sz="2400" spc="-4" dirty="0">
                <a:latin typeface="MS PGothic"/>
                <a:cs typeface="MS PGothic"/>
              </a:rPr>
              <a:t>data </a:t>
            </a:r>
            <a:r>
              <a:rPr sz="2400" dirty="0">
                <a:latin typeface="MS PGothic"/>
                <a:cs typeface="MS PGothic"/>
              </a:rPr>
              <a:t>in easily </a:t>
            </a:r>
            <a:r>
              <a:rPr sz="2400" spc="-4" dirty="0">
                <a:latin typeface="MS PGothic"/>
                <a:cs typeface="MS PGothic"/>
              </a:rPr>
              <a:t>understandable </a:t>
            </a:r>
            <a:r>
              <a:rPr sz="2400" spc="-679" dirty="0">
                <a:latin typeface="MS PGothic"/>
                <a:cs typeface="MS PGothic"/>
              </a:rPr>
              <a:t> </a:t>
            </a:r>
            <a:r>
              <a:rPr sz="2400" dirty="0">
                <a:latin typeface="MS PGothic"/>
                <a:cs typeface="MS PGothic"/>
              </a:rPr>
              <a:t>forms,</a:t>
            </a:r>
            <a:r>
              <a:rPr sz="2400" spc="-4" dirty="0">
                <a:latin typeface="MS PGothic"/>
                <a:cs typeface="MS PGothic"/>
              </a:rPr>
              <a:t> </a:t>
            </a:r>
            <a:r>
              <a:rPr sz="2400" dirty="0">
                <a:latin typeface="MS PGothic"/>
                <a:cs typeface="MS PGothic"/>
              </a:rPr>
              <a:t>such</a:t>
            </a:r>
            <a:r>
              <a:rPr sz="2400" spc="-4" dirty="0">
                <a:latin typeface="MS PGothic"/>
                <a:cs typeface="MS PGothic"/>
              </a:rPr>
              <a:t> </a:t>
            </a:r>
            <a:r>
              <a:rPr sz="2400" dirty="0">
                <a:latin typeface="MS PGothic"/>
                <a:cs typeface="MS PGothic"/>
              </a:rPr>
              <a:t>as</a:t>
            </a:r>
            <a:r>
              <a:rPr sz="2400" spc="-8" dirty="0">
                <a:latin typeface="MS PGothic"/>
                <a:cs typeface="MS PGothic"/>
              </a:rPr>
              <a:t> </a:t>
            </a:r>
            <a:r>
              <a:rPr sz="2400" dirty="0">
                <a:latin typeface="MS PGothic"/>
                <a:cs typeface="MS PGothic"/>
              </a:rPr>
              <a:t>graphs</a:t>
            </a:r>
          </a:p>
        </p:txBody>
      </p:sp>
      <p:sp>
        <p:nvSpPr>
          <p:cNvPr id="6" name="TextBox 5">
            <a:extLst>
              <a:ext uri="{FF2B5EF4-FFF2-40B4-BE49-F238E27FC236}">
                <a16:creationId xmlns:a16="http://schemas.microsoft.com/office/drawing/2014/main" id="{A0C3C89D-699C-B724-6CC2-9916BC7DD284}"/>
              </a:ext>
            </a:extLst>
          </p:cNvPr>
          <p:cNvSpPr txBox="1"/>
          <p:nvPr/>
        </p:nvSpPr>
        <p:spPr>
          <a:xfrm>
            <a:off x="-314661" y="1516829"/>
            <a:ext cx="184731" cy="248209"/>
          </a:xfrm>
          <a:prstGeom prst="rect">
            <a:avLst/>
          </a:prstGeom>
          <a:noFill/>
        </p:spPr>
        <p:txBody>
          <a:bodyPr wrap="none" rtlCol="0">
            <a:spAutoFit/>
          </a:bodyPr>
          <a:lstStyle/>
          <a:p>
            <a:endParaRPr lang="en-RW" sz="1013"/>
          </a:p>
        </p:txBody>
      </p:sp>
      <p:sp>
        <p:nvSpPr>
          <p:cNvPr id="7" name="Date Placeholder 6">
            <a:extLst>
              <a:ext uri="{FF2B5EF4-FFF2-40B4-BE49-F238E27FC236}">
                <a16:creationId xmlns:a16="http://schemas.microsoft.com/office/drawing/2014/main" id="{C8EF0F27-10C2-FEC8-6C87-268D18D66140}"/>
              </a:ext>
            </a:extLst>
          </p:cNvPr>
          <p:cNvSpPr>
            <a:spLocks noGrp="1"/>
          </p:cNvSpPr>
          <p:nvPr>
            <p:ph type="dt" sz="half" idx="6"/>
          </p:nvPr>
        </p:nvSpPr>
        <p:spPr/>
        <p:txBody>
          <a:bodyPr/>
          <a:lstStyle/>
          <a:p>
            <a:fld id="{C0A0D6EB-0334-6D44-9EF4-3C1C1F90013B}" type="datetime1">
              <a:rPr lang="en-US" smtClean="0"/>
              <a:t>11/17/25</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02334" y="725900"/>
            <a:ext cx="6070282" cy="470802"/>
          </a:xfrm>
          <a:prstGeom prst="rect">
            <a:avLst/>
          </a:prstGeom>
        </p:spPr>
        <p:txBody>
          <a:bodyPr vert="horz" wrap="square" lIns="0" tIns="9049" rIns="0" bIns="0" rtlCol="0">
            <a:spAutoFit/>
          </a:bodyPr>
          <a:lstStyle/>
          <a:p>
            <a:pPr marL="9525">
              <a:spcBef>
                <a:spcPts val="71"/>
              </a:spcBef>
            </a:pPr>
            <a:r>
              <a:rPr sz="3000" spc="-4" dirty="0">
                <a:solidFill>
                  <a:srgbClr val="C00000"/>
                </a:solidFill>
              </a:rPr>
              <a:t>Steps</a:t>
            </a:r>
            <a:r>
              <a:rPr sz="3000" spc="8" dirty="0">
                <a:solidFill>
                  <a:srgbClr val="C00000"/>
                </a:solidFill>
              </a:rPr>
              <a:t> </a:t>
            </a:r>
            <a:r>
              <a:rPr sz="3000" dirty="0">
                <a:solidFill>
                  <a:srgbClr val="C00000"/>
                </a:solidFill>
              </a:rPr>
              <a:t>involved</a:t>
            </a:r>
            <a:r>
              <a:rPr sz="3000" spc="-19" dirty="0">
                <a:solidFill>
                  <a:srgbClr val="C00000"/>
                </a:solidFill>
              </a:rPr>
              <a:t> </a:t>
            </a:r>
            <a:r>
              <a:rPr sz="3000" spc="-4" dirty="0">
                <a:solidFill>
                  <a:srgbClr val="C00000"/>
                </a:solidFill>
              </a:rPr>
              <a:t>in a data mining process</a:t>
            </a:r>
            <a:endParaRPr sz="3000"/>
          </a:p>
        </p:txBody>
      </p:sp>
      <p:pic>
        <p:nvPicPr>
          <p:cNvPr id="3" name="object 3"/>
          <p:cNvPicPr/>
          <p:nvPr/>
        </p:nvPicPr>
        <p:blipFill>
          <a:blip r:embed="rId2" cstate="print"/>
          <a:stretch>
            <a:fillRect/>
          </a:stretch>
        </p:blipFill>
        <p:spPr>
          <a:xfrm>
            <a:off x="1143000" y="1314450"/>
            <a:ext cx="6858000" cy="3371850"/>
          </a:xfrm>
          <a:prstGeom prst="rect">
            <a:avLst/>
          </a:prstGeom>
        </p:spPr>
      </p:pic>
      <p:sp>
        <p:nvSpPr>
          <p:cNvPr id="6" name="Date Placeholder 5">
            <a:extLst>
              <a:ext uri="{FF2B5EF4-FFF2-40B4-BE49-F238E27FC236}">
                <a16:creationId xmlns:a16="http://schemas.microsoft.com/office/drawing/2014/main" id="{54B7E04E-4518-A025-5AFC-948A962FCD7A}"/>
              </a:ext>
            </a:extLst>
          </p:cNvPr>
          <p:cNvSpPr>
            <a:spLocks noGrp="1"/>
          </p:cNvSpPr>
          <p:nvPr>
            <p:ph type="dt" sz="half" idx="6"/>
          </p:nvPr>
        </p:nvSpPr>
        <p:spPr/>
        <p:txBody>
          <a:bodyPr/>
          <a:lstStyle/>
          <a:p>
            <a:fld id="{1E47E3D6-23AE-174F-9BCC-9495B22F3947}" type="datetime1">
              <a:rPr lang="en-US" smtClean="0"/>
              <a:t>11/17/25</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5941" y="1771651"/>
            <a:ext cx="7465059" cy="2262158"/>
          </a:xfrm>
        </p:spPr>
        <p:txBody>
          <a:bodyPr/>
          <a:lstStyle/>
          <a:p>
            <a:pPr marL="394811" marR="448628" indent="-385763">
              <a:spcBef>
                <a:spcPts val="79"/>
              </a:spcBef>
              <a:buFont typeface="Wingdings" panose="05000000000000000000" pitchFamily="2" charset="2"/>
              <a:buChar char="v"/>
              <a:tabLst>
                <a:tab pos="224314" algn="l"/>
                <a:tab pos="224790" algn="l"/>
              </a:tabLst>
            </a:pPr>
            <a:r>
              <a:rPr lang="en-US" sz="2100" spc="-4" dirty="0">
                <a:solidFill>
                  <a:schemeClr val="tx1"/>
                </a:solidFill>
                <a:latin typeface="Arial"/>
                <a:cs typeface="Arial"/>
              </a:rPr>
              <a:t>provide </a:t>
            </a:r>
            <a:r>
              <a:rPr lang="en-US" sz="2100" dirty="0">
                <a:solidFill>
                  <a:schemeClr val="tx1"/>
                </a:solidFill>
                <a:latin typeface="Arial"/>
                <a:cs typeface="Arial"/>
              </a:rPr>
              <a:t>an </a:t>
            </a:r>
            <a:r>
              <a:rPr lang="en-US" sz="2100" spc="-4" dirty="0">
                <a:solidFill>
                  <a:schemeClr val="tx1"/>
                </a:solidFill>
                <a:latin typeface="Arial"/>
                <a:cs typeface="Arial"/>
              </a:rPr>
              <a:t>overview </a:t>
            </a:r>
            <a:r>
              <a:rPr lang="en-US" sz="2100" dirty="0">
                <a:solidFill>
                  <a:schemeClr val="tx1"/>
                </a:solidFill>
                <a:latin typeface="Arial"/>
                <a:cs typeface="Arial"/>
              </a:rPr>
              <a:t>of </a:t>
            </a:r>
            <a:r>
              <a:rPr lang="en-US" sz="2100" spc="-4" dirty="0">
                <a:solidFill>
                  <a:schemeClr val="tx1"/>
                </a:solidFill>
                <a:latin typeface="Arial"/>
                <a:cs typeface="Arial"/>
              </a:rPr>
              <a:t>the </a:t>
            </a:r>
            <a:r>
              <a:rPr lang="en-US" sz="2100" dirty="0">
                <a:solidFill>
                  <a:schemeClr val="tx1"/>
                </a:solidFill>
                <a:latin typeface="Arial"/>
                <a:cs typeface="Arial"/>
              </a:rPr>
              <a:t>eight steps in </a:t>
            </a:r>
            <a:r>
              <a:rPr lang="en-US" sz="2100" spc="-4" dirty="0">
                <a:solidFill>
                  <a:schemeClr val="tx1"/>
                </a:solidFill>
                <a:latin typeface="Arial"/>
                <a:cs typeface="Arial"/>
              </a:rPr>
              <a:t>the </a:t>
            </a:r>
            <a:r>
              <a:rPr lang="en-US" sz="2100" spc="-45" dirty="0">
                <a:solidFill>
                  <a:schemeClr val="tx1"/>
                </a:solidFill>
                <a:latin typeface="Arial"/>
                <a:cs typeface="Arial"/>
              </a:rPr>
              <a:t>data</a:t>
            </a:r>
            <a:r>
              <a:rPr lang="en-US" sz="2100" spc="-206" dirty="0">
                <a:solidFill>
                  <a:schemeClr val="tx1"/>
                </a:solidFill>
                <a:latin typeface="Arial"/>
                <a:cs typeface="Arial"/>
              </a:rPr>
              <a:t> </a:t>
            </a:r>
            <a:r>
              <a:rPr lang="en-US" sz="2100" spc="-4" dirty="0">
                <a:solidFill>
                  <a:schemeClr val="tx1"/>
                </a:solidFill>
                <a:latin typeface="Arial"/>
                <a:cs typeface="Arial"/>
              </a:rPr>
              <a:t>mining  </a:t>
            </a:r>
            <a:r>
              <a:rPr lang="en-US" sz="2100" dirty="0">
                <a:solidFill>
                  <a:schemeClr val="tx1"/>
                </a:solidFill>
                <a:latin typeface="Arial"/>
                <a:cs typeface="Arial"/>
              </a:rPr>
              <a:t>process.</a:t>
            </a:r>
            <a:br>
              <a:rPr lang="en-US" sz="2100" dirty="0">
                <a:solidFill>
                  <a:schemeClr val="tx1"/>
                </a:solidFill>
                <a:latin typeface="Arial"/>
                <a:cs typeface="Arial"/>
              </a:rPr>
            </a:br>
            <a:r>
              <a:rPr lang="en-US" sz="2100" spc="-4" dirty="0">
                <a:solidFill>
                  <a:schemeClr val="tx1"/>
                </a:solidFill>
                <a:latin typeface="Arial"/>
                <a:cs typeface="Arial"/>
              </a:rPr>
              <a:t>identify the </a:t>
            </a:r>
            <a:r>
              <a:rPr lang="en-US" sz="2100" dirty="0">
                <a:solidFill>
                  <a:schemeClr val="tx1"/>
                </a:solidFill>
                <a:latin typeface="Arial"/>
                <a:cs typeface="Arial"/>
              </a:rPr>
              <a:t>issues </a:t>
            </a:r>
            <a:r>
              <a:rPr lang="en-US" sz="2100" spc="-11" dirty="0">
                <a:solidFill>
                  <a:schemeClr val="tx1"/>
                </a:solidFill>
                <a:latin typeface="Arial"/>
                <a:cs typeface="Arial"/>
              </a:rPr>
              <a:t>involved </a:t>
            </a:r>
            <a:r>
              <a:rPr lang="en-US" sz="2100" dirty="0">
                <a:solidFill>
                  <a:schemeClr val="tx1"/>
                </a:solidFill>
                <a:latin typeface="Arial"/>
                <a:cs typeface="Arial"/>
              </a:rPr>
              <a:t>in </a:t>
            </a:r>
            <a:r>
              <a:rPr lang="en-US" sz="2100" spc="-4" dirty="0">
                <a:solidFill>
                  <a:schemeClr val="tx1"/>
                </a:solidFill>
                <a:latin typeface="Arial"/>
                <a:cs typeface="Arial"/>
              </a:rPr>
              <a:t>defining </a:t>
            </a:r>
            <a:r>
              <a:rPr lang="en-US" sz="2100" dirty="0">
                <a:solidFill>
                  <a:schemeClr val="tx1"/>
                </a:solidFill>
                <a:latin typeface="Arial"/>
                <a:cs typeface="Arial"/>
              </a:rPr>
              <a:t>a </a:t>
            </a:r>
            <a:r>
              <a:rPr lang="en-US" sz="2100" spc="-45" dirty="0">
                <a:solidFill>
                  <a:schemeClr val="tx1"/>
                </a:solidFill>
                <a:latin typeface="Arial"/>
                <a:cs typeface="Arial"/>
              </a:rPr>
              <a:t>data </a:t>
            </a:r>
            <a:r>
              <a:rPr lang="en-US" sz="2100" spc="-4" dirty="0">
                <a:solidFill>
                  <a:schemeClr val="tx1"/>
                </a:solidFill>
                <a:latin typeface="Arial"/>
                <a:cs typeface="Arial"/>
              </a:rPr>
              <a:t>mining</a:t>
            </a:r>
            <a:r>
              <a:rPr lang="en-US" sz="2100" spc="-203" dirty="0">
                <a:solidFill>
                  <a:schemeClr val="tx1"/>
                </a:solidFill>
                <a:latin typeface="Arial"/>
                <a:cs typeface="Arial"/>
              </a:rPr>
              <a:t> </a:t>
            </a:r>
            <a:r>
              <a:rPr lang="en-US" sz="2100" dirty="0">
                <a:solidFill>
                  <a:schemeClr val="tx1"/>
                </a:solidFill>
                <a:latin typeface="Arial"/>
                <a:cs typeface="Arial"/>
              </a:rPr>
              <a:t>problem.</a:t>
            </a:r>
            <a:br>
              <a:rPr lang="en-US" sz="2100" dirty="0">
                <a:solidFill>
                  <a:schemeClr val="tx1"/>
                </a:solidFill>
                <a:latin typeface="Arial"/>
                <a:cs typeface="Arial"/>
              </a:rPr>
            </a:br>
            <a:r>
              <a:rPr lang="en-US" sz="2100" spc="-4" dirty="0">
                <a:solidFill>
                  <a:schemeClr val="tx1"/>
                </a:solidFill>
                <a:latin typeface="Arial"/>
                <a:cs typeface="Arial"/>
              </a:rPr>
              <a:t>determine </a:t>
            </a:r>
            <a:r>
              <a:rPr lang="en-US" sz="2100" dirty="0">
                <a:solidFill>
                  <a:schemeClr val="tx1"/>
                </a:solidFill>
                <a:latin typeface="Arial"/>
                <a:cs typeface="Arial"/>
              </a:rPr>
              <a:t>when </a:t>
            </a:r>
            <a:r>
              <a:rPr lang="en-US" sz="2100" spc="-11" dirty="0">
                <a:solidFill>
                  <a:schemeClr val="tx1"/>
                </a:solidFill>
                <a:latin typeface="Arial"/>
                <a:cs typeface="Arial"/>
              </a:rPr>
              <a:t>to </a:t>
            </a:r>
            <a:r>
              <a:rPr lang="en-US" sz="2100" spc="-4" dirty="0">
                <a:solidFill>
                  <a:schemeClr val="tx1"/>
                </a:solidFill>
                <a:latin typeface="Arial"/>
                <a:cs typeface="Arial"/>
              </a:rPr>
              <a:t>use and not </a:t>
            </a:r>
            <a:r>
              <a:rPr lang="en-US" sz="2100" spc="-11" dirty="0">
                <a:solidFill>
                  <a:schemeClr val="tx1"/>
                </a:solidFill>
                <a:latin typeface="Arial"/>
                <a:cs typeface="Arial"/>
              </a:rPr>
              <a:t>to </a:t>
            </a:r>
            <a:r>
              <a:rPr lang="en-US" sz="2100" spc="-4" dirty="0">
                <a:solidFill>
                  <a:schemeClr val="tx1"/>
                </a:solidFill>
                <a:latin typeface="Arial"/>
                <a:cs typeface="Arial"/>
              </a:rPr>
              <a:t>use </a:t>
            </a:r>
            <a:r>
              <a:rPr lang="en-US" sz="2100" spc="-45" dirty="0">
                <a:solidFill>
                  <a:schemeClr val="tx1"/>
                </a:solidFill>
                <a:latin typeface="Arial"/>
                <a:cs typeface="Arial"/>
              </a:rPr>
              <a:t>data</a:t>
            </a:r>
            <a:r>
              <a:rPr lang="en-US" sz="2100" spc="-176" dirty="0">
                <a:solidFill>
                  <a:schemeClr val="tx1"/>
                </a:solidFill>
                <a:latin typeface="Arial"/>
                <a:cs typeface="Arial"/>
              </a:rPr>
              <a:t> </a:t>
            </a:r>
            <a:r>
              <a:rPr lang="en-US" sz="2100" spc="-4" dirty="0">
                <a:solidFill>
                  <a:schemeClr val="tx1"/>
                </a:solidFill>
                <a:latin typeface="Arial"/>
                <a:cs typeface="Arial"/>
              </a:rPr>
              <a:t>mining</a:t>
            </a:r>
            <a:br>
              <a:rPr lang="en-US" sz="2100" dirty="0">
                <a:solidFill>
                  <a:schemeClr val="tx1"/>
                </a:solidFill>
                <a:latin typeface="Arial"/>
                <a:cs typeface="Arial"/>
              </a:rPr>
            </a:br>
            <a:r>
              <a:rPr lang="en-US" sz="2100" dirty="0">
                <a:solidFill>
                  <a:schemeClr val="tx1"/>
                </a:solidFill>
                <a:latin typeface="Arial"/>
                <a:cs typeface="Arial"/>
              </a:rPr>
              <a:t>explain how </a:t>
            </a:r>
            <a:r>
              <a:rPr lang="en-US" sz="2100" spc="-11" dirty="0">
                <a:solidFill>
                  <a:schemeClr val="tx1"/>
                </a:solidFill>
                <a:latin typeface="Arial"/>
                <a:cs typeface="Arial"/>
              </a:rPr>
              <a:t>to </a:t>
            </a:r>
            <a:r>
              <a:rPr lang="en-US" sz="2100" spc="-4" dirty="0">
                <a:solidFill>
                  <a:schemeClr val="tx1"/>
                </a:solidFill>
                <a:latin typeface="Arial"/>
                <a:cs typeface="Arial"/>
              </a:rPr>
              <a:t>conduct </a:t>
            </a:r>
            <a:r>
              <a:rPr lang="en-US" sz="2100" dirty="0">
                <a:solidFill>
                  <a:schemeClr val="tx1"/>
                </a:solidFill>
                <a:latin typeface="Arial"/>
                <a:cs typeface="Arial"/>
              </a:rPr>
              <a:t>and experiment </a:t>
            </a:r>
            <a:r>
              <a:rPr lang="en-US" sz="2100" spc="-11" dirty="0">
                <a:solidFill>
                  <a:schemeClr val="tx1"/>
                </a:solidFill>
                <a:latin typeface="Arial"/>
                <a:cs typeface="Arial"/>
              </a:rPr>
              <a:t>to </a:t>
            </a:r>
            <a:r>
              <a:rPr lang="en-US" sz="2100" spc="-4" dirty="0">
                <a:solidFill>
                  <a:schemeClr val="tx1"/>
                </a:solidFill>
                <a:latin typeface="Arial"/>
                <a:cs typeface="Arial"/>
              </a:rPr>
              <a:t>determine</a:t>
            </a:r>
            <a:r>
              <a:rPr lang="en-US" sz="2100" spc="-169" dirty="0">
                <a:solidFill>
                  <a:schemeClr val="tx1"/>
                </a:solidFill>
                <a:latin typeface="Arial"/>
                <a:cs typeface="Arial"/>
              </a:rPr>
              <a:t> </a:t>
            </a:r>
            <a:r>
              <a:rPr lang="en-US" sz="2100" dirty="0">
                <a:solidFill>
                  <a:schemeClr val="tx1"/>
                </a:solidFill>
                <a:latin typeface="Arial"/>
                <a:cs typeface="Arial"/>
              </a:rPr>
              <a:t>whether </a:t>
            </a:r>
            <a:r>
              <a:rPr lang="en-US" sz="2100" spc="-4" dirty="0">
                <a:solidFill>
                  <a:schemeClr val="tx1"/>
                </a:solidFill>
                <a:latin typeface="Arial"/>
                <a:cs typeface="Arial"/>
              </a:rPr>
              <a:t>more </a:t>
            </a:r>
            <a:r>
              <a:rPr lang="en-US" sz="2100" spc="-45" dirty="0">
                <a:solidFill>
                  <a:schemeClr val="tx1"/>
                </a:solidFill>
                <a:latin typeface="Arial"/>
                <a:cs typeface="Arial"/>
              </a:rPr>
              <a:t>data </a:t>
            </a:r>
            <a:r>
              <a:rPr lang="en-US" sz="2100" dirty="0">
                <a:solidFill>
                  <a:schemeClr val="tx1"/>
                </a:solidFill>
                <a:latin typeface="Arial"/>
                <a:cs typeface="Arial"/>
              </a:rPr>
              <a:t>is</a:t>
            </a:r>
            <a:r>
              <a:rPr lang="en-US" sz="2100" spc="-30" dirty="0">
                <a:solidFill>
                  <a:schemeClr val="tx1"/>
                </a:solidFill>
                <a:latin typeface="Arial"/>
                <a:cs typeface="Arial"/>
              </a:rPr>
              <a:t> </a:t>
            </a:r>
            <a:r>
              <a:rPr lang="en-US" sz="2100" spc="-4" dirty="0">
                <a:solidFill>
                  <a:schemeClr val="tx1"/>
                </a:solidFill>
                <a:latin typeface="Arial"/>
                <a:cs typeface="Arial"/>
              </a:rPr>
              <a:t>needed</a:t>
            </a:r>
            <a:endParaRPr lang="en-US" sz="2100" dirty="0">
              <a:solidFill>
                <a:schemeClr val="tx1"/>
              </a:solidFill>
            </a:endParaRPr>
          </a:p>
        </p:txBody>
      </p:sp>
      <p:sp>
        <p:nvSpPr>
          <p:cNvPr id="3" name="Text Placeholder 2"/>
          <p:cNvSpPr>
            <a:spLocks noGrp="1"/>
          </p:cNvSpPr>
          <p:nvPr>
            <p:ph type="body" idx="1"/>
          </p:nvPr>
        </p:nvSpPr>
        <p:spPr>
          <a:xfrm>
            <a:off x="1885950" y="1085850"/>
            <a:ext cx="5007609" cy="369332"/>
          </a:xfrm>
        </p:spPr>
        <p:txBody>
          <a:bodyPr/>
          <a:lstStyle/>
          <a:p>
            <a:r>
              <a:rPr lang="en-US" sz="2400" b="1" spc="-4" dirty="0">
                <a:solidFill>
                  <a:srgbClr val="C00000"/>
                </a:solidFill>
              </a:rPr>
              <a:t>THE </a:t>
            </a:r>
            <a:r>
              <a:rPr lang="en-US" sz="2400" b="1" spc="-127" dirty="0">
                <a:solidFill>
                  <a:srgbClr val="C00000"/>
                </a:solidFill>
              </a:rPr>
              <a:t>DATA</a:t>
            </a:r>
            <a:r>
              <a:rPr lang="en-US" sz="2400" b="1" spc="-233" dirty="0">
                <a:solidFill>
                  <a:srgbClr val="C00000"/>
                </a:solidFill>
              </a:rPr>
              <a:t> </a:t>
            </a:r>
            <a:r>
              <a:rPr lang="en-US" sz="2400" b="1" spc="-4" dirty="0">
                <a:solidFill>
                  <a:srgbClr val="C00000"/>
                </a:solidFill>
              </a:rPr>
              <a:t>MINING  PROCESS</a:t>
            </a:r>
            <a:endParaRPr lang="en-US" sz="2400" b="1" dirty="0">
              <a:solidFill>
                <a:srgbClr val="C00000"/>
              </a:solidFill>
            </a:endParaRPr>
          </a:p>
        </p:txBody>
      </p:sp>
      <p:sp>
        <p:nvSpPr>
          <p:cNvPr id="4" name="Date Placeholder 3">
            <a:extLst>
              <a:ext uri="{FF2B5EF4-FFF2-40B4-BE49-F238E27FC236}">
                <a16:creationId xmlns:a16="http://schemas.microsoft.com/office/drawing/2014/main" id="{A4B56C49-281A-0BDE-C132-B643F537717A}"/>
              </a:ext>
            </a:extLst>
          </p:cNvPr>
          <p:cNvSpPr>
            <a:spLocks noGrp="1"/>
          </p:cNvSpPr>
          <p:nvPr>
            <p:ph type="dt" sz="half" idx="6"/>
          </p:nvPr>
        </p:nvSpPr>
        <p:spPr/>
        <p:txBody>
          <a:bodyPr/>
          <a:lstStyle/>
          <a:p>
            <a:fld id="{60D2E57E-3B72-C641-81A7-824FCE595F9C}" type="datetime1">
              <a:rPr lang="en-US" smtClean="0"/>
              <a:t>11/17/25</a:t>
            </a:fld>
            <a:endParaRPr lang="en-US"/>
          </a:p>
        </p:txBody>
      </p:sp>
    </p:spTree>
    <p:extLst>
      <p:ext uri="{BB962C8B-B14F-4D97-AF65-F5344CB8AC3E}">
        <p14:creationId xmlns:p14="http://schemas.microsoft.com/office/powerpoint/2010/main" val="27543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57250" y="628650"/>
            <a:ext cx="7886700" cy="563616"/>
          </a:xfrm>
          <a:prstGeom prst="rect">
            <a:avLst/>
          </a:prstGeom>
        </p:spPr>
        <p:txBody>
          <a:bodyPr vert="horz" wrap="square" lIns="0" tIns="9525" rIns="0" bIns="0" rtlCol="0">
            <a:spAutoFit/>
          </a:bodyPr>
          <a:lstStyle/>
          <a:p>
            <a:pPr marL="9525">
              <a:spcBef>
                <a:spcPts val="75"/>
              </a:spcBef>
            </a:pPr>
            <a:r>
              <a:rPr sz="3600" spc="-4" dirty="0">
                <a:solidFill>
                  <a:srgbClr val="FF0000"/>
                </a:solidFill>
              </a:rPr>
              <a:t>8 </a:t>
            </a:r>
            <a:r>
              <a:rPr sz="3600" dirty="0">
                <a:solidFill>
                  <a:srgbClr val="FF0000"/>
                </a:solidFill>
              </a:rPr>
              <a:t>STEP </a:t>
            </a:r>
            <a:r>
              <a:rPr sz="3600" spc="-101" dirty="0">
                <a:solidFill>
                  <a:srgbClr val="FF0000"/>
                </a:solidFill>
              </a:rPr>
              <a:t>DATA </a:t>
            </a:r>
            <a:r>
              <a:rPr sz="3600" dirty="0">
                <a:solidFill>
                  <a:srgbClr val="FF0000"/>
                </a:solidFill>
              </a:rPr>
              <a:t>MINING</a:t>
            </a:r>
            <a:r>
              <a:rPr sz="3600" spc="-180" dirty="0">
                <a:solidFill>
                  <a:srgbClr val="FF0000"/>
                </a:solidFill>
              </a:rPr>
              <a:t> </a:t>
            </a:r>
            <a:r>
              <a:rPr sz="3600" dirty="0">
                <a:solidFill>
                  <a:srgbClr val="FF0000"/>
                </a:solidFill>
              </a:rPr>
              <a:t>PROCESS</a:t>
            </a:r>
          </a:p>
        </p:txBody>
      </p:sp>
      <p:pic>
        <p:nvPicPr>
          <p:cNvPr id="3" name="Picture 2"/>
          <p:cNvPicPr>
            <a:picLocks noChangeAspect="1"/>
          </p:cNvPicPr>
          <p:nvPr/>
        </p:nvPicPr>
        <p:blipFill>
          <a:blip r:embed="rId2"/>
          <a:stretch>
            <a:fillRect/>
          </a:stretch>
        </p:blipFill>
        <p:spPr>
          <a:xfrm>
            <a:off x="685800" y="1371600"/>
            <a:ext cx="4114800" cy="3672942"/>
          </a:xfrm>
          <a:prstGeom prst="rect">
            <a:avLst/>
          </a:prstGeom>
        </p:spPr>
      </p:pic>
      <p:sp>
        <p:nvSpPr>
          <p:cNvPr id="4" name="Date Placeholder 3">
            <a:extLst>
              <a:ext uri="{FF2B5EF4-FFF2-40B4-BE49-F238E27FC236}">
                <a16:creationId xmlns:a16="http://schemas.microsoft.com/office/drawing/2014/main" id="{3CACF604-859D-4031-3DE0-9AFC7466251A}"/>
              </a:ext>
            </a:extLst>
          </p:cNvPr>
          <p:cNvSpPr>
            <a:spLocks noGrp="1"/>
          </p:cNvSpPr>
          <p:nvPr>
            <p:ph type="dt" sz="half" idx="6"/>
          </p:nvPr>
        </p:nvSpPr>
        <p:spPr/>
        <p:txBody>
          <a:bodyPr/>
          <a:lstStyle/>
          <a:p>
            <a:fld id="{5FF3A478-4DDA-1045-ACE0-AE915E3D39EB}" type="datetime1">
              <a:rPr lang="en-US" smtClean="0"/>
              <a:t>11/17/25</a:t>
            </a:fld>
            <a:endParaRPr lang="en-US"/>
          </a:p>
        </p:txBody>
      </p:sp>
    </p:spTree>
    <p:extLst>
      <p:ext uri="{BB962C8B-B14F-4D97-AF65-F5344CB8AC3E}">
        <p14:creationId xmlns:p14="http://schemas.microsoft.com/office/powerpoint/2010/main" val="28086604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87507" y="561540"/>
            <a:ext cx="7198995" cy="586699"/>
          </a:xfrm>
          <a:prstGeom prst="rect">
            <a:avLst/>
          </a:prstGeom>
        </p:spPr>
        <p:txBody>
          <a:bodyPr vert="horz" wrap="square" lIns="0" tIns="9525" rIns="0" bIns="0" rtlCol="0">
            <a:spAutoFit/>
          </a:bodyPr>
          <a:lstStyle/>
          <a:p>
            <a:pPr marL="9525">
              <a:spcBef>
                <a:spcPts val="75"/>
              </a:spcBef>
            </a:pPr>
            <a:r>
              <a:rPr spc="-4" dirty="0">
                <a:solidFill>
                  <a:srgbClr val="FF0000"/>
                </a:solidFill>
              </a:rPr>
              <a:t>8 </a:t>
            </a:r>
            <a:r>
              <a:rPr dirty="0">
                <a:solidFill>
                  <a:srgbClr val="FF0000"/>
                </a:solidFill>
              </a:rPr>
              <a:t>STEP </a:t>
            </a:r>
            <a:r>
              <a:rPr spc="-101" dirty="0">
                <a:solidFill>
                  <a:srgbClr val="FF0000"/>
                </a:solidFill>
              </a:rPr>
              <a:t>DATA </a:t>
            </a:r>
            <a:r>
              <a:rPr dirty="0">
                <a:solidFill>
                  <a:srgbClr val="FF0000"/>
                </a:solidFill>
              </a:rPr>
              <a:t>MINING</a:t>
            </a:r>
            <a:r>
              <a:rPr spc="-184" dirty="0">
                <a:solidFill>
                  <a:srgbClr val="FF0000"/>
                </a:solidFill>
              </a:rPr>
              <a:t> </a:t>
            </a:r>
            <a:r>
              <a:rPr dirty="0">
                <a:solidFill>
                  <a:srgbClr val="FF0000"/>
                </a:solidFill>
              </a:rPr>
              <a:t>PROCESS</a:t>
            </a:r>
          </a:p>
        </p:txBody>
      </p:sp>
      <p:sp>
        <p:nvSpPr>
          <p:cNvPr id="3" name="object 3"/>
          <p:cNvSpPr txBox="1"/>
          <p:nvPr/>
        </p:nvSpPr>
        <p:spPr>
          <a:xfrm>
            <a:off x="573405" y="1196983"/>
            <a:ext cx="2072164" cy="1529265"/>
          </a:xfrm>
          <a:prstGeom prst="rect">
            <a:avLst/>
          </a:prstGeom>
        </p:spPr>
        <p:txBody>
          <a:bodyPr vert="horz" wrap="square" lIns="0" tIns="104775" rIns="0" bIns="0" rtlCol="0">
            <a:spAutoFit/>
          </a:bodyPr>
          <a:lstStyle/>
          <a:p>
            <a:pPr marL="224314" indent="-215265">
              <a:spcBef>
                <a:spcPts val="825"/>
              </a:spcBef>
              <a:buFont typeface="Arial"/>
              <a:buChar char="•"/>
              <a:tabLst>
                <a:tab pos="224314" algn="l"/>
                <a:tab pos="224790" algn="l"/>
              </a:tabLst>
            </a:pPr>
            <a:r>
              <a:rPr b="1" spc="-4" dirty="0">
                <a:latin typeface="Arial"/>
                <a:cs typeface="Arial"/>
              </a:rPr>
              <a:t>Defining </a:t>
            </a:r>
            <a:r>
              <a:rPr b="1" dirty="0">
                <a:latin typeface="Arial"/>
                <a:cs typeface="Arial"/>
              </a:rPr>
              <a:t>the</a:t>
            </a:r>
            <a:r>
              <a:rPr b="1" spc="-30" dirty="0">
                <a:latin typeface="Arial"/>
                <a:cs typeface="Arial"/>
              </a:rPr>
              <a:t> </a:t>
            </a:r>
            <a:r>
              <a:rPr b="1" spc="-4" dirty="0">
                <a:latin typeface="Arial"/>
                <a:cs typeface="Arial"/>
              </a:rPr>
              <a:t>problem</a:t>
            </a:r>
            <a:endParaRPr dirty="0">
              <a:latin typeface="Arial"/>
              <a:cs typeface="Arial"/>
            </a:endParaRPr>
          </a:p>
          <a:p>
            <a:pPr marL="224314" indent="-215265">
              <a:spcBef>
                <a:spcPts val="746"/>
              </a:spcBef>
              <a:buFont typeface="Arial"/>
              <a:buChar char="•"/>
              <a:tabLst>
                <a:tab pos="224314" algn="l"/>
                <a:tab pos="224790" algn="l"/>
              </a:tabLst>
            </a:pPr>
            <a:r>
              <a:rPr b="1" spc="-4" dirty="0">
                <a:latin typeface="Arial"/>
                <a:cs typeface="Arial"/>
              </a:rPr>
              <a:t>Collecting</a:t>
            </a:r>
            <a:r>
              <a:rPr b="1" spc="-19" dirty="0">
                <a:latin typeface="Arial"/>
                <a:cs typeface="Arial"/>
              </a:rPr>
              <a:t> </a:t>
            </a:r>
            <a:r>
              <a:rPr b="1" spc="-4" dirty="0">
                <a:latin typeface="Arial"/>
                <a:cs typeface="Arial"/>
              </a:rPr>
              <a:t>data</a:t>
            </a:r>
            <a:endParaRPr dirty="0">
              <a:latin typeface="Arial"/>
              <a:cs typeface="Arial"/>
            </a:endParaRPr>
          </a:p>
          <a:p>
            <a:pPr marL="224314" indent="-215265">
              <a:spcBef>
                <a:spcPts val="754"/>
              </a:spcBef>
              <a:buFont typeface="Arial"/>
              <a:buChar char="•"/>
              <a:tabLst>
                <a:tab pos="224314" algn="l"/>
                <a:tab pos="224790" algn="l"/>
              </a:tabLst>
            </a:pPr>
            <a:r>
              <a:rPr b="1" spc="-4" dirty="0">
                <a:latin typeface="Arial"/>
                <a:cs typeface="Arial"/>
              </a:rPr>
              <a:t>Preparing</a:t>
            </a:r>
            <a:r>
              <a:rPr b="1" spc="-8" dirty="0">
                <a:latin typeface="Arial"/>
                <a:cs typeface="Arial"/>
              </a:rPr>
              <a:t> </a:t>
            </a:r>
            <a:r>
              <a:rPr b="1" spc="-4" dirty="0">
                <a:latin typeface="Arial"/>
                <a:cs typeface="Arial"/>
              </a:rPr>
              <a:t>data</a:t>
            </a:r>
            <a:endParaRPr dirty="0">
              <a:latin typeface="Arial"/>
              <a:cs typeface="Arial"/>
            </a:endParaRPr>
          </a:p>
          <a:p>
            <a:pPr marL="224314" indent="-215265">
              <a:spcBef>
                <a:spcPts val="750"/>
              </a:spcBef>
              <a:buFont typeface="Arial"/>
              <a:buChar char="•"/>
              <a:tabLst>
                <a:tab pos="224314" algn="l"/>
                <a:tab pos="224790" algn="l"/>
              </a:tabLst>
            </a:pPr>
            <a:r>
              <a:rPr b="1" spc="-4" dirty="0">
                <a:latin typeface="Arial"/>
                <a:cs typeface="Arial"/>
              </a:rPr>
              <a:t>Pre-processing</a:t>
            </a:r>
            <a:endParaRPr dirty="0">
              <a:latin typeface="Arial"/>
              <a:cs typeface="Arial"/>
            </a:endParaRPr>
          </a:p>
          <a:p>
            <a:pPr marL="224314" indent="-215265">
              <a:spcBef>
                <a:spcPts val="746"/>
              </a:spcBef>
              <a:buFont typeface="Arial"/>
              <a:buChar char="•"/>
              <a:tabLst>
                <a:tab pos="224314" algn="l"/>
                <a:tab pos="224790" algn="l"/>
              </a:tabLst>
            </a:pPr>
            <a:r>
              <a:rPr b="1" spc="-4" dirty="0">
                <a:latin typeface="Arial"/>
                <a:cs typeface="Arial"/>
              </a:rPr>
              <a:t>Selecting an</a:t>
            </a:r>
            <a:r>
              <a:rPr b="1" spc="-49" dirty="0">
                <a:latin typeface="Arial"/>
                <a:cs typeface="Arial"/>
              </a:rPr>
              <a:t> </a:t>
            </a:r>
            <a:r>
              <a:rPr b="1" dirty="0">
                <a:latin typeface="Arial"/>
                <a:cs typeface="Arial"/>
              </a:rPr>
              <a:t>algorithm</a:t>
            </a:r>
            <a:endParaRPr dirty="0">
              <a:latin typeface="Arial"/>
              <a:cs typeface="Arial"/>
            </a:endParaRPr>
          </a:p>
        </p:txBody>
      </p:sp>
      <p:sp>
        <p:nvSpPr>
          <p:cNvPr id="4" name="object 4"/>
          <p:cNvSpPr txBox="1"/>
          <p:nvPr/>
        </p:nvSpPr>
        <p:spPr>
          <a:xfrm>
            <a:off x="573405" y="3003423"/>
            <a:ext cx="1860233" cy="217367"/>
          </a:xfrm>
          <a:prstGeom prst="rect">
            <a:avLst/>
          </a:prstGeom>
        </p:spPr>
        <p:txBody>
          <a:bodyPr vert="horz" wrap="square" lIns="0" tIns="9525" rIns="0" bIns="0" rtlCol="0">
            <a:spAutoFit/>
          </a:bodyPr>
          <a:lstStyle/>
          <a:p>
            <a:pPr marL="224314" indent="-215265">
              <a:spcBef>
                <a:spcPts val="75"/>
              </a:spcBef>
              <a:buFont typeface="Arial"/>
              <a:buChar char="•"/>
              <a:tabLst>
                <a:tab pos="224314" algn="l"/>
                <a:tab pos="224790" algn="l"/>
              </a:tabLst>
            </a:pPr>
            <a:r>
              <a:rPr b="1" spc="-11" dirty="0">
                <a:latin typeface="Arial"/>
                <a:cs typeface="Arial"/>
              </a:rPr>
              <a:t>Training </a:t>
            </a:r>
            <a:r>
              <a:rPr b="1" dirty="0">
                <a:latin typeface="Arial"/>
                <a:cs typeface="Arial"/>
              </a:rPr>
              <a:t>and</a:t>
            </a:r>
            <a:r>
              <a:rPr b="1" spc="-49" dirty="0">
                <a:latin typeface="Arial"/>
                <a:cs typeface="Arial"/>
              </a:rPr>
              <a:t> </a:t>
            </a:r>
            <a:r>
              <a:rPr b="1" spc="-4" dirty="0">
                <a:latin typeface="Arial"/>
                <a:cs typeface="Arial"/>
              </a:rPr>
              <a:t>testing</a:t>
            </a:r>
            <a:endParaRPr dirty="0">
              <a:latin typeface="Arial"/>
              <a:cs typeface="Arial"/>
            </a:endParaRPr>
          </a:p>
        </p:txBody>
      </p:sp>
      <p:sp>
        <p:nvSpPr>
          <p:cNvPr id="5" name="object 5"/>
          <p:cNvSpPr txBox="1"/>
          <p:nvPr/>
        </p:nvSpPr>
        <p:spPr>
          <a:xfrm>
            <a:off x="573405" y="3509734"/>
            <a:ext cx="1843564" cy="930383"/>
          </a:xfrm>
          <a:prstGeom prst="rect">
            <a:avLst/>
          </a:prstGeom>
        </p:spPr>
        <p:txBody>
          <a:bodyPr vert="horz" wrap="square" lIns="0" tIns="9525" rIns="0" bIns="0" rtlCol="0">
            <a:spAutoFit/>
          </a:bodyPr>
          <a:lstStyle/>
          <a:p>
            <a:pPr marL="224314" indent="-215265">
              <a:spcBef>
                <a:spcPts val="75"/>
              </a:spcBef>
              <a:buFont typeface="Arial"/>
              <a:buChar char="•"/>
              <a:tabLst>
                <a:tab pos="224314" algn="l"/>
                <a:tab pos="224790" algn="l"/>
              </a:tabLst>
            </a:pPr>
            <a:r>
              <a:rPr b="1" spc="-4" dirty="0">
                <a:latin typeface="Arial"/>
                <a:cs typeface="Arial"/>
              </a:rPr>
              <a:t>Iterating </a:t>
            </a:r>
            <a:r>
              <a:rPr b="1" dirty="0">
                <a:latin typeface="Arial"/>
                <a:cs typeface="Arial"/>
              </a:rPr>
              <a:t>to</a:t>
            </a:r>
            <a:r>
              <a:rPr b="1" spc="-34" dirty="0">
                <a:latin typeface="Arial"/>
                <a:cs typeface="Arial"/>
              </a:rPr>
              <a:t> </a:t>
            </a:r>
            <a:r>
              <a:rPr b="1" spc="-4" dirty="0">
                <a:latin typeface="Arial"/>
                <a:cs typeface="Arial"/>
              </a:rPr>
              <a:t>produce</a:t>
            </a:r>
            <a:endParaRPr dirty="0">
              <a:latin typeface="Arial"/>
              <a:cs typeface="Arial"/>
            </a:endParaRPr>
          </a:p>
          <a:p>
            <a:pPr marL="224314"/>
            <a:r>
              <a:rPr b="1" spc="-4" dirty="0">
                <a:latin typeface="Arial"/>
                <a:cs typeface="Arial"/>
              </a:rPr>
              <a:t>different</a:t>
            </a:r>
            <a:r>
              <a:rPr b="1" spc="-11" dirty="0">
                <a:latin typeface="Arial"/>
                <a:cs typeface="Arial"/>
              </a:rPr>
              <a:t> </a:t>
            </a:r>
            <a:r>
              <a:rPr b="1" spc="-4" dirty="0">
                <a:latin typeface="Arial"/>
                <a:cs typeface="Arial"/>
              </a:rPr>
              <a:t>models</a:t>
            </a:r>
            <a:endParaRPr dirty="0">
              <a:latin typeface="Arial"/>
              <a:cs typeface="Arial"/>
            </a:endParaRPr>
          </a:p>
          <a:p>
            <a:pPr marL="224314" marR="42386" indent="-215265">
              <a:spcBef>
                <a:spcPts val="746"/>
              </a:spcBef>
              <a:buFont typeface="Arial"/>
              <a:buChar char="•"/>
              <a:tabLst>
                <a:tab pos="224314" algn="l"/>
                <a:tab pos="224790" algn="l"/>
              </a:tabLst>
            </a:pPr>
            <a:r>
              <a:rPr b="1" spc="-4" dirty="0">
                <a:latin typeface="Arial"/>
                <a:cs typeface="Arial"/>
              </a:rPr>
              <a:t>Evaluating the</a:t>
            </a:r>
            <a:r>
              <a:rPr b="1" spc="-38" dirty="0">
                <a:latin typeface="Arial"/>
                <a:cs typeface="Arial"/>
              </a:rPr>
              <a:t> </a:t>
            </a:r>
            <a:r>
              <a:rPr b="1" dirty="0">
                <a:latin typeface="Arial"/>
                <a:cs typeface="Arial"/>
              </a:rPr>
              <a:t>final  </a:t>
            </a:r>
            <a:r>
              <a:rPr b="1" spc="-4" dirty="0">
                <a:latin typeface="Arial"/>
                <a:cs typeface="Arial"/>
              </a:rPr>
              <a:t>model</a:t>
            </a:r>
            <a:endParaRPr dirty="0">
              <a:latin typeface="Arial"/>
              <a:cs typeface="Arial"/>
            </a:endParaRPr>
          </a:p>
        </p:txBody>
      </p:sp>
      <p:sp>
        <p:nvSpPr>
          <p:cNvPr id="7" name="object 7"/>
          <p:cNvSpPr txBox="1"/>
          <p:nvPr/>
        </p:nvSpPr>
        <p:spPr>
          <a:xfrm>
            <a:off x="2821496" y="1828191"/>
            <a:ext cx="4653915" cy="563135"/>
          </a:xfrm>
          <a:prstGeom prst="rect">
            <a:avLst/>
          </a:prstGeom>
        </p:spPr>
        <p:txBody>
          <a:bodyPr vert="horz" wrap="square" lIns="0" tIns="9049" rIns="0" bIns="0" rtlCol="0">
            <a:spAutoFit/>
          </a:bodyPr>
          <a:lstStyle/>
          <a:p>
            <a:pPr marL="279083" marR="3810" indent="-270034" algn="just">
              <a:spcBef>
                <a:spcPts val="71"/>
              </a:spcBef>
            </a:pPr>
            <a:r>
              <a:rPr sz="1200" spc="-4" dirty="0">
                <a:latin typeface="Arial"/>
                <a:cs typeface="Arial"/>
              </a:rPr>
              <a:t>- The next three steps involve collecting the required data, preparing  and pre-processing the data before a data mining technique  could be</a:t>
            </a:r>
            <a:r>
              <a:rPr sz="1200" spc="-8" dirty="0">
                <a:latin typeface="Arial"/>
                <a:cs typeface="Arial"/>
              </a:rPr>
              <a:t> </a:t>
            </a:r>
            <a:r>
              <a:rPr sz="1200" spc="-4" dirty="0">
                <a:latin typeface="Arial"/>
                <a:cs typeface="Arial"/>
              </a:rPr>
              <a:t>applied.</a:t>
            </a:r>
            <a:endParaRPr sz="1200" dirty="0">
              <a:latin typeface="Arial"/>
              <a:cs typeface="Arial"/>
            </a:endParaRPr>
          </a:p>
        </p:txBody>
      </p:sp>
      <p:sp>
        <p:nvSpPr>
          <p:cNvPr id="8" name="object 8"/>
          <p:cNvSpPr txBox="1"/>
          <p:nvPr/>
        </p:nvSpPr>
        <p:spPr>
          <a:xfrm>
            <a:off x="2821496" y="1429760"/>
            <a:ext cx="4101465" cy="193803"/>
          </a:xfrm>
          <a:prstGeom prst="rect">
            <a:avLst/>
          </a:prstGeom>
        </p:spPr>
        <p:txBody>
          <a:bodyPr vert="horz" wrap="square" lIns="0" tIns="9049" rIns="0" bIns="0" rtlCol="0">
            <a:spAutoFit/>
          </a:bodyPr>
          <a:lstStyle/>
          <a:p>
            <a:pPr marL="9525">
              <a:spcBef>
                <a:spcPts val="71"/>
              </a:spcBef>
            </a:pPr>
            <a:r>
              <a:rPr sz="1200" spc="-4" dirty="0">
                <a:solidFill>
                  <a:srgbClr val="FFFFFF"/>
                </a:solidFill>
                <a:latin typeface="Arial"/>
                <a:cs typeface="Arial"/>
              </a:rPr>
              <a:t>-</a:t>
            </a:r>
            <a:r>
              <a:rPr sz="1200" spc="-4" dirty="0">
                <a:latin typeface="Arial"/>
                <a:cs typeface="Arial"/>
              </a:rPr>
              <a:t>This defines the objective of the whole data mining</a:t>
            </a:r>
            <a:r>
              <a:rPr sz="1200" spc="83" dirty="0">
                <a:latin typeface="Arial"/>
                <a:cs typeface="Arial"/>
              </a:rPr>
              <a:t> </a:t>
            </a:r>
            <a:r>
              <a:rPr sz="1200" spc="-4" dirty="0">
                <a:latin typeface="Arial"/>
                <a:cs typeface="Arial"/>
              </a:rPr>
              <a:t>process.</a:t>
            </a:r>
            <a:endParaRPr sz="1200" dirty="0">
              <a:latin typeface="Arial"/>
              <a:cs typeface="Arial"/>
            </a:endParaRPr>
          </a:p>
        </p:txBody>
      </p:sp>
      <p:sp>
        <p:nvSpPr>
          <p:cNvPr id="9" name="object 9"/>
          <p:cNvSpPr txBox="1"/>
          <p:nvPr/>
        </p:nvSpPr>
        <p:spPr>
          <a:xfrm>
            <a:off x="788289" y="2701671"/>
            <a:ext cx="7540943" cy="217367"/>
          </a:xfrm>
          <a:prstGeom prst="rect">
            <a:avLst/>
          </a:prstGeom>
        </p:spPr>
        <p:txBody>
          <a:bodyPr vert="horz" wrap="square" lIns="0" tIns="9525" rIns="0" bIns="0" rtlCol="0">
            <a:spAutoFit/>
          </a:bodyPr>
          <a:lstStyle/>
          <a:p>
            <a:pPr marL="9525">
              <a:spcBef>
                <a:spcPts val="75"/>
              </a:spcBef>
            </a:pPr>
            <a:r>
              <a:rPr b="1" spc="-4" dirty="0">
                <a:latin typeface="Arial"/>
                <a:cs typeface="Arial"/>
              </a:rPr>
              <a:t>and training parameters </a:t>
            </a:r>
            <a:r>
              <a:rPr lang="en-US" b="1" spc="-4" dirty="0">
                <a:latin typeface="Arial"/>
                <a:cs typeface="Arial"/>
              </a:rPr>
              <a:t> </a:t>
            </a:r>
            <a:r>
              <a:rPr sz="1800" spc="-5" baseline="1736" dirty="0">
                <a:latin typeface="Arial"/>
                <a:cs typeface="Arial"/>
              </a:rPr>
              <a:t>- Select a model and perform training and testing to evaluate if the model is</a:t>
            </a:r>
            <a:r>
              <a:rPr sz="1800" spc="180" baseline="1736" dirty="0">
                <a:latin typeface="Arial"/>
                <a:cs typeface="Arial"/>
              </a:rPr>
              <a:t> </a:t>
            </a:r>
            <a:r>
              <a:rPr sz="1800" spc="-5" baseline="1736" dirty="0">
                <a:latin typeface="Arial"/>
                <a:cs typeface="Arial"/>
              </a:rPr>
              <a:t>good.</a:t>
            </a:r>
            <a:endParaRPr sz="1800" baseline="1736" dirty="0">
              <a:latin typeface="Arial"/>
              <a:cs typeface="Arial"/>
            </a:endParaRPr>
          </a:p>
        </p:txBody>
      </p:sp>
      <p:sp>
        <p:nvSpPr>
          <p:cNvPr id="10" name="object 10"/>
          <p:cNvSpPr txBox="1"/>
          <p:nvPr/>
        </p:nvSpPr>
        <p:spPr>
          <a:xfrm>
            <a:off x="2821496" y="3113342"/>
            <a:ext cx="5765006" cy="1227420"/>
          </a:xfrm>
          <a:prstGeom prst="rect">
            <a:avLst/>
          </a:prstGeom>
        </p:spPr>
        <p:txBody>
          <a:bodyPr vert="horz" wrap="square" lIns="0" tIns="9049" rIns="0" bIns="0" rtlCol="0">
            <a:spAutoFit/>
          </a:bodyPr>
          <a:lstStyle/>
          <a:p>
            <a:pPr marL="131921" marR="3810" indent="-131921" algn="just">
              <a:spcBef>
                <a:spcPts val="71"/>
              </a:spcBef>
              <a:buChar char="-"/>
              <a:tabLst>
                <a:tab pos="131921" algn="l"/>
              </a:tabLst>
            </a:pPr>
            <a:r>
              <a:rPr sz="1200" spc="-4" dirty="0">
                <a:latin typeface="Arial"/>
                <a:cs typeface="Arial"/>
              </a:rPr>
              <a:t>Because one does not </a:t>
            </a:r>
            <a:r>
              <a:rPr sz="1200" dirty="0">
                <a:latin typeface="Arial"/>
                <a:cs typeface="Arial"/>
              </a:rPr>
              <a:t>know </a:t>
            </a:r>
            <a:r>
              <a:rPr sz="1200" spc="-4" dirty="0">
                <a:latin typeface="Arial"/>
                <a:cs typeface="Arial"/>
              </a:rPr>
              <a:t>how an algorithm </a:t>
            </a:r>
            <a:r>
              <a:rPr sz="1200" spc="-8" dirty="0">
                <a:latin typeface="Arial"/>
                <a:cs typeface="Arial"/>
              </a:rPr>
              <a:t>will </a:t>
            </a:r>
            <a:r>
              <a:rPr sz="1200" spc="-4" dirty="0">
                <a:latin typeface="Arial"/>
                <a:cs typeface="Arial"/>
              </a:rPr>
              <a:t>perform </a:t>
            </a:r>
            <a:r>
              <a:rPr sz="1200" dirty="0">
                <a:latin typeface="Arial"/>
                <a:cs typeface="Arial"/>
              </a:rPr>
              <a:t>on </a:t>
            </a:r>
            <a:r>
              <a:rPr sz="1200" spc="-4" dirty="0">
                <a:latin typeface="Arial"/>
                <a:cs typeface="Arial"/>
              </a:rPr>
              <a:t>a </a:t>
            </a:r>
            <a:r>
              <a:rPr sz="1200" dirty="0">
                <a:latin typeface="Arial"/>
                <a:cs typeface="Arial"/>
              </a:rPr>
              <a:t>data set, one  </a:t>
            </a:r>
            <a:r>
              <a:rPr sz="1200" spc="-4" dirty="0">
                <a:latin typeface="Arial"/>
                <a:cs typeface="Arial"/>
              </a:rPr>
              <a:t>needs to </a:t>
            </a:r>
            <a:r>
              <a:rPr sz="1200" dirty="0">
                <a:latin typeface="Arial"/>
                <a:cs typeface="Arial"/>
              </a:rPr>
              <a:t>try </a:t>
            </a:r>
            <a:r>
              <a:rPr sz="1200" spc="-4" dirty="0">
                <a:latin typeface="Arial"/>
                <a:cs typeface="Arial"/>
              </a:rPr>
              <a:t>different models and compare </a:t>
            </a:r>
            <a:r>
              <a:rPr sz="1200" dirty="0">
                <a:latin typeface="Arial"/>
                <a:cs typeface="Arial"/>
              </a:rPr>
              <a:t>each </a:t>
            </a:r>
            <a:r>
              <a:rPr sz="1200" spc="-4" dirty="0">
                <a:latin typeface="Arial"/>
                <a:cs typeface="Arial"/>
              </a:rPr>
              <a:t>model against each </a:t>
            </a:r>
            <a:r>
              <a:rPr sz="1200" dirty="0">
                <a:latin typeface="Arial"/>
                <a:cs typeface="Arial"/>
              </a:rPr>
              <a:t>other  </a:t>
            </a:r>
            <a:r>
              <a:rPr sz="1200" spc="-4" dirty="0">
                <a:latin typeface="Arial"/>
                <a:cs typeface="Arial"/>
              </a:rPr>
              <a:t>model.</a:t>
            </a:r>
            <a:endParaRPr sz="1200" dirty="0">
              <a:latin typeface="Arial"/>
              <a:cs typeface="Arial"/>
            </a:endParaRPr>
          </a:p>
          <a:p>
            <a:pPr marL="119063" indent="-110014" algn="just">
              <a:lnSpc>
                <a:spcPts val="1342"/>
              </a:lnSpc>
              <a:buChar char="-"/>
              <a:tabLst>
                <a:tab pos="119539" algn="l"/>
              </a:tabLst>
            </a:pPr>
            <a:r>
              <a:rPr sz="1200" spc="-8" dirty="0">
                <a:latin typeface="Arial"/>
                <a:cs typeface="Arial"/>
              </a:rPr>
              <a:t>Due</a:t>
            </a:r>
            <a:r>
              <a:rPr sz="1200" spc="139" dirty="0">
                <a:latin typeface="Arial"/>
                <a:cs typeface="Arial"/>
              </a:rPr>
              <a:t> </a:t>
            </a:r>
            <a:r>
              <a:rPr sz="1200" spc="-4" dirty="0">
                <a:latin typeface="Arial"/>
                <a:cs typeface="Arial"/>
              </a:rPr>
              <a:t>to</a:t>
            </a:r>
            <a:r>
              <a:rPr sz="1200" spc="146" dirty="0">
                <a:latin typeface="Arial"/>
                <a:cs typeface="Arial"/>
              </a:rPr>
              <a:t> </a:t>
            </a:r>
            <a:r>
              <a:rPr sz="1200" spc="-4" dirty="0">
                <a:latin typeface="Arial"/>
                <a:cs typeface="Arial"/>
              </a:rPr>
              <a:t>the</a:t>
            </a:r>
            <a:r>
              <a:rPr sz="1200" spc="139" dirty="0">
                <a:latin typeface="Arial"/>
                <a:cs typeface="Arial"/>
              </a:rPr>
              <a:t> </a:t>
            </a:r>
            <a:r>
              <a:rPr sz="1200" spc="-4" dirty="0">
                <a:latin typeface="Arial"/>
                <a:cs typeface="Arial"/>
              </a:rPr>
              <a:t>previous</a:t>
            </a:r>
            <a:r>
              <a:rPr sz="1200" spc="143" dirty="0">
                <a:latin typeface="Arial"/>
                <a:cs typeface="Arial"/>
              </a:rPr>
              <a:t> </a:t>
            </a:r>
            <a:r>
              <a:rPr sz="1200" spc="-4" dirty="0">
                <a:latin typeface="Arial"/>
                <a:cs typeface="Arial"/>
              </a:rPr>
              <a:t>set,</a:t>
            </a:r>
            <a:r>
              <a:rPr sz="1200" spc="143" dirty="0">
                <a:latin typeface="Arial"/>
                <a:cs typeface="Arial"/>
              </a:rPr>
              <a:t> </a:t>
            </a:r>
            <a:r>
              <a:rPr sz="1200" spc="-4" dirty="0">
                <a:latin typeface="Arial"/>
                <a:cs typeface="Arial"/>
              </a:rPr>
              <a:t>many</a:t>
            </a:r>
            <a:r>
              <a:rPr sz="1200" spc="131" dirty="0">
                <a:latin typeface="Arial"/>
                <a:cs typeface="Arial"/>
              </a:rPr>
              <a:t> </a:t>
            </a:r>
            <a:r>
              <a:rPr sz="1200" spc="-4" dirty="0">
                <a:latin typeface="Arial"/>
                <a:cs typeface="Arial"/>
              </a:rPr>
              <a:t>iterations</a:t>
            </a:r>
            <a:r>
              <a:rPr sz="1200" spc="146" dirty="0">
                <a:latin typeface="Arial"/>
                <a:cs typeface="Arial"/>
              </a:rPr>
              <a:t> </a:t>
            </a:r>
            <a:r>
              <a:rPr sz="1200" dirty="0">
                <a:latin typeface="Arial"/>
                <a:cs typeface="Arial"/>
              </a:rPr>
              <a:t>may</a:t>
            </a:r>
            <a:r>
              <a:rPr sz="1200" spc="124" dirty="0">
                <a:latin typeface="Arial"/>
                <a:cs typeface="Arial"/>
              </a:rPr>
              <a:t> </a:t>
            </a:r>
            <a:r>
              <a:rPr sz="1200" dirty="0">
                <a:latin typeface="Arial"/>
                <a:cs typeface="Arial"/>
              </a:rPr>
              <a:t>be</a:t>
            </a:r>
            <a:r>
              <a:rPr sz="1200" spc="139" dirty="0">
                <a:latin typeface="Arial"/>
                <a:cs typeface="Arial"/>
              </a:rPr>
              <a:t> </a:t>
            </a:r>
            <a:r>
              <a:rPr sz="1200" spc="-4" dirty="0">
                <a:latin typeface="Arial"/>
                <a:cs typeface="Arial"/>
              </a:rPr>
              <a:t>required</a:t>
            </a:r>
            <a:r>
              <a:rPr sz="1200" spc="143" dirty="0">
                <a:latin typeface="Arial"/>
                <a:cs typeface="Arial"/>
              </a:rPr>
              <a:t> </a:t>
            </a:r>
            <a:r>
              <a:rPr sz="1200" dirty="0">
                <a:latin typeface="Arial"/>
                <a:cs typeface="Arial"/>
              </a:rPr>
              <a:t>for</a:t>
            </a:r>
            <a:r>
              <a:rPr sz="1200" spc="135" dirty="0">
                <a:latin typeface="Arial"/>
                <a:cs typeface="Arial"/>
              </a:rPr>
              <a:t> </a:t>
            </a:r>
            <a:r>
              <a:rPr sz="1200" spc="-4" dirty="0">
                <a:latin typeface="Arial"/>
                <a:cs typeface="Arial"/>
              </a:rPr>
              <a:t>all</a:t>
            </a:r>
            <a:r>
              <a:rPr sz="1200" spc="131" dirty="0">
                <a:latin typeface="Arial"/>
                <a:cs typeface="Arial"/>
              </a:rPr>
              <a:t> </a:t>
            </a:r>
            <a:r>
              <a:rPr sz="1200" spc="-4" dirty="0">
                <a:latin typeface="Arial"/>
                <a:cs typeface="Arial"/>
              </a:rPr>
              <a:t>steps</a:t>
            </a:r>
            <a:r>
              <a:rPr sz="1200" spc="143" dirty="0">
                <a:latin typeface="Arial"/>
                <a:cs typeface="Arial"/>
              </a:rPr>
              <a:t> </a:t>
            </a:r>
            <a:r>
              <a:rPr sz="1200" dirty="0">
                <a:latin typeface="Arial"/>
                <a:cs typeface="Arial"/>
              </a:rPr>
              <a:t>in</a:t>
            </a:r>
            <a:r>
              <a:rPr sz="1200" spc="139" dirty="0">
                <a:latin typeface="Arial"/>
                <a:cs typeface="Arial"/>
              </a:rPr>
              <a:t> </a:t>
            </a:r>
            <a:r>
              <a:rPr sz="1200" spc="-4" dirty="0">
                <a:latin typeface="Arial"/>
                <a:cs typeface="Arial"/>
              </a:rPr>
              <a:t>order</a:t>
            </a:r>
            <a:r>
              <a:rPr sz="1200" spc="135" dirty="0">
                <a:latin typeface="Arial"/>
                <a:cs typeface="Arial"/>
              </a:rPr>
              <a:t> </a:t>
            </a:r>
            <a:r>
              <a:rPr sz="1200" spc="4" dirty="0">
                <a:latin typeface="Arial"/>
                <a:cs typeface="Arial"/>
              </a:rPr>
              <a:t>to</a:t>
            </a:r>
            <a:endParaRPr sz="1200" dirty="0">
              <a:latin typeface="Arial"/>
              <a:cs typeface="Arial"/>
            </a:endParaRPr>
          </a:p>
          <a:p>
            <a:pPr marL="279083" algn="just"/>
            <a:r>
              <a:rPr sz="1200" spc="-4" dirty="0">
                <a:latin typeface="Arial"/>
                <a:cs typeface="Arial"/>
              </a:rPr>
              <a:t>determine the optimal</a:t>
            </a:r>
            <a:r>
              <a:rPr sz="1200" spc="15" dirty="0">
                <a:latin typeface="Arial"/>
                <a:cs typeface="Arial"/>
              </a:rPr>
              <a:t> </a:t>
            </a:r>
            <a:r>
              <a:rPr sz="1200" spc="-4" dirty="0">
                <a:latin typeface="Arial"/>
                <a:cs typeface="Arial"/>
              </a:rPr>
              <a:t>model.</a:t>
            </a:r>
            <a:endParaRPr sz="1200" dirty="0">
              <a:latin typeface="Arial"/>
              <a:cs typeface="Arial"/>
            </a:endParaRPr>
          </a:p>
          <a:p>
            <a:pPr marL="120015" indent="-110966" algn="just">
              <a:spcBef>
                <a:spcPts val="998"/>
              </a:spcBef>
              <a:buChar char="-"/>
              <a:tabLst>
                <a:tab pos="120491" algn="l"/>
              </a:tabLst>
            </a:pPr>
            <a:r>
              <a:rPr sz="1200" spc="-4" dirty="0">
                <a:latin typeface="Arial"/>
                <a:cs typeface="Arial"/>
              </a:rPr>
              <a:t>The</a:t>
            </a:r>
            <a:r>
              <a:rPr sz="1200" spc="143" dirty="0">
                <a:latin typeface="Arial"/>
                <a:cs typeface="Arial"/>
              </a:rPr>
              <a:t> </a:t>
            </a:r>
            <a:r>
              <a:rPr sz="1200" spc="-4" dirty="0">
                <a:latin typeface="Arial"/>
                <a:cs typeface="Arial"/>
              </a:rPr>
              <a:t>best</a:t>
            </a:r>
            <a:r>
              <a:rPr sz="1200" spc="150" dirty="0">
                <a:latin typeface="Arial"/>
                <a:cs typeface="Arial"/>
              </a:rPr>
              <a:t> </a:t>
            </a:r>
            <a:r>
              <a:rPr sz="1200" spc="-4" dirty="0">
                <a:latin typeface="Arial"/>
                <a:cs typeface="Arial"/>
              </a:rPr>
              <a:t>model</a:t>
            </a:r>
            <a:r>
              <a:rPr sz="1200" spc="143" dirty="0">
                <a:latin typeface="Arial"/>
                <a:cs typeface="Arial"/>
              </a:rPr>
              <a:t> </a:t>
            </a:r>
            <a:r>
              <a:rPr sz="1200" dirty="0">
                <a:latin typeface="Arial"/>
                <a:cs typeface="Arial"/>
              </a:rPr>
              <a:t>is</a:t>
            </a:r>
            <a:r>
              <a:rPr sz="1200" spc="146" dirty="0">
                <a:latin typeface="Arial"/>
                <a:cs typeface="Arial"/>
              </a:rPr>
              <a:t> </a:t>
            </a:r>
            <a:r>
              <a:rPr sz="1200" spc="-4" dirty="0">
                <a:latin typeface="Arial"/>
                <a:cs typeface="Arial"/>
              </a:rPr>
              <a:t>selected</a:t>
            </a:r>
            <a:r>
              <a:rPr sz="1200" spc="150" dirty="0">
                <a:latin typeface="Arial"/>
                <a:cs typeface="Arial"/>
              </a:rPr>
              <a:t> </a:t>
            </a:r>
            <a:r>
              <a:rPr sz="1200" spc="-4" dirty="0">
                <a:latin typeface="Arial"/>
                <a:cs typeface="Arial"/>
              </a:rPr>
              <a:t>based</a:t>
            </a:r>
            <a:r>
              <a:rPr sz="1200" spc="146" dirty="0">
                <a:latin typeface="Arial"/>
                <a:cs typeface="Arial"/>
              </a:rPr>
              <a:t> </a:t>
            </a:r>
            <a:r>
              <a:rPr sz="1200" spc="-4" dirty="0">
                <a:latin typeface="Arial"/>
                <a:cs typeface="Arial"/>
              </a:rPr>
              <a:t>on</a:t>
            </a:r>
            <a:r>
              <a:rPr sz="1200" spc="143" dirty="0">
                <a:latin typeface="Arial"/>
                <a:cs typeface="Arial"/>
              </a:rPr>
              <a:t> </a:t>
            </a:r>
            <a:r>
              <a:rPr sz="1200" spc="-4" dirty="0">
                <a:latin typeface="Arial"/>
                <a:cs typeface="Arial"/>
              </a:rPr>
              <a:t>the</a:t>
            </a:r>
            <a:r>
              <a:rPr sz="1200" spc="146" dirty="0">
                <a:latin typeface="Arial"/>
                <a:cs typeface="Arial"/>
              </a:rPr>
              <a:t> </a:t>
            </a:r>
            <a:r>
              <a:rPr sz="1200" spc="-4" dirty="0">
                <a:latin typeface="Arial"/>
                <a:cs typeface="Arial"/>
              </a:rPr>
              <a:t>estimated</a:t>
            </a:r>
            <a:r>
              <a:rPr sz="1200" spc="146" dirty="0">
                <a:latin typeface="Arial"/>
                <a:cs typeface="Arial"/>
              </a:rPr>
              <a:t> </a:t>
            </a:r>
            <a:r>
              <a:rPr sz="1200" spc="-11" dirty="0">
                <a:latin typeface="Arial"/>
                <a:cs typeface="Arial"/>
              </a:rPr>
              <a:t>accuracy.</a:t>
            </a:r>
            <a:r>
              <a:rPr sz="1200" spc="153" dirty="0">
                <a:latin typeface="Arial"/>
                <a:cs typeface="Arial"/>
              </a:rPr>
              <a:t> </a:t>
            </a:r>
            <a:r>
              <a:rPr sz="1200" dirty="0">
                <a:latin typeface="Arial"/>
                <a:cs typeface="Arial"/>
              </a:rPr>
              <a:t>This</a:t>
            </a:r>
            <a:r>
              <a:rPr sz="1200" spc="150" dirty="0">
                <a:latin typeface="Arial"/>
                <a:cs typeface="Arial"/>
              </a:rPr>
              <a:t> </a:t>
            </a:r>
            <a:r>
              <a:rPr sz="1200" spc="-4" dirty="0">
                <a:latin typeface="Arial"/>
                <a:cs typeface="Arial"/>
              </a:rPr>
              <a:t>model</a:t>
            </a:r>
            <a:r>
              <a:rPr sz="1200" spc="150" dirty="0">
                <a:latin typeface="Arial"/>
                <a:cs typeface="Arial"/>
              </a:rPr>
              <a:t> </a:t>
            </a:r>
            <a:r>
              <a:rPr sz="1200" spc="-8" dirty="0">
                <a:latin typeface="Arial"/>
                <a:cs typeface="Arial"/>
              </a:rPr>
              <a:t>is</a:t>
            </a:r>
            <a:r>
              <a:rPr sz="1200" spc="150" dirty="0">
                <a:latin typeface="Arial"/>
                <a:cs typeface="Arial"/>
              </a:rPr>
              <a:t> </a:t>
            </a:r>
            <a:r>
              <a:rPr sz="1200" spc="-8" dirty="0">
                <a:latin typeface="Arial"/>
                <a:cs typeface="Arial"/>
              </a:rPr>
              <a:t>then</a:t>
            </a:r>
            <a:endParaRPr sz="1200" dirty="0">
              <a:latin typeface="Arial"/>
              <a:cs typeface="Arial"/>
            </a:endParaRPr>
          </a:p>
          <a:p>
            <a:pPr marL="279083" algn="just"/>
            <a:r>
              <a:rPr sz="1200" spc="-4" dirty="0">
                <a:latin typeface="Arial"/>
                <a:cs typeface="Arial"/>
              </a:rPr>
              <a:t>used for future</a:t>
            </a:r>
            <a:r>
              <a:rPr sz="1200" spc="26" dirty="0">
                <a:latin typeface="Arial"/>
                <a:cs typeface="Arial"/>
              </a:rPr>
              <a:t> </a:t>
            </a:r>
            <a:r>
              <a:rPr sz="1200" spc="-4" dirty="0">
                <a:latin typeface="Arial"/>
                <a:cs typeface="Arial"/>
              </a:rPr>
              <a:t>predictions.</a:t>
            </a:r>
            <a:endParaRPr sz="1200" dirty="0">
              <a:latin typeface="Arial"/>
              <a:cs typeface="Arial"/>
            </a:endParaRPr>
          </a:p>
        </p:txBody>
      </p:sp>
      <p:sp>
        <p:nvSpPr>
          <p:cNvPr id="11" name="Right Brace 10"/>
          <p:cNvSpPr/>
          <p:nvPr/>
        </p:nvSpPr>
        <p:spPr>
          <a:xfrm>
            <a:off x="2286000" y="1623563"/>
            <a:ext cx="457200" cy="772318"/>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sz="1013"/>
          </a:p>
        </p:txBody>
      </p:sp>
      <p:sp>
        <p:nvSpPr>
          <p:cNvPr id="6" name="Date Placeholder 5">
            <a:extLst>
              <a:ext uri="{FF2B5EF4-FFF2-40B4-BE49-F238E27FC236}">
                <a16:creationId xmlns:a16="http://schemas.microsoft.com/office/drawing/2014/main" id="{E8B03A3D-65F8-A602-F169-10094D3CABF3}"/>
              </a:ext>
            </a:extLst>
          </p:cNvPr>
          <p:cNvSpPr>
            <a:spLocks noGrp="1"/>
          </p:cNvSpPr>
          <p:nvPr>
            <p:ph type="dt" sz="half" idx="6"/>
          </p:nvPr>
        </p:nvSpPr>
        <p:spPr/>
        <p:txBody>
          <a:bodyPr/>
          <a:lstStyle/>
          <a:p>
            <a:fld id="{89DA016E-3357-C74C-82A5-09AEF49564E6}" type="datetime1">
              <a:rPr lang="en-US" smtClean="0"/>
              <a:t>11/17/25</a:t>
            </a:fld>
            <a:endParaRPr lang="en-US"/>
          </a:p>
        </p:txBody>
      </p:sp>
    </p:spTree>
    <p:extLst>
      <p:ext uri="{BB962C8B-B14F-4D97-AF65-F5344CB8AC3E}">
        <p14:creationId xmlns:p14="http://schemas.microsoft.com/office/powerpoint/2010/main" val="33136078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2900" y="793381"/>
            <a:ext cx="8572500" cy="471283"/>
          </a:xfrm>
          <a:prstGeom prst="rect">
            <a:avLst/>
          </a:prstGeom>
        </p:spPr>
        <p:txBody>
          <a:bodyPr vert="horz" wrap="square" lIns="0" tIns="9525" rIns="0" bIns="0" rtlCol="0">
            <a:spAutoFit/>
          </a:bodyPr>
          <a:lstStyle/>
          <a:p>
            <a:pPr marL="9525" marR="3810">
              <a:spcBef>
                <a:spcPts val="75"/>
              </a:spcBef>
            </a:pPr>
            <a:r>
              <a:rPr sz="3000" dirty="0">
                <a:solidFill>
                  <a:srgbClr val="FF0000"/>
                </a:solidFill>
              </a:rPr>
              <a:t>8 STEP </a:t>
            </a:r>
            <a:r>
              <a:rPr sz="3000" spc="-105" dirty="0">
                <a:solidFill>
                  <a:srgbClr val="FF0000"/>
                </a:solidFill>
              </a:rPr>
              <a:t>DATA </a:t>
            </a:r>
            <a:r>
              <a:rPr sz="3000" dirty="0">
                <a:solidFill>
                  <a:srgbClr val="FF0000"/>
                </a:solidFill>
              </a:rPr>
              <a:t>MINING</a:t>
            </a:r>
            <a:r>
              <a:rPr sz="3000" spc="-165" dirty="0">
                <a:solidFill>
                  <a:srgbClr val="FF0000"/>
                </a:solidFill>
              </a:rPr>
              <a:t> </a:t>
            </a:r>
            <a:r>
              <a:rPr sz="3000" dirty="0">
                <a:solidFill>
                  <a:srgbClr val="FF0000"/>
                </a:solidFill>
              </a:rPr>
              <a:t>PROCESS  </a:t>
            </a:r>
            <a:r>
              <a:rPr sz="3000" spc="-4" dirty="0">
                <a:solidFill>
                  <a:srgbClr val="FF0000"/>
                </a:solidFill>
              </a:rPr>
              <a:t>CONTINUED…</a:t>
            </a:r>
          </a:p>
        </p:txBody>
      </p:sp>
      <p:sp>
        <p:nvSpPr>
          <p:cNvPr id="3" name="object 3"/>
          <p:cNvSpPr txBox="1"/>
          <p:nvPr/>
        </p:nvSpPr>
        <p:spPr>
          <a:xfrm>
            <a:off x="573405" y="1323037"/>
            <a:ext cx="6218873" cy="2024433"/>
          </a:xfrm>
          <a:prstGeom prst="rect">
            <a:avLst/>
          </a:prstGeom>
        </p:spPr>
        <p:txBody>
          <a:bodyPr vert="horz" wrap="square" lIns="0" tIns="117634" rIns="0" bIns="0" rtlCol="0">
            <a:spAutoFit/>
          </a:bodyPr>
          <a:lstStyle/>
          <a:p>
            <a:pPr marL="9525">
              <a:spcBef>
                <a:spcPts val="926"/>
              </a:spcBef>
            </a:pPr>
            <a:r>
              <a:rPr b="1" spc="-4" dirty="0">
                <a:latin typeface="Arial"/>
                <a:cs typeface="Arial"/>
              </a:rPr>
              <a:t>Defining </a:t>
            </a:r>
            <a:r>
              <a:rPr b="1" dirty="0">
                <a:latin typeface="Arial"/>
                <a:cs typeface="Arial"/>
              </a:rPr>
              <a:t>the</a:t>
            </a:r>
            <a:r>
              <a:rPr b="1" spc="-23" dirty="0">
                <a:latin typeface="Arial"/>
                <a:cs typeface="Arial"/>
              </a:rPr>
              <a:t> </a:t>
            </a:r>
            <a:r>
              <a:rPr b="1" spc="-4" dirty="0">
                <a:latin typeface="Arial"/>
                <a:cs typeface="Arial"/>
              </a:rPr>
              <a:t>problem:</a:t>
            </a:r>
            <a:endParaRPr dirty="0">
              <a:latin typeface="Arial"/>
              <a:cs typeface="Arial"/>
            </a:endParaRPr>
          </a:p>
          <a:p>
            <a:pPr marL="224314" indent="-215265">
              <a:spcBef>
                <a:spcPts val="754"/>
              </a:spcBef>
              <a:buChar char="•"/>
              <a:tabLst>
                <a:tab pos="224314" algn="l"/>
                <a:tab pos="224790" algn="l"/>
              </a:tabLst>
            </a:pPr>
            <a:r>
              <a:rPr sz="1200" spc="-8" dirty="0">
                <a:latin typeface="Arial"/>
                <a:cs typeface="Arial"/>
              </a:rPr>
              <a:t>One </a:t>
            </a:r>
            <a:r>
              <a:rPr sz="1200" spc="-4" dirty="0">
                <a:latin typeface="Arial"/>
                <a:cs typeface="Arial"/>
              </a:rPr>
              <a:t>needs to determine </a:t>
            </a:r>
            <a:r>
              <a:rPr sz="1200" spc="-8" dirty="0">
                <a:latin typeface="Arial"/>
                <a:cs typeface="Arial"/>
              </a:rPr>
              <a:t>which </a:t>
            </a:r>
            <a:r>
              <a:rPr sz="1200" spc="-4" dirty="0">
                <a:latin typeface="Arial"/>
                <a:cs typeface="Arial"/>
              </a:rPr>
              <a:t>problems are suitable for </a:t>
            </a:r>
            <a:r>
              <a:rPr sz="1200" dirty="0">
                <a:latin typeface="Arial"/>
                <a:cs typeface="Arial"/>
              </a:rPr>
              <a:t>data-driven</a:t>
            </a:r>
            <a:r>
              <a:rPr sz="1200" spc="105" dirty="0">
                <a:latin typeface="Arial"/>
                <a:cs typeface="Arial"/>
              </a:rPr>
              <a:t> </a:t>
            </a:r>
            <a:r>
              <a:rPr sz="1200" spc="-4" dirty="0">
                <a:latin typeface="Arial"/>
                <a:cs typeface="Arial"/>
              </a:rPr>
              <a:t>modelling.</a:t>
            </a:r>
            <a:endParaRPr sz="1200" dirty="0">
              <a:latin typeface="Arial"/>
              <a:cs typeface="Arial"/>
            </a:endParaRPr>
          </a:p>
          <a:p>
            <a:pPr marL="224314" indent="-215265">
              <a:spcBef>
                <a:spcPts val="746"/>
              </a:spcBef>
              <a:buChar char="•"/>
              <a:tabLst>
                <a:tab pos="224314" algn="l"/>
                <a:tab pos="224790" algn="l"/>
              </a:tabLst>
            </a:pPr>
            <a:r>
              <a:rPr sz="1200" spc="-4" dirty="0">
                <a:latin typeface="Arial"/>
                <a:cs typeface="Arial"/>
              </a:rPr>
              <a:t>How does one evaluate the</a:t>
            </a:r>
            <a:r>
              <a:rPr sz="1200" spc="8" dirty="0">
                <a:latin typeface="Arial"/>
                <a:cs typeface="Arial"/>
              </a:rPr>
              <a:t> </a:t>
            </a:r>
            <a:r>
              <a:rPr sz="1200" spc="-4" dirty="0">
                <a:latin typeface="Arial"/>
                <a:cs typeface="Arial"/>
              </a:rPr>
              <a:t>results?</a:t>
            </a:r>
            <a:endParaRPr sz="1200" dirty="0">
              <a:latin typeface="Arial"/>
              <a:cs typeface="Arial"/>
            </a:endParaRPr>
          </a:p>
          <a:p>
            <a:pPr marL="224314" indent="-215265">
              <a:spcBef>
                <a:spcPts val="758"/>
              </a:spcBef>
              <a:buChar char="•"/>
              <a:tabLst>
                <a:tab pos="224314" algn="l"/>
                <a:tab pos="224790" algn="l"/>
              </a:tabLst>
            </a:pPr>
            <a:r>
              <a:rPr sz="1200" spc="-4" dirty="0">
                <a:latin typeface="Arial"/>
                <a:cs typeface="Arial"/>
              </a:rPr>
              <a:t>Is it a classification or estimation</a:t>
            </a:r>
            <a:r>
              <a:rPr sz="1200" spc="-19" dirty="0">
                <a:latin typeface="Arial"/>
                <a:cs typeface="Arial"/>
              </a:rPr>
              <a:t> </a:t>
            </a:r>
            <a:r>
              <a:rPr sz="1200" spc="-4" dirty="0">
                <a:latin typeface="Arial"/>
                <a:cs typeface="Arial"/>
              </a:rPr>
              <a:t>problem?</a:t>
            </a:r>
            <a:endParaRPr sz="1200" dirty="0">
              <a:latin typeface="Arial"/>
              <a:cs typeface="Arial"/>
            </a:endParaRPr>
          </a:p>
          <a:p>
            <a:pPr marL="224314" indent="-215265">
              <a:spcBef>
                <a:spcPts val="746"/>
              </a:spcBef>
              <a:buChar char="•"/>
              <a:tabLst>
                <a:tab pos="224314" algn="l"/>
                <a:tab pos="224790" algn="l"/>
              </a:tabLst>
            </a:pPr>
            <a:r>
              <a:rPr sz="1200" spc="-4" dirty="0">
                <a:latin typeface="Arial"/>
                <a:cs typeface="Arial"/>
              </a:rPr>
              <a:t>What are the inputs and outputs required for solving the</a:t>
            </a:r>
            <a:r>
              <a:rPr sz="1200" spc="68" dirty="0">
                <a:latin typeface="Arial"/>
                <a:cs typeface="Arial"/>
              </a:rPr>
              <a:t> </a:t>
            </a:r>
            <a:r>
              <a:rPr sz="1200" spc="-4" dirty="0">
                <a:latin typeface="Arial"/>
                <a:cs typeface="Arial"/>
              </a:rPr>
              <a:t>problem?</a:t>
            </a:r>
            <a:endParaRPr sz="1200" dirty="0">
              <a:latin typeface="Arial"/>
              <a:cs typeface="Arial"/>
            </a:endParaRPr>
          </a:p>
          <a:p>
            <a:pPr marL="9525">
              <a:spcBef>
                <a:spcPts val="750"/>
              </a:spcBef>
            </a:pPr>
            <a:r>
              <a:rPr sz="1200" b="1" spc="-4" dirty="0">
                <a:latin typeface="Arial"/>
                <a:cs typeface="Arial"/>
              </a:rPr>
              <a:t>When </a:t>
            </a:r>
            <a:r>
              <a:rPr sz="1200" b="1" spc="-15" dirty="0">
                <a:latin typeface="Arial"/>
                <a:cs typeface="Arial"/>
              </a:rPr>
              <a:t>TO </a:t>
            </a:r>
            <a:r>
              <a:rPr sz="1200" b="1" spc="-4" dirty="0">
                <a:latin typeface="Arial"/>
                <a:cs typeface="Arial"/>
              </a:rPr>
              <a:t>DO data</a:t>
            </a:r>
            <a:r>
              <a:rPr sz="1200" b="1" spc="30" dirty="0">
                <a:latin typeface="Arial"/>
                <a:cs typeface="Arial"/>
              </a:rPr>
              <a:t> </a:t>
            </a:r>
            <a:r>
              <a:rPr sz="1200" b="1" spc="-4" dirty="0">
                <a:latin typeface="Arial"/>
                <a:cs typeface="Arial"/>
              </a:rPr>
              <a:t>mining:</a:t>
            </a:r>
            <a:endParaRPr sz="1200" dirty="0">
              <a:latin typeface="Arial"/>
              <a:cs typeface="Arial"/>
            </a:endParaRPr>
          </a:p>
          <a:p>
            <a:pPr marL="224314" indent="-215265">
              <a:spcBef>
                <a:spcPts val="754"/>
              </a:spcBef>
              <a:buChar char="•"/>
              <a:tabLst>
                <a:tab pos="224314" algn="l"/>
                <a:tab pos="224790" algn="l"/>
              </a:tabLst>
            </a:pPr>
            <a:r>
              <a:rPr sz="1200" spc="-4" dirty="0">
                <a:latin typeface="Arial"/>
                <a:cs typeface="Arial"/>
              </a:rPr>
              <a:t>When </a:t>
            </a:r>
            <a:r>
              <a:rPr sz="1200" b="1" spc="-4" dirty="0">
                <a:latin typeface="Arial"/>
                <a:cs typeface="Arial"/>
              </a:rPr>
              <a:t>no good existing </a:t>
            </a:r>
            <a:r>
              <a:rPr sz="1200" spc="-4" dirty="0">
                <a:latin typeface="Arial"/>
                <a:cs typeface="Arial"/>
              </a:rPr>
              <a:t>solution exists &amp; the problem has the following</a:t>
            </a:r>
            <a:r>
              <a:rPr sz="1200" spc="150" dirty="0">
                <a:latin typeface="Arial"/>
                <a:cs typeface="Arial"/>
              </a:rPr>
              <a:t> </a:t>
            </a:r>
            <a:r>
              <a:rPr sz="1200" b="1" spc="-4" dirty="0">
                <a:latin typeface="Arial"/>
                <a:cs typeface="Arial"/>
              </a:rPr>
              <a:t>characteristics</a:t>
            </a:r>
            <a:r>
              <a:rPr sz="1200" spc="-4" dirty="0">
                <a:latin typeface="Arial"/>
                <a:cs typeface="Arial"/>
              </a:rPr>
              <a:t>:</a:t>
            </a:r>
            <a:endParaRPr sz="1200" dirty="0">
              <a:latin typeface="Arial"/>
              <a:cs typeface="Arial"/>
            </a:endParaRPr>
          </a:p>
        </p:txBody>
      </p:sp>
      <p:sp>
        <p:nvSpPr>
          <p:cNvPr id="4" name="object 4"/>
          <p:cNvSpPr txBox="1"/>
          <p:nvPr/>
        </p:nvSpPr>
        <p:spPr>
          <a:xfrm>
            <a:off x="573406" y="3307918"/>
            <a:ext cx="2671286" cy="805509"/>
          </a:xfrm>
          <a:prstGeom prst="rect">
            <a:avLst/>
          </a:prstGeom>
        </p:spPr>
        <p:txBody>
          <a:bodyPr vert="horz" wrap="square" lIns="0" tIns="104299" rIns="0" bIns="0" rtlCol="0">
            <a:spAutoFit/>
          </a:bodyPr>
          <a:lstStyle/>
          <a:p>
            <a:pPr marL="567214" indent="-215265">
              <a:spcBef>
                <a:spcPts val="821"/>
              </a:spcBef>
              <a:buFont typeface="Wingdings"/>
              <a:buChar char=""/>
              <a:tabLst>
                <a:tab pos="567214" algn="l"/>
                <a:tab pos="567690" algn="l"/>
              </a:tabLst>
            </a:pPr>
            <a:r>
              <a:rPr sz="1050" dirty="0">
                <a:latin typeface="Arial"/>
                <a:cs typeface="Arial"/>
              </a:rPr>
              <a:t>Lots of</a:t>
            </a:r>
            <a:r>
              <a:rPr sz="1050" spc="-41" dirty="0">
                <a:latin typeface="Arial"/>
                <a:cs typeface="Arial"/>
              </a:rPr>
              <a:t> </a:t>
            </a:r>
            <a:r>
              <a:rPr sz="1050" b="1" spc="-4" dirty="0">
                <a:latin typeface="Arial"/>
                <a:cs typeface="Arial"/>
              </a:rPr>
              <a:t>data</a:t>
            </a:r>
            <a:endParaRPr sz="1050" dirty="0">
              <a:latin typeface="Arial"/>
              <a:cs typeface="Arial"/>
            </a:endParaRPr>
          </a:p>
          <a:p>
            <a:pPr marL="567214" indent="-215265">
              <a:spcBef>
                <a:spcPts val="746"/>
              </a:spcBef>
              <a:buFont typeface="Wingdings"/>
              <a:buChar char=""/>
              <a:tabLst>
                <a:tab pos="567214" algn="l"/>
                <a:tab pos="567690" algn="l"/>
              </a:tabLst>
            </a:pPr>
            <a:r>
              <a:rPr sz="1050" spc="-4" dirty="0">
                <a:latin typeface="Arial"/>
                <a:cs typeface="Arial"/>
              </a:rPr>
              <a:t>The </a:t>
            </a:r>
            <a:r>
              <a:rPr sz="1050" dirty="0">
                <a:latin typeface="Arial"/>
                <a:cs typeface="Arial"/>
              </a:rPr>
              <a:t>problem is </a:t>
            </a:r>
            <a:r>
              <a:rPr sz="1050" b="1" spc="-4" dirty="0">
                <a:latin typeface="Arial"/>
                <a:cs typeface="Arial"/>
              </a:rPr>
              <a:t>not </a:t>
            </a:r>
            <a:r>
              <a:rPr sz="1050" spc="-4" dirty="0">
                <a:latin typeface="Arial"/>
                <a:cs typeface="Arial"/>
              </a:rPr>
              <a:t>well</a:t>
            </a:r>
            <a:r>
              <a:rPr sz="1050" spc="-75" dirty="0">
                <a:latin typeface="Arial"/>
                <a:cs typeface="Arial"/>
              </a:rPr>
              <a:t> </a:t>
            </a:r>
            <a:r>
              <a:rPr sz="1050" dirty="0">
                <a:latin typeface="Arial"/>
                <a:cs typeface="Arial"/>
              </a:rPr>
              <a:t>understood</a:t>
            </a:r>
          </a:p>
          <a:p>
            <a:pPr marL="9525">
              <a:spcBef>
                <a:spcPts val="750"/>
              </a:spcBef>
            </a:pPr>
            <a:r>
              <a:rPr sz="1200" b="1" spc="-4" dirty="0">
                <a:latin typeface="Arial"/>
                <a:cs typeface="Arial"/>
              </a:rPr>
              <a:t>When </a:t>
            </a:r>
            <a:r>
              <a:rPr sz="1200" b="1" spc="-8" dirty="0">
                <a:latin typeface="Arial"/>
                <a:cs typeface="Arial"/>
              </a:rPr>
              <a:t>NOT </a:t>
            </a:r>
            <a:r>
              <a:rPr sz="1200" b="1" spc="-4" dirty="0">
                <a:latin typeface="Arial"/>
                <a:cs typeface="Arial"/>
              </a:rPr>
              <a:t>to do data</a:t>
            </a:r>
            <a:r>
              <a:rPr sz="1200" b="1" spc="30" dirty="0">
                <a:latin typeface="Arial"/>
                <a:cs typeface="Arial"/>
              </a:rPr>
              <a:t> </a:t>
            </a:r>
            <a:r>
              <a:rPr sz="1200" b="1" spc="-4" dirty="0">
                <a:latin typeface="Arial"/>
                <a:cs typeface="Arial"/>
              </a:rPr>
              <a:t>mining:</a:t>
            </a:r>
            <a:endParaRPr sz="1200" dirty="0">
              <a:latin typeface="Arial"/>
              <a:cs typeface="Arial"/>
            </a:endParaRPr>
          </a:p>
        </p:txBody>
      </p:sp>
      <p:sp>
        <p:nvSpPr>
          <p:cNvPr id="5" name="object 5"/>
          <p:cNvSpPr txBox="1"/>
          <p:nvPr/>
        </p:nvSpPr>
        <p:spPr>
          <a:xfrm>
            <a:off x="573405" y="4191001"/>
            <a:ext cx="4772978" cy="709329"/>
          </a:xfrm>
          <a:prstGeom prst="rect">
            <a:avLst/>
          </a:prstGeom>
        </p:spPr>
        <p:txBody>
          <a:bodyPr vert="horz" wrap="square" lIns="0" tIns="9049" rIns="0" bIns="0" rtlCol="0">
            <a:spAutoFit/>
          </a:bodyPr>
          <a:lstStyle/>
          <a:p>
            <a:pPr marL="224314" indent="-215265">
              <a:spcBef>
                <a:spcPts val="71"/>
              </a:spcBef>
              <a:buChar char="•"/>
              <a:tabLst>
                <a:tab pos="224314" algn="l"/>
                <a:tab pos="224790" algn="l"/>
              </a:tabLst>
            </a:pPr>
            <a:r>
              <a:rPr sz="1200" spc="-4" dirty="0">
                <a:latin typeface="Arial"/>
                <a:cs typeface="Arial"/>
              </a:rPr>
              <a:t>When the</a:t>
            </a:r>
            <a:r>
              <a:rPr sz="1200" dirty="0">
                <a:latin typeface="Arial"/>
                <a:cs typeface="Arial"/>
              </a:rPr>
              <a:t> </a:t>
            </a:r>
            <a:r>
              <a:rPr sz="1200" spc="-4" dirty="0">
                <a:latin typeface="Arial"/>
                <a:cs typeface="Arial"/>
              </a:rPr>
              <a:t>problem:</a:t>
            </a:r>
            <a:endParaRPr sz="1200" dirty="0">
              <a:latin typeface="Arial"/>
              <a:cs typeface="Arial"/>
            </a:endParaRPr>
          </a:p>
          <a:p>
            <a:pPr marL="567214" lvl="1" indent="-215265">
              <a:spcBef>
                <a:spcPts val="754"/>
              </a:spcBef>
              <a:buFont typeface="Wingdings"/>
              <a:buChar char=""/>
              <a:tabLst>
                <a:tab pos="567214" algn="l"/>
                <a:tab pos="567690" algn="l"/>
              </a:tabLst>
            </a:pPr>
            <a:r>
              <a:rPr sz="1050" dirty="0">
                <a:latin typeface="Arial"/>
                <a:cs typeface="Arial"/>
              </a:rPr>
              <a:t>Has a </a:t>
            </a:r>
            <a:r>
              <a:rPr sz="1050" b="1" dirty="0">
                <a:latin typeface="Arial"/>
                <a:cs typeface="Arial"/>
              </a:rPr>
              <a:t>complete</a:t>
            </a:r>
            <a:r>
              <a:rPr sz="1050" dirty="0">
                <a:latin typeface="Arial"/>
                <a:cs typeface="Arial"/>
              </a:rPr>
              <a:t>, </a:t>
            </a:r>
            <a:r>
              <a:rPr sz="1050" b="1" dirty="0">
                <a:latin typeface="Arial"/>
                <a:cs typeface="Arial"/>
              </a:rPr>
              <a:t>closed-form </a:t>
            </a:r>
            <a:r>
              <a:rPr sz="1050" dirty="0">
                <a:latin typeface="Arial"/>
                <a:cs typeface="Arial"/>
              </a:rPr>
              <a:t>mathematical</a:t>
            </a:r>
            <a:r>
              <a:rPr sz="1050" spc="-139" dirty="0">
                <a:latin typeface="Arial"/>
                <a:cs typeface="Arial"/>
              </a:rPr>
              <a:t> </a:t>
            </a:r>
            <a:r>
              <a:rPr sz="1050" dirty="0">
                <a:latin typeface="Arial"/>
                <a:cs typeface="Arial"/>
              </a:rPr>
              <a:t>solution.</a:t>
            </a:r>
          </a:p>
          <a:p>
            <a:pPr marL="567214" lvl="1" indent="-215265">
              <a:spcBef>
                <a:spcPts val="746"/>
              </a:spcBef>
              <a:buFont typeface="Wingdings"/>
              <a:buChar char=""/>
              <a:tabLst>
                <a:tab pos="567214" algn="l"/>
                <a:tab pos="567690" algn="l"/>
              </a:tabLst>
            </a:pPr>
            <a:r>
              <a:rPr sz="1050" dirty="0">
                <a:latin typeface="Arial"/>
                <a:cs typeface="Arial"/>
              </a:rPr>
              <a:t>It is </a:t>
            </a:r>
            <a:r>
              <a:rPr sz="1050" spc="-4" dirty="0">
                <a:latin typeface="Arial"/>
                <a:cs typeface="Arial"/>
              </a:rPr>
              <a:t>well </a:t>
            </a:r>
            <a:r>
              <a:rPr sz="1050" dirty="0">
                <a:latin typeface="Arial"/>
                <a:cs typeface="Arial"/>
              </a:rPr>
              <a:t>understood and has a </a:t>
            </a:r>
            <a:r>
              <a:rPr sz="1050" b="1" spc="-8" dirty="0">
                <a:latin typeface="Arial"/>
                <a:cs typeface="Arial"/>
              </a:rPr>
              <a:t>good </a:t>
            </a:r>
            <a:r>
              <a:rPr sz="1050" b="1" spc="-4" dirty="0">
                <a:latin typeface="Arial"/>
                <a:cs typeface="Arial"/>
              </a:rPr>
              <a:t>analytical </a:t>
            </a:r>
            <a:r>
              <a:rPr sz="1050" dirty="0">
                <a:latin typeface="Arial"/>
                <a:cs typeface="Arial"/>
              </a:rPr>
              <a:t>or </a:t>
            </a:r>
            <a:r>
              <a:rPr sz="1050" b="1" spc="-4" dirty="0">
                <a:latin typeface="Arial"/>
                <a:cs typeface="Arial"/>
              </a:rPr>
              <a:t>rule-based</a:t>
            </a:r>
            <a:r>
              <a:rPr sz="1050" b="1" spc="-120" dirty="0">
                <a:latin typeface="Arial"/>
                <a:cs typeface="Arial"/>
              </a:rPr>
              <a:t> </a:t>
            </a:r>
            <a:r>
              <a:rPr sz="1050" dirty="0">
                <a:latin typeface="Arial"/>
                <a:cs typeface="Arial"/>
              </a:rPr>
              <a:t>solution</a:t>
            </a:r>
            <a:r>
              <a:rPr sz="1050" dirty="0">
                <a:solidFill>
                  <a:srgbClr val="FFFFFF"/>
                </a:solidFill>
                <a:latin typeface="Arial"/>
                <a:cs typeface="Arial"/>
              </a:rPr>
              <a:t>.</a:t>
            </a:r>
            <a:endParaRPr sz="1050" dirty="0">
              <a:latin typeface="Arial"/>
              <a:cs typeface="Arial"/>
            </a:endParaRPr>
          </a:p>
        </p:txBody>
      </p:sp>
      <p:sp>
        <p:nvSpPr>
          <p:cNvPr id="6" name="object 6"/>
          <p:cNvSpPr txBox="1"/>
          <p:nvPr/>
        </p:nvSpPr>
        <p:spPr>
          <a:xfrm>
            <a:off x="3586544" y="3384517"/>
            <a:ext cx="4318635" cy="435376"/>
          </a:xfrm>
          <a:prstGeom prst="rect">
            <a:avLst/>
          </a:prstGeom>
        </p:spPr>
        <p:txBody>
          <a:bodyPr vert="horz" wrap="square" lIns="0" tIns="9525" rIns="0" bIns="0" rtlCol="0">
            <a:spAutoFit/>
          </a:bodyPr>
          <a:lstStyle/>
          <a:p>
            <a:pPr marL="224314" indent="-215265">
              <a:spcBef>
                <a:spcPts val="75"/>
              </a:spcBef>
              <a:buFont typeface="Wingdings"/>
              <a:buChar char=""/>
              <a:tabLst>
                <a:tab pos="224314" algn="l"/>
                <a:tab pos="224790" algn="l"/>
              </a:tabLst>
            </a:pPr>
            <a:r>
              <a:rPr sz="1050" spc="-4" dirty="0">
                <a:latin typeface="Arial"/>
                <a:cs typeface="Arial"/>
              </a:rPr>
              <a:t>The </a:t>
            </a:r>
            <a:r>
              <a:rPr sz="1050" dirty="0">
                <a:latin typeface="Arial"/>
                <a:cs typeface="Arial"/>
              </a:rPr>
              <a:t>problem can be </a:t>
            </a:r>
            <a:r>
              <a:rPr sz="1050" spc="-4" dirty="0">
                <a:latin typeface="Arial"/>
                <a:cs typeface="Arial"/>
              </a:rPr>
              <a:t>characterised </a:t>
            </a:r>
            <a:r>
              <a:rPr sz="1050" dirty="0">
                <a:latin typeface="Arial"/>
                <a:cs typeface="Arial"/>
              </a:rPr>
              <a:t>as an </a:t>
            </a:r>
            <a:r>
              <a:rPr sz="1050" b="1" spc="-4" dirty="0">
                <a:latin typeface="Arial"/>
                <a:cs typeface="Arial"/>
              </a:rPr>
              <a:t>input-to-output</a:t>
            </a:r>
            <a:r>
              <a:rPr sz="1050" b="1" spc="-135" dirty="0">
                <a:latin typeface="Arial"/>
                <a:cs typeface="Arial"/>
              </a:rPr>
              <a:t> </a:t>
            </a:r>
            <a:r>
              <a:rPr sz="1050" dirty="0">
                <a:latin typeface="Arial"/>
                <a:cs typeface="Arial"/>
              </a:rPr>
              <a:t>relationship</a:t>
            </a:r>
          </a:p>
          <a:p>
            <a:pPr marL="224314" indent="-215265">
              <a:spcBef>
                <a:spcPts val="761"/>
              </a:spcBef>
              <a:buFont typeface="Wingdings"/>
              <a:buChar char=""/>
              <a:tabLst>
                <a:tab pos="224314" algn="l"/>
                <a:tab pos="224790" algn="l"/>
              </a:tabLst>
            </a:pPr>
            <a:r>
              <a:rPr sz="1050" spc="-4" dirty="0">
                <a:latin typeface="Arial"/>
                <a:cs typeface="Arial"/>
              </a:rPr>
              <a:t>Existing </a:t>
            </a:r>
            <a:r>
              <a:rPr sz="1050" dirty="0">
                <a:latin typeface="Arial"/>
                <a:cs typeface="Arial"/>
              </a:rPr>
              <a:t>models </a:t>
            </a:r>
            <a:r>
              <a:rPr sz="1050" spc="-4" dirty="0">
                <a:latin typeface="Arial"/>
                <a:cs typeface="Arial"/>
              </a:rPr>
              <a:t>have </a:t>
            </a:r>
            <a:r>
              <a:rPr sz="1050" b="1" dirty="0">
                <a:latin typeface="Arial"/>
                <a:cs typeface="Arial"/>
              </a:rPr>
              <a:t>strong </a:t>
            </a:r>
            <a:r>
              <a:rPr sz="1050" dirty="0">
                <a:latin typeface="Arial"/>
                <a:cs typeface="Arial"/>
              </a:rPr>
              <a:t>and possibly </a:t>
            </a:r>
            <a:r>
              <a:rPr sz="1050" b="1" spc="-4" dirty="0">
                <a:latin typeface="Arial"/>
                <a:cs typeface="Arial"/>
              </a:rPr>
              <a:t>erroneous</a:t>
            </a:r>
            <a:r>
              <a:rPr sz="1050" b="1" spc="-98" dirty="0">
                <a:latin typeface="Arial"/>
                <a:cs typeface="Arial"/>
              </a:rPr>
              <a:t> </a:t>
            </a:r>
            <a:r>
              <a:rPr sz="1050" b="1" spc="-4" dirty="0">
                <a:latin typeface="Arial"/>
                <a:cs typeface="Arial"/>
              </a:rPr>
              <a:t>assumptions</a:t>
            </a:r>
            <a:endParaRPr sz="1050" dirty="0">
              <a:latin typeface="Arial"/>
              <a:cs typeface="Arial"/>
            </a:endParaRPr>
          </a:p>
        </p:txBody>
      </p:sp>
      <p:sp>
        <p:nvSpPr>
          <p:cNvPr id="7" name="Date Placeholder 6">
            <a:extLst>
              <a:ext uri="{FF2B5EF4-FFF2-40B4-BE49-F238E27FC236}">
                <a16:creationId xmlns:a16="http://schemas.microsoft.com/office/drawing/2014/main" id="{66A17718-CF96-BD15-67C2-A5C7CF13E298}"/>
              </a:ext>
            </a:extLst>
          </p:cNvPr>
          <p:cNvSpPr>
            <a:spLocks noGrp="1"/>
          </p:cNvSpPr>
          <p:nvPr>
            <p:ph type="dt" sz="half" idx="6"/>
          </p:nvPr>
        </p:nvSpPr>
        <p:spPr/>
        <p:txBody>
          <a:bodyPr/>
          <a:lstStyle/>
          <a:p>
            <a:fld id="{EC780058-3845-B648-ACCD-82E7623EDDBC}" type="datetime1">
              <a:rPr lang="en-US" smtClean="0"/>
              <a:t>11/17/25</a:t>
            </a:fld>
            <a:endParaRPr lang="en-US"/>
          </a:p>
        </p:txBody>
      </p:sp>
    </p:spTree>
    <p:extLst>
      <p:ext uri="{BB962C8B-B14F-4D97-AF65-F5344CB8AC3E}">
        <p14:creationId xmlns:p14="http://schemas.microsoft.com/office/powerpoint/2010/main" val="6608936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73405" y="840611"/>
            <a:ext cx="8515350" cy="471283"/>
          </a:xfrm>
          <a:prstGeom prst="rect">
            <a:avLst/>
          </a:prstGeom>
        </p:spPr>
        <p:txBody>
          <a:bodyPr vert="horz" wrap="square" lIns="0" tIns="9525" rIns="0" bIns="0" rtlCol="0">
            <a:spAutoFit/>
          </a:bodyPr>
          <a:lstStyle/>
          <a:p>
            <a:pPr marL="9525" marR="3810">
              <a:spcBef>
                <a:spcPts val="75"/>
              </a:spcBef>
            </a:pPr>
            <a:r>
              <a:rPr sz="3000" spc="-4" dirty="0">
                <a:solidFill>
                  <a:srgbClr val="FF0000"/>
                </a:solidFill>
              </a:rPr>
              <a:t>8 </a:t>
            </a:r>
            <a:r>
              <a:rPr sz="3000" dirty="0">
                <a:solidFill>
                  <a:srgbClr val="FF0000"/>
                </a:solidFill>
              </a:rPr>
              <a:t>STEP </a:t>
            </a:r>
            <a:r>
              <a:rPr sz="3000" spc="-101" dirty="0">
                <a:solidFill>
                  <a:srgbClr val="FF0000"/>
                </a:solidFill>
              </a:rPr>
              <a:t>DATA </a:t>
            </a:r>
            <a:r>
              <a:rPr sz="3000" dirty="0">
                <a:solidFill>
                  <a:srgbClr val="FF0000"/>
                </a:solidFill>
              </a:rPr>
              <a:t>MINING</a:t>
            </a:r>
            <a:r>
              <a:rPr sz="3000" spc="-184" dirty="0">
                <a:solidFill>
                  <a:srgbClr val="FF0000"/>
                </a:solidFill>
              </a:rPr>
              <a:t> </a:t>
            </a:r>
            <a:r>
              <a:rPr sz="3000" dirty="0">
                <a:solidFill>
                  <a:srgbClr val="FF0000"/>
                </a:solidFill>
              </a:rPr>
              <a:t>PROCESS  </a:t>
            </a:r>
            <a:r>
              <a:rPr sz="3000" spc="-4" dirty="0">
                <a:solidFill>
                  <a:srgbClr val="FF0000"/>
                </a:solidFill>
              </a:rPr>
              <a:t>CONTINUED…</a:t>
            </a:r>
          </a:p>
        </p:txBody>
      </p:sp>
      <p:sp>
        <p:nvSpPr>
          <p:cNvPr id="3" name="object 3"/>
          <p:cNvSpPr txBox="1"/>
          <p:nvPr/>
        </p:nvSpPr>
        <p:spPr>
          <a:xfrm>
            <a:off x="573406" y="1311893"/>
            <a:ext cx="5424011" cy="3056125"/>
          </a:xfrm>
          <a:prstGeom prst="rect">
            <a:avLst/>
          </a:prstGeom>
        </p:spPr>
        <p:txBody>
          <a:bodyPr vert="horz" wrap="square" lIns="0" tIns="117634" rIns="0" bIns="0" rtlCol="0">
            <a:spAutoFit/>
          </a:bodyPr>
          <a:lstStyle/>
          <a:p>
            <a:pPr marL="9525">
              <a:spcBef>
                <a:spcPts val="926"/>
              </a:spcBef>
            </a:pPr>
            <a:r>
              <a:rPr b="1" spc="-4" dirty="0">
                <a:latin typeface="Arial"/>
                <a:cs typeface="Arial"/>
              </a:rPr>
              <a:t>How do </a:t>
            </a:r>
            <a:r>
              <a:rPr b="1" spc="-8" dirty="0">
                <a:latin typeface="Arial"/>
                <a:cs typeface="Arial"/>
              </a:rPr>
              <a:t>you evaluate </a:t>
            </a:r>
            <a:r>
              <a:rPr b="1" spc="-4" dirty="0">
                <a:latin typeface="Arial"/>
                <a:cs typeface="Arial"/>
              </a:rPr>
              <a:t>the</a:t>
            </a:r>
            <a:r>
              <a:rPr b="1" spc="41" dirty="0">
                <a:latin typeface="Arial"/>
                <a:cs typeface="Arial"/>
              </a:rPr>
              <a:t> </a:t>
            </a:r>
            <a:r>
              <a:rPr b="1" spc="-4" dirty="0">
                <a:latin typeface="Arial"/>
                <a:cs typeface="Arial"/>
              </a:rPr>
              <a:t>results?</a:t>
            </a:r>
            <a:endParaRPr dirty="0">
              <a:latin typeface="Arial"/>
              <a:cs typeface="Arial"/>
            </a:endParaRPr>
          </a:p>
          <a:p>
            <a:pPr marL="224314" indent="-215265">
              <a:spcBef>
                <a:spcPts val="754"/>
              </a:spcBef>
              <a:buChar char="•"/>
              <a:tabLst>
                <a:tab pos="224314" algn="l"/>
                <a:tab pos="224790" algn="l"/>
              </a:tabLst>
            </a:pPr>
            <a:r>
              <a:rPr sz="1200" spc="-4" dirty="0">
                <a:latin typeface="Arial"/>
                <a:cs typeface="Arial"/>
              </a:rPr>
              <a:t>What level of accuracy </a:t>
            </a:r>
            <a:r>
              <a:rPr sz="1200" spc="-8" dirty="0">
                <a:latin typeface="Arial"/>
                <a:cs typeface="Arial"/>
              </a:rPr>
              <a:t>would </a:t>
            </a:r>
            <a:r>
              <a:rPr sz="1200" spc="-4" dirty="0">
                <a:latin typeface="Arial"/>
                <a:cs typeface="Arial"/>
              </a:rPr>
              <a:t>be considered</a:t>
            </a:r>
            <a:r>
              <a:rPr sz="1200" spc="26" dirty="0">
                <a:latin typeface="Arial"/>
                <a:cs typeface="Arial"/>
              </a:rPr>
              <a:t> </a:t>
            </a:r>
            <a:r>
              <a:rPr sz="1200" spc="-4" dirty="0">
                <a:latin typeface="Arial"/>
                <a:cs typeface="Arial"/>
              </a:rPr>
              <a:t>successful?</a:t>
            </a:r>
            <a:endParaRPr sz="1200" dirty="0">
              <a:latin typeface="Arial"/>
              <a:cs typeface="Arial"/>
            </a:endParaRPr>
          </a:p>
          <a:p>
            <a:pPr marL="224314" indent="-215265">
              <a:spcBef>
                <a:spcPts val="746"/>
              </a:spcBef>
              <a:buChar char="•"/>
              <a:tabLst>
                <a:tab pos="224314" algn="l"/>
                <a:tab pos="224790" algn="l"/>
              </a:tabLst>
            </a:pPr>
            <a:r>
              <a:rPr sz="1200" spc="-4" dirty="0">
                <a:latin typeface="Arial"/>
                <a:cs typeface="Arial"/>
              </a:rPr>
              <a:t>How </a:t>
            </a:r>
            <a:r>
              <a:rPr sz="1200" spc="-8" dirty="0">
                <a:latin typeface="Arial"/>
                <a:cs typeface="Arial"/>
              </a:rPr>
              <a:t>will you </a:t>
            </a:r>
            <a:r>
              <a:rPr sz="1200" spc="-4" dirty="0">
                <a:latin typeface="Arial"/>
                <a:cs typeface="Arial"/>
              </a:rPr>
              <a:t>benchmark the performance of a developed</a:t>
            </a:r>
            <a:r>
              <a:rPr sz="1200" spc="86" dirty="0">
                <a:latin typeface="Arial"/>
                <a:cs typeface="Arial"/>
              </a:rPr>
              <a:t> </a:t>
            </a:r>
            <a:r>
              <a:rPr sz="1200" spc="-4" dirty="0">
                <a:latin typeface="Arial"/>
                <a:cs typeface="Arial"/>
              </a:rPr>
              <a:t>solution?</a:t>
            </a:r>
            <a:endParaRPr sz="1200" dirty="0">
              <a:latin typeface="Arial"/>
              <a:cs typeface="Arial"/>
            </a:endParaRPr>
          </a:p>
          <a:p>
            <a:pPr marL="224314" indent="-215265">
              <a:spcBef>
                <a:spcPts val="758"/>
              </a:spcBef>
              <a:buChar char="•"/>
              <a:tabLst>
                <a:tab pos="224314" algn="l"/>
                <a:tab pos="224790" algn="l"/>
              </a:tabLst>
            </a:pPr>
            <a:r>
              <a:rPr sz="1200" spc="-4" dirty="0">
                <a:latin typeface="Arial"/>
                <a:cs typeface="Arial"/>
              </a:rPr>
              <a:t>What existing alternatives </a:t>
            </a:r>
            <a:r>
              <a:rPr sz="1200" spc="-8" dirty="0">
                <a:latin typeface="Arial"/>
                <a:cs typeface="Arial"/>
              </a:rPr>
              <a:t>will you </a:t>
            </a:r>
            <a:r>
              <a:rPr sz="1200" spc="-4" dirty="0">
                <a:latin typeface="Arial"/>
                <a:cs typeface="Arial"/>
              </a:rPr>
              <a:t>compare</a:t>
            </a:r>
            <a:r>
              <a:rPr sz="1200" spc="30" dirty="0">
                <a:latin typeface="Arial"/>
                <a:cs typeface="Arial"/>
              </a:rPr>
              <a:t> </a:t>
            </a:r>
            <a:r>
              <a:rPr sz="1200" spc="-4" dirty="0">
                <a:latin typeface="Arial"/>
                <a:cs typeface="Arial"/>
              </a:rPr>
              <a:t>against?</a:t>
            </a:r>
            <a:endParaRPr sz="1200" dirty="0">
              <a:latin typeface="Arial"/>
              <a:cs typeface="Arial"/>
            </a:endParaRPr>
          </a:p>
          <a:p>
            <a:pPr marL="224314" indent="-215265">
              <a:spcBef>
                <a:spcPts val="746"/>
              </a:spcBef>
              <a:buChar char="•"/>
              <a:tabLst>
                <a:tab pos="224314" algn="l"/>
                <a:tab pos="224790" algn="l"/>
              </a:tabLst>
            </a:pPr>
            <a:r>
              <a:rPr sz="1200" spc="-4" dirty="0">
                <a:latin typeface="Arial"/>
                <a:cs typeface="Arial"/>
              </a:rPr>
              <a:t>What kind of data </a:t>
            </a:r>
            <a:r>
              <a:rPr sz="1200" spc="-8" dirty="0">
                <a:latin typeface="Arial"/>
                <a:cs typeface="Arial"/>
              </a:rPr>
              <a:t>will </a:t>
            </a:r>
            <a:r>
              <a:rPr sz="1200" spc="-4" dirty="0">
                <a:latin typeface="Arial"/>
                <a:cs typeface="Arial"/>
              </a:rPr>
              <a:t>be used to evaluate the various</a:t>
            </a:r>
            <a:r>
              <a:rPr sz="1200" spc="56" dirty="0">
                <a:latin typeface="Arial"/>
                <a:cs typeface="Arial"/>
              </a:rPr>
              <a:t> </a:t>
            </a:r>
            <a:r>
              <a:rPr sz="1200" spc="-4" dirty="0">
                <a:latin typeface="Arial"/>
                <a:cs typeface="Arial"/>
              </a:rPr>
              <a:t>models?</a:t>
            </a:r>
            <a:endParaRPr sz="1200" dirty="0">
              <a:latin typeface="Arial"/>
              <a:cs typeface="Arial"/>
            </a:endParaRPr>
          </a:p>
          <a:p>
            <a:pPr marL="224314" indent="-215265">
              <a:spcBef>
                <a:spcPts val="746"/>
              </a:spcBef>
              <a:buChar char="•"/>
              <a:tabLst>
                <a:tab pos="224314" algn="l"/>
                <a:tab pos="224790" algn="l"/>
              </a:tabLst>
            </a:pPr>
            <a:r>
              <a:rPr sz="1200" spc="-4" dirty="0">
                <a:latin typeface="Arial"/>
                <a:cs typeface="Arial"/>
              </a:rPr>
              <a:t>What </a:t>
            </a:r>
            <a:r>
              <a:rPr sz="1200" spc="-8" dirty="0">
                <a:latin typeface="Arial"/>
                <a:cs typeface="Arial"/>
              </a:rPr>
              <a:t>will </a:t>
            </a:r>
            <a:r>
              <a:rPr sz="1200" spc="-4" dirty="0">
                <a:latin typeface="Arial"/>
                <a:cs typeface="Arial"/>
              </a:rPr>
              <a:t>the models be used for and how </a:t>
            </a:r>
            <a:r>
              <a:rPr sz="1200" spc="-8" dirty="0">
                <a:latin typeface="Arial"/>
                <a:cs typeface="Arial"/>
              </a:rPr>
              <a:t>well </a:t>
            </a:r>
            <a:r>
              <a:rPr sz="1200" spc="-4" dirty="0">
                <a:latin typeface="Arial"/>
                <a:cs typeface="Arial"/>
              </a:rPr>
              <a:t>do they support that</a:t>
            </a:r>
            <a:r>
              <a:rPr sz="1200" spc="150" dirty="0">
                <a:latin typeface="Arial"/>
                <a:cs typeface="Arial"/>
              </a:rPr>
              <a:t> </a:t>
            </a:r>
            <a:r>
              <a:rPr sz="1200" spc="-4" dirty="0">
                <a:latin typeface="Arial"/>
                <a:cs typeface="Arial"/>
              </a:rPr>
              <a:t>purpose?</a:t>
            </a:r>
            <a:endParaRPr sz="1200" dirty="0">
              <a:latin typeface="Arial"/>
              <a:cs typeface="Arial"/>
            </a:endParaRPr>
          </a:p>
          <a:p>
            <a:pPr>
              <a:spcBef>
                <a:spcPts val="15"/>
              </a:spcBef>
            </a:pPr>
            <a:endParaRPr sz="1200" dirty="0">
              <a:latin typeface="Arial"/>
              <a:cs typeface="Arial"/>
            </a:endParaRPr>
          </a:p>
          <a:p>
            <a:pPr marL="9525" marR="2636996">
              <a:lnSpc>
                <a:spcPct val="149200"/>
              </a:lnSpc>
            </a:pPr>
            <a:r>
              <a:rPr b="1" spc="-4" dirty="0">
                <a:latin typeface="Arial"/>
                <a:cs typeface="Arial"/>
              </a:rPr>
              <a:t>Classification </a:t>
            </a:r>
            <a:r>
              <a:rPr b="1" dirty="0">
                <a:latin typeface="Arial"/>
                <a:cs typeface="Arial"/>
              </a:rPr>
              <a:t>or </a:t>
            </a:r>
            <a:r>
              <a:rPr b="1" spc="-4" dirty="0">
                <a:latin typeface="Arial"/>
                <a:cs typeface="Arial"/>
              </a:rPr>
              <a:t>Estimation?  </a:t>
            </a:r>
            <a:r>
              <a:rPr sz="1200" spc="-4" dirty="0">
                <a:latin typeface="Arial"/>
                <a:cs typeface="Arial"/>
              </a:rPr>
              <a:t>Discrete outputs = classification problem  Continuous outputs = estimation</a:t>
            </a:r>
            <a:r>
              <a:rPr sz="1200" spc="15" dirty="0">
                <a:latin typeface="Arial"/>
                <a:cs typeface="Arial"/>
              </a:rPr>
              <a:t> </a:t>
            </a:r>
            <a:r>
              <a:rPr sz="1200" spc="-4" dirty="0">
                <a:latin typeface="Arial"/>
                <a:cs typeface="Arial"/>
              </a:rPr>
              <a:t>problem</a:t>
            </a:r>
            <a:endParaRPr sz="1200" dirty="0">
              <a:latin typeface="Arial"/>
              <a:cs typeface="Arial"/>
            </a:endParaRPr>
          </a:p>
          <a:p>
            <a:pPr marL="9525">
              <a:spcBef>
                <a:spcPts val="758"/>
              </a:spcBef>
            </a:pPr>
            <a:r>
              <a:rPr sz="1200" spc="-4" dirty="0">
                <a:latin typeface="Arial"/>
                <a:cs typeface="Arial"/>
              </a:rPr>
              <a:t>Borderline outputs = can be either based upon the granularity of the</a:t>
            </a:r>
            <a:r>
              <a:rPr sz="1200" spc="120" dirty="0">
                <a:latin typeface="Arial"/>
                <a:cs typeface="Arial"/>
              </a:rPr>
              <a:t> </a:t>
            </a:r>
            <a:r>
              <a:rPr sz="1200" spc="-4" dirty="0">
                <a:latin typeface="Arial"/>
                <a:cs typeface="Arial"/>
              </a:rPr>
              <a:t>outputs.</a:t>
            </a:r>
            <a:endParaRPr sz="1200" dirty="0">
              <a:latin typeface="Arial"/>
              <a:cs typeface="Arial"/>
            </a:endParaRPr>
          </a:p>
        </p:txBody>
      </p:sp>
      <p:sp>
        <p:nvSpPr>
          <p:cNvPr id="4" name="Date Placeholder 3">
            <a:extLst>
              <a:ext uri="{FF2B5EF4-FFF2-40B4-BE49-F238E27FC236}">
                <a16:creationId xmlns:a16="http://schemas.microsoft.com/office/drawing/2014/main" id="{D952CE6E-9381-A6FC-1B62-DDC482E3D77D}"/>
              </a:ext>
            </a:extLst>
          </p:cNvPr>
          <p:cNvSpPr>
            <a:spLocks noGrp="1"/>
          </p:cNvSpPr>
          <p:nvPr>
            <p:ph type="dt" sz="half" idx="6"/>
          </p:nvPr>
        </p:nvSpPr>
        <p:spPr/>
        <p:txBody>
          <a:bodyPr/>
          <a:lstStyle/>
          <a:p>
            <a:fld id="{90C9FC71-F97D-674D-A93F-370CA9E85720}" type="datetime1">
              <a:rPr lang="en-US" smtClean="0"/>
              <a:t>11/17/25</a:t>
            </a:fld>
            <a:endParaRPr lang="en-US"/>
          </a:p>
        </p:txBody>
      </p:sp>
    </p:spTree>
    <p:extLst>
      <p:ext uri="{BB962C8B-B14F-4D97-AF65-F5344CB8AC3E}">
        <p14:creationId xmlns:p14="http://schemas.microsoft.com/office/powerpoint/2010/main" val="27682606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5800" y="392596"/>
            <a:ext cx="8227695" cy="517449"/>
          </a:xfrm>
          <a:prstGeom prst="rect">
            <a:avLst/>
          </a:prstGeom>
        </p:spPr>
        <p:txBody>
          <a:bodyPr vert="horz" wrap="square" lIns="0" tIns="9525" rIns="0" bIns="0" rtlCol="0">
            <a:spAutoFit/>
          </a:bodyPr>
          <a:lstStyle/>
          <a:p>
            <a:pPr marL="9525">
              <a:spcBef>
                <a:spcPts val="75"/>
              </a:spcBef>
            </a:pPr>
            <a:r>
              <a:rPr sz="3300" spc="-19" dirty="0">
                <a:solidFill>
                  <a:srgbClr val="FF0000"/>
                </a:solidFill>
              </a:rPr>
              <a:t>CLASSIFICATION </a:t>
            </a:r>
            <a:r>
              <a:rPr sz="3300" dirty="0">
                <a:solidFill>
                  <a:srgbClr val="FF0000"/>
                </a:solidFill>
              </a:rPr>
              <a:t>VERSUS</a:t>
            </a:r>
            <a:r>
              <a:rPr sz="3300" spc="-11" dirty="0">
                <a:solidFill>
                  <a:srgbClr val="FF0000"/>
                </a:solidFill>
              </a:rPr>
              <a:t> </a:t>
            </a:r>
            <a:r>
              <a:rPr sz="3300" spc="-23" dirty="0">
                <a:solidFill>
                  <a:srgbClr val="FF0000"/>
                </a:solidFill>
              </a:rPr>
              <a:t>ESTIMATION</a:t>
            </a:r>
          </a:p>
        </p:txBody>
      </p:sp>
      <p:sp>
        <p:nvSpPr>
          <p:cNvPr id="3" name="object 3"/>
          <p:cNvSpPr txBox="1">
            <a:spLocks noGrp="1"/>
          </p:cNvSpPr>
          <p:nvPr>
            <p:ph type="body" idx="1"/>
          </p:nvPr>
        </p:nvSpPr>
        <p:spPr>
          <a:xfrm>
            <a:off x="342900" y="1296593"/>
            <a:ext cx="8265160" cy="3564598"/>
          </a:xfrm>
          <a:prstGeom prst="rect">
            <a:avLst/>
          </a:prstGeom>
        </p:spPr>
        <p:txBody>
          <a:bodyPr vert="horz" wrap="square" lIns="0" tIns="117634" rIns="0" bIns="0" rtlCol="0">
            <a:spAutoFit/>
          </a:bodyPr>
          <a:lstStyle/>
          <a:p>
            <a:pPr marL="9525">
              <a:spcBef>
                <a:spcPts val="926"/>
              </a:spcBef>
            </a:pPr>
            <a:r>
              <a:rPr sz="1575" b="1" spc="-4" dirty="0"/>
              <a:t>Classification:</a:t>
            </a:r>
          </a:p>
          <a:p>
            <a:pPr marL="9525" marR="160496">
              <a:spcBef>
                <a:spcPts val="754"/>
              </a:spcBef>
            </a:pPr>
            <a:r>
              <a:rPr sz="1575" spc="-4" dirty="0">
                <a:latin typeface="Arial"/>
                <a:cs typeface="Arial"/>
              </a:rPr>
              <a:t>In classification learning, the learning scheme </a:t>
            </a:r>
            <a:r>
              <a:rPr sz="1575" dirty="0">
                <a:latin typeface="Arial"/>
                <a:cs typeface="Arial"/>
              </a:rPr>
              <a:t>is </a:t>
            </a:r>
            <a:r>
              <a:rPr sz="1575" spc="-4" dirty="0">
                <a:latin typeface="Arial"/>
                <a:cs typeface="Arial"/>
              </a:rPr>
              <a:t>presented </a:t>
            </a:r>
            <a:r>
              <a:rPr sz="1575" spc="-8" dirty="0">
                <a:latin typeface="Arial"/>
                <a:cs typeface="Arial"/>
              </a:rPr>
              <a:t>with </a:t>
            </a:r>
            <a:r>
              <a:rPr sz="1575" spc="-4" dirty="0">
                <a:latin typeface="Arial"/>
                <a:cs typeface="Arial"/>
              </a:rPr>
              <a:t>a set of classified examples from </a:t>
            </a:r>
            <a:r>
              <a:rPr sz="1575" spc="-8" dirty="0">
                <a:latin typeface="Arial"/>
                <a:cs typeface="Arial"/>
              </a:rPr>
              <a:t>which </a:t>
            </a:r>
            <a:r>
              <a:rPr sz="1575" spc="-4" dirty="0">
                <a:latin typeface="Arial"/>
                <a:cs typeface="Arial"/>
              </a:rPr>
              <a:t>it is  expected to learn a </a:t>
            </a:r>
            <a:r>
              <a:rPr sz="1575" spc="-8" dirty="0">
                <a:latin typeface="Arial"/>
                <a:cs typeface="Arial"/>
              </a:rPr>
              <a:t>way </a:t>
            </a:r>
            <a:r>
              <a:rPr sz="1575" spc="-4" dirty="0">
                <a:latin typeface="Arial"/>
                <a:cs typeface="Arial"/>
              </a:rPr>
              <a:t>of classifying unseen</a:t>
            </a:r>
            <a:r>
              <a:rPr sz="1575" spc="38" dirty="0">
                <a:latin typeface="Arial"/>
                <a:cs typeface="Arial"/>
              </a:rPr>
              <a:t> </a:t>
            </a:r>
            <a:r>
              <a:rPr sz="1575" spc="-4" dirty="0">
                <a:latin typeface="Arial"/>
                <a:cs typeface="Arial"/>
              </a:rPr>
              <a:t>examples.</a:t>
            </a:r>
            <a:endParaRPr sz="1575" dirty="0">
              <a:latin typeface="Arial"/>
              <a:cs typeface="Arial"/>
            </a:endParaRPr>
          </a:p>
          <a:p>
            <a:pPr marL="9525" marR="67628">
              <a:spcBef>
                <a:spcPts val="746"/>
              </a:spcBef>
            </a:pPr>
            <a:r>
              <a:rPr sz="1575" spc="-4" dirty="0">
                <a:latin typeface="Arial"/>
                <a:cs typeface="Arial"/>
              </a:rPr>
              <a:t>In plain English, the main idea behind classification is it uses 2 values, it is either </a:t>
            </a:r>
            <a:r>
              <a:rPr sz="1575" spc="-8" dirty="0">
                <a:latin typeface="Arial"/>
                <a:cs typeface="Arial"/>
              </a:rPr>
              <a:t>yes </a:t>
            </a:r>
            <a:r>
              <a:rPr sz="1575" spc="-4" dirty="0">
                <a:latin typeface="Arial"/>
                <a:cs typeface="Arial"/>
              </a:rPr>
              <a:t>or no, 1 or 0. It may  belong to a single class not both. The algorithm will then learn how to predict future unseen data based upon  the training</a:t>
            </a:r>
            <a:r>
              <a:rPr sz="1575" spc="-8" dirty="0">
                <a:latin typeface="Arial"/>
                <a:cs typeface="Arial"/>
              </a:rPr>
              <a:t> </a:t>
            </a:r>
            <a:r>
              <a:rPr sz="1575" spc="-4" dirty="0">
                <a:latin typeface="Arial"/>
                <a:cs typeface="Arial"/>
              </a:rPr>
              <a:t>data.</a:t>
            </a:r>
            <a:endParaRPr sz="1575" dirty="0">
              <a:latin typeface="Arial"/>
              <a:cs typeface="Arial"/>
            </a:endParaRPr>
          </a:p>
          <a:p>
            <a:pPr marL="9525"/>
            <a:r>
              <a:rPr sz="1575" b="1" spc="-4" dirty="0"/>
              <a:t>Estimation:</a:t>
            </a:r>
          </a:p>
          <a:p>
            <a:pPr marL="9525" marR="3810">
              <a:spcBef>
                <a:spcPts val="754"/>
              </a:spcBef>
            </a:pPr>
            <a:r>
              <a:rPr sz="1575" spc="-4" dirty="0">
                <a:latin typeface="Arial"/>
                <a:cs typeface="Arial"/>
              </a:rPr>
              <a:t>In estimation, the classification of the data is not based on an absolute value (IE 0 or 1) but rather on real  numbers between 0 and 1. So what if the value sits between </a:t>
            </a:r>
            <a:r>
              <a:rPr sz="1575" spc="-8" dirty="0">
                <a:latin typeface="Arial"/>
                <a:cs typeface="Arial"/>
              </a:rPr>
              <a:t>two </a:t>
            </a:r>
            <a:r>
              <a:rPr sz="1575" spc="-4" dirty="0">
                <a:latin typeface="Arial"/>
                <a:cs typeface="Arial"/>
              </a:rPr>
              <a:t>classes? For example, 0,5 could fall into  either class however if the classes state </a:t>
            </a:r>
            <a:r>
              <a:rPr sz="1575" dirty="0">
                <a:solidFill>
                  <a:srgbClr val="FF0000"/>
                </a:solidFill>
                <a:latin typeface="Arial"/>
                <a:cs typeface="Arial"/>
              </a:rPr>
              <a:t>0-0,49</a:t>
            </a:r>
            <a:r>
              <a:rPr sz="1575" dirty="0">
                <a:latin typeface="Arial"/>
                <a:cs typeface="Arial"/>
              </a:rPr>
              <a:t> </a:t>
            </a:r>
            <a:r>
              <a:rPr sz="1575" spc="-4" dirty="0">
                <a:latin typeface="Arial"/>
                <a:cs typeface="Arial"/>
              </a:rPr>
              <a:t>and 0,5 to 1 then it </a:t>
            </a:r>
            <a:r>
              <a:rPr sz="1575" spc="-8" dirty="0">
                <a:latin typeface="Arial"/>
                <a:cs typeface="Arial"/>
              </a:rPr>
              <a:t>would </a:t>
            </a:r>
            <a:r>
              <a:rPr sz="1575" spc="-4" dirty="0">
                <a:latin typeface="Arial"/>
                <a:cs typeface="Arial"/>
              </a:rPr>
              <a:t>inevitably fall into the later class.  When the model is first designed, a set of predefined classes are laid out in order to prevent a data point from  </a:t>
            </a:r>
            <a:r>
              <a:rPr sz="1575" spc="-8" dirty="0">
                <a:latin typeface="Arial"/>
                <a:cs typeface="Arial"/>
              </a:rPr>
              <a:t>lying </a:t>
            </a:r>
            <a:r>
              <a:rPr sz="1575" spc="-4" dirty="0">
                <a:latin typeface="Arial"/>
                <a:cs typeface="Arial"/>
              </a:rPr>
              <a:t>between </a:t>
            </a:r>
            <a:r>
              <a:rPr sz="1575" spc="-8" dirty="0">
                <a:latin typeface="Arial"/>
                <a:cs typeface="Arial"/>
              </a:rPr>
              <a:t>two </a:t>
            </a:r>
            <a:r>
              <a:rPr sz="1575" spc="-4" dirty="0">
                <a:latin typeface="Arial"/>
                <a:cs typeface="Arial"/>
              </a:rPr>
              <a:t>or more</a:t>
            </a:r>
            <a:r>
              <a:rPr sz="1575" spc="56" dirty="0">
                <a:latin typeface="Arial"/>
                <a:cs typeface="Arial"/>
              </a:rPr>
              <a:t> </a:t>
            </a:r>
            <a:r>
              <a:rPr sz="1575" spc="-4" dirty="0">
                <a:latin typeface="Arial"/>
                <a:cs typeface="Arial"/>
              </a:rPr>
              <a:t>categories.</a:t>
            </a:r>
            <a:endParaRPr sz="1575" dirty="0">
              <a:latin typeface="Arial"/>
              <a:cs typeface="Arial"/>
            </a:endParaRPr>
          </a:p>
        </p:txBody>
      </p:sp>
      <p:sp>
        <p:nvSpPr>
          <p:cNvPr id="4" name="Date Placeholder 3">
            <a:extLst>
              <a:ext uri="{FF2B5EF4-FFF2-40B4-BE49-F238E27FC236}">
                <a16:creationId xmlns:a16="http://schemas.microsoft.com/office/drawing/2014/main" id="{C14C55E1-4A4B-21D3-DBE7-1709E313D07A}"/>
              </a:ext>
            </a:extLst>
          </p:cNvPr>
          <p:cNvSpPr>
            <a:spLocks noGrp="1"/>
          </p:cNvSpPr>
          <p:nvPr>
            <p:ph type="dt" sz="half" idx="6"/>
          </p:nvPr>
        </p:nvSpPr>
        <p:spPr/>
        <p:txBody>
          <a:bodyPr/>
          <a:lstStyle/>
          <a:p>
            <a:fld id="{FA8036C8-A8FF-C441-966E-ADFBE60FB2CA}" type="datetime1">
              <a:rPr lang="en-US" smtClean="0"/>
              <a:t>11/17/25</a:t>
            </a:fld>
            <a:endParaRPr lang="en-US"/>
          </a:p>
        </p:txBody>
      </p:sp>
    </p:spTree>
    <p:extLst>
      <p:ext uri="{BB962C8B-B14F-4D97-AF65-F5344CB8AC3E}">
        <p14:creationId xmlns:p14="http://schemas.microsoft.com/office/powerpoint/2010/main" val="39167614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73405" y="779145"/>
            <a:ext cx="8113395" cy="586699"/>
          </a:xfrm>
          <a:prstGeom prst="rect">
            <a:avLst/>
          </a:prstGeom>
        </p:spPr>
        <p:txBody>
          <a:bodyPr vert="horz" wrap="square" lIns="0" tIns="9525" rIns="0" bIns="0" rtlCol="0">
            <a:spAutoFit/>
          </a:bodyPr>
          <a:lstStyle/>
          <a:p>
            <a:pPr marL="9525">
              <a:spcBef>
                <a:spcPts val="75"/>
              </a:spcBef>
            </a:pPr>
            <a:r>
              <a:rPr sz="3000" spc="-53" dirty="0">
                <a:solidFill>
                  <a:srgbClr val="FF0000"/>
                </a:solidFill>
              </a:rPr>
              <a:t>WHAT </a:t>
            </a:r>
            <a:r>
              <a:rPr sz="3000" dirty="0">
                <a:solidFill>
                  <a:srgbClr val="FF0000"/>
                </a:solidFill>
              </a:rPr>
              <a:t>ARE THE INPUTS </a:t>
            </a:r>
            <a:r>
              <a:rPr sz="3000" spc="-4" dirty="0">
                <a:solidFill>
                  <a:srgbClr val="FF0000"/>
                </a:solidFill>
              </a:rPr>
              <a:t>AND</a:t>
            </a:r>
            <a:r>
              <a:rPr sz="3000" spc="-416" dirty="0">
                <a:solidFill>
                  <a:srgbClr val="FF0000"/>
                </a:solidFill>
              </a:rPr>
              <a:t> </a:t>
            </a:r>
            <a:r>
              <a:rPr sz="3000" dirty="0">
                <a:solidFill>
                  <a:srgbClr val="FF0000"/>
                </a:solidFill>
              </a:rPr>
              <a:t>OUTPUTS</a:t>
            </a:r>
            <a:r>
              <a:rPr dirty="0"/>
              <a:t>?</a:t>
            </a:r>
          </a:p>
        </p:txBody>
      </p:sp>
      <p:sp>
        <p:nvSpPr>
          <p:cNvPr id="3" name="object 3"/>
          <p:cNvSpPr txBox="1"/>
          <p:nvPr/>
        </p:nvSpPr>
        <p:spPr>
          <a:xfrm>
            <a:off x="228600" y="1831848"/>
            <a:ext cx="8686800" cy="2734723"/>
          </a:xfrm>
          <a:prstGeom prst="rect">
            <a:avLst/>
          </a:prstGeom>
        </p:spPr>
        <p:txBody>
          <a:bodyPr vert="horz" wrap="square" lIns="0" tIns="9525" rIns="0" bIns="0" rtlCol="0">
            <a:spAutoFit/>
          </a:bodyPr>
          <a:lstStyle/>
          <a:p>
            <a:pPr marL="9525" marR="711994">
              <a:lnSpc>
                <a:spcPct val="146100"/>
              </a:lnSpc>
              <a:spcBef>
                <a:spcPts val="75"/>
              </a:spcBef>
            </a:pPr>
            <a:r>
              <a:rPr sz="2400" b="1" spc="-23" dirty="0">
                <a:latin typeface="Arial"/>
                <a:cs typeface="Arial"/>
              </a:rPr>
              <a:t>An </a:t>
            </a:r>
            <a:r>
              <a:rPr sz="2400" b="1" spc="-4" dirty="0">
                <a:latin typeface="Arial"/>
                <a:cs typeface="Arial"/>
              </a:rPr>
              <a:t>example: </a:t>
            </a:r>
            <a:r>
              <a:rPr sz="2400" b="1" dirty="0">
                <a:latin typeface="Arial"/>
                <a:cs typeface="Arial"/>
              </a:rPr>
              <a:t>The inputs and outputs </a:t>
            </a:r>
            <a:r>
              <a:rPr sz="2400" b="1" spc="8" dirty="0">
                <a:latin typeface="Arial"/>
                <a:cs typeface="Arial"/>
              </a:rPr>
              <a:t>when </a:t>
            </a:r>
            <a:r>
              <a:rPr sz="2400" b="1" spc="-4" dirty="0">
                <a:latin typeface="Arial"/>
                <a:cs typeface="Arial"/>
              </a:rPr>
              <a:t>classifying </a:t>
            </a:r>
            <a:r>
              <a:rPr sz="2400" b="1" dirty="0">
                <a:latin typeface="Arial"/>
                <a:cs typeface="Arial"/>
              </a:rPr>
              <a:t>loan </a:t>
            </a:r>
            <a:r>
              <a:rPr sz="2400" b="1" spc="-4" dirty="0">
                <a:latin typeface="Arial"/>
                <a:cs typeface="Arial"/>
              </a:rPr>
              <a:t>application at a bank.  </a:t>
            </a:r>
            <a:r>
              <a:rPr sz="2400" b="1" dirty="0">
                <a:latin typeface="Arial"/>
                <a:cs typeface="Arial"/>
              </a:rPr>
              <a:t>Outputs:</a:t>
            </a:r>
            <a:endParaRPr sz="2400" dirty="0">
              <a:latin typeface="Arial"/>
              <a:cs typeface="Arial"/>
            </a:endParaRPr>
          </a:p>
          <a:p>
            <a:pPr marL="9525">
              <a:spcBef>
                <a:spcPts val="754"/>
              </a:spcBef>
            </a:pPr>
            <a:r>
              <a:rPr sz="2100" spc="-4" dirty="0">
                <a:latin typeface="Arial"/>
                <a:cs typeface="Arial"/>
              </a:rPr>
              <a:t>The </a:t>
            </a:r>
            <a:r>
              <a:rPr sz="2100" spc="-8" dirty="0">
                <a:latin typeface="Arial"/>
                <a:cs typeface="Arial"/>
              </a:rPr>
              <a:t>outputs </a:t>
            </a:r>
            <a:r>
              <a:rPr sz="2100" spc="-4" dirty="0">
                <a:latin typeface="Arial"/>
                <a:cs typeface="Arial"/>
              </a:rPr>
              <a:t>could possibly be “high risk” or “low</a:t>
            </a:r>
            <a:r>
              <a:rPr sz="2100" spc="15" dirty="0">
                <a:latin typeface="Arial"/>
                <a:cs typeface="Arial"/>
              </a:rPr>
              <a:t> </a:t>
            </a:r>
            <a:r>
              <a:rPr sz="2100" spc="-4" dirty="0">
                <a:latin typeface="Arial"/>
                <a:cs typeface="Arial"/>
              </a:rPr>
              <a:t>risk”</a:t>
            </a:r>
            <a:endParaRPr sz="2100" dirty="0">
              <a:latin typeface="Arial"/>
              <a:cs typeface="Arial"/>
            </a:endParaRPr>
          </a:p>
          <a:p>
            <a:pPr marL="9525">
              <a:spcBef>
                <a:spcPts val="750"/>
              </a:spcBef>
            </a:pPr>
            <a:r>
              <a:rPr sz="2400" b="1" dirty="0">
                <a:latin typeface="Arial"/>
                <a:cs typeface="Arial"/>
              </a:rPr>
              <a:t>Inputs</a:t>
            </a:r>
            <a:r>
              <a:rPr sz="2400" dirty="0">
                <a:latin typeface="Arial"/>
                <a:cs typeface="Arial"/>
              </a:rPr>
              <a:t>:</a:t>
            </a:r>
          </a:p>
          <a:p>
            <a:pPr marL="9525" marR="3810">
              <a:spcBef>
                <a:spcPts val="754"/>
              </a:spcBef>
            </a:pPr>
            <a:r>
              <a:rPr sz="2100" spc="-4" dirty="0">
                <a:latin typeface="Arial"/>
                <a:cs typeface="Arial"/>
              </a:rPr>
              <a:t>The inputs may current </a:t>
            </a:r>
            <a:r>
              <a:rPr sz="2100" spc="-19" dirty="0">
                <a:latin typeface="Arial"/>
                <a:cs typeface="Arial"/>
              </a:rPr>
              <a:t>salary, </a:t>
            </a:r>
            <a:r>
              <a:rPr sz="2100" spc="-4" dirty="0">
                <a:latin typeface="Arial"/>
                <a:cs typeface="Arial"/>
              </a:rPr>
              <a:t>outstanding liabilities, bank account balances, other income, number of </a:t>
            </a:r>
            <a:r>
              <a:rPr sz="2100" spc="-8" dirty="0">
                <a:latin typeface="Arial"/>
                <a:cs typeface="Arial"/>
              </a:rPr>
              <a:t>years  </a:t>
            </a:r>
            <a:r>
              <a:rPr sz="2100" spc="-4" dirty="0">
                <a:latin typeface="Arial"/>
                <a:cs typeface="Arial"/>
              </a:rPr>
              <a:t>employed.</a:t>
            </a:r>
            <a:endParaRPr sz="2100" dirty="0">
              <a:latin typeface="Arial"/>
              <a:cs typeface="Arial"/>
            </a:endParaRPr>
          </a:p>
        </p:txBody>
      </p:sp>
      <p:sp>
        <p:nvSpPr>
          <p:cNvPr id="4" name="Date Placeholder 3">
            <a:extLst>
              <a:ext uri="{FF2B5EF4-FFF2-40B4-BE49-F238E27FC236}">
                <a16:creationId xmlns:a16="http://schemas.microsoft.com/office/drawing/2014/main" id="{742F5FC3-9F7C-1BB5-7282-84362963EF19}"/>
              </a:ext>
            </a:extLst>
          </p:cNvPr>
          <p:cNvSpPr>
            <a:spLocks noGrp="1"/>
          </p:cNvSpPr>
          <p:nvPr>
            <p:ph type="dt" sz="half" idx="6"/>
          </p:nvPr>
        </p:nvSpPr>
        <p:spPr/>
        <p:txBody>
          <a:bodyPr/>
          <a:lstStyle/>
          <a:p>
            <a:fld id="{62F479CA-91AF-FC42-B098-95DF1C52D119}" type="datetime1">
              <a:rPr lang="en-US" smtClean="0"/>
              <a:t>11/17/25</a:t>
            </a:fld>
            <a:endParaRPr lang="en-US"/>
          </a:p>
        </p:txBody>
      </p:sp>
    </p:spTree>
    <p:extLst>
      <p:ext uri="{BB962C8B-B14F-4D97-AF65-F5344CB8AC3E}">
        <p14:creationId xmlns:p14="http://schemas.microsoft.com/office/powerpoint/2010/main" val="8867243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86100" y="412396"/>
            <a:ext cx="5427345" cy="563616"/>
          </a:xfrm>
          <a:prstGeom prst="rect">
            <a:avLst/>
          </a:prstGeom>
        </p:spPr>
        <p:txBody>
          <a:bodyPr vert="horz" wrap="square" lIns="0" tIns="9525" rIns="0" bIns="0" rtlCol="0">
            <a:spAutoFit/>
          </a:bodyPr>
          <a:lstStyle/>
          <a:p>
            <a:pPr marL="9525">
              <a:spcBef>
                <a:spcPts val="75"/>
              </a:spcBef>
            </a:pPr>
            <a:r>
              <a:rPr sz="3600" spc="-30" dirty="0">
                <a:solidFill>
                  <a:srgbClr val="FF0000"/>
                </a:solidFill>
              </a:rPr>
              <a:t>IMPORTANT</a:t>
            </a:r>
            <a:r>
              <a:rPr sz="3600" spc="-113" dirty="0">
                <a:solidFill>
                  <a:srgbClr val="FF0000"/>
                </a:solidFill>
              </a:rPr>
              <a:t> </a:t>
            </a:r>
            <a:r>
              <a:rPr sz="3600" dirty="0">
                <a:solidFill>
                  <a:srgbClr val="FF0000"/>
                </a:solidFill>
              </a:rPr>
              <a:t>ISSUES</a:t>
            </a:r>
          </a:p>
        </p:txBody>
      </p:sp>
      <p:sp>
        <p:nvSpPr>
          <p:cNvPr id="3" name="object 3"/>
          <p:cNvSpPr txBox="1"/>
          <p:nvPr/>
        </p:nvSpPr>
        <p:spPr>
          <a:xfrm>
            <a:off x="514350" y="742950"/>
            <a:ext cx="8399145" cy="4081406"/>
          </a:xfrm>
          <a:prstGeom prst="rect">
            <a:avLst/>
          </a:prstGeom>
        </p:spPr>
        <p:txBody>
          <a:bodyPr vert="horz" wrap="square" lIns="0" tIns="117634" rIns="0" bIns="0" rtlCol="0">
            <a:spAutoFit/>
          </a:bodyPr>
          <a:lstStyle/>
          <a:p>
            <a:pPr marL="9525">
              <a:spcBef>
                <a:spcPts val="926"/>
              </a:spcBef>
            </a:pPr>
            <a:r>
              <a:rPr sz="2100" b="1" spc="-4" dirty="0">
                <a:latin typeface="Arial"/>
                <a:cs typeface="Arial"/>
              </a:rPr>
              <a:t>Causal and Non-Causal</a:t>
            </a:r>
            <a:r>
              <a:rPr sz="2100" b="1" spc="11" dirty="0">
                <a:latin typeface="Arial"/>
                <a:cs typeface="Arial"/>
              </a:rPr>
              <a:t> </a:t>
            </a:r>
            <a:r>
              <a:rPr sz="2100" b="1" dirty="0">
                <a:latin typeface="Arial"/>
                <a:cs typeface="Arial"/>
              </a:rPr>
              <a:t>outputs:</a:t>
            </a:r>
            <a:endParaRPr sz="2100" dirty="0">
              <a:latin typeface="Arial"/>
              <a:cs typeface="Arial"/>
            </a:endParaRPr>
          </a:p>
          <a:p>
            <a:pPr marL="9525" marR="14764">
              <a:spcBef>
                <a:spcPts val="754"/>
              </a:spcBef>
            </a:pPr>
            <a:r>
              <a:rPr sz="1800" spc="-4" dirty="0">
                <a:latin typeface="Arial"/>
                <a:cs typeface="Arial"/>
              </a:rPr>
              <a:t>Causal attributes occur </a:t>
            </a:r>
            <a:r>
              <a:rPr sz="1800" spc="-8" dirty="0">
                <a:latin typeface="Arial"/>
                <a:cs typeface="Arial"/>
              </a:rPr>
              <a:t>when </a:t>
            </a:r>
            <a:r>
              <a:rPr sz="1800" spc="-4" dirty="0">
                <a:latin typeface="Arial"/>
                <a:cs typeface="Arial"/>
              </a:rPr>
              <a:t>one attribute causes </a:t>
            </a:r>
            <a:r>
              <a:rPr sz="1800" spc="-11" dirty="0">
                <a:latin typeface="Arial"/>
                <a:cs typeface="Arial"/>
              </a:rPr>
              <a:t>another. </a:t>
            </a:r>
            <a:r>
              <a:rPr sz="1800" spc="-4" dirty="0">
                <a:latin typeface="Arial"/>
                <a:cs typeface="Arial"/>
              </a:rPr>
              <a:t>Meaning it is used to predict another attribute or it  is included in the calculation. It is important to avoid using non-causal attributes as they produce a model not a  representation of the future</a:t>
            </a:r>
            <a:r>
              <a:rPr sz="1800" spc="41" dirty="0">
                <a:latin typeface="Arial"/>
                <a:cs typeface="Arial"/>
              </a:rPr>
              <a:t> </a:t>
            </a:r>
            <a:r>
              <a:rPr sz="1800" spc="-4" dirty="0">
                <a:latin typeface="Arial"/>
                <a:cs typeface="Arial"/>
              </a:rPr>
              <a:t>data.</a:t>
            </a:r>
            <a:endParaRPr sz="1800" dirty="0">
              <a:latin typeface="Arial"/>
              <a:cs typeface="Arial"/>
            </a:endParaRPr>
          </a:p>
          <a:p>
            <a:pPr marL="9525">
              <a:spcBef>
                <a:spcPts val="750"/>
              </a:spcBef>
            </a:pPr>
            <a:r>
              <a:rPr sz="2100" b="1" dirty="0">
                <a:latin typeface="Arial"/>
                <a:cs typeface="Arial"/>
              </a:rPr>
              <a:t>Inputs:</a:t>
            </a:r>
            <a:endParaRPr sz="2100" dirty="0">
              <a:latin typeface="Arial"/>
              <a:cs typeface="Arial"/>
            </a:endParaRPr>
          </a:p>
          <a:p>
            <a:pPr marL="9525" marR="283845">
              <a:spcBef>
                <a:spcPts val="754"/>
              </a:spcBef>
            </a:pPr>
            <a:r>
              <a:rPr sz="1800" spc="-4" dirty="0">
                <a:latin typeface="Arial"/>
                <a:cs typeface="Arial"/>
              </a:rPr>
              <a:t>The inputs must contain enough information to be able to generate the desired output. If the inputs contain  insufficient data the accuracy of the final model </a:t>
            </a:r>
            <a:r>
              <a:rPr sz="1800" spc="-8" dirty="0">
                <a:latin typeface="Arial"/>
                <a:cs typeface="Arial"/>
              </a:rPr>
              <a:t>will </a:t>
            </a:r>
            <a:r>
              <a:rPr sz="1800" spc="-4" dirty="0">
                <a:latin typeface="Arial"/>
                <a:cs typeface="Arial"/>
              </a:rPr>
              <a:t>inevitably</a:t>
            </a:r>
            <a:r>
              <a:rPr sz="1800" spc="26" dirty="0">
                <a:latin typeface="Arial"/>
                <a:cs typeface="Arial"/>
              </a:rPr>
              <a:t> </a:t>
            </a:r>
            <a:r>
              <a:rPr sz="1800" spc="-4" dirty="0">
                <a:latin typeface="Arial"/>
                <a:cs typeface="Arial"/>
              </a:rPr>
              <a:t>decrease.</a:t>
            </a:r>
            <a:endParaRPr sz="1800" dirty="0">
              <a:latin typeface="Arial"/>
              <a:cs typeface="Arial"/>
            </a:endParaRPr>
          </a:p>
          <a:p>
            <a:pPr marL="9525">
              <a:spcBef>
                <a:spcPts val="743"/>
              </a:spcBef>
            </a:pPr>
            <a:r>
              <a:rPr sz="2100" b="1" spc="-4" dirty="0">
                <a:latin typeface="Arial"/>
                <a:cs typeface="Arial"/>
              </a:rPr>
              <a:t>Data set:</a:t>
            </a:r>
            <a:endParaRPr sz="2100" dirty="0">
              <a:latin typeface="Arial"/>
              <a:cs typeface="Arial"/>
            </a:endParaRPr>
          </a:p>
          <a:p>
            <a:pPr marL="9525" marR="3810">
              <a:spcBef>
                <a:spcPts val="754"/>
              </a:spcBef>
            </a:pPr>
            <a:r>
              <a:rPr sz="1800" spc="-4" dirty="0">
                <a:latin typeface="Arial"/>
                <a:cs typeface="Arial"/>
              </a:rPr>
              <a:t>The data chosen must be an accurate representation of the future data set. If it is not the accuracy </a:t>
            </a:r>
            <a:r>
              <a:rPr sz="1800" spc="-8" dirty="0">
                <a:latin typeface="Arial"/>
                <a:cs typeface="Arial"/>
              </a:rPr>
              <a:t>when trying  </a:t>
            </a:r>
            <a:r>
              <a:rPr sz="1800" spc="-4" dirty="0">
                <a:latin typeface="Arial"/>
                <a:cs typeface="Arial"/>
              </a:rPr>
              <a:t>to predict the future </a:t>
            </a:r>
            <a:r>
              <a:rPr sz="1800" spc="-8" dirty="0">
                <a:latin typeface="Arial"/>
                <a:cs typeface="Arial"/>
              </a:rPr>
              <a:t>will </a:t>
            </a:r>
            <a:r>
              <a:rPr sz="1800" spc="-4" dirty="0">
                <a:latin typeface="Arial"/>
                <a:cs typeface="Arial"/>
              </a:rPr>
              <a:t>produce undesired</a:t>
            </a:r>
            <a:r>
              <a:rPr sz="1800" spc="38" dirty="0">
                <a:latin typeface="Arial"/>
                <a:cs typeface="Arial"/>
              </a:rPr>
              <a:t> </a:t>
            </a:r>
            <a:r>
              <a:rPr sz="1800" spc="-4" dirty="0">
                <a:latin typeface="Arial"/>
                <a:cs typeface="Arial"/>
              </a:rPr>
              <a:t>outputs.</a:t>
            </a:r>
            <a:endParaRPr sz="1800" dirty="0">
              <a:latin typeface="Arial"/>
              <a:cs typeface="Arial"/>
            </a:endParaRPr>
          </a:p>
        </p:txBody>
      </p:sp>
      <p:sp>
        <p:nvSpPr>
          <p:cNvPr id="4" name="Date Placeholder 3">
            <a:extLst>
              <a:ext uri="{FF2B5EF4-FFF2-40B4-BE49-F238E27FC236}">
                <a16:creationId xmlns:a16="http://schemas.microsoft.com/office/drawing/2014/main" id="{877F8134-AFCB-8180-2DE0-F0B75D0AF10D}"/>
              </a:ext>
            </a:extLst>
          </p:cNvPr>
          <p:cNvSpPr>
            <a:spLocks noGrp="1"/>
          </p:cNvSpPr>
          <p:nvPr>
            <p:ph type="dt" sz="half" idx="6"/>
          </p:nvPr>
        </p:nvSpPr>
        <p:spPr/>
        <p:txBody>
          <a:bodyPr/>
          <a:lstStyle/>
          <a:p>
            <a:fld id="{F2E0654B-9ACD-6D44-ACDB-401E18FD89A3}" type="datetime1">
              <a:rPr lang="en-US" smtClean="0"/>
              <a:t>11/17/25</a:t>
            </a:fld>
            <a:endParaRPr lang="en-US"/>
          </a:p>
        </p:txBody>
      </p:sp>
    </p:spTree>
    <p:extLst>
      <p:ext uri="{BB962C8B-B14F-4D97-AF65-F5344CB8AC3E}">
        <p14:creationId xmlns:p14="http://schemas.microsoft.com/office/powerpoint/2010/main" val="26730105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73405" y="779145"/>
            <a:ext cx="7313295" cy="586699"/>
          </a:xfrm>
          <a:prstGeom prst="rect">
            <a:avLst/>
          </a:prstGeom>
        </p:spPr>
        <p:txBody>
          <a:bodyPr vert="horz" wrap="square" lIns="0" tIns="9525" rIns="0" bIns="0" rtlCol="0">
            <a:spAutoFit/>
          </a:bodyPr>
          <a:lstStyle/>
          <a:p>
            <a:pPr marL="9525">
              <a:spcBef>
                <a:spcPts val="75"/>
              </a:spcBef>
            </a:pPr>
            <a:r>
              <a:rPr dirty="0">
                <a:solidFill>
                  <a:srgbClr val="FF0000"/>
                </a:solidFill>
              </a:rPr>
              <a:t>HOW </a:t>
            </a:r>
            <a:r>
              <a:rPr spc="-4" dirty="0">
                <a:solidFill>
                  <a:srgbClr val="FF0000"/>
                </a:solidFill>
              </a:rPr>
              <a:t>MUCH </a:t>
            </a:r>
            <a:r>
              <a:rPr spc="-101" dirty="0">
                <a:solidFill>
                  <a:srgbClr val="FF0000"/>
                </a:solidFill>
              </a:rPr>
              <a:t>DATA </a:t>
            </a:r>
            <a:r>
              <a:rPr dirty="0">
                <a:solidFill>
                  <a:srgbClr val="FF0000"/>
                </a:solidFill>
              </a:rPr>
              <a:t>IS</a:t>
            </a:r>
            <a:r>
              <a:rPr spc="-116" dirty="0">
                <a:solidFill>
                  <a:srgbClr val="FF0000"/>
                </a:solidFill>
              </a:rPr>
              <a:t> </a:t>
            </a:r>
            <a:r>
              <a:rPr dirty="0">
                <a:solidFill>
                  <a:srgbClr val="FF0000"/>
                </a:solidFill>
              </a:rPr>
              <a:t>ENOUGH</a:t>
            </a:r>
          </a:p>
        </p:txBody>
      </p:sp>
      <p:sp>
        <p:nvSpPr>
          <p:cNvPr id="3" name="object 3"/>
          <p:cNvSpPr txBox="1"/>
          <p:nvPr/>
        </p:nvSpPr>
        <p:spPr>
          <a:xfrm>
            <a:off x="573405" y="1403222"/>
            <a:ext cx="5040630" cy="2507738"/>
          </a:xfrm>
          <a:prstGeom prst="rect">
            <a:avLst/>
          </a:prstGeom>
        </p:spPr>
        <p:txBody>
          <a:bodyPr vert="horz" wrap="square" lIns="0" tIns="9525" rIns="0" bIns="0" rtlCol="0">
            <a:spAutoFit/>
          </a:bodyPr>
          <a:lstStyle/>
          <a:p>
            <a:pPr marL="9525" marR="3810">
              <a:spcBef>
                <a:spcPts val="75"/>
              </a:spcBef>
            </a:pPr>
            <a:r>
              <a:rPr b="1" spc="-8" dirty="0">
                <a:latin typeface="Arial"/>
                <a:cs typeface="Arial"/>
              </a:rPr>
              <a:t>Key: </a:t>
            </a:r>
            <a:r>
              <a:rPr b="1" dirty="0">
                <a:latin typeface="Arial"/>
                <a:cs typeface="Arial"/>
              </a:rPr>
              <a:t>The </a:t>
            </a:r>
            <a:r>
              <a:rPr b="1" spc="-4" dirty="0">
                <a:latin typeface="Arial"/>
                <a:cs typeface="Arial"/>
              </a:rPr>
              <a:t>amount </a:t>
            </a:r>
            <a:r>
              <a:rPr b="1" dirty="0">
                <a:latin typeface="Arial"/>
                <a:cs typeface="Arial"/>
              </a:rPr>
              <a:t>of data </a:t>
            </a:r>
            <a:r>
              <a:rPr b="1" spc="-4" dirty="0">
                <a:latin typeface="Arial"/>
                <a:cs typeface="Arial"/>
              </a:rPr>
              <a:t>required depends </a:t>
            </a:r>
            <a:r>
              <a:rPr b="1" dirty="0">
                <a:latin typeface="Arial"/>
                <a:cs typeface="Arial"/>
              </a:rPr>
              <a:t>on </a:t>
            </a:r>
            <a:r>
              <a:rPr b="1" spc="-4" dirty="0">
                <a:latin typeface="Arial"/>
                <a:cs typeface="Arial"/>
              </a:rPr>
              <a:t>the </a:t>
            </a:r>
            <a:r>
              <a:rPr b="1" dirty="0">
                <a:latin typeface="Arial"/>
                <a:cs typeface="Arial"/>
              </a:rPr>
              <a:t>problem  </a:t>
            </a:r>
            <a:r>
              <a:rPr b="1" spc="-4" dirty="0">
                <a:latin typeface="Arial"/>
                <a:cs typeface="Arial"/>
              </a:rPr>
              <a:t>complexity as </a:t>
            </a:r>
            <a:r>
              <a:rPr b="1" spc="8" dirty="0">
                <a:latin typeface="Arial"/>
                <a:cs typeface="Arial"/>
              </a:rPr>
              <a:t>well </a:t>
            </a:r>
            <a:r>
              <a:rPr b="1" spc="-4" dirty="0">
                <a:latin typeface="Arial"/>
                <a:cs typeface="Arial"/>
              </a:rPr>
              <a:t>as the amount </a:t>
            </a:r>
            <a:r>
              <a:rPr b="1" dirty="0">
                <a:latin typeface="Arial"/>
                <a:cs typeface="Arial"/>
              </a:rPr>
              <a:t>of noise in </a:t>
            </a:r>
            <a:r>
              <a:rPr b="1" spc="-4" dirty="0">
                <a:latin typeface="Arial"/>
                <a:cs typeface="Arial"/>
              </a:rPr>
              <a:t>the</a:t>
            </a:r>
            <a:r>
              <a:rPr b="1" spc="-53" dirty="0">
                <a:latin typeface="Arial"/>
                <a:cs typeface="Arial"/>
              </a:rPr>
              <a:t> </a:t>
            </a:r>
            <a:r>
              <a:rPr b="1" spc="-4" dirty="0">
                <a:latin typeface="Arial"/>
                <a:cs typeface="Arial"/>
              </a:rPr>
              <a:t>data.</a:t>
            </a:r>
            <a:endParaRPr dirty="0">
              <a:latin typeface="Arial"/>
              <a:cs typeface="Arial"/>
            </a:endParaRPr>
          </a:p>
          <a:p>
            <a:pPr marL="9525" marR="205264">
              <a:spcBef>
                <a:spcPts val="750"/>
              </a:spcBef>
            </a:pPr>
            <a:r>
              <a:rPr sz="1200" spc="-4" dirty="0">
                <a:latin typeface="Arial"/>
                <a:cs typeface="Arial"/>
              </a:rPr>
              <a:t>Each learning algorithm follows its </a:t>
            </a:r>
            <a:r>
              <a:rPr sz="1200" spc="-8" dirty="0">
                <a:latin typeface="Arial"/>
                <a:cs typeface="Arial"/>
              </a:rPr>
              <a:t>own </a:t>
            </a:r>
            <a:r>
              <a:rPr sz="1200" spc="-4" dirty="0">
                <a:latin typeface="Arial"/>
                <a:cs typeface="Arial"/>
              </a:rPr>
              <a:t>learning curve, the accuracy  increases as the data size increases, however when the algorithm  reaches its optimal performance further increase of the data set  </a:t>
            </a:r>
            <a:r>
              <a:rPr sz="1200" b="1" spc="-11" dirty="0">
                <a:latin typeface="Arial"/>
                <a:cs typeface="Arial"/>
              </a:rPr>
              <a:t>CANNOT </a:t>
            </a:r>
            <a:r>
              <a:rPr sz="1200" spc="-4" dirty="0">
                <a:latin typeface="Arial"/>
                <a:cs typeface="Arial"/>
              </a:rPr>
              <a:t>improve</a:t>
            </a:r>
            <a:r>
              <a:rPr sz="1200" spc="49" dirty="0">
                <a:latin typeface="Arial"/>
                <a:cs typeface="Arial"/>
              </a:rPr>
              <a:t> </a:t>
            </a:r>
            <a:r>
              <a:rPr sz="1200" spc="-4" dirty="0">
                <a:latin typeface="Arial"/>
                <a:cs typeface="Arial"/>
              </a:rPr>
              <a:t>performance.</a:t>
            </a:r>
            <a:endParaRPr sz="1200" dirty="0">
              <a:latin typeface="Arial"/>
              <a:cs typeface="Arial"/>
            </a:endParaRPr>
          </a:p>
          <a:p>
            <a:pPr marL="9525">
              <a:spcBef>
                <a:spcPts val="754"/>
              </a:spcBef>
            </a:pPr>
            <a:r>
              <a:rPr b="1" dirty="0">
                <a:latin typeface="Arial"/>
                <a:cs typeface="Arial"/>
              </a:rPr>
              <a:t>Figure</a:t>
            </a:r>
            <a:r>
              <a:rPr b="1" spc="-23" dirty="0">
                <a:latin typeface="Arial"/>
                <a:cs typeface="Arial"/>
              </a:rPr>
              <a:t> </a:t>
            </a:r>
            <a:r>
              <a:rPr b="1" spc="-4" dirty="0">
                <a:latin typeface="Arial"/>
                <a:cs typeface="Arial"/>
              </a:rPr>
              <a:t>1:</a:t>
            </a:r>
            <a:endParaRPr dirty="0">
              <a:latin typeface="Arial"/>
              <a:cs typeface="Arial"/>
            </a:endParaRPr>
          </a:p>
          <a:p>
            <a:pPr marL="9525" marR="278130">
              <a:spcBef>
                <a:spcPts val="754"/>
              </a:spcBef>
            </a:pPr>
            <a:r>
              <a:rPr sz="1200" spc="-4" dirty="0">
                <a:latin typeface="Arial"/>
                <a:cs typeface="Arial"/>
              </a:rPr>
              <a:t>Algorithm A reaches optimal performance sooner than Algorithm</a:t>
            </a:r>
            <a:r>
              <a:rPr sz="1200" spc="-90" dirty="0">
                <a:latin typeface="Arial"/>
                <a:cs typeface="Arial"/>
              </a:rPr>
              <a:t> </a:t>
            </a:r>
            <a:r>
              <a:rPr sz="1200" spc="-4" dirty="0">
                <a:latin typeface="Arial"/>
                <a:cs typeface="Arial"/>
              </a:rPr>
              <a:t>B,  however the accuracy cannot increase after a certain</a:t>
            </a:r>
            <a:r>
              <a:rPr sz="1200" spc="64" dirty="0">
                <a:latin typeface="Arial"/>
                <a:cs typeface="Arial"/>
              </a:rPr>
              <a:t> </a:t>
            </a:r>
            <a:r>
              <a:rPr sz="1200" spc="-4" dirty="0">
                <a:latin typeface="Arial"/>
                <a:cs typeface="Arial"/>
              </a:rPr>
              <a:t>point.</a:t>
            </a:r>
            <a:endParaRPr sz="1200" dirty="0">
              <a:latin typeface="Arial"/>
              <a:cs typeface="Arial"/>
            </a:endParaRPr>
          </a:p>
          <a:p>
            <a:pPr marL="9525" marR="437198">
              <a:spcBef>
                <a:spcPts val="746"/>
              </a:spcBef>
            </a:pPr>
            <a:r>
              <a:rPr sz="1200" spc="-4" dirty="0">
                <a:latin typeface="Arial"/>
                <a:cs typeface="Arial"/>
              </a:rPr>
              <a:t>Note: One needs to experiment to determine </a:t>
            </a:r>
            <a:r>
              <a:rPr sz="1200" spc="-8" dirty="0">
                <a:latin typeface="Arial"/>
                <a:cs typeface="Arial"/>
              </a:rPr>
              <a:t>when </a:t>
            </a:r>
            <a:r>
              <a:rPr sz="1200" spc="-4" dirty="0">
                <a:latin typeface="Arial"/>
                <a:cs typeface="Arial"/>
              </a:rPr>
              <a:t>the algorithm  reaches </a:t>
            </a:r>
            <a:r>
              <a:rPr sz="1200" spc="-8" dirty="0">
                <a:latin typeface="Arial"/>
                <a:cs typeface="Arial"/>
              </a:rPr>
              <a:t>it’s </a:t>
            </a:r>
            <a:r>
              <a:rPr sz="1200" spc="-4" dirty="0">
                <a:latin typeface="Arial"/>
                <a:cs typeface="Arial"/>
              </a:rPr>
              <a:t>optimal </a:t>
            </a:r>
            <a:r>
              <a:rPr sz="1200" spc="-8" dirty="0">
                <a:latin typeface="Arial"/>
                <a:cs typeface="Arial"/>
              </a:rPr>
              <a:t>performance. Can </a:t>
            </a:r>
            <a:r>
              <a:rPr sz="1200" spc="-4" dirty="0">
                <a:latin typeface="Arial"/>
                <a:cs typeface="Arial"/>
              </a:rPr>
              <a:t>be determined</a:t>
            </a:r>
            <a:r>
              <a:rPr sz="1200" spc="60" dirty="0">
                <a:latin typeface="Arial"/>
                <a:cs typeface="Arial"/>
              </a:rPr>
              <a:t> </a:t>
            </a:r>
            <a:r>
              <a:rPr sz="1200" spc="-11" dirty="0">
                <a:latin typeface="Arial"/>
                <a:cs typeface="Arial"/>
              </a:rPr>
              <a:t>by:</a:t>
            </a:r>
            <a:endParaRPr sz="1200" dirty="0">
              <a:latin typeface="Arial"/>
              <a:cs typeface="Arial"/>
            </a:endParaRPr>
          </a:p>
        </p:txBody>
      </p:sp>
      <p:sp>
        <p:nvSpPr>
          <p:cNvPr id="4" name="object 4"/>
          <p:cNvSpPr txBox="1"/>
          <p:nvPr/>
        </p:nvSpPr>
        <p:spPr>
          <a:xfrm>
            <a:off x="916533" y="3960590"/>
            <a:ext cx="4333875" cy="332783"/>
          </a:xfrm>
          <a:prstGeom prst="rect">
            <a:avLst/>
          </a:prstGeom>
        </p:spPr>
        <p:txBody>
          <a:bodyPr vert="horz" wrap="square" lIns="0" tIns="9525" rIns="0" bIns="0" rtlCol="0">
            <a:spAutoFit/>
          </a:bodyPr>
          <a:lstStyle/>
          <a:p>
            <a:pPr marL="224314" marR="3810" indent="-215265">
              <a:spcBef>
                <a:spcPts val="75"/>
              </a:spcBef>
              <a:buChar char="•"/>
              <a:tabLst>
                <a:tab pos="224314" algn="l"/>
                <a:tab pos="224790" algn="l"/>
              </a:tabLst>
            </a:pPr>
            <a:r>
              <a:rPr sz="1050" spc="-4" dirty="0">
                <a:solidFill>
                  <a:srgbClr val="FFFFFF"/>
                </a:solidFill>
                <a:latin typeface="Arial"/>
                <a:cs typeface="Arial"/>
              </a:rPr>
              <a:t>Using small </a:t>
            </a:r>
            <a:r>
              <a:rPr sz="1050" dirty="0">
                <a:solidFill>
                  <a:srgbClr val="FFFFFF"/>
                </a:solidFill>
                <a:latin typeface="Arial"/>
                <a:cs typeface="Arial"/>
              </a:rPr>
              <a:t>portions of the training set to and gradually increasing</a:t>
            </a:r>
            <a:r>
              <a:rPr sz="1050" spc="-203" dirty="0">
                <a:solidFill>
                  <a:srgbClr val="FFFFFF"/>
                </a:solidFill>
                <a:latin typeface="Arial"/>
                <a:cs typeface="Arial"/>
              </a:rPr>
              <a:t> </a:t>
            </a:r>
            <a:r>
              <a:rPr sz="1050" dirty="0">
                <a:solidFill>
                  <a:srgbClr val="FFFFFF"/>
                </a:solidFill>
                <a:latin typeface="Arial"/>
                <a:cs typeface="Arial"/>
              </a:rPr>
              <a:t>the  size until the accuracy </a:t>
            </a:r>
            <a:r>
              <a:rPr sz="1050" spc="-4" dirty="0">
                <a:solidFill>
                  <a:srgbClr val="FFFFFF"/>
                </a:solidFill>
                <a:latin typeface="Arial"/>
                <a:cs typeface="Arial"/>
              </a:rPr>
              <a:t>level</a:t>
            </a:r>
            <a:r>
              <a:rPr sz="1050" spc="-98" dirty="0">
                <a:solidFill>
                  <a:srgbClr val="FFFFFF"/>
                </a:solidFill>
                <a:latin typeface="Arial"/>
                <a:cs typeface="Arial"/>
              </a:rPr>
              <a:t> </a:t>
            </a:r>
            <a:r>
              <a:rPr sz="1050" dirty="0">
                <a:solidFill>
                  <a:srgbClr val="FFFFFF"/>
                </a:solidFill>
                <a:latin typeface="Arial"/>
                <a:cs typeface="Arial"/>
              </a:rPr>
              <a:t>stabilises.</a:t>
            </a:r>
            <a:endParaRPr sz="1050">
              <a:latin typeface="Arial"/>
              <a:cs typeface="Arial"/>
            </a:endParaRPr>
          </a:p>
        </p:txBody>
      </p:sp>
      <p:sp>
        <p:nvSpPr>
          <p:cNvPr id="5" name="object 5"/>
          <p:cNvSpPr/>
          <p:nvPr/>
        </p:nvSpPr>
        <p:spPr>
          <a:xfrm>
            <a:off x="5554313" y="1878901"/>
            <a:ext cx="3297746" cy="2208086"/>
          </a:xfrm>
          <a:prstGeom prst="rect">
            <a:avLst/>
          </a:prstGeom>
          <a:blipFill>
            <a:blip r:embed="rId2" cstate="print"/>
            <a:stretch>
              <a:fillRect/>
            </a:stretch>
          </a:blipFill>
        </p:spPr>
        <p:txBody>
          <a:bodyPr wrap="square" lIns="0" tIns="0" rIns="0" bIns="0" rtlCol="0"/>
          <a:lstStyle/>
          <a:p>
            <a:endParaRPr sz="1013"/>
          </a:p>
        </p:txBody>
      </p:sp>
      <p:sp>
        <p:nvSpPr>
          <p:cNvPr id="6" name="object 6"/>
          <p:cNvSpPr txBox="1"/>
          <p:nvPr/>
        </p:nvSpPr>
        <p:spPr>
          <a:xfrm>
            <a:off x="5614035" y="1569911"/>
            <a:ext cx="741521" cy="217367"/>
          </a:xfrm>
          <a:prstGeom prst="rect">
            <a:avLst/>
          </a:prstGeom>
        </p:spPr>
        <p:txBody>
          <a:bodyPr vert="horz" wrap="square" lIns="0" tIns="9525" rIns="0" bIns="0" rtlCol="0">
            <a:spAutoFit/>
          </a:bodyPr>
          <a:lstStyle/>
          <a:p>
            <a:pPr marL="9525">
              <a:spcBef>
                <a:spcPts val="75"/>
              </a:spcBef>
            </a:pPr>
            <a:r>
              <a:rPr b="1" dirty="0">
                <a:solidFill>
                  <a:srgbClr val="FFFFFF"/>
                </a:solidFill>
                <a:latin typeface="Arial"/>
                <a:cs typeface="Arial"/>
              </a:rPr>
              <a:t>Figure</a:t>
            </a:r>
            <a:r>
              <a:rPr b="1" spc="-75" dirty="0">
                <a:solidFill>
                  <a:srgbClr val="FFFFFF"/>
                </a:solidFill>
                <a:latin typeface="Arial"/>
                <a:cs typeface="Arial"/>
              </a:rPr>
              <a:t> </a:t>
            </a:r>
            <a:r>
              <a:rPr b="1" spc="-4" dirty="0">
                <a:solidFill>
                  <a:srgbClr val="FFFFFF"/>
                </a:solidFill>
                <a:latin typeface="Arial"/>
                <a:cs typeface="Arial"/>
              </a:rPr>
              <a:t>1:</a:t>
            </a:r>
            <a:endParaRPr>
              <a:latin typeface="Arial"/>
              <a:cs typeface="Arial"/>
            </a:endParaRPr>
          </a:p>
        </p:txBody>
      </p:sp>
      <p:sp>
        <p:nvSpPr>
          <p:cNvPr id="7" name="Date Placeholder 6">
            <a:extLst>
              <a:ext uri="{FF2B5EF4-FFF2-40B4-BE49-F238E27FC236}">
                <a16:creationId xmlns:a16="http://schemas.microsoft.com/office/drawing/2014/main" id="{7CB96A92-F28A-14C8-EAEF-353B7C7C8F9D}"/>
              </a:ext>
            </a:extLst>
          </p:cNvPr>
          <p:cNvSpPr>
            <a:spLocks noGrp="1"/>
          </p:cNvSpPr>
          <p:nvPr>
            <p:ph type="dt" sz="half" idx="6"/>
          </p:nvPr>
        </p:nvSpPr>
        <p:spPr/>
        <p:txBody>
          <a:bodyPr/>
          <a:lstStyle/>
          <a:p>
            <a:fld id="{C00CDBDF-D039-3347-8246-A9EE7F5F2004}" type="datetime1">
              <a:rPr lang="en-US" smtClean="0"/>
              <a:t>11/17/25</a:t>
            </a:fld>
            <a:endParaRPr lang="en-US"/>
          </a:p>
        </p:txBody>
      </p:sp>
    </p:spTree>
    <p:extLst>
      <p:ext uri="{BB962C8B-B14F-4D97-AF65-F5344CB8AC3E}">
        <p14:creationId xmlns:p14="http://schemas.microsoft.com/office/powerpoint/2010/main" val="18102214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73405" y="779144"/>
            <a:ext cx="6741795" cy="563616"/>
          </a:xfrm>
          <a:prstGeom prst="rect">
            <a:avLst/>
          </a:prstGeom>
        </p:spPr>
        <p:txBody>
          <a:bodyPr vert="horz" wrap="square" lIns="0" tIns="9525" rIns="0" bIns="0" rtlCol="0">
            <a:spAutoFit/>
          </a:bodyPr>
          <a:lstStyle/>
          <a:p>
            <a:pPr marL="9525">
              <a:spcBef>
                <a:spcPts val="75"/>
              </a:spcBef>
            </a:pPr>
            <a:r>
              <a:rPr sz="3600" spc="-53" dirty="0">
                <a:solidFill>
                  <a:srgbClr val="FF0000"/>
                </a:solidFill>
              </a:rPr>
              <a:t>WHAT </a:t>
            </a:r>
            <a:r>
              <a:rPr sz="3600" dirty="0">
                <a:solidFill>
                  <a:srgbClr val="FF0000"/>
                </a:solidFill>
              </a:rPr>
              <a:t>WE </a:t>
            </a:r>
            <a:r>
              <a:rPr sz="3600" spc="-53" dirty="0">
                <a:solidFill>
                  <a:srgbClr val="FF0000"/>
                </a:solidFill>
              </a:rPr>
              <a:t>HAVE</a:t>
            </a:r>
            <a:r>
              <a:rPr sz="3600" spc="-68" dirty="0">
                <a:solidFill>
                  <a:srgbClr val="FF0000"/>
                </a:solidFill>
              </a:rPr>
              <a:t> </a:t>
            </a:r>
            <a:r>
              <a:rPr sz="3600" dirty="0">
                <a:solidFill>
                  <a:srgbClr val="FF0000"/>
                </a:solidFill>
              </a:rPr>
              <a:t>LEARNED:</a:t>
            </a:r>
          </a:p>
        </p:txBody>
      </p:sp>
      <p:sp>
        <p:nvSpPr>
          <p:cNvPr id="3" name="object 3"/>
          <p:cNvSpPr txBox="1"/>
          <p:nvPr/>
        </p:nvSpPr>
        <p:spPr>
          <a:xfrm>
            <a:off x="573405" y="2003107"/>
            <a:ext cx="7213759" cy="1330492"/>
          </a:xfrm>
          <a:prstGeom prst="rect">
            <a:avLst/>
          </a:prstGeom>
        </p:spPr>
        <p:txBody>
          <a:bodyPr vert="horz" wrap="square" lIns="0" tIns="9525" rIns="0" bIns="0" rtlCol="0">
            <a:spAutoFit/>
          </a:bodyPr>
          <a:lstStyle/>
          <a:p>
            <a:pPr marL="224314" marR="3810" indent="-215265">
              <a:spcBef>
                <a:spcPts val="75"/>
              </a:spcBef>
              <a:buChar char="•"/>
              <a:tabLst>
                <a:tab pos="224314" algn="l"/>
                <a:tab pos="224790" algn="l"/>
              </a:tabLst>
            </a:pPr>
            <a:r>
              <a:rPr dirty="0">
                <a:latin typeface="Arial"/>
                <a:cs typeface="Arial"/>
              </a:rPr>
              <a:t>The </a:t>
            </a:r>
            <a:r>
              <a:rPr spc="-4" dirty="0">
                <a:latin typeface="Arial"/>
                <a:cs typeface="Arial"/>
              </a:rPr>
              <a:t>8 steps </a:t>
            </a:r>
            <a:r>
              <a:rPr dirty="0">
                <a:latin typeface="Arial"/>
                <a:cs typeface="Arial"/>
              </a:rPr>
              <a:t>of </a:t>
            </a:r>
            <a:r>
              <a:rPr spc="-4" dirty="0">
                <a:latin typeface="Arial"/>
                <a:cs typeface="Arial"/>
              </a:rPr>
              <a:t>data mining as </a:t>
            </a:r>
            <a:r>
              <a:rPr spc="-11" dirty="0">
                <a:latin typeface="Arial"/>
                <a:cs typeface="Arial"/>
              </a:rPr>
              <a:t>well </a:t>
            </a:r>
            <a:r>
              <a:rPr spc="-4" dirty="0">
                <a:latin typeface="Arial"/>
                <a:cs typeface="Arial"/>
              </a:rPr>
              <a:t>as </a:t>
            </a:r>
            <a:r>
              <a:rPr dirty="0">
                <a:latin typeface="Arial"/>
                <a:cs typeface="Arial"/>
              </a:rPr>
              <a:t>the </a:t>
            </a:r>
            <a:r>
              <a:rPr spc="-4" dirty="0">
                <a:latin typeface="Arial"/>
                <a:cs typeface="Arial"/>
              </a:rPr>
              <a:t>need </a:t>
            </a:r>
            <a:r>
              <a:rPr dirty="0">
                <a:latin typeface="Arial"/>
                <a:cs typeface="Arial"/>
              </a:rPr>
              <a:t>for </a:t>
            </a:r>
            <a:r>
              <a:rPr spc="-4" dirty="0">
                <a:latin typeface="Arial"/>
                <a:cs typeface="Arial"/>
              </a:rPr>
              <a:t>iteration in order </a:t>
            </a:r>
            <a:r>
              <a:rPr dirty="0">
                <a:latin typeface="Arial"/>
                <a:cs typeface="Arial"/>
              </a:rPr>
              <a:t>to </a:t>
            </a:r>
            <a:r>
              <a:rPr spc="-4" dirty="0">
                <a:latin typeface="Arial"/>
                <a:cs typeface="Arial"/>
              </a:rPr>
              <a:t>produce a satisfactory  model.</a:t>
            </a:r>
            <a:endParaRPr dirty="0">
              <a:latin typeface="Arial"/>
              <a:cs typeface="Arial"/>
            </a:endParaRPr>
          </a:p>
          <a:p>
            <a:pPr marL="224314" indent="-215265">
              <a:spcBef>
                <a:spcPts val="746"/>
              </a:spcBef>
              <a:buChar char="•"/>
              <a:tabLst>
                <a:tab pos="224314" algn="l"/>
                <a:tab pos="224790" algn="l"/>
              </a:tabLst>
            </a:pPr>
            <a:r>
              <a:rPr dirty="0">
                <a:latin typeface="Arial"/>
                <a:cs typeface="Arial"/>
              </a:rPr>
              <a:t>The </a:t>
            </a:r>
            <a:r>
              <a:rPr spc="-8" dirty="0">
                <a:latin typeface="Arial"/>
                <a:cs typeface="Arial"/>
              </a:rPr>
              <a:t>difference between </a:t>
            </a:r>
            <a:r>
              <a:rPr spc="-4" dirty="0">
                <a:latin typeface="Arial"/>
                <a:cs typeface="Arial"/>
              </a:rPr>
              <a:t>estimation </a:t>
            </a:r>
            <a:r>
              <a:rPr spc="-8" dirty="0">
                <a:latin typeface="Arial"/>
                <a:cs typeface="Arial"/>
              </a:rPr>
              <a:t>and</a:t>
            </a:r>
            <a:r>
              <a:rPr spc="30" dirty="0">
                <a:latin typeface="Arial"/>
                <a:cs typeface="Arial"/>
              </a:rPr>
              <a:t> </a:t>
            </a:r>
            <a:r>
              <a:rPr spc="-4" dirty="0">
                <a:latin typeface="Arial"/>
                <a:cs typeface="Arial"/>
              </a:rPr>
              <a:t>classification</a:t>
            </a:r>
            <a:endParaRPr dirty="0">
              <a:latin typeface="Arial"/>
              <a:cs typeface="Arial"/>
            </a:endParaRPr>
          </a:p>
          <a:p>
            <a:pPr marL="224314" indent="-215265">
              <a:spcBef>
                <a:spcPts val="758"/>
              </a:spcBef>
              <a:buChar char="•"/>
              <a:tabLst>
                <a:tab pos="224314" algn="l"/>
                <a:tab pos="224790" algn="l"/>
              </a:tabLst>
            </a:pPr>
            <a:r>
              <a:rPr spc="-4" dirty="0">
                <a:latin typeface="Arial"/>
                <a:cs typeface="Arial"/>
              </a:rPr>
              <a:t>When </a:t>
            </a:r>
            <a:r>
              <a:rPr dirty="0">
                <a:latin typeface="Arial"/>
                <a:cs typeface="Arial"/>
              </a:rPr>
              <a:t>to </a:t>
            </a:r>
            <a:r>
              <a:rPr spc="-4" dirty="0">
                <a:latin typeface="Arial"/>
                <a:cs typeface="Arial"/>
              </a:rPr>
              <a:t>do data mining and </a:t>
            </a:r>
            <a:r>
              <a:rPr spc="-11" dirty="0">
                <a:latin typeface="Arial"/>
                <a:cs typeface="Arial"/>
              </a:rPr>
              <a:t>when </a:t>
            </a:r>
            <a:r>
              <a:rPr spc="-4" dirty="0">
                <a:latin typeface="Arial"/>
                <a:cs typeface="Arial"/>
              </a:rPr>
              <a:t>not</a:t>
            </a:r>
            <a:r>
              <a:rPr spc="56" dirty="0">
                <a:latin typeface="Arial"/>
                <a:cs typeface="Arial"/>
              </a:rPr>
              <a:t> </a:t>
            </a:r>
            <a:r>
              <a:rPr dirty="0">
                <a:latin typeface="Arial"/>
                <a:cs typeface="Arial"/>
              </a:rPr>
              <a:t>to</a:t>
            </a:r>
          </a:p>
          <a:p>
            <a:pPr marL="224314" indent="-215265">
              <a:spcBef>
                <a:spcPts val="746"/>
              </a:spcBef>
              <a:buChar char="•"/>
              <a:tabLst>
                <a:tab pos="224314" algn="l"/>
                <a:tab pos="224790" algn="l"/>
              </a:tabLst>
            </a:pPr>
            <a:r>
              <a:rPr spc="-4" dirty="0">
                <a:latin typeface="Arial"/>
                <a:cs typeface="Arial"/>
              </a:rPr>
              <a:t>Important issues </a:t>
            </a:r>
            <a:r>
              <a:rPr spc="-11" dirty="0">
                <a:latin typeface="Arial"/>
                <a:cs typeface="Arial"/>
              </a:rPr>
              <a:t>when </a:t>
            </a:r>
            <a:r>
              <a:rPr spc="-4" dirty="0">
                <a:latin typeface="Arial"/>
                <a:cs typeface="Arial"/>
              </a:rPr>
              <a:t>defining a</a:t>
            </a:r>
            <a:r>
              <a:rPr spc="68" dirty="0">
                <a:latin typeface="Arial"/>
                <a:cs typeface="Arial"/>
              </a:rPr>
              <a:t> </a:t>
            </a:r>
            <a:r>
              <a:rPr spc="-4" dirty="0">
                <a:latin typeface="Arial"/>
                <a:cs typeface="Arial"/>
              </a:rPr>
              <a:t>problem</a:t>
            </a:r>
            <a:endParaRPr dirty="0">
              <a:latin typeface="Arial"/>
              <a:cs typeface="Arial"/>
            </a:endParaRPr>
          </a:p>
        </p:txBody>
      </p:sp>
      <p:sp>
        <p:nvSpPr>
          <p:cNvPr id="4" name="Date Placeholder 3">
            <a:extLst>
              <a:ext uri="{FF2B5EF4-FFF2-40B4-BE49-F238E27FC236}">
                <a16:creationId xmlns:a16="http://schemas.microsoft.com/office/drawing/2014/main" id="{2CB55D97-BA43-D93A-0EA6-AD3336516196}"/>
              </a:ext>
            </a:extLst>
          </p:cNvPr>
          <p:cNvSpPr>
            <a:spLocks noGrp="1"/>
          </p:cNvSpPr>
          <p:nvPr>
            <p:ph type="dt" sz="half" idx="6"/>
          </p:nvPr>
        </p:nvSpPr>
        <p:spPr/>
        <p:txBody>
          <a:bodyPr/>
          <a:lstStyle/>
          <a:p>
            <a:fld id="{FF675533-A5A9-BB4C-9E67-568945236710}" type="datetime1">
              <a:rPr lang="en-US" smtClean="0"/>
              <a:t>11/17/25</a:t>
            </a:fld>
            <a:endParaRPr lang="en-US"/>
          </a:p>
        </p:txBody>
      </p:sp>
    </p:spTree>
    <p:extLst>
      <p:ext uri="{BB962C8B-B14F-4D97-AF65-F5344CB8AC3E}">
        <p14:creationId xmlns:p14="http://schemas.microsoft.com/office/powerpoint/2010/main" val="24339710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73405" y="779145"/>
            <a:ext cx="6456045" cy="586699"/>
          </a:xfrm>
          <a:prstGeom prst="rect">
            <a:avLst/>
          </a:prstGeom>
        </p:spPr>
        <p:txBody>
          <a:bodyPr vert="horz" wrap="square" lIns="0" tIns="9525" rIns="0" bIns="0" rtlCol="0">
            <a:spAutoFit/>
          </a:bodyPr>
          <a:lstStyle/>
          <a:p>
            <a:pPr marL="9525">
              <a:spcBef>
                <a:spcPts val="75"/>
              </a:spcBef>
            </a:pPr>
            <a:r>
              <a:rPr dirty="0">
                <a:solidFill>
                  <a:srgbClr val="FF0000"/>
                </a:solidFill>
              </a:rPr>
              <a:t>REVIEW</a:t>
            </a:r>
            <a:r>
              <a:rPr spc="-56" dirty="0">
                <a:solidFill>
                  <a:srgbClr val="FF0000"/>
                </a:solidFill>
              </a:rPr>
              <a:t> </a:t>
            </a:r>
            <a:r>
              <a:rPr spc="-4" dirty="0">
                <a:solidFill>
                  <a:srgbClr val="FF0000"/>
                </a:solidFill>
              </a:rPr>
              <a:t>QUESTIONS</a:t>
            </a:r>
          </a:p>
        </p:txBody>
      </p:sp>
      <p:sp>
        <p:nvSpPr>
          <p:cNvPr id="3" name="object 3"/>
          <p:cNvSpPr txBox="1"/>
          <p:nvPr/>
        </p:nvSpPr>
        <p:spPr>
          <a:xfrm>
            <a:off x="573405" y="1837372"/>
            <a:ext cx="6949440" cy="2323072"/>
          </a:xfrm>
          <a:prstGeom prst="rect">
            <a:avLst/>
          </a:prstGeom>
        </p:spPr>
        <p:txBody>
          <a:bodyPr vert="horz" wrap="square" lIns="0" tIns="9525" rIns="0" bIns="0" rtlCol="0">
            <a:spAutoFit/>
          </a:bodyPr>
          <a:lstStyle/>
          <a:p>
            <a:pPr marL="9525">
              <a:spcBef>
                <a:spcPts val="75"/>
              </a:spcBef>
            </a:pPr>
            <a:r>
              <a:rPr b="1" spc="-4" dirty="0">
                <a:latin typeface="Arial"/>
                <a:cs typeface="Arial"/>
              </a:rPr>
              <a:t>1. Explain </a:t>
            </a:r>
            <a:r>
              <a:rPr b="1" dirty="0">
                <a:latin typeface="Arial"/>
                <a:cs typeface="Arial"/>
              </a:rPr>
              <a:t>how </a:t>
            </a:r>
            <a:r>
              <a:rPr b="1" spc="-4" dirty="0">
                <a:latin typeface="Arial"/>
                <a:cs typeface="Arial"/>
              </a:rPr>
              <a:t>are </a:t>
            </a:r>
            <a:r>
              <a:rPr b="1" spc="-8" dirty="0">
                <a:latin typeface="Arial"/>
                <a:cs typeface="Arial"/>
              </a:rPr>
              <a:t>you </a:t>
            </a:r>
            <a:r>
              <a:rPr b="1" dirty="0">
                <a:latin typeface="Arial"/>
                <a:cs typeface="Arial"/>
              </a:rPr>
              <a:t>going to </a:t>
            </a:r>
            <a:r>
              <a:rPr b="1" spc="-4" dirty="0">
                <a:latin typeface="Arial"/>
                <a:cs typeface="Arial"/>
              </a:rPr>
              <a:t>decide </a:t>
            </a:r>
            <a:r>
              <a:rPr b="1" spc="4" dirty="0">
                <a:latin typeface="Arial"/>
                <a:cs typeface="Arial"/>
              </a:rPr>
              <a:t>whether </a:t>
            </a:r>
            <a:r>
              <a:rPr b="1" spc="-4" dirty="0">
                <a:latin typeface="Arial"/>
                <a:cs typeface="Arial"/>
              </a:rPr>
              <a:t>a </a:t>
            </a:r>
            <a:r>
              <a:rPr b="1" spc="-8" dirty="0">
                <a:latin typeface="Arial"/>
                <a:cs typeface="Arial"/>
              </a:rPr>
              <a:t>given </a:t>
            </a:r>
            <a:r>
              <a:rPr b="1" dirty="0">
                <a:latin typeface="Arial"/>
                <a:cs typeface="Arial"/>
              </a:rPr>
              <a:t>problem is suitable </a:t>
            </a:r>
            <a:r>
              <a:rPr b="1" spc="-4" dirty="0">
                <a:latin typeface="Arial"/>
                <a:cs typeface="Arial"/>
              </a:rPr>
              <a:t>for a</a:t>
            </a:r>
            <a:r>
              <a:rPr b="1" spc="4" dirty="0">
                <a:latin typeface="Arial"/>
                <a:cs typeface="Arial"/>
              </a:rPr>
              <a:t> </a:t>
            </a:r>
            <a:r>
              <a:rPr b="1" spc="-4" dirty="0">
                <a:latin typeface="Arial"/>
                <a:cs typeface="Arial"/>
              </a:rPr>
              <a:t>data</a:t>
            </a:r>
            <a:endParaRPr dirty="0">
              <a:latin typeface="Arial"/>
              <a:cs typeface="Arial"/>
            </a:endParaRPr>
          </a:p>
          <a:p>
            <a:pPr marL="224314"/>
            <a:r>
              <a:rPr b="1" spc="-4" dirty="0">
                <a:latin typeface="Arial"/>
                <a:cs typeface="Arial"/>
              </a:rPr>
              <a:t>mining</a:t>
            </a:r>
            <a:r>
              <a:rPr b="1" spc="-26" dirty="0">
                <a:latin typeface="Arial"/>
                <a:cs typeface="Arial"/>
              </a:rPr>
              <a:t> </a:t>
            </a:r>
            <a:r>
              <a:rPr b="1" dirty="0">
                <a:latin typeface="Arial"/>
                <a:cs typeface="Arial"/>
              </a:rPr>
              <a:t>solution.</a:t>
            </a:r>
            <a:endParaRPr dirty="0">
              <a:latin typeface="Arial"/>
              <a:cs typeface="Arial"/>
            </a:endParaRPr>
          </a:p>
          <a:p>
            <a:pPr marL="224314" marR="88106">
              <a:spcBef>
                <a:spcPts val="754"/>
              </a:spcBef>
            </a:pPr>
            <a:r>
              <a:rPr sz="1200" spc="-4" dirty="0">
                <a:latin typeface="Arial"/>
                <a:cs typeface="Arial"/>
              </a:rPr>
              <a:t>Given a problem , I am going to check if there is no good existing solution and the problem has the  following</a:t>
            </a:r>
            <a:r>
              <a:rPr sz="1200" spc="-23" dirty="0">
                <a:latin typeface="Arial"/>
                <a:cs typeface="Arial"/>
              </a:rPr>
              <a:t> </a:t>
            </a:r>
            <a:r>
              <a:rPr sz="1200" spc="-4" dirty="0">
                <a:latin typeface="Arial"/>
                <a:cs typeface="Arial"/>
              </a:rPr>
              <a:t>characteristics:</a:t>
            </a:r>
            <a:endParaRPr sz="1200" dirty="0">
              <a:latin typeface="Arial"/>
              <a:cs typeface="Arial"/>
            </a:endParaRPr>
          </a:p>
          <a:p>
            <a:pPr>
              <a:lnSpc>
                <a:spcPct val="100000"/>
              </a:lnSpc>
            </a:pPr>
            <a:endParaRPr dirty="0">
              <a:latin typeface="Arial"/>
              <a:cs typeface="Arial"/>
            </a:endParaRPr>
          </a:p>
          <a:p>
            <a:pPr>
              <a:spcBef>
                <a:spcPts val="11"/>
              </a:spcBef>
            </a:pPr>
            <a:endParaRPr sz="1200" dirty="0">
              <a:latin typeface="Arial"/>
              <a:cs typeface="Arial"/>
            </a:endParaRPr>
          </a:p>
          <a:p>
            <a:pPr marL="224314" indent="-215265">
              <a:buChar char="•"/>
              <a:tabLst>
                <a:tab pos="224314" algn="l"/>
                <a:tab pos="224790" algn="l"/>
              </a:tabLst>
            </a:pPr>
            <a:r>
              <a:rPr sz="1200" spc="-4" dirty="0">
                <a:latin typeface="Arial"/>
                <a:cs typeface="Arial"/>
              </a:rPr>
              <a:t>Lots of</a:t>
            </a:r>
            <a:r>
              <a:rPr sz="1200" spc="11" dirty="0">
                <a:latin typeface="Arial"/>
                <a:cs typeface="Arial"/>
              </a:rPr>
              <a:t> </a:t>
            </a:r>
            <a:r>
              <a:rPr sz="1200" spc="-4" dirty="0">
                <a:latin typeface="Arial"/>
                <a:cs typeface="Arial"/>
              </a:rPr>
              <a:t>data</a:t>
            </a:r>
            <a:endParaRPr sz="1200" dirty="0">
              <a:latin typeface="Arial"/>
              <a:cs typeface="Arial"/>
            </a:endParaRPr>
          </a:p>
          <a:p>
            <a:pPr marL="224314" indent="-215265">
              <a:spcBef>
                <a:spcPts val="746"/>
              </a:spcBef>
              <a:buChar char="•"/>
              <a:tabLst>
                <a:tab pos="224314" algn="l"/>
                <a:tab pos="224790" algn="l"/>
              </a:tabLst>
            </a:pPr>
            <a:r>
              <a:rPr sz="1200" spc="-4" dirty="0">
                <a:latin typeface="Arial"/>
                <a:cs typeface="Arial"/>
              </a:rPr>
              <a:t>The problem is not </a:t>
            </a:r>
            <a:r>
              <a:rPr sz="1200" spc="-8" dirty="0">
                <a:latin typeface="Arial"/>
                <a:cs typeface="Arial"/>
              </a:rPr>
              <a:t>well</a:t>
            </a:r>
            <a:r>
              <a:rPr sz="1200" spc="8" dirty="0">
                <a:latin typeface="Arial"/>
                <a:cs typeface="Arial"/>
              </a:rPr>
              <a:t> </a:t>
            </a:r>
            <a:r>
              <a:rPr sz="1200" spc="-4" dirty="0">
                <a:latin typeface="Arial"/>
                <a:cs typeface="Arial"/>
              </a:rPr>
              <a:t>understood</a:t>
            </a:r>
            <a:endParaRPr sz="1200" dirty="0">
              <a:latin typeface="Arial"/>
              <a:cs typeface="Arial"/>
            </a:endParaRPr>
          </a:p>
          <a:p>
            <a:pPr marL="224314" indent="-215265">
              <a:spcBef>
                <a:spcPts val="750"/>
              </a:spcBef>
              <a:buChar char="•"/>
              <a:tabLst>
                <a:tab pos="224314" algn="l"/>
                <a:tab pos="224790" algn="l"/>
              </a:tabLst>
            </a:pPr>
            <a:r>
              <a:rPr sz="1200" spc="-4" dirty="0">
                <a:latin typeface="Arial"/>
                <a:cs typeface="Arial"/>
              </a:rPr>
              <a:t>The problem can be characterised as an input-to-output</a:t>
            </a:r>
            <a:r>
              <a:rPr sz="1200" spc="68" dirty="0">
                <a:latin typeface="Arial"/>
                <a:cs typeface="Arial"/>
              </a:rPr>
              <a:t> </a:t>
            </a:r>
            <a:r>
              <a:rPr sz="1200" spc="-4" dirty="0">
                <a:latin typeface="Arial"/>
                <a:cs typeface="Arial"/>
              </a:rPr>
              <a:t>relationship</a:t>
            </a:r>
            <a:endParaRPr sz="1200" dirty="0">
              <a:latin typeface="Arial"/>
              <a:cs typeface="Arial"/>
            </a:endParaRPr>
          </a:p>
          <a:p>
            <a:pPr marL="224314" indent="-215265">
              <a:spcBef>
                <a:spcPts val="754"/>
              </a:spcBef>
              <a:buChar char="•"/>
              <a:tabLst>
                <a:tab pos="224314" algn="l"/>
                <a:tab pos="224790" algn="l"/>
              </a:tabLst>
            </a:pPr>
            <a:r>
              <a:rPr sz="1200" spc="-4" dirty="0">
                <a:latin typeface="Arial"/>
                <a:cs typeface="Arial"/>
              </a:rPr>
              <a:t>Existing models have strong and possibly erroneous</a:t>
            </a:r>
            <a:r>
              <a:rPr sz="1200" spc="11" dirty="0">
                <a:latin typeface="Arial"/>
                <a:cs typeface="Arial"/>
              </a:rPr>
              <a:t> </a:t>
            </a:r>
            <a:r>
              <a:rPr sz="1200" spc="-4" dirty="0">
                <a:latin typeface="Arial"/>
                <a:cs typeface="Arial"/>
              </a:rPr>
              <a:t>assumptions</a:t>
            </a:r>
            <a:endParaRPr sz="1200" dirty="0">
              <a:latin typeface="Arial"/>
              <a:cs typeface="Arial"/>
            </a:endParaRPr>
          </a:p>
        </p:txBody>
      </p:sp>
      <p:sp>
        <p:nvSpPr>
          <p:cNvPr id="4" name="Date Placeholder 3">
            <a:extLst>
              <a:ext uri="{FF2B5EF4-FFF2-40B4-BE49-F238E27FC236}">
                <a16:creationId xmlns:a16="http://schemas.microsoft.com/office/drawing/2014/main" id="{84C4E346-1D61-8D47-F205-5DB03C50E2C3}"/>
              </a:ext>
            </a:extLst>
          </p:cNvPr>
          <p:cNvSpPr>
            <a:spLocks noGrp="1"/>
          </p:cNvSpPr>
          <p:nvPr>
            <p:ph type="dt" sz="half" idx="6"/>
          </p:nvPr>
        </p:nvSpPr>
        <p:spPr/>
        <p:txBody>
          <a:bodyPr/>
          <a:lstStyle/>
          <a:p>
            <a:fld id="{70576914-16FF-9347-80B5-F1E2D3B8C38D}" type="datetime1">
              <a:rPr lang="en-US" smtClean="0"/>
              <a:t>11/17/25</a:t>
            </a:fld>
            <a:endParaRPr lang="en-US"/>
          </a:p>
        </p:txBody>
      </p:sp>
    </p:spTree>
    <p:extLst>
      <p:ext uri="{BB962C8B-B14F-4D97-AF65-F5344CB8AC3E}">
        <p14:creationId xmlns:p14="http://schemas.microsoft.com/office/powerpoint/2010/main" val="33946049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71450" y="514350"/>
            <a:ext cx="8743950" cy="3357842"/>
          </a:xfrm>
          <a:prstGeom prst="rect">
            <a:avLst/>
          </a:prstGeom>
        </p:spPr>
        <p:txBody>
          <a:bodyPr vert="horz" wrap="square" lIns="0" tIns="9525" rIns="0" bIns="0" rtlCol="0">
            <a:spAutoFit/>
          </a:bodyPr>
          <a:lstStyle/>
          <a:p>
            <a:pPr marL="224314" marR="3810" algn="just">
              <a:spcBef>
                <a:spcPts val="75"/>
              </a:spcBef>
            </a:pPr>
            <a:r>
              <a:rPr sz="1800" b="1" spc="-4" dirty="0">
                <a:latin typeface="Arial"/>
                <a:cs typeface="Arial"/>
              </a:rPr>
              <a:t>2. </a:t>
            </a:r>
            <a:r>
              <a:rPr sz="1800" b="1" dirty="0">
                <a:latin typeface="Arial"/>
                <a:cs typeface="Arial"/>
              </a:rPr>
              <a:t>Suppose </a:t>
            </a:r>
            <a:r>
              <a:rPr sz="1800" b="1" spc="-4" dirty="0">
                <a:latin typeface="Arial"/>
                <a:cs typeface="Arial"/>
              </a:rPr>
              <a:t>the data provided is </a:t>
            </a:r>
            <a:r>
              <a:rPr sz="1800" b="1" dirty="0">
                <a:latin typeface="Arial"/>
                <a:cs typeface="Arial"/>
              </a:rPr>
              <a:t>the </a:t>
            </a:r>
            <a:r>
              <a:rPr sz="1800" b="1" spc="-4" dirty="0">
                <a:latin typeface="Arial"/>
                <a:cs typeface="Arial"/>
              </a:rPr>
              <a:t>last </a:t>
            </a:r>
            <a:r>
              <a:rPr sz="1800" b="1" dirty="0">
                <a:latin typeface="Arial"/>
                <a:cs typeface="Arial"/>
              </a:rPr>
              <a:t>promotional mail-out </a:t>
            </a:r>
            <a:r>
              <a:rPr sz="1800" b="1" spc="-4" dirty="0">
                <a:latin typeface="Arial"/>
                <a:cs typeface="Arial"/>
              </a:rPr>
              <a:t>records </a:t>
            </a:r>
            <a:r>
              <a:rPr sz="1800" b="1" spc="8" dirty="0">
                <a:latin typeface="Arial"/>
                <a:cs typeface="Arial"/>
              </a:rPr>
              <a:t>which </a:t>
            </a:r>
            <a:r>
              <a:rPr sz="1800" b="1" spc="-4" dirty="0">
                <a:latin typeface="Arial"/>
                <a:cs typeface="Arial"/>
              </a:rPr>
              <a:t>consist </a:t>
            </a:r>
            <a:r>
              <a:rPr sz="1800" b="1" dirty="0">
                <a:latin typeface="Arial"/>
                <a:cs typeface="Arial"/>
              </a:rPr>
              <a:t>of  </a:t>
            </a:r>
            <a:r>
              <a:rPr sz="1800" b="1" spc="-4" dirty="0">
                <a:latin typeface="Arial"/>
                <a:cs typeface="Arial"/>
              </a:rPr>
              <a:t>information </a:t>
            </a:r>
            <a:r>
              <a:rPr sz="1800" b="1" dirty="0">
                <a:latin typeface="Arial"/>
                <a:cs typeface="Arial"/>
              </a:rPr>
              <a:t>about </a:t>
            </a:r>
            <a:r>
              <a:rPr sz="1800" b="1" spc="-4" dirty="0">
                <a:latin typeface="Arial"/>
                <a:cs typeface="Arial"/>
              </a:rPr>
              <a:t>each </a:t>
            </a:r>
            <a:r>
              <a:rPr sz="1800" b="1" dirty="0">
                <a:latin typeface="Arial"/>
                <a:cs typeface="Arial"/>
              </a:rPr>
              <a:t>of </a:t>
            </a:r>
            <a:r>
              <a:rPr sz="1800" b="1" spc="-4" dirty="0">
                <a:latin typeface="Arial"/>
                <a:cs typeface="Arial"/>
              </a:rPr>
              <a:t>the 100 customers (name, address, occupation, </a:t>
            </a:r>
            <a:r>
              <a:rPr sz="1800" b="1" spc="-8" dirty="0">
                <a:latin typeface="Arial"/>
                <a:cs typeface="Arial"/>
              </a:rPr>
              <a:t>salary)  </a:t>
            </a:r>
            <a:r>
              <a:rPr sz="1800" b="1" dirty="0">
                <a:latin typeface="Arial"/>
                <a:cs typeface="Arial"/>
              </a:rPr>
              <a:t>and </a:t>
            </a:r>
            <a:r>
              <a:rPr sz="1800" b="1" spc="4" dirty="0">
                <a:latin typeface="Arial"/>
                <a:cs typeface="Arial"/>
              </a:rPr>
              <a:t>whether </a:t>
            </a:r>
            <a:r>
              <a:rPr sz="1800" b="1" spc="-4" dirty="0">
                <a:latin typeface="Arial"/>
                <a:cs typeface="Arial"/>
              </a:rPr>
              <a:t>each individual customer responded to the mail </a:t>
            </a:r>
            <a:r>
              <a:rPr sz="1800" b="1" dirty="0">
                <a:latin typeface="Arial"/>
                <a:cs typeface="Arial"/>
              </a:rPr>
              <a:t>(i.e., </a:t>
            </a:r>
            <a:r>
              <a:rPr sz="1800" b="1" spc="-4" dirty="0">
                <a:latin typeface="Arial"/>
                <a:cs typeface="Arial"/>
              </a:rPr>
              <a:t>an </a:t>
            </a:r>
            <a:r>
              <a:rPr sz="1800" b="1" dirty="0">
                <a:latin typeface="Arial"/>
                <a:cs typeface="Arial"/>
              </a:rPr>
              <a:t>attribute indicating  </a:t>
            </a:r>
            <a:r>
              <a:rPr sz="1800" b="1" spc="-8" dirty="0">
                <a:latin typeface="Arial"/>
                <a:cs typeface="Arial"/>
              </a:rPr>
              <a:t>“yes” </a:t>
            </a:r>
            <a:r>
              <a:rPr sz="1800" b="1" dirty="0">
                <a:latin typeface="Arial"/>
                <a:cs typeface="Arial"/>
              </a:rPr>
              <a:t>or “no”. </a:t>
            </a:r>
            <a:r>
              <a:rPr sz="1800" b="1" spc="-34" dirty="0">
                <a:latin typeface="Arial"/>
                <a:cs typeface="Arial"/>
              </a:rPr>
              <a:t>You </a:t>
            </a:r>
            <a:r>
              <a:rPr sz="1800" b="1" spc="-4" dirty="0">
                <a:latin typeface="Arial"/>
                <a:cs typeface="Arial"/>
              </a:rPr>
              <a:t>are </a:t>
            </a:r>
            <a:r>
              <a:rPr sz="1800" b="1" spc="-8" dirty="0">
                <a:latin typeface="Arial"/>
                <a:cs typeface="Arial"/>
              </a:rPr>
              <a:t>asked </a:t>
            </a:r>
            <a:r>
              <a:rPr sz="1800" b="1" dirty="0">
                <a:latin typeface="Arial"/>
                <a:cs typeface="Arial"/>
              </a:rPr>
              <a:t>to produce a data mining solution, that is, a </a:t>
            </a:r>
            <a:r>
              <a:rPr sz="1800" b="1" spc="-4" dirty="0">
                <a:latin typeface="Arial"/>
                <a:cs typeface="Arial"/>
              </a:rPr>
              <a:t>model  describing the characteristics </a:t>
            </a:r>
            <a:r>
              <a:rPr sz="1800" b="1" dirty="0">
                <a:latin typeface="Arial"/>
                <a:cs typeface="Arial"/>
              </a:rPr>
              <a:t>of </a:t>
            </a:r>
            <a:r>
              <a:rPr sz="1800" b="1" spc="-4" dirty="0">
                <a:latin typeface="Arial"/>
                <a:cs typeface="Arial"/>
              </a:rPr>
              <a:t>customers </a:t>
            </a:r>
            <a:r>
              <a:rPr sz="1800" b="1" spc="8" dirty="0">
                <a:latin typeface="Arial"/>
                <a:cs typeface="Arial"/>
              </a:rPr>
              <a:t>who </a:t>
            </a:r>
            <a:r>
              <a:rPr sz="1800" b="1" spc="-4" dirty="0">
                <a:latin typeface="Arial"/>
                <a:cs typeface="Arial"/>
              </a:rPr>
              <a:t>are </a:t>
            </a:r>
            <a:r>
              <a:rPr sz="1800" b="1" spc="-19" dirty="0">
                <a:latin typeface="Arial"/>
                <a:cs typeface="Arial"/>
              </a:rPr>
              <a:t>likely, </a:t>
            </a:r>
            <a:r>
              <a:rPr sz="1800" b="1" spc="-4" dirty="0">
                <a:latin typeface="Arial"/>
                <a:cs typeface="Arial"/>
              </a:rPr>
              <a:t>as </a:t>
            </a:r>
            <a:r>
              <a:rPr sz="1800" b="1" spc="8" dirty="0">
                <a:latin typeface="Arial"/>
                <a:cs typeface="Arial"/>
              </a:rPr>
              <a:t>well </a:t>
            </a:r>
            <a:r>
              <a:rPr sz="1800" b="1" spc="-4" dirty="0">
                <a:latin typeface="Arial"/>
                <a:cs typeface="Arial"/>
              </a:rPr>
              <a:t>as </a:t>
            </a:r>
            <a:r>
              <a:rPr sz="1800" b="1" spc="-15" dirty="0">
                <a:latin typeface="Arial"/>
                <a:cs typeface="Arial"/>
              </a:rPr>
              <a:t>unlikely, </a:t>
            </a:r>
            <a:r>
              <a:rPr sz="1800" b="1" dirty="0">
                <a:latin typeface="Arial"/>
                <a:cs typeface="Arial"/>
              </a:rPr>
              <a:t>to  </a:t>
            </a:r>
            <a:r>
              <a:rPr sz="1800" b="1" spc="-4" dirty="0">
                <a:latin typeface="Arial"/>
                <a:cs typeface="Arial"/>
              </a:rPr>
              <a:t>respond to the </a:t>
            </a:r>
            <a:r>
              <a:rPr sz="1800" b="1" dirty="0">
                <a:latin typeface="Arial"/>
                <a:cs typeface="Arial"/>
              </a:rPr>
              <a:t>promotional mail-out. The </a:t>
            </a:r>
            <a:r>
              <a:rPr sz="1800" b="1" spc="-4" dirty="0">
                <a:latin typeface="Arial"/>
                <a:cs typeface="Arial"/>
              </a:rPr>
              <a:t>company </a:t>
            </a:r>
            <a:r>
              <a:rPr sz="1800" b="1" dirty="0">
                <a:latin typeface="Arial"/>
                <a:cs typeface="Arial"/>
              </a:rPr>
              <a:t>could then </a:t>
            </a:r>
            <a:r>
              <a:rPr sz="1800" b="1" spc="-4" dirty="0">
                <a:latin typeface="Arial"/>
                <a:cs typeface="Arial"/>
              </a:rPr>
              <a:t>use </a:t>
            </a:r>
            <a:r>
              <a:rPr sz="1800" b="1" dirty="0">
                <a:latin typeface="Arial"/>
                <a:cs typeface="Arial"/>
              </a:rPr>
              <a:t>this </a:t>
            </a:r>
            <a:r>
              <a:rPr sz="1800" b="1" spc="-4" dirty="0">
                <a:latin typeface="Arial"/>
                <a:cs typeface="Arial"/>
              </a:rPr>
              <a:t>model </a:t>
            </a:r>
            <a:r>
              <a:rPr sz="1800" b="1" dirty="0">
                <a:latin typeface="Arial"/>
                <a:cs typeface="Arial"/>
              </a:rPr>
              <a:t>to </a:t>
            </a:r>
            <a:r>
              <a:rPr sz="1800" b="1" spc="-4" dirty="0">
                <a:latin typeface="Arial"/>
                <a:cs typeface="Arial"/>
              </a:rPr>
              <a:t>target  customers </a:t>
            </a:r>
            <a:r>
              <a:rPr sz="1800" b="1" spc="8" dirty="0">
                <a:latin typeface="Arial"/>
                <a:cs typeface="Arial"/>
              </a:rPr>
              <a:t>who </a:t>
            </a:r>
            <a:r>
              <a:rPr sz="1800" b="1" spc="-4" dirty="0">
                <a:latin typeface="Arial"/>
                <a:cs typeface="Arial"/>
              </a:rPr>
              <a:t>are likely </a:t>
            </a:r>
            <a:r>
              <a:rPr sz="1800" b="1" dirty="0">
                <a:latin typeface="Arial"/>
                <a:cs typeface="Arial"/>
              </a:rPr>
              <a:t>to </a:t>
            </a:r>
            <a:r>
              <a:rPr sz="1800" b="1" spc="-4" dirty="0">
                <a:latin typeface="Arial"/>
                <a:cs typeface="Arial"/>
              </a:rPr>
              <a:t>respond </a:t>
            </a:r>
            <a:r>
              <a:rPr sz="1800" b="1" dirty="0">
                <a:latin typeface="Arial"/>
                <a:cs typeface="Arial"/>
              </a:rPr>
              <a:t>to </a:t>
            </a:r>
            <a:r>
              <a:rPr sz="1800" b="1" spc="-4" dirty="0">
                <a:latin typeface="Arial"/>
                <a:cs typeface="Arial"/>
              </a:rPr>
              <a:t>the next </a:t>
            </a:r>
            <a:r>
              <a:rPr sz="1800" b="1" dirty="0">
                <a:latin typeface="Arial"/>
                <a:cs typeface="Arial"/>
              </a:rPr>
              <a:t>promotional mail-out </a:t>
            </a:r>
            <a:r>
              <a:rPr sz="1800" b="1" spc="-4" dirty="0">
                <a:latin typeface="Arial"/>
                <a:cs typeface="Arial"/>
              </a:rPr>
              <a:t>for </a:t>
            </a:r>
            <a:r>
              <a:rPr sz="1800" b="1" dirty="0">
                <a:latin typeface="Arial"/>
                <a:cs typeface="Arial"/>
              </a:rPr>
              <a:t>the </a:t>
            </a:r>
            <a:r>
              <a:rPr sz="1800" b="1" spc="-4" dirty="0">
                <a:latin typeface="Arial"/>
                <a:cs typeface="Arial"/>
              </a:rPr>
              <a:t>same  </a:t>
            </a:r>
            <a:r>
              <a:rPr sz="1800" b="1" dirty="0">
                <a:latin typeface="Arial"/>
                <a:cs typeface="Arial"/>
              </a:rPr>
              <a:t>product.</a:t>
            </a:r>
            <a:endParaRPr sz="1800" dirty="0">
              <a:latin typeface="Arial"/>
              <a:cs typeface="Arial"/>
            </a:endParaRPr>
          </a:p>
          <a:p>
            <a:pPr>
              <a:spcBef>
                <a:spcPts val="19"/>
              </a:spcBef>
            </a:pPr>
            <a:endParaRPr sz="1200" dirty="0">
              <a:latin typeface="Arial"/>
              <a:cs typeface="Arial"/>
            </a:endParaRPr>
          </a:p>
          <a:p>
            <a:pPr marL="224314">
              <a:spcBef>
                <a:spcPts val="4"/>
              </a:spcBef>
            </a:pPr>
            <a:r>
              <a:rPr b="1" spc="-4" dirty="0">
                <a:latin typeface="Arial"/>
                <a:cs typeface="Arial"/>
              </a:rPr>
              <a:t>Discuss </a:t>
            </a:r>
            <a:r>
              <a:rPr b="1" dirty="0">
                <a:latin typeface="Arial"/>
                <a:cs typeface="Arial"/>
              </a:rPr>
              <a:t>the following</a:t>
            </a:r>
            <a:r>
              <a:rPr b="1" spc="-60" dirty="0">
                <a:latin typeface="Arial"/>
                <a:cs typeface="Arial"/>
              </a:rPr>
              <a:t> </a:t>
            </a:r>
            <a:r>
              <a:rPr b="1" spc="-4" dirty="0">
                <a:latin typeface="Arial"/>
                <a:cs typeface="Arial"/>
              </a:rPr>
              <a:t>issues:</a:t>
            </a:r>
            <a:endParaRPr dirty="0">
              <a:latin typeface="Arial"/>
              <a:cs typeface="Arial"/>
            </a:endParaRPr>
          </a:p>
          <a:p>
            <a:pPr marL="224314" marR="3913823" indent="-215265">
              <a:lnSpc>
                <a:spcPct val="151900"/>
              </a:lnSpc>
              <a:spcBef>
                <a:spcPts val="4"/>
              </a:spcBef>
              <a:buChar char="•"/>
              <a:tabLst>
                <a:tab pos="224314" algn="l"/>
                <a:tab pos="224790" algn="l"/>
              </a:tabLst>
            </a:pPr>
            <a:r>
              <a:rPr sz="1200" spc="-4" dirty="0">
                <a:latin typeface="Arial"/>
                <a:cs typeface="Arial"/>
              </a:rPr>
              <a:t>Is this problem suitable for data mining solution?  </a:t>
            </a:r>
            <a:r>
              <a:rPr sz="1200" spc="-45" dirty="0">
                <a:latin typeface="Arial"/>
                <a:cs typeface="Arial"/>
              </a:rPr>
              <a:t>Yes</a:t>
            </a:r>
            <a:endParaRPr sz="1200" dirty="0">
              <a:latin typeface="Arial"/>
              <a:cs typeface="Arial"/>
            </a:endParaRPr>
          </a:p>
          <a:p>
            <a:pPr marL="224314" marR="48101">
              <a:spcBef>
                <a:spcPts val="746"/>
              </a:spcBef>
            </a:pPr>
            <a:r>
              <a:rPr sz="1200" spc="-4" dirty="0">
                <a:latin typeface="Arial"/>
                <a:cs typeface="Arial"/>
              </a:rPr>
              <a:t>This problem is suitable for data mining solution because there is no good existing solution and </a:t>
            </a:r>
            <a:r>
              <a:rPr sz="1200" dirty="0">
                <a:latin typeface="Arial"/>
                <a:cs typeface="Arial"/>
              </a:rPr>
              <a:t>it </a:t>
            </a:r>
            <a:r>
              <a:rPr sz="1200" spc="-4" dirty="0">
                <a:latin typeface="Arial"/>
                <a:cs typeface="Arial"/>
              </a:rPr>
              <a:t>has a lot  of data, that can be easily characterised as an input-to-output</a:t>
            </a:r>
            <a:r>
              <a:rPr sz="1200" spc="90" dirty="0">
                <a:latin typeface="Arial"/>
                <a:cs typeface="Arial"/>
              </a:rPr>
              <a:t> </a:t>
            </a:r>
            <a:r>
              <a:rPr sz="1200" spc="-4" dirty="0">
                <a:latin typeface="Arial"/>
                <a:cs typeface="Arial"/>
              </a:rPr>
              <a:t>relationship.</a:t>
            </a:r>
            <a:endParaRPr sz="1200" dirty="0">
              <a:latin typeface="Arial"/>
              <a:cs typeface="Arial"/>
            </a:endParaRPr>
          </a:p>
        </p:txBody>
      </p:sp>
      <p:sp>
        <p:nvSpPr>
          <p:cNvPr id="3" name="Date Placeholder 2">
            <a:extLst>
              <a:ext uri="{FF2B5EF4-FFF2-40B4-BE49-F238E27FC236}">
                <a16:creationId xmlns:a16="http://schemas.microsoft.com/office/drawing/2014/main" id="{CF1B3C39-F133-9EC0-C5DB-CC7EF3069BC2}"/>
              </a:ext>
            </a:extLst>
          </p:cNvPr>
          <p:cNvSpPr>
            <a:spLocks noGrp="1"/>
          </p:cNvSpPr>
          <p:nvPr>
            <p:ph type="dt" sz="half" idx="6"/>
          </p:nvPr>
        </p:nvSpPr>
        <p:spPr/>
        <p:txBody>
          <a:bodyPr/>
          <a:lstStyle/>
          <a:p>
            <a:fld id="{A226BC86-2433-5749-A001-34216629D884}" type="datetime1">
              <a:rPr lang="en-US" smtClean="0"/>
              <a:t>11/17/25</a:t>
            </a:fld>
            <a:endParaRPr lang="en-US"/>
          </a:p>
        </p:txBody>
      </p:sp>
    </p:spTree>
    <p:extLst>
      <p:ext uri="{BB962C8B-B14F-4D97-AF65-F5344CB8AC3E}">
        <p14:creationId xmlns:p14="http://schemas.microsoft.com/office/powerpoint/2010/main" val="20266666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28650" y="800101"/>
            <a:ext cx="7473315" cy="3933513"/>
          </a:xfrm>
          <a:prstGeom prst="rect">
            <a:avLst/>
          </a:prstGeom>
        </p:spPr>
        <p:txBody>
          <a:bodyPr vert="horz" wrap="square" lIns="0" tIns="9525" rIns="0" bIns="0" rtlCol="0">
            <a:spAutoFit/>
          </a:bodyPr>
          <a:lstStyle/>
          <a:p>
            <a:pPr marL="9525" marR="3810">
              <a:lnSpc>
                <a:spcPct val="152000"/>
              </a:lnSpc>
              <a:spcBef>
                <a:spcPts val="75"/>
              </a:spcBef>
              <a:buChar char="•"/>
              <a:tabLst>
                <a:tab pos="224314" algn="l"/>
                <a:tab pos="224790" algn="l"/>
              </a:tabLst>
            </a:pPr>
            <a:r>
              <a:rPr sz="1200" spc="-4" dirty="0">
                <a:latin typeface="Arial"/>
                <a:cs typeface="Arial"/>
              </a:rPr>
              <a:t>Does the information above give us a classification or estimation problem? Justify </a:t>
            </a:r>
            <a:r>
              <a:rPr sz="1200" spc="-8" dirty="0">
                <a:latin typeface="Arial"/>
                <a:cs typeface="Arial"/>
              </a:rPr>
              <a:t>your </a:t>
            </a:r>
            <a:r>
              <a:rPr sz="1200" spc="-4" dirty="0">
                <a:latin typeface="Arial"/>
                <a:cs typeface="Arial"/>
              </a:rPr>
              <a:t>answer  Classification problem, the model required is to be used to predict whether a customer is a repeat </a:t>
            </a:r>
            <a:r>
              <a:rPr sz="1200" spc="-8" dirty="0">
                <a:latin typeface="Arial"/>
                <a:cs typeface="Arial"/>
              </a:rPr>
              <a:t>buyer </a:t>
            </a:r>
            <a:r>
              <a:rPr sz="1200" spc="-4" dirty="0">
                <a:latin typeface="Arial"/>
                <a:cs typeface="Arial"/>
              </a:rPr>
              <a:t>or</a:t>
            </a:r>
            <a:r>
              <a:rPr sz="1200" spc="274" dirty="0">
                <a:latin typeface="Arial"/>
                <a:cs typeface="Arial"/>
              </a:rPr>
              <a:t> </a:t>
            </a:r>
            <a:r>
              <a:rPr sz="1200" spc="-4" dirty="0">
                <a:latin typeface="Arial"/>
                <a:cs typeface="Arial"/>
              </a:rPr>
              <a:t>not.</a:t>
            </a:r>
            <a:endParaRPr sz="1200" dirty="0">
              <a:latin typeface="Arial"/>
              <a:cs typeface="Arial"/>
            </a:endParaRPr>
          </a:p>
          <a:p>
            <a:pPr marL="9525"/>
            <a:r>
              <a:rPr sz="1200" spc="-4" dirty="0">
                <a:latin typeface="Arial"/>
                <a:cs typeface="Arial"/>
              </a:rPr>
              <a:t>i.e. </a:t>
            </a:r>
            <a:r>
              <a:rPr sz="1200" spc="-8" dirty="0">
                <a:latin typeface="Arial"/>
                <a:cs typeface="Arial"/>
              </a:rPr>
              <a:t>two </a:t>
            </a:r>
            <a:r>
              <a:rPr sz="1200" spc="-4" dirty="0">
                <a:latin typeface="Arial"/>
                <a:cs typeface="Arial"/>
              </a:rPr>
              <a:t>classes of</a:t>
            </a:r>
            <a:r>
              <a:rPr sz="1200" spc="15" dirty="0">
                <a:latin typeface="Arial"/>
                <a:cs typeface="Arial"/>
              </a:rPr>
              <a:t> </a:t>
            </a:r>
            <a:r>
              <a:rPr sz="1200" spc="-4" dirty="0">
                <a:latin typeface="Arial"/>
                <a:cs typeface="Arial"/>
              </a:rPr>
              <a:t>customers.</a:t>
            </a:r>
            <a:endParaRPr sz="1200" dirty="0">
              <a:latin typeface="Arial"/>
              <a:cs typeface="Arial"/>
            </a:endParaRPr>
          </a:p>
          <a:p>
            <a:pPr>
              <a:spcBef>
                <a:spcPts val="8"/>
              </a:spcBef>
            </a:pPr>
            <a:endParaRPr sz="1200" dirty="0">
              <a:latin typeface="Arial"/>
              <a:cs typeface="Arial"/>
            </a:endParaRPr>
          </a:p>
          <a:p>
            <a:pPr marL="224314" indent="-215265">
              <a:spcBef>
                <a:spcPts val="4"/>
              </a:spcBef>
              <a:buChar char="•"/>
              <a:tabLst>
                <a:tab pos="224314" algn="l"/>
                <a:tab pos="224790" algn="l"/>
              </a:tabLst>
            </a:pPr>
            <a:r>
              <a:rPr sz="1200" b="1" spc="-4" dirty="0">
                <a:latin typeface="Arial"/>
                <a:cs typeface="Arial"/>
              </a:rPr>
              <a:t>What are the inputs and</a:t>
            </a:r>
            <a:r>
              <a:rPr sz="1200" b="1" spc="19" dirty="0">
                <a:latin typeface="Arial"/>
                <a:cs typeface="Arial"/>
              </a:rPr>
              <a:t> </a:t>
            </a:r>
            <a:r>
              <a:rPr sz="1200" b="1" spc="-4" dirty="0">
                <a:latin typeface="Arial"/>
                <a:cs typeface="Arial"/>
              </a:rPr>
              <a:t>output?</a:t>
            </a:r>
            <a:endParaRPr sz="1200" b="1" dirty="0">
              <a:latin typeface="Arial"/>
              <a:cs typeface="Arial"/>
            </a:endParaRPr>
          </a:p>
          <a:p>
            <a:pPr marL="9525">
              <a:spcBef>
                <a:spcPts val="746"/>
              </a:spcBef>
            </a:pPr>
            <a:r>
              <a:rPr sz="1200" spc="-4" dirty="0">
                <a:latin typeface="Arial"/>
                <a:cs typeface="Arial"/>
              </a:rPr>
              <a:t>The inputs are the attributes: name, address, occupation,</a:t>
            </a:r>
            <a:r>
              <a:rPr sz="1200" spc="60" dirty="0">
                <a:latin typeface="Arial"/>
                <a:cs typeface="Arial"/>
              </a:rPr>
              <a:t> </a:t>
            </a:r>
            <a:r>
              <a:rPr sz="1200" spc="-4" dirty="0">
                <a:latin typeface="Arial"/>
                <a:cs typeface="Arial"/>
              </a:rPr>
              <a:t>salary;</a:t>
            </a:r>
            <a:endParaRPr sz="1200" dirty="0">
              <a:latin typeface="Arial"/>
              <a:cs typeface="Arial"/>
            </a:endParaRPr>
          </a:p>
          <a:p>
            <a:pPr marL="9525">
              <a:spcBef>
                <a:spcPts val="750"/>
              </a:spcBef>
            </a:pPr>
            <a:r>
              <a:rPr sz="1200" spc="-4" dirty="0">
                <a:latin typeface="Arial"/>
                <a:cs typeface="Arial"/>
              </a:rPr>
              <a:t>The </a:t>
            </a:r>
            <a:r>
              <a:rPr sz="1200" spc="-8" dirty="0">
                <a:latin typeface="Arial"/>
                <a:cs typeface="Arial"/>
              </a:rPr>
              <a:t>outputs </a:t>
            </a:r>
            <a:r>
              <a:rPr sz="1200" spc="-4" dirty="0">
                <a:latin typeface="Arial"/>
                <a:cs typeface="Arial"/>
              </a:rPr>
              <a:t>is an </a:t>
            </a:r>
            <a:r>
              <a:rPr sz="1200" spc="-8" dirty="0">
                <a:latin typeface="Arial"/>
                <a:cs typeface="Arial"/>
              </a:rPr>
              <a:t>attribute </a:t>
            </a:r>
            <a:r>
              <a:rPr sz="1200" spc="-4" dirty="0">
                <a:latin typeface="Arial"/>
                <a:cs typeface="Arial"/>
              </a:rPr>
              <a:t>called: “Repeat </a:t>
            </a:r>
            <a:r>
              <a:rPr sz="1200" spc="-8" dirty="0">
                <a:latin typeface="Arial"/>
                <a:cs typeface="Arial"/>
              </a:rPr>
              <a:t>Buyer” with </a:t>
            </a:r>
            <a:r>
              <a:rPr sz="1200" spc="-4" dirty="0">
                <a:latin typeface="Arial"/>
                <a:cs typeface="Arial"/>
              </a:rPr>
              <a:t>the labels </a:t>
            </a:r>
            <a:r>
              <a:rPr sz="1200" spc="-8" dirty="0">
                <a:latin typeface="Arial"/>
                <a:cs typeface="Arial"/>
              </a:rPr>
              <a:t>“yes” </a:t>
            </a:r>
            <a:r>
              <a:rPr sz="1200" spc="-4" dirty="0">
                <a:latin typeface="Arial"/>
                <a:cs typeface="Arial"/>
              </a:rPr>
              <a:t>or</a:t>
            </a:r>
            <a:r>
              <a:rPr sz="1200" spc="143" dirty="0">
                <a:latin typeface="Arial"/>
                <a:cs typeface="Arial"/>
              </a:rPr>
              <a:t> </a:t>
            </a:r>
            <a:r>
              <a:rPr sz="1200" spc="-4" dirty="0">
                <a:latin typeface="Arial"/>
                <a:cs typeface="Arial"/>
              </a:rPr>
              <a:t>“no”</a:t>
            </a:r>
            <a:endParaRPr sz="1200" dirty="0">
              <a:latin typeface="Arial"/>
              <a:cs typeface="Arial"/>
            </a:endParaRPr>
          </a:p>
          <a:p>
            <a:pPr>
              <a:lnSpc>
                <a:spcPct val="100000"/>
              </a:lnSpc>
            </a:pPr>
            <a:endParaRPr dirty="0">
              <a:latin typeface="Arial"/>
              <a:cs typeface="Arial"/>
            </a:endParaRPr>
          </a:p>
          <a:p>
            <a:pPr marL="224314" indent="-215265">
              <a:spcBef>
                <a:spcPts val="4"/>
              </a:spcBef>
              <a:buChar char="•"/>
              <a:tabLst>
                <a:tab pos="224314" algn="l"/>
                <a:tab pos="224790" algn="l"/>
              </a:tabLst>
            </a:pPr>
            <a:r>
              <a:rPr sz="1200" b="1" spc="-4" dirty="0">
                <a:latin typeface="Arial"/>
                <a:cs typeface="Arial"/>
              </a:rPr>
              <a:t>What </a:t>
            </a:r>
            <a:r>
              <a:rPr sz="1200" b="1" dirty="0">
                <a:latin typeface="Arial"/>
                <a:cs typeface="Arial"/>
              </a:rPr>
              <a:t>is </a:t>
            </a:r>
            <a:r>
              <a:rPr sz="1200" b="1" spc="-4" dirty="0">
                <a:latin typeface="Arial"/>
                <a:cs typeface="Arial"/>
              </a:rPr>
              <a:t>the alternative to producing a</a:t>
            </a:r>
            <a:r>
              <a:rPr sz="1200" b="1" spc="23" dirty="0">
                <a:latin typeface="Arial"/>
                <a:cs typeface="Arial"/>
              </a:rPr>
              <a:t> </a:t>
            </a:r>
            <a:r>
              <a:rPr sz="1200" b="1" spc="-4" dirty="0">
                <a:latin typeface="Arial"/>
                <a:cs typeface="Arial"/>
              </a:rPr>
              <a:t>model?</a:t>
            </a:r>
            <a:endParaRPr sz="1200" b="1" dirty="0">
              <a:latin typeface="Arial"/>
              <a:cs typeface="Arial"/>
            </a:endParaRPr>
          </a:p>
          <a:p>
            <a:pPr marL="9525" marR="118110">
              <a:spcBef>
                <a:spcPts val="746"/>
              </a:spcBef>
            </a:pPr>
            <a:r>
              <a:rPr sz="1200" spc="-4" dirty="0">
                <a:latin typeface="Arial"/>
                <a:cs typeface="Arial"/>
              </a:rPr>
              <a:t>As the task is to select a subset of customers to send the promotional </a:t>
            </a:r>
            <a:r>
              <a:rPr sz="1200" dirty="0">
                <a:latin typeface="Arial"/>
                <a:cs typeface="Arial"/>
              </a:rPr>
              <a:t>mail-out </a:t>
            </a:r>
            <a:r>
              <a:rPr sz="1200" spc="-4" dirty="0">
                <a:latin typeface="Arial"/>
                <a:cs typeface="Arial"/>
              </a:rPr>
              <a:t>to, instead of building a model  in order to identify the customers, one can simply perform a random selection of customers from all the  available</a:t>
            </a:r>
            <a:r>
              <a:rPr sz="1200" spc="-41" dirty="0">
                <a:latin typeface="Arial"/>
                <a:cs typeface="Arial"/>
              </a:rPr>
              <a:t> </a:t>
            </a:r>
            <a:r>
              <a:rPr sz="1200" spc="-4" dirty="0">
                <a:latin typeface="Arial"/>
                <a:cs typeface="Arial"/>
              </a:rPr>
              <a:t>customers</a:t>
            </a:r>
            <a:endParaRPr sz="1200" dirty="0">
              <a:latin typeface="Arial"/>
              <a:cs typeface="Arial"/>
            </a:endParaRPr>
          </a:p>
          <a:p>
            <a:pPr>
              <a:spcBef>
                <a:spcPts val="11"/>
              </a:spcBef>
            </a:pPr>
            <a:endParaRPr sz="1200" dirty="0">
              <a:latin typeface="Arial"/>
              <a:cs typeface="Arial"/>
            </a:endParaRPr>
          </a:p>
          <a:p>
            <a:pPr marL="224314" indent="-215265">
              <a:buChar char="•"/>
              <a:tabLst>
                <a:tab pos="224314" algn="l"/>
                <a:tab pos="224790" algn="l"/>
              </a:tabLst>
            </a:pPr>
            <a:r>
              <a:rPr sz="1200" b="1" spc="-4" dirty="0">
                <a:latin typeface="Arial"/>
                <a:cs typeface="Arial"/>
              </a:rPr>
              <a:t>How </a:t>
            </a:r>
            <a:r>
              <a:rPr sz="1200" b="1" spc="-8" dirty="0">
                <a:latin typeface="Arial"/>
                <a:cs typeface="Arial"/>
              </a:rPr>
              <a:t>you will </a:t>
            </a:r>
            <a:r>
              <a:rPr sz="1200" b="1" spc="-4" dirty="0">
                <a:latin typeface="Arial"/>
                <a:cs typeface="Arial"/>
              </a:rPr>
              <a:t>use the data for training a model and evaluating the</a:t>
            </a:r>
            <a:r>
              <a:rPr sz="1200" b="1" spc="71" dirty="0">
                <a:latin typeface="Arial"/>
                <a:cs typeface="Arial"/>
              </a:rPr>
              <a:t> </a:t>
            </a:r>
            <a:r>
              <a:rPr sz="1200" b="1" spc="-4" dirty="0">
                <a:latin typeface="Arial"/>
                <a:cs typeface="Arial"/>
              </a:rPr>
              <a:t>model?</a:t>
            </a:r>
            <a:endParaRPr sz="1200" b="1" dirty="0">
              <a:latin typeface="Arial"/>
              <a:cs typeface="Arial"/>
            </a:endParaRPr>
          </a:p>
          <a:p>
            <a:pPr marL="9525" marR="56198">
              <a:spcBef>
                <a:spcPts val="750"/>
              </a:spcBef>
            </a:pPr>
            <a:r>
              <a:rPr sz="1200" spc="-4" dirty="0">
                <a:latin typeface="Arial"/>
                <a:cs typeface="Arial"/>
              </a:rPr>
              <a:t>In order to evaluate the trained models </a:t>
            </a:r>
            <a:r>
              <a:rPr sz="1200" dirty="0">
                <a:latin typeface="Arial"/>
                <a:cs typeface="Arial"/>
              </a:rPr>
              <a:t>using </a:t>
            </a:r>
            <a:r>
              <a:rPr sz="1200" spc="-4" dirty="0">
                <a:latin typeface="Arial"/>
                <a:cs typeface="Arial"/>
              </a:rPr>
              <a:t>test data, the </a:t>
            </a:r>
            <a:r>
              <a:rPr sz="1200" dirty="0">
                <a:latin typeface="Arial"/>
                <a:cs typeface="Arial"/>
              </a:rPr>
              <a:t>given </a:t>
            </a:r>
            <a:r>
              <a:rPr sz="1200" spc="-4" dirty="0">
                <a:latin typeface="Arial"/>
                <a:cs typeface="Arial"/>
              </a:rPr>
              <a:t>data set of 100000 customers can be split  into </a:t>
            </a:r>
            <a:r>
              <a:rPr sz="1200" spc="-8" dirty="0">
                <a:latin typeface="Arial"/>
                <a:cs typeface="Arial"/>
              </a:rPr>
              <a:t>two </a:t>
            </a:r>
            <a:r>
              <a:rPr sz="1200" spc="-4" dirty="0">
                <a:latin typeface="Arial"/>
                <a:cs typeface="Arial"/>
              </a:rPr>
              <a:t>subsets; one for the training and one for the testing. There is no need to use more elaborate  evaluation method such as 10-fold cross validation method, as the data set is big enough and the reserved for  testing is unlikely to degrade the predictive accuracy of the trained</a:t>
            </a:r>
            <a:r>
              <a:rPr sz="1200" spc="45" dirty="0">
                <a:latin typeface="Arial"/>
                <a:cs typeface="Arial"/>
              </a:rPr>
              <a:t> </a:t>
            </a:r>
            <a:r>
              <a:rPr sz="1200" spc="-4" dirty="0">
                <a:latin typeface="Arial"/>
                <a:cs typeface="Arial"/>
              </a:rPr>
              <a:t>model.</a:t>
            </a:r>
            <a:endParaRPr sz="1200" dirty="0">
              <a:latin typeface="Arial"/>
              <a:cs typeface="Arial"/>
            </a:endParaRPr>
          </a:p>
        </p:txBody>
      </p:sp>
      <p:sp>
        <p:nvSpPr>
          <p:cNvPr id="3" name="Date Placeholder 2">
            <a:extLst>
              <a:ext uri="{FF2B5EF4-FFF2-40B4-BE49-F238E27FC236}">
                <a16:creationId xmlns:a16="http://schemas.microsoft.com/office/drawing/2014/main" id="{3EDBD9DB-AEC6-6421-BCD8-60368B3623B3}"/>
              </a:ext>
            </a:extLst>
          </p:cNvPr>
          <p:cNvSpPr>
            <a:spLocks noGrp="1"/>
          </p:cNvSpPr>
          <p:nvPr>
            <p:ph type="dt" sz="half" idx="6"/>
          </p:nvPr>
        </p:nvSpPr>
        <p:spPr/>
        <p:txBody>
          <a:bodyPr/>
          <a:lstStyle/>
          <a:p>
            <a:fld id="{EF042D91-2442-3F41-AEA8-0F7AC487D9A0}" type="datetime1">
              <a:rPr lang="en-US" smtClean="0"/>
              <a:t>11/17/25</a:t>
            </a:fld>
            <a:endParaRPr lang="en-US"/>
          </a:p>
        </p:txBody>
      </p:sp>
    </p:spTree>
    <p:extLst>
      <p:ext uri="{BB962C8B-B14F-4D97-AF65-F5344CB8AC3E}">
        <p14:creationId xmlns:p14="http://schemas.microsoft.com/office/powerpoint/2010/main" val="42801883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73406" y="1192492"/>
            <a:ext cx="7372826" cy="1048364"/>
          </a:xfrm>
          <a:prstGeom prst="rect">
            <a:avLst/>
          </a:prstGeom>
        </p:spPr>
        <p:txBody>
          <a:bodyPr vert="horz" wrap="square" lIns="0" tIns="9525" rIns="0" bIns="0" rtlCol="0">
            <a:spAutoFit/>
          </a:bodyPr>
          <a:lstStyle/>
          <a:p>
            <a:pPr marL="9525" marR="3810">
              <a:spcBef>
                <a:spcPts val="75"/>
              </a:spcBef>
            </a:pPr>
            <a:r>
              <a:rPr sz="1350" b="1" spc="-4" dirty="0">
                <a:solidFill>
                  <a:schemeClr val="tx1"/>
                </a:solidFill>
                <a:latin typeface="Arial"/>
                <a:cs typeface="Arial"/>
              </a:rPr>
              <a:t>3. </a:t>
            </a:r>
            <a:r>
              <a:rPr sz="1350" b="1" dirty="0">
                <a:solidFill>
                  <a:schemeClr val="tx1"/>
                </a:solidFill>
                <a:latin typeface="Arial"/>
                <a:cs typeface="Arial"/>
              </a:rPr>
              <a:t>Let </a:t>
            </a:r>
            <a:r>
              <a:rPr sz="1350" b="1" spc="-8" dirty="0">
                <a:solidFill>
                  <a:schemeClr val="tx1"/>
                </a:solidFill>
                <a:latin typeface="Arial"/>
                <a:cs typeface="Arial"/>
              </a:rPr>
              <a:t>say you </a:t>
            </a:r>
            <a:r>
              <a:rPr sz="1350" b="1" spc="-4" dirty="0">
                <a:solidFill>
                  <a:schemeClr val="tx1"/>
                </a:solidFill>
                <a:latin typeface="Arial"/>
                <a:cs typeface="Arial"/>
              </a:rPr>
              <a:t>are </a:t>
            </a:r>
            <a:r>
              <a:rPr sz="1350" b="1" spc="-8" dirty="0">
                <a:solidFill>
                  <a:schemeClr val="tx1"/>
                </a:solidFill>
                <a:latin typeface="Arial"/>
                <a:cs typeface="Arial"/>
              </a:rPr>
              <a:t>given </a:t>
            </a:r>
            <a:r>
              <a:rPr sz="1350" b="1" dirty="0">
                <a:solidFill>
                  <a:schemeClr val="tx1"/>
                </a:solidFill>
                <a:latin typeface="Arial"/>
                <a:cs typeface="Arial"/>
              </a:rPr>
              <a:t>a </a:t>
            </a:r>
            <a:r>
              <a:rPr sz="1350" b="1" spc="-4" dirty="0">
                <a:solidFill>
                  <a:schemeClr val="tx1"/>
                </a:solidFill>
                <a:latin typeface="Arial"/>
                <a:cs typeface="Arial"/>
              </a:rPr>
              <a:t>set </a:t>
            </a:r>
            <a:r>
              <a:rPr sz="1350" b="1" dirty="0">
                <a:solidFill>
                  <a:schemeClr val="tx1"/>
                </a:solidFill>
                <a:latin typeface="Arial"/>
                <a:cs typeface="Arial"/>
              </a:rPr>
              <a:t>of </a:t>
            </a:r>
            <a:r>
              <a:rPr sz="1350" b="1" spc="-4" dirty="0">
                <a:solidFill>
                  <a:schemeClr val="tx1"/>
                </a:solidFill>
                <a:latin typeface="Arial"/>
                <a:cs typeface="Arial"/>
              </a:rPr>
              <a:t>training </a:t>
            </a:r>
            <a:r>
              <a:rPr sz="1350" b="1" dirty="0">
                <a:solidFill>
                  <a:schemeClr val="tx1"/>
                </a:solidFill>
                <a:latin typeface="Arial"/>
                <a:cs typeface="Arial"/>
              </a:rPr>
              <a:t>data </a:t>
            </a:r>
            <a:r>
              <a:rPr sz="1350" b="1" spc="8" dirty="0">
                <a:solidFill>
                  <a:schemeClr val="tx1"/>
                </a:solidFill>
                <a:latin typeface="Arial"/>
                <a:cs typeface="Arial"/>
              </a:rPr>
              <a:t>with </a:t>
            </a:r>
            <a:r>
              <a:rPr sz="1350" b="1" spc="-8" dirty="0">
                <a:solidFill>
                  <a:schemeClr val="tx1"/>
                </a:solidFill>
                <a:latin typeface="Arial"/>
                <a:cs typeface="Arial"/>
              </a:rPr>
              <a:t>50% </a:t>
            </a:r>
            <a:r>
              <a:rPr sz="1350" b="1" spc="-4" dirty="0">
                <a:solidFill>
                  <a:schemeClr val="tx1"/>
                </a:solidFill>
                <a:latin typeface="Arial"/>
                <a:cs typeface="Arial"/>
              </a:rPr>
              <a:t>class “positive” and </a:t>
            </a:r>
            <a:r>
              <a:rPr sz="1350" b="1" spc="-8" dirty="0">
                <a:solidFill>
                  <a:schemeClr val="tx1"/>
                </a:solidFill>
                <a:latin typeface="Arial"/>
                <a:cs typeface="Arial"/>
              </a:rPr>
              <a:t>50% </a:t>
            </a:r>
            <a:r>
              <a:rPr sz="1350" b="1" spc="-4" dirty="0">
                <a:solidFill>
                  <a:schemeClr val="tx1"/>
                </a:solidFill>
                <a:latin typeface="Arial"/>
                <a:cs typeface="Arial"/>
              </a:rPr>
              <a:t>class  “negative”, and </a:t>
            </a:r>
            <a:r>
              <a:rPr sz="1350" b="1" spc="-8" dirty="0">
                <a:solidFill>
                  <a:schemeClr val="tx1"/>
                </a:solidFill>
                <a:latin typeface="Arial"/>
                <a:cs typeface="Arial"/>
              </a:rPr>
              <a:t>you </a:t>
            </a:r>
            <a:r>
              <a:rPr sz="1350" b="1" spc="-11" dirty="0">
                <a:solidFill>
                  <a:schemeClr val="tx1"/>
                </a:solidFill>
                <a:latin typeface="Arial"/>
                <a:cs typeface="Arial"/>
              </a:rPr>
              <a:t>have </a:t>
            </a:r>
            <a:r>
              <a:rPr sz="1350" b="1" spc="-4" dirty="0">
                <a:solidFill>
                  <a:schemeClr val="tx1"/>
                </a:solidFill>
                <a:latin typeface="Arial"/>
                <a:cs typeface="Arial"/>
              </a:rPr>
              <a:t>explored </a:t>
            </a:r>
            <a:r>
              <a:rPr sz="1350" b="1" spc="-8" dirty="0">
                <a:solidFill>
                  <a:schemeClr val="tx1"/>
                </a:solidFill>
                <a:latin typeface="Arial"/>
                <a:cs typeface="Arial"/>
              </a:rPr>
              <a:t>several </a:t>
            </a:r>
            <a:r>
              <a:rPr sz="1350" b="1" spc="-4" dirty="0">
                <a:solidFill>
                  <a:schemeClr val="tx1"/>
                </a:solidFill>
                <a:latin typeface="Arial"/>
                <a:cs typeface="Arial"/>
              </a:rPr>
              <a:t>models and selected </a:t>
            </a:r>
            <a:r>
              <a:rPr sz="1350" b="1" dirty="0">
                <a:solidFill>
                  <a:schemeClr val="tx1"/>
                </a:solidFill>
                <a:latin typeface="Arial"/>
                <a:cs typeface="Arial"/>
              </a:rPr>
              <a:t>the </a:t>
            </a:r>
            <a:r>
              <a:rPr sz="1350" b="1" spc="-4" dirty="0">
                <a:solidFill>
                  <a:schemeClr val="tx1"/>
                </a:solidFill>
                <a:latin typeface="Arial"/>
                <a:cs typeface="Arial"/>
              </a:rPr>
              <a:t>best model. </a:t>
            </a:r>
            <a:r>
              <a:rPr sz="1350" b="1" spc="-34" dirty="0">
                <a:solidFill>
                  <a:schemeClr val="tx1"/>
                </a:solidFill>
                <a:latin typeface="Arial"/>
                <a:cs typeface="Arial"/>
              </a:rPr>
              <a:t>You </a:t>
            </a:r>
            <a:r>
              <a:rPr sz="1350" b="1" spc="-4" dirty="0">
                <a:solidFill>
                  <a:schemeClr val="tx1"/>
                </a:solidFill>
                <a:latin typeface="Arial"/>
                <a:cs typeface="Arial"/>
              </a:rPr>
              <a:t>can  </a:t>
            </a:r>
            <a:r>
              <a:rPr sz="1350" b="1" dirty="0">
                <a:solidFill>
                  <a:schemeClr val="tx1"/>
                </a:solidFill>
                <a:latin typeface="Arial"/>
                <a:cs typeface="Arial"/>
              </a:rPr>
              <a:t>now </a:t>
            </a:r>
            <a:r>
              <a:rPr sz="1350" b="1" spc="-4" dirty="0">
                <a:solidFill>
                  <a:schemeClr val="tx1"/>
                </a:solidFill>
                <a:latin typeface="Arial"/>
                <a:cs typeface="Arial"/>
              </a:rPr>
              <a:t>use </a:t>
            </a:r>
            <a:r>
              <a:rPr sz="1350" b="1" dirty="0">
                <a:solidFill>
                  <a:schemeClr val="tx1"/>
                </a:solidFill>
                <a:latin typeface="Arial"/>
                <a:cs typeface="Arial"/>
              </a:rPr>
              <a:t>the </a:t>
            </a:r>
            <a:r>
              <a:rPr sz="1350" b="1" spc="-4" dirty="0">
                <a:solidFill>
                  <a:schemeClr val="tx1"/>
                </a:solidFill>
                <a:latin typeface="Arial"/>
                <a:cs typeface="Arial"/>
              </a:rPr>
              <a:t>best </a:t>
            </a:r>
            <a:r>
              <a:rPr sz="1350" b="1" dirty="0">
                <a:solidFill>
                  <a:schemeClr val="tx1"/>
                </a:solidFill>
                <a:latin typeface="Arial"/>
                <a:cs typeface="Arial"/>
              </a:rPr>
              <a:t>model to do </a:t>
            </a:r>
            <a:r>
              <a:rPr sz="1350" b="1" spc="-4" dirty="0">
                <a:solidFill>
                  <a:schemeClr val="tx1"/>
                </a:solidFill>
                <a:latin typeface="Arial"/>
                <a:cs typeface="Arial"/>
              </a:rPr>
              <a:t>future prediction. Now, </a:t>
            </a:r>
            <a:r>
              <a:rPr sz="1350" b="1" spc="-8" dirty="0">
                <a:solidFill>
                  <a:schemeClr val="tx1"/>
                </a:solidFill>
                <a:latin typeface="Arial"/>
                <a:cs typeface="Arial"/>
              </a:rPr>
              <a:t>you </a:t>
            </a:r>
            <a:r>
              <a:rPr sz="1350" b="1" spc="-4" dirty="0">
                <a:solidFill>
                  <a:schemeClr val="tx1"/>
                </a:solidFill>
                <a:latin typeface="Arial"/>
                <a:cs typeface="Arial"/>
              </a:rPr>
              <a:t>are informed </a:t>
            </a:r>
            <a:r>
              <a:rPr sz="1350" b="1" dirty="0">
                <a:solidFill>
                  <a:schemeClr val="tx1"/>
                </a:solidFill>
                <a:latin typeface="Arial"/>
                <a:cs typeface="Arial"/>
              </a:rPr>
              <a:t>that </a:t>
            </a:r>
            <a:r>
              <a:rPr sz="1350" b="1" spc="-4" dirty="0">
                <a:solidFill>
                  <a:schemeClr val="tx1"/>
                </a:solidFill>
                <a:latin typeface="Arial"/>
                <a:cs typeface="Arial"/>
              </a:rPr>
              <a:t>the </a:t>
            </a:r>
            <a:r>
              <a:rPr sz="1350" b="1" dirty="0">
                <a:solidFill>
                  <a:schemeClr val="tx1"/>
                </a:solidFill>
                <a:latin typeface="Arial"/>
                <a:cs typeface="Arial"/>
              </a:rPr>
              <a:t>future </a:t>
            </a:r>
            <a:r>
              <a:rPr sz="1350" b="1" spc="-4" dirty="0">
                <a:solidFill>
                  <a:schemeClr val="tx1"/>
                </a:solidFill>
                <a:latin typeface="Arial"/>
                <a:cs typeface="Arial"/>
              </a:rPr>
              <a:t>data  </a:t>
            </a:r>
            <a:r>
              <a:rPr sz="1350" b="1" spc="-8" dirty="0">
                <a:solidFill>
                  <a:schemeClr val="tx1"/>
                </a:solidFill>
                <a:latin typeface="Arial"/>
                <a:cs typeface="Arial"/>
              </a:rPr>
              <a:t>you </a:t>
            </a:r>
            <a:r>
              <a:rPr sz="1350" b="1" spc="-4" dirty="0">
                <a:solidFill>
                  <a:schemeClr val="tx1"/>
                </a:solidFill>
                <a:latin typeface="Arial"/>
                <a:cs typeface="Arial"/>
              </a:rPr>
              <a:t>are </a:t>
            </a:r>
            <a:r>
              <a:rPr sz="1350" b="1" dirty="0">
                <a:solidFill>
                  <a:schemeClr val="tx1"/>
                </a:solidFill>
                <a:latin typeface="Arial"/>
                <a:cs typeface="Arial"/>
              </a:rPr>
              <a:t>going to get is </a:t>
            </a:r>
            <a:r>
              <a:rPr sz="1350" b="1" spc="-4" dirty="0">
                <a:solidFill>
                  <a:schemeClr val="tx1"/>
                </a:solidFill>
                <a:latin typeface="Arial"/>
                <a:cs typeface="Arial"/>
              </a:rPr>
              <a:t>likely </a:t>
            </a:r>
            <a:r>
              <a:rPr sz="1350" b="1" dirty="0">
                <a:solidFill>
                  <a:schemeClr val="tx1"/>
                </a:solidFill>
                <a:latin typeface="Arial"/>
                <a:cs typeface="Arial"/>
              </a:rPr>
              <a:t>to </a:t>
            </a:r>
            <a:r>
              <a:rPr sz="1350" b="1" spc="-11" dirty="0">
                <a:solidFill>
                  <a:schemeClr val="tx1"/>
                </a:solidFill>
                <a:latin typeface="Arial"/>
                <a:cs typeface="Arial"/>
              </a:rPr>
              <a:t>have </a:t>
            </a:r>
            <a:r>
              <a:rPr sz="1350" b="1" dirty="0">
                <a:solidFill>
                  <a:schemeClr val="tx1"/>
                </a:solidFill>
                <a:latin typeface="Arial"/>
                <a:cs typeface="Arial"/>
              </a:rPr>
              <a:t>the following </a:t>
            </a:r>
            <a:r>
              <a:rPr sz="1350" b="1" spc="-4" dirty="0">
                <a:solidFill>
                  <a:schemeClr val="tx1"/>
                </a:solidFill>
                <a:latin typeface="Arial"/>
                <a:cs typeface="Arial"/>
              </a:rPr>
              <a:t>class </a:t>
            </a:r>
            <a:r>
              <a:rPr sz="1350" b="1" dirty="0">
                <a:solidFill>
                  <a:schemeClr val="tx1"/>
                </a:solidFill>
                <a:latin typeface="Arial"/>
                <a:cs typeface="Arial"/>
              </a:rPr>
              <a:t>distribution: </a:t>
            </a:r>
            <a:r>
              <a:rPr sz="1350" b="1" spc="-4" dirty="0">
                <a:solidFill>
                  <a:schemeClr val="tx1"/>
                </a:solidFill>
                <a:latin typeface="Arial"/>
                <a:cs typeface="Arial"/>
              </a:rPr>
              <a:t>90% class “positive”  and 10% class “negative”.</a:t>
            </a:r>
            <a:endParaRPr sz="1350" dirty="0">
              <a:solidFill>
                <a:schemeClr val="tx1"/>
              </a:solidFill>
              <a:latin typeface="Arial"/>
              <a:cs typeface="Arial"/>
            </a:endParaRPr>
          </a:p>
        </p:txBody>
      </p:sp>
      <p:sp>
        <p:nvSpPr>
          <p:cNvPr id="3" name="object 3"/>
          <p:cNvSpPr txBox="1"/>
          <p:nvPr/>
        </p:nvSpPr>
        <p:spPr>
          <a:xfrm>
            <a:off x="573405" y="2317395"/>
            <a:ext cx="7420928" cy="1506983"/>
          </a:xfrm>
          <a:prstGeom prst="rect">
            <a:avLst/>
          </a:prstGeom>
        </p:spPr>
        <p:txBody>
          <a:bodyPr vert="horz" wrap="square" lIns="0" tIns="9049" rIns="0" bIns="0" rtlCol="0">
            <a:spAutoFit/>
          </a:bodyPr>
          <a:lstStyle/>
          <a:p>
            <a:pPr marL="9525" marR="178594">
              <a:spcBef>
                <a:spcPts val="71"/>
              </a:spcBef>
            </a:pPr>
            <a:r>
              <a:rPr sz="1200" spc="-8" dirty="0">
                <a:latin typeface="Arial"/>
                <a:cs typeface="Arial"/>
              </a:rPr>
              <a:t>Would you </a:t>
            </a:r>
            <a:r>
              <a:rPr sz="1200" spc="-4" dirty="0">
                <a:latin typeface="Arial"/>
                <a:cs typeface="Arial"/>
              </a:rPr>
              <a:t>go ahead to use the best model to do prediction for all future data? Provide a reason for </a:t>
            </a:r>
            <a:r>
              <a:rPr sz="1200" spc="-8" dirty="0">
                <a:latin typeface="Arial"/>
                <a:cs typeface="Arial"/>
              </a:rPr>
              <a:t>your  </a:t>
            </a:r>
            <a:r>
              <a:rPr sz="1200" spc="-15" dirty="0">
                <a:latin typeface="Arial"/>
                <a:cs typeface="Arial"/>
              </a:rPr>
              <a:t>answer. </a:t>
            </a:r>
            <a:r>
              <a:rPr sz="1200" spc="-4" dirty="0">
                <a:latin typeface="Arial"/>
                <a:cs typeface="Arial"/>
              </a:rPr>
              <a:t>In the case that </a:t>
            </a:r>
            <a:r>
              <a:rPr sz="1200" spc="-8" dirty="0">
                <a:latin typeface="Arial"/>
                <a:cs typeface="Arial"/>
              </a:rPr>
              <a:t>your </a:t>
            </a:r>
            <a:r>
              <a:rPr sz="1200" spc="-4" dirty="0">
                <a:latin typeface="Arial"/>
                <a:cs typeface="Arial"/>
              </a:rPr>
              <a:t>answer is no, </a:t>
            </a:r>
            <a:r>
              <a:rPr sz="1200" spc="-8" dirty="0">
                <a:latin typeface="Arial"/>
                <a:cs typeface="Arial"/>
              </a:rPr>
              <a:t>you </a:t>
            </a:r>
            <a:r>
              <a:rPr sz="1200" spc="-4" dirty="0">
                <a:latin typeface="Arial"/>
                <a:cs typeface="Arial"/>
              </a:rPr>
              <a:t>shall also provide an alternative solution to do prediction for  the future</a:t>
            </a:r>
            <a:r>
              <a:rPr sz="1200" spc="11" dirty="0">
                <a:latin typeface="Arial"/>
                <a:cs typeface="Arial"/>
              </a:rPr>
              <a:t> </a:t>
            </a:r>
            <a:r>
              <a:rPr sz="1200" spc="-4" dirty="0">
                <a:latin typeface="Arial"/>
                <a:cs typeface="Arial"/>
              </a:rPr>
              <a:t>data.</a:t>
            </a:r>
            <a:endParaRPr sz="1200" dirty="0">
              <a:latin typeface="Arial"/>
              <a:cs typeface="Arial"/>
            </a:endParaRPr>
          </a:p>
          <a:p>
            <a:pPr marL="9525" marR="3810">
              <a:spcBef>
                <a:spcPts val="750"/>
              </a:spcBef>
            </a:pPr>
            <a:r>
              <a:rPr sz="1200" spc="-4" dirty="0">
                <a:latin typeface="Arial"/>
                <a:cs typeface="Arial"/>
              </a:rPr>
              <a:t>The training data is not a representative of the testing data </a:t>
            </a:r>
            <a:r>
              <a:rPr sz="1200" dirty="0">
                <a:latin typeface="Arial"/>
                <a:cs typeface="Arial"/>
              </a:rPr>
              <a:t>in </a:t>
            </a:r>
            <a:r>
              <a:rPr sz="1200" spc="-4" dirty="0">
                <a:latin typeface="Arial"/>
                <a:cs typeface="Arial"/>
              </a:rPr>
              <a:t>terms of class distribution; the one has a 1:1  ratio and another has 9:1 ratio. This is </a:t>
            </a:r>
            <a:r>
              <a:rPr sz="1200" spc="-8" dirty="0">
                <a:latin typeface="Arial"/>
                <a:cs typeface="Arial"/>
              </a:rPr>
              <a:t>why </a:t>
            </a:r>
            <a:r>
              <a:rPr sz="1200" spc="-4" dirty="0">
                <a:latin typeface="Arial"/>
                <a:cs typeface="Arial"/>
              </a:rPr>
              <a:t>one should not use the model from a data set not representative of  the testing data to do prediction for future</a:t>
            </a:r>
            <a:r>
              <a:rPr sz="1200" spc="56" dirty="0">
                <a:latin typeface="Arial"/>
                <a:cs typeface="Arial"/>
              </a:rPr>
              <a:t> </a:t>
            </a:r>
            <a:r>
              <a:rPr sz="1200" spc="-4" dirty="0">
                <a:latin typeface="Arial"/>
                <a:cs typeface="Arial"/>
              </a:rPr>
              <a:t>data.</a:t>
            </a:r>
            <a:endParaRPr sz="1200" dirty="0">
              <a:latin typeface="Arial"/>
              <a:cs typeface="Arial"/>
            </a:endParaRPr>
          </a:p>
          <a:p>
            <a:pPr marL="9525">
              <a:spcBef>
                <a:spcPts val="758"/>
              </a:spcBef>
            </a:pPr>
            <a:r>
              <a:rPr sz="1200" spc="-4" dirty="0">
                <a:latin typeface="Arial"/>
                <a:cs typeface="Arial"/>
              </a:rPr>
              <a:t>If one does, then it is likely to lead to poor performance i.e. high error</a:t>
            </a:r>
            <a:r>
              <a:rPr sz="1200" spc="98" dirty="0">
                <a:latin typeface="Arial"/>
                <a:cs typeface="Arial"/>
              </a:rPr>
              <a:t> </a:t>
            </a:r>
            <a:r>
              <a:rPr sz="1200" spc="-4" dirty="0">
                <a:latin typeface="Arial"/>
                <a:cs typeface="Arial"/>
              </a:rPr>
              <a:t>rate.</a:t>
            </a:r>
            <a:endParaRPr sz="1200" dirty="0">
              <a:latin typeface="Arial"/>
              <a:cs typeface="Arial"/>
            </a:endParaRPr>
          </a:p>
        </p:txBody>
      </p:sp>
      <p:sp>
        <p:nvSpPr>
          <p:cNvPr id="4" name="Date Placeholder 3">
            <a:extLst>
              <a:ext uri="{FF2B5EF4-FFF2-40B4-BE49-F238E27FC236}">
                <a16:creationId xmlns:a16="http://schemas.microsoft.com/office/drawing/2014/main" id="{43D6AB6F-B5F7-37F5-2886-965617EE0D00}"/>
              </a:ext>
            </a:extLst>
          </p:cNvPr>
          <p:cNvSpPr>
            <a:spLocks noGrp="1"/>
          </p:cNvSpPr>
          <p:nvPr>
            <p:ph type="dt" sz="half" idx="6"/>
          </p:nvPr>
        </p:nvSpPr>
        <p:spPr/>
        <p:txBody>
          <a:bodyPr/>
          <a:lstStyle/>
          <a:p>
            <a:fld id="{9CC1CDE6-DBCD-5A42-8211-33D3B2C09184}" type="datetime1">
              <a:rPr lang="en-US" smtClean="0"/>
              <a:t>11/17/25</a:t>
            </a:fld>
            <a:endParaRPr lang="en-US"/>
          </a:p>
        </p:txBody>
      </p:sp>
    </p:spTree>
    <p:extLst>
      <p:ext uri="{BB962C8B-B14F-4D97-AF65-F5344CB8AC3E}">
        <p14:creationId xmlns:p14="http://schemas.microsoft.com/office/powerpoint/2010/main" val="35253742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5800" y="1200151"/>
            <a:ext cx="7339965" cy="3084338"/>
          </a:xfrm>
          <a:prstGeom prst="rect">
            <a:avLst/>
          </a:prstGeom>
        </p:spPr>
        <p:txBody>
          <a:bodyPr vert="horz" wrap="square" lIns="0" tIns="9049" rIns="0" bIns="0" rtlCol="0">
            <a:spAutoFit/>
          </a:bodyPr>
          <a:lstStyle/>
          <a:p>
            <a:pPr marL="9525" marR="3810">
              <a:spcBef>
                <a:spcPts val="71"/>
              </a:spcBef>
            </a:pPr>
            <a:r>
              <a:rPr sz="1200" spc="-4" dirty="0">
                <a:latin typeface="Arial"/>
                <a:cs typeface="Arial"/>
              </a:rPr>
              <a:t>The same model applied to 9:1 ratio testing data </a:t>
            </a:r>
            <a:r>
              <a:rPr sz="1200" spc="-8" dirty="0">
                <a:latin typeface="Arial"/>
                <a:cs typeface="Arial"/>
              </a:rPr>
              <a:t>will </a:t>
            </a:r>
            <a:r>
              <a:rPr sz="1200" spc="-4" dirty="0">
                <a:latin typeface="Arial"/>
                <a:cs typeface="Arial"/>
              </a:rPr>
              <a:t>perform a lot worse, as 80% of the time the model </a:t>
            </a:r>
            <a:r>
              <a:rPr sz="1200" spc="-8" dirty="0">
                <a:latin typeface="Arial"/>
                <a:cs typeface="Arial"/>
              </a:rPr>
              <a:t>will  </a:t>
            </a:r>
            <a:r>
              <a:rPr sz="1200" spc="-4" dirty="0">
                <a:latin typeface="Arial"/>
                <a:cs typeface="Arial"/>
              </a:rPr>
              <a:t>predict a class “positive” </a:t>
            </a:r>
            <a:r>
              <a:rPr sz="1200" spc="-8" dirty="0">
                <a:latin typeface="Arial"/>
                <a:cs typeface="Arial"/>
              </a:rPr>
              <a:t>regardless </a:t>
            </a:r>
            <a:r>
              <a:rPr sz="1200" spc="-4" dirty="0">
                <a:latin typeface="Arial"/>
                <a:cs typeface="Arial"/>
              </a:rPr>
              <a:t>of the input. The simple model </a:t>
            </a:r>
            <a:r>
              <a:rPr sz="1200" spc="-8" dirty="0">
                <a:latin typeface="Arial"/>
                <a:cs typeface="Arial"/>
              </a:rPr>
              <a:t>will </a:t>
            </a:r>
            <a:r>
              <a:rPr sz="1200" spc="-4" dirty="0">
                <a:latin typeface="Arial"/>
                <a:cs typeface="Arial"/>
              </a:rPr>
              <a:t>have </a:t>
            </a:r>
            <a:r>
              <a:rPr sz="1200" spc="-8" dirty="0">
                <a:latin typeface="Arial"/>
                <a:cs typeface="Arial"/>
              </a:rPr>
              <a:t>accuracy </a:t>
            </a:r>
            <a:r>
              <a:rPr sz="1200" spc="-4" dirty="0">
                <a:latin typeface="Arial"/>
                <a:cs typeface="Arial"/>
              </a:rPr>
              <a:t>of </a:t>
            </a:r>
            <a:r>
              <a:rPr sz="1200" spc="-8" dirty="0">
                <a:latin typeface="Arial"/>
                <a:cs typeface="Arial"/>
              </a:rPr>
              <a:t>90% </a:t>
            </a:r>
            <a:r>
              <a:rPr sz="1200" spc="-4" dirty="0">
                <a:latin typeface="Arial"/>
                <a:cs typeface="Arial"/>
              </a:rPr>
              <a:t>on the </a:t>
            </a:r>
            <a:r>
              <a:rPr sz="1200" spc="-8" dirty="0">
                <a:latin typeface="Arial"/>
                <a:cs typeface="Arial"/>
              </a:rPr>
              <a:t>9:1 </a:t>
            </a:r>
            <a:r>
              <a:rPr sz="1200" spc="-4" dirty="0">
                <a:latin typeface="Arial"/>
                <a:cs typeface="Arial"/>
              </a:rPr>
              <a:t>ratio  testing</a:t>
            </a:r>
            <a:r>
              <a:rPr sz="1200" spc="-15" dirty="0">
                <a:latin typeface="Arial"/>
                <a:cs typeface="Arial"/>
              </a:rPr>
              <a:t> </a:t>
            </a:r>
            <a:r>
              <a:rPr sz="1200" spc="-4" dirty="0">
                <a:latin typeface="Arial"/>
                <a:cs typeface="Arial"/>
              </a:rPr>
              <a:t>data.</a:t>
            </a:r>
            <a:endParaRPr sz="1200" dirty="0">
              <a:latin typeface="Arial"/>
              <a:cs typeface="Arial"/>
            </a:endParaRPr>
          </a:p>
          <a:p>
            <a:pPr marL="9525" marR="9049">
              <a:spcBef>
                <a:spcPts val="750"/>
              </a:spcBef>
            </a:pPr>
            <a:r>
              <a:rPr sz="1200" spc="-8" dirty="0">
                <a:latin typeface="Arial"/>
                <a:cs typeface="Arial"/>
              </a:rPr>
              <a:t>One </a:t>
            </a:r>
            <a:r>
              <a:rPr sz="1200" spc="-4" dirty="0">
                <a:latin typeface="Arial"/>
                <a:cs typeface="Arial"/>
              </a:rPr>
              <a:t>should be aware of how some models allow one to adjust outputs to match the class distribution of the  testing data. Only </a:t>
            </a:r>
            <a:r>
              <a:rPr sz="1200" spc="-8" dirty="0">
                <a:latin typeface="Arial"/>
                <a:cs typeface="Arial"/>
              </a:rPr>
              <a:t>with </a:t>
            </a:r>
            <a:r>
              <a:rPr sz="1200" spc="-4" dirty="0">
                <a:latin typeface="Arial"/>
                <a:cs typeface="Arial"/>
              </a:rPr>
              <a:t>this adjustment, than one can use the model trained from different class distribution to  be</a:t>
            </a:r>
            <a:r>
              <a:rPr sz="1200" spc="-15" dirty="0">
                <a:latin typeface="Arial"/>
                <a:cs typeface="Arial"/>
              </a:rPr>
              <a:t> </a:t>
            </a:r>
            <a:r>
              <a:rPr sz="1200" spc="-4" dirty="0">
                <a:latin typeface="Arial"/>
                <a:cs typeface="Arial"/>
              </a:rPr>
              <a:t>applied.</a:t>
            </a:r>
            <a:endParaRPr sz="1200" dirty="0">
              <a:latin typeface="Arial"/>
              <a:cs typeface="Arial"/>
            </a:endParaRPr>
          </a:p>
          <a:p>
            <a:pPr>
              <a:lnSpc>
                <a:spcPct val="100000"/>
              </a:lnSpc>
            </a:pPr>
            <a:endParaRPr dirty="0">
              <a:latin typeface="Arial"/>
              <a:cs typeface="Arial"/>
            </a:endParaRPr>
          </a:p>
          <a:p>
            <a:pPr>
              <a:spcBef>
                <a:spcPts val="11"/>
              </a:spcBef>
            </a:pPr>
            <a:endParaRPr dirty="0">
              <a:latin typeface="Arial"/>
              <a:cs typeface="Arial"/>
            </a:endParaRPr>
          </a:p>
          <a:p>
            <a:pPr marL="9525" marR="419576"/>
            <a:r>
              <a:rPr b="1" spc="-4" dirty="0">
                <a:latin typeface="Arial"/>
                <a:cs typeface="Arial"/>
              </a:rPr>
              <a:t>4. </a:t>
            </a:r>
            <a:r>
              <a:rPr b="1" dirty="0">
                <a:latin typeface="Arial"/>
                <a:cs typeface="Arial"/>
              </a:rPr>
              <a:t>How does one </a:t>
            </a:r>
            <a:r>
              <a:rPr b="1" spc="-4" dirty="0">
                <a:latin typeface="Arial"/>
                <a:cs typeface="Arial"/>
              </a:rPr>
              <a:t>decide </a:t>
            </a:r>
            <a:r>
              <a:rPr b="1" dirty="0">
                <a:latin typeface="Arial"/>
                <a:cs typeface="Arial"/>
              </a:rPr>
              <a:t>whether to </a:t>
            </a:r>
            <a:r>
              <a:rPr b="1" spc="-4" dirty="0">
                <a:latin typeface="Arial"/>
                <a:cs typeface="Arial"/>
              </a:rPr>
              <a:t>collect more data or </a:t>
            </a:r>
            <a:r>
              <a:rPr b="1" dirty="0">
                <a:latin typeface="Arial"/>
                <a:cs typeface="Arial"/>
              </a:rPr>
              <a:t>not in </a:t>
            </a:r>
            <a:r>
              <a:rPr b="1" spc="-4" dirty="0">
                <a:latin typeface="Arial"/>
                <a:cs typeface="Arial"/>
              </a:rPr>
              <a:t>a </a:t>
            </a:r>
            <a:r>
              <a:rPr b="1" dirty="0">
                <a:latin typeface="Arial"/>
                <a:cs typeface="Arial"/>
              </a:rPr>
              <a:t>non-time </a:t>
            </a:r>
            <a:r>
              <a:rPr b="1" spc="-4" dirty="0">
                <a:latin typeface="Arial"/>
                <a:cs typeface="Arial"/>
              </a:rPr>
              <a:t>series data  </a:t>
            </a:r>
            <a:r>
              <a:rPr b="1" dirty="0">
                <a:latin typeface="Arial"/>
                <a:cs typeface="Arial"/>
              </a:rPr>
              <a:t>mining</a:t>
            </a:r>
            <a:r>
              <a:rPr b="1" spc="-23" dirty="0">
                <a:latin typeface="Arial"/>
                <a:cs typeface="Arial"/>
              </a:rPr>
              <a:t> </a:t>
            </a:r>
            <a:r>
              <a:rPr b="1" spc="-4" dirty="0">
                <a:latin typeface="Arial"/>
                <a:cs typeface="Arial"/>
              </a:rPr>
              <a:t>task?</a:t>
            </a:r>
            <a:endParaRPr dirty="0">
              <a:latin typeface="Arial"/>
              <a:cs typeface="Arial"/>
            </a:endParaRPr>
          </a:p>
          <a:p>
            <a:pPr marL="9525">
              <a:spcBef>
                <a:spcPts val="754"/>
              </a:spcBef>
            </a:pPr>
            <a:r>
              <a:rPr sz="1200" spc="-4" dirty="0">
                <a:latin typeface="Arial"/>
                <a:cs typeface="Arial"/>
              </a:rPr>
              <a:t>When there is a small portion of data to mine, one should collect more</a:t>
            </a:r>
            <a:r>
              <a:rPr sz="1200" spc="71" dirty="0">
                <a:latin typeface="Arial"/>
                <a:cs typeface="Arial"/>
              </a:rPr>
              <a:t> </a:t>
            </a:r>
            <a:r>
              <a:rPr sz="1200" spc="-4" dirty="0">
                <a:latin typeface="Arial"/>
                <a:cs typeface="Arial"/>
              </a:rPr>
              <a:t>data.</a:t>
            </a:r>
            <a:endParaRPr sz="1200" dirty="0">
              <a:latin typeface="Arial"/>
              <a:cs typeface="Arial"/>
            </a:endParaRPr>
          </a:p>
          <a:p>
            <a:pPr marL="9525">
              <a:spcBef>
                <a:spcPts val="746"/>
              </a:spcBef>
            </a:pPr>
            <a:r>
              <a:rPr sz="1200" spc="-4" dirty="0">
                <a:latin typeface="Arial"/>
                <a:cs typeface="Arial"/>
              </a:rPr>
              <a:t>Where the is a lot of data one should not collect more data </a:t>
            </a:r>
            <a:r>
              <a:rPr sz="1200" dirty="0">
                <a:latin typeface="Arial"/>
                <a:cs typeface="Arial"/>
              </a:rPr>
              <a:t>is </a:t>
            </a:r>
            <a:r>
              <a:rPr sz="1200" spc="-4" dirty="0">
                <a:latin typeface="Arial"/>
                <a:cs typeface="Arial"/>
              </a:rPr>
              <a:t>there is sufficient data to</a:t>
            </a:r>
            <a:r>
              <a:rPr sz="1200" spc="113" dirty="0">
                <a:latin typeface="Arial"/>
                <a:cs typeface="Arial"/>
              </a:rPr>
              <a:t> </a:t>
            </a:r>
            <a:r>
              <a:rPr sz="1200" spc="-4" dirty="0">
                <a:latin typeface="Arial"/>
                <a:cs typeface="Arial"/>
              </a:rPr>
              <a:t>mine.</a:t>
            </a:r>
            <a:endParaRPr sz="1200" dirty="0">
              <a:latin typeface="Arial"/>
              <a:cs typeface="Arial"/>
            </a:endParaRPr>
          </a:p>
          <a:p>
            <a:pPr marL="9525">
              <a:spcBef>
                <a:spcPts val="758"/>
              </a:spcBef>
            </a:pPr>
            <a:r>
              <a:rPr sz="1200" spc="-4" dirty="0">
                <a:latin typeface="Arial"/>
                <a:cs typeface="Arial"/>
              </a:rPr>
              <a:t>In both situations time </a:t>
            </a:r>
            <a:r>
              <a:rPr sz="1200" dirty="0">
                <a:latin typeface="Arial"/>
                <a:cs typeface="Arial"/>
              </a:rPr>
              <a:t>is </a:t>
            </a:r>
            <a:r>
              <a:rPr sz="1200" spc="-4" dirty="0">
                <a:latin typeface="Arial"/>
                <a:cs typeface="Arial"/>
              </a:rPr>
              <a:t>not a </a:t>
            </a:r>
            <a:r>
              <a:rPr sz="1200" spc="-11" dirty="0">
                <a:latin typeface="Arial"/>
                <a:cs typeface="Arial"/>
              </a:rPr>
              <a:t>factor, </a:t>
            </a:r>
            <a:r>
              <a:rPr sz="1200" spc="-4" dirty="0">
                <a:latin typeface="Arial"/>
                <a:cs typeface="Arial"/>
              </a:rPr>
              <a:t>everything is based on the quantity of data required to mine a</a:t>
            </a:r>
            <a:r>
              <a:rPr sz="1200" spc="203" dirty="0">
                <a:latin typeface="Arial"/>
                <a:cs typeface="Arial"/>
              </a:rPr>
              <a:t> </a:t>
            </a:r>
            <a:r>
              <a:rPr sz="1200" spc="-4" dirty="0">
                <a:latin typeface="Arial"/>
                <a:cs typeface="Arial"/>
              </a:rPr>
              <a:t>data</a:t>
            </a:r>
            <a:endParaRPr sz="1200" dirty="0">
              <a:latin typeface="Arial"/>
              <a:cs typeface="Arial"/>
            </a:endParaRPr>
          </a:p>
          <a:p>
            <a:pPr marL="9525"/>
            <a:r>
              <a:rPr sz="1200" spc="-4" dirty="0">
                <a:latin typeface="Arial"/>
                <a:cs typeface="Arial"/>
              </a:rPr>
              <a:t>mining</a:t>
            </a:r>
            <a:r>
              <a:rPr sz="1200" spc="-23" dirty="0">
                <a:latin typeface="Arial"/>
                <a:cs typeface="Arial"/>
              </a:rPr>
              <a:t> </a:t>
            </a:r>
            <a:r>
              <a:rPr sz="1200" dirty="0">
                <a:latin typeface="Arial"/>
                <a:cs typeface="Arial"/>
              </a:rPr>
              <a:t>task.</a:t>
            </a:r>
          </a:p>
        </p:txBody>
      </p:sp>
      <p:sp>
        <p:nvSpPr>
          <p:cNvPr id="3" name="Date Placeholder 2">
            <a:extLst>
              <a:ext uri="{FF2B5EF4-FFF2-40B4-BE49-F238E27FC236}">
                <a16:creationId xmlns:a16="http://schemas.microsoft.com/office/drawing/2014/main" id="{267BD9F8-8C56-9FFD-64D3-2CBBB75E7BE4}"/>
              </a:ext>
            </a:extLst>
          </p:cNvPr>
          <p:cNvSpPr>
            <a:spLocks noGrp="1"/>
          </p:cNvSpPr>
          <p:nvPr>
            <p:ph type="dt" sz="half" idx="6"/>
          </p:nvPr>
        </p:nvSpPr>
        <p:spPr/>
        <p:txBody>
          <a:bodyPr/>
          <a:lstStyle/>
          <a:p>
            <a:fld id="{19D0BDD8-CDE9-7148-93D1-010084583999}" type="datetime1">
              <a:rPr lang="en-US" smtClean="0"/>
              <a:t>11/17/25</a:t>
            </a:fld>
            <a:endParaRPr lang="en-US"/>
          </a:p>
        </p:txBody>
      </p:sp>
    </p:spTree>
    <p:extLst>
      <p:ext uri="{BB962C8B-B14F-4D97-AF65-F5344CB8AC3E}">
        <p14:creationId xmlns:p14="http://schemas.microsoft.com/office/powerpoint/2010/main" val="42730913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93672" y="749618"/>
            <a:ext cx="5497830" cy="932467"/>
          </a:xfrm>
          <a:prstGeom prst="rect">
            <a:avLst/>
          </a:prstGeom>
        </p:spPr>
        <p:txBody>
          <a:bodyPr vert="horz" wrap="square" lIns="0" tIns="9049" rIns="0" bIns="0" rtlCol="0">
            <a:spAutoFit/>
          </a:bodyPr>
          <a:lstStyle/>
          <a:p>
            <a:pPr marL="641508" marR="3810" indent="-632460">
              <a:spcBef>
                <a:spcPts val="71"/>
              </a:spcBef>
            </a:pPr>
            <a:r>
              <a:rPr sz="3000" b="1" spc="-8" dirty="0">
                <a:solidFill>
                  <a:srgbClr val="C00000"/>
                </a:solidFill>
              </a:rPr>
              <a:t>Representation </a:t>
            </a:r>
            <a:r>
              <a:rPr sz="3000" b="1" spc="-4" dirty="0">
                <a:solidFill>
                  <a:srgbClr val="C00000"/>
                </a:solidFill>
              </a:rPr>
              <a:t>for visualizing the </a:t>
            </a:r>
            <a:r>
              <a:rPr sz="3000" b="1" spc="-739" dirty="0">
                <a:solidFill>
                  <a:srgbClr val="C00000"/>
                </a:solidFill>
              </a:rPr>
              <a:t> </a:t>
            </a:r>
            <a:r>
              <a:rPr sz="3000" b="1" spc="-8" dirty="0">
                <a:solidFill>
                  <a:srgbClr val="C00000"/>
                </a:solidFill>
              </a:rPr>
              <a:t>discovered</a:t>
            </a:r>
            <a:r>
              <a:rPr sz="3000" b="1" spc="-4" dirty="0">
                <a:solidFill>
                  <a:srgbClr val="C00000"/>
                </a:solidFill>
              </a:rPr>
              <a:t> patterns(Data)</a:t>
            </a:r>
            <a:endParaRPr sz="3000"/>
          </a:p>
        </p:txBody>
      </p:sp>
      <p:sp>
        <p:nvSpPr>
          <p:cNvPr id="3" name="object 3"/>
          <p:cNvSpPr txBox="1"/>
          <p:nvPr/>
        </p:nvSpPr>
        <p:spPr>
          <a:xfrm>
            <a:off x="1544955" y="1806036"/>
            <a:ext cx="4968240" cy="748762"/>
          </a:xfrm>
          <a:prstGeom prst="rect">
            <a:avLst/>
          </a:prstGeom>
        </p:spPr>
        <p:txBody>
          <a:bodyPr vert="horz" wrap="square" lIns="0" tIns="10001" rIns="0" bIns="0" rtlCol="0">
            <a:spAutoFit/>
          </a:bodyPr>
          <a:lstStyle/>
          <a:p>
            <a:pPr marL="9525" marR="3810">
              <a:spcBef>
                <a:spcPts val="79"/>
              </a:spcBef>
            </a:pPr>
            <a:r>
              <a:rPr sz="2400" dirty="0">
                <a:latin typeface="MS PGothic"/>
                <a:cs typeface="MS PGothic"/>
              </a:rPr>
              <a:t>These</a:t>
            </a:r>
            <a:r>
              <a:rPr sz="2400" spc="-23" dirty="0">
                <a:latin typeface="MS PGothic"/>
                <a:cs typeface="MS PGothic"/>
              </a:rPr>
              <a:t> </a:t>
            </a:r>
            <a:r>
              <a:rPr sz="2400" dirty="0">
                <a:latin typeface="MS PGothic"/>
                <a:cs typeface="MS PGothic"/>
              </a:rPr>
              <a:t>representations</a:t>
            </a:r>
            <a:r>
              <a:rPr sz="2400" spc="-38" dirty="0">
                <a:latin typeface="MS PGothic"/>
                <a:cs typeface="MS PGothic"/>
              </a:rPr>
              <a:t> </a:t>
            </a:r>
            <a:r>
              <a:rPr sz="2400" spc="-4" dirty="0">
                <a:latin typeface="MS PGothic"/>
                <a:cs typeface="MS PGothic"/>
              </a:rPr>
              <a:t>may</a:t>
            </a:r>
            <a:r>
              <a:rPr sz="2400" spc="-15" dirty="0">
                <a:latin typeface="MS PGothic"/>
                <a:cs typeface="MS PGothic"/>
              </a:rPr>
              <a:t> </a:t>
            </a:r>
            <a:r>
              <a:rPr sz="2400" dirty="0">
                <a:latin typeface="MS PGothic"/>
                <a:cs typeface="MS PGothic"/>
              </a:rPr>
              <a:t>include</a:t>
            </a:r>
            <a:r>
              <a:rPr sz="2400" spc="-15" dirty="0">
                <a:latin typeface="MS PGothic"/>
                <a:cs typeface="MS PGothic"/>
              </a:rPr>
              <a:t> </a:t>
            </a:r>
            <a:r>
              <a:rPr sz="2400" dirty="0">
                <a:latin typeface="MS PGothic"/>
                <a:cs typeface="MS PGothic"/>
              </a:rPr>
              <a:t>the </a:t>
            </a:r>
            <a:r>
              <a:rPr sz="2400" spc="-720" dirty="0">
                <a:latin typeface="MS PGothic"/>
                <a:cs typeface="MS PGothic"/>
              </a:rPr>
              <a:t> </a:t>
            </a:r>
            <a:r>
              <a:rPr sz="2400" dirty="0">
                <a:latin typeface="MS PGothic"/>
                <a:cs typeface="MS PGothic"/>
              </a:rPr>
              <a:t>following.</a:t>
            </a:r>
            <a:r>
              <a:rPr sz="2400" spc="-19" dirty="0">
                <a:latin typeface="MS PGothic"/>
                <a:cs typeface="MS PGothic"/>
              </a:rPr>
              <a:t> </a:t>
            </a:r>
            <a:r>
              <a:rPr sz="2400" dirty="0">
                <a:latin typeface="MS PGothic"/>
                <a:cs typeface="MS PGothic"/>
              </a:rPr>
              <a:t>−</a:t>
            </a:r>
            <a:endParaRPr sz="2400">
              <a:latin typeface="MS PGothic"/>
              <a:cs typeface="MS PGothic"/>
            </a:endParaRPr>
          </a:p>
        </p:txBody>
      </p:sp>
      <p:graphicFrame>
        <p:nvGraphicFramePr>
          <p:cNvPr id="4" name="object 4"/>
          <p:cNvGraphicFramePr>
            <a:graphicFrameLocks noGrp="1"/>
          </p:cNvGraphicFramePr>
          <p:nvPr/>
        </p:nvGraphicFramePr>
        <p:xfrm>
          <a:off x="1289408" y="2685003"/>
          <a:ext cx="6686550" cy="1714471"/>
        </p:xfrm>
        <a:graphic>
          <a:graphicData uri="http://schemas.openxmlformats.org/drawingml/2006/table">
            <a:tbl>
              <a:tblPr firstRow="1" bandRow="1">
                <a:tableStyleId>{2D5ABB26-0587-4C30-8999-92F81FD0307C}</a:tableStyleId>
              </a:tblPr>
              <a:tblGrid>
                <a:gridCol w="1714500">
                  <a:extLst>
                    <a:ext uri="{9D8B030D-6E8A-4147-A177-3AD203B41FA5}">
                      <a16:colId xmlns:a16="http://schemas.microsoft.com/office/drawing/2014/main" val="20000"/>
                    </a:ext>
                  </a:extLst>
                </a:gridCol>
                <a:gridCol w="2971800">
                  <a:extLst>
                    <a:ext uri="{9D8B030D-6E8A-4147-A177-3AD203B41FA5}">
                      <a16:colId xmlns:a16="http://schemas.microsoft.com/office/drawing/2014/main" val="20001"/>
                    </a:ext>
                  </a:extLst>
                </a:gridCol>
                <a:gridCol w="2000250">
                  <a:extLst>
                    <a:ext uri="{9D8B030D-6E8A-4147-A177-3AD203B41FA5}">
                      <a16:colId xmlns:a16="http://schemas.microsoft.com/office/drawing/2014/main" val="20002"/>
                    </a:ext>
                  </a:extLst>
                </a:gridCol>
              </a:tblGrid>
              <a:tr h="1714471">
                <a:tc>
                  <a:txBody>
                    <a:bodyPr/>
                    <a:lstStyle/>
                    <a:p>
                      <a:pPr marL="662940" indent="-572770">
                        <a:lnSpc>
                          <a:spcPct val="100000"/>
                        </a:lnSpc>
                        <a:spcBef>
                          <a:spcPts val="135"/>
                        </a:spcBef>
                        <a:buFont typeface="Arial MT"/>
                        <a:buChar char="•"/>
                        <a:tabLst>
                          <a:tab pos="662940" algn="l"/>
                          <a:tab pos="663575" algn="l"/>
                        </a:tabLst>
                      </a:pPr>
                      <a:r>
                        <a:rPr sz="2700" b="1" dirty="0">
                          <a:solidFill>
                            <a:srgbClr val="FFFFFF"/>
                          </a:solidFill>
                          <a:latin typeface="Calibri"/>
                          <a:cs typeface="Calibri"/>
                        </a:rPr>
                        <a:t>Rules</a:t>
                      </a:r>
                      <a:endParaRPr sz="2700">
                        <a:latin typeface="Calibri"/>
                        <a:cs typeface="Calibri"/>
                      </a:endParaRPr>
                    </a:p>
                    <a:p>
                      <a:pPr marL="662940" indent="-572770">
                        <a:lnSpc>
                          <a:spcPct val="100000"/>
                        </a:lnSpc>
                        <a:buFont typeface="Arial MT"/>
                        <a:buChar char="•"/>
                        <a:tabLst>
                          <a:tab pos="662940" algn="l"/>
                          <a:tab pos="663575" algn="l"/>
                        </a:tabLst>
                      </a:pPr>
                      <a:r>
                        <a:rPr sz="2700" b="1" spc="-15" dirty="0">
                          <a:solidFill>
                            <a:srgbClr val="FFFFFF"/>
                          </a:solidFill>
                          <a:latin typeface="Calibri"/>
                          <a:cs typeface="Calibri"/>
                        </a:rPr>
                        <a:t>Graphs</a:t>
                      </a:r>
                      <a:endParaRPr sz="2700">
                        <a:latin typeface="Calibri"/>
                        <a:cs typeface="Calibri"/>
                      </a:endParaRPr>
                    </a:p>
                  </a:txBody>
                  <a:tcPr marL="0" marR="0" marT="12859" marB="0">
                    <a:lnL w="1905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662940" indent="-572135">
                        <a:lnSpc>
                          <a:spcPct val="100000"/>
                        </a:lnSpc>
                        <a:spcBef>
                          <a:spcPts val="135"/>
                        </a:spcBef>
                        <a:buFont typeface="Arial MT"/>
                        <a:buChar char="•"/>
                        <a:tabLst>
                          <a:tab pos="662940" algn="l"/>
                          <a:tab pos="663575" algn="l"/>
                        </a:tabLst>
                      </a:pPr>
                      <a:r>
                        <a:rPr sz="2700" b="1" spc="-50" dirty="0">
                          <a:solidFill>
                            <a:srgbClr val="FFFFFF"/>
                          </a:solidFill>
                          <a:latin typeface="Calibri"/>
                          <a:cs typeface="Calibri"/>
                        </a:rPr>
                        <a:t>Tables</a:t>
                      </a:r>
                      <a:endParaRPr sz="2700">
                        <a:latin typeface="Calibri"/>
                        <a:cs typeface="Calibri"/>
                      </a:endParaRPr>
                    </a:p>
                    <a:p>
                      <a:pPr marL="662940" indent="-572135">
                        <a:lnSpc>
                          <a:spcPct val="100000"/>
                        </a:lnSpc>
                        <a:buFont typeface="Arial MT"/>
                        <a:buChar char="•"/>
                        <a:tabLst>
                          <a:tab pos="662940" algn="l"/>
                          <a:tab pos="663575" algn="l"/>
                        </a:tabLst>
                      </a:pPr>
                      <a:r>
                        <a:rPr sz="2700" b="1" spc="-5" dirty="0">
                          <a:solidFill>
                            <a:srgbClr val="FFFFFF"/>
                          </a:solidFill>
                          <a:latin typeface="Calibri"/>
                          <a:cs typeface="Calibri"/>
                        </a:rPr>
                        <a:t>Decision</a:t>
                      </a:r>
                      <a:r>
                        <a:rPr sz="2700" b="1" spc="-30" dirty="0">
                          <a:solidFill>
                            <a:srgbClr val="FFFFFF"/>
                          </a:solidFill>
                          <a:latin typeface="Calibri"/>
                          <a:cs typeface="Calibri"/>
                        </a:rPr>
                        <a:t> </a:t>
                      </a:r>
                      <a:r>
                        <a:rPr sz="2700" b="1" spc="-45" dirty="0">
                          <a:solidFill>
                            <a:srgbClr val="FFFFFF"/>
                          </a:solidFill>
                          <a:latin typeface="Calibri"/>
                          <a:cs typeface="Calibri"/>
                        </a:rPr>
                        <a:t>Trees</a:t>
                      </a:r>
                      <a:endParaRPr sz="2700">
                        <a:latin typeface="Calibri"/>
                        <a:cs typeface="Calibri"/>
                      </a:endParaRPr>
                    </a:p>
                  </a:txBody>
                  <a:tcPr marL="0" marR="0" marT="12859"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663575" indent="-572135">
                        <a:lnSpc>
                          <a:spcPct val="100000"/>
                        </a:lnSpc>
                        <a:spcBef>
                          <a:spcPts val="135"/>
                        </a:spcBef>
                        <a:buFont typeface="Arial MT"/>
                        <a:buChar char="•"/>
                        <a:tabLst>
                          <a:tab pos="663575" algn="l"/>
                          <a:tab pos="664210" algn="l"/>
                        </a:tabLst>
                      </a:pPr>
                      <a:r>
                        <a:rPr sz="2700" b="1" spc="-5" dirty="0">
                          <a:solidFill>
                            <a:srgbClr val="FFFFFF"/>
                          </a:solidFill>
                          <a:latin typeface="Calibri"/>
                          <a:cs typeface="Calibri"/>
                        </a:rPr>
                        <a:t>Charts</a:t>
                      </a:r>
                      <a:endParaRPr sz="2700">
                        <a:latin typeface="Calibri"/>
                        <a:cs typeface="Calibri"/>
                      </a:endParaRPr>
                    </a:p>
                    <a:p>
                      <a:pPr marL="663575" indent="-572135">
                        <a:lnSpc>
                          <a:spcPct val="100000"/>
                        </a:lnSpc>
                        <a:buFont typeface="Arial MT"/>
                        <a:buChar char="•"/>
                        <a:tabLst>
                          <a:tab pos="663575" algn="l"/>
                          <a:tab pos="664210" algn="l"/>
                        </a:tabLst>
                      </a:pPr>
                      <a:r>
                        <a:rPr sz="2700" b="1" spc="-5" dirty="0">
                          <a:solidFill>
                            <a:srgbClr val="FFFFFF"/>
                          </a:solidFill>
                          <a:latin typeface="Calibri"/>
                          <a:cs typeface="Calibri"/>
                        </a:rPr>
                        <a:t>Cubes</a:t>
                      </a:r>
                      <a:endParaRPr sz="2700">
                        <a:latin typeface="Calibri"/>
                        <a:cs typeface="Calibri"/>
                      </a:endParaRPr>
                    </a:p>
                  </a:txBody>
                  <a:tcPr marL="0" marR="0" marT="12859"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extLst>
                  <a:ext uri="{0D108BD9-81ED-4DB2-BD59-A6C34878D82A}">
                    <a16:rowId xmlns:a16="http://schemas.microsoft.com/office/drawing/2014/main" val="10000"/>
                  </a:ext>
                </a:extLst>
              </a:tr>
            </a:tbl>
          </a:graphicData>
        </a:graphic>
      </p:graphicFrame>
      <p:sp>
        <p:nvSpPr>
          <p:cNvPr id="7" name="Date Placeholder 6">
            <a:extLst>
              <a:ext uri="{FF2B5EF4-FFF2-40B4-BE49-F238E27FC236}">
                <a16:creationId xmlns:a16="http://schemas.microsoft.com/office/drawing/2014/main" id="{83E410AF-6B56-ACFB-88BD-F5F7E3BEE16C}"/>
              </a:ext>
            </a:extLst>
          </p:cNvPr>
          <p:cNvSpPr>
            <a:spLocks noGrp="1"/>
          </p:cNvSpPr>
          <p:nvPr>
            <p:ph type="dt" sz="half" idx="6"/>
          </p:nvPr>
        </p:nvSpPr>
        <p:spPr/>
        <p:txBody>
          <a:bodyPr/>
          <a:lstStyle/>
          <a:p>
            <a:fld id="{B4D72CFF-5579-D040-9ACD-C81E2644DE68}" type="datetime1">
              <a:rPr lang="en-US" smtClean="0"/>
              <a:t>11/17/25</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64285" y="689286"/>
            <a:ext cx="5645944" cy="470802"/>
          </a:xfrm>
          <a:prstGeom prst="rect">
            <a:avLst/>
          </a:prstGeom>
        </p:spPr>
        <p:txBody>
          <a:bodyPr vert="horz" wrap="square" lIns="0" tIns="9049" rIns="0" bIns="0" rtlCol="0">
            <a:spAutoFit/>
          </a:bodyPr>
          <a:lstStyle/>
          <a:p>
            <a:pPr marL="9525">
              <a:spcBef>
                <a:spcPts val="71"/>
              </a:spcBef>
            </a:pPr>
            <a:r>
              <a:rPr sz="3000" b="1" spc="-4" dirty="0">
                <a:solidFill>
                  <a:srgbClr val="C00000"/>
                </a:solidFill>
              </a:rPr>
              <a:t>Data Mining </a:t>
            </a:r>
            <a:r>
              <a:rPr sz="3000" b="1" dirty="0">
                <a:solidFill>
                  <a:srgbClr val="C00000"/>
                </a:solidFill>
              </a:rPr>
              <a:t>System</a:t>
            </a:r>
            <a:r>
              <a:rPr sz="3000" b="1" spc="4" dirty="0">
                <a:solidFill>
                  <a:srgbClr val="C00000"/>
                </a:solidFill>
              </a:rPr>
              <a:t> </a:t>
            </a:r>
            <a:r>
              <a:rPr sz="3000" b="1" dirty="0">
                <a:solidFill>
                  <a:srgbClr val="C00000"/>
                </a:solidFill>
              </a:rPr>
              <a:t>Classification</a:t>
            </a:r>
            <a:endParaRPr sz="3000"/>
          </a:p>
        </p:txBody>
      </p:sp>
      <p:sp>
        <p:nvSpPr>
          <p:cNvPr id="3" name="object 3"/>
          <p:cNvSpPr txBox="1"/>
          <p:nvPr/>
        </p:nvSpPr>
        <p:spPr>
          <a:xfrm>
            <a:off x="228600" y="1154773"/>
            <a:ext cx="8801100" cy="748762"/>
          </a:xfrm>
          <a:prstGeom prst="rect">
            <a:avLst/>
          </a:prstGeom>
        </p:spPr>
        <p:txBody>
          <a:bodyPr vert="horz" wrap="square" lIns="0" tIns="10001" rIns="0" bIns="0" rtlCol="0">
            <a:spAutoFit/>
          </a:bodyPr>
          <a:lstStyle/>
          <a:p>
            <a:pPr marL="352425" marR="3810" indent="-343376">
              <a:spcBef>
                <a:spcPts val="79"/>
              </a:spcBef>
              <a:buFont typeface="Arial MT"/>
              <a:buChar char="•"/>
              <a:tabLst>
                <a:tab pos="352425" algn="l"/>
                <a:tab pos="352901" algn="l"/>
              </a:tabLst>
            </a:pPr>
            <a:r>
              <a:rPr sz="2400" dirty="0">
                <a:latin typeface="MS PGothic"/>
                <a:cs typeface="MS PGothic"/>
              </a:rPr>
              <a:t>A </a:t>
            </a:r>
            <a:r>
              <a:rPr sz="2400" spc="-4" dirty="0">
                <a:latin typeface="MS PGothic"/>
                <a:cs typeface="MS PGothic"/>
              </a:rPr>
              <a:t>data mining </a:t>
            </a:r>
            <a:r>
              <a:rPr sz="2400" dirty="0">
                <a:latin typeface="MS PGothic"/>
                <a:cs typeface="MS PGothic"/>
              </a:rPr>
              <a:t>system can be </a:t>
            </a:r>
            <a:r>
              <a:rPr sz="2400" spc="-4" dirty="0">
                <a:latin typeface="MS PGothic"/>
                <a:cs typeface="MS PGothic"/>
              </a:rPr>
              <a:t>classified </a:t>
            </a:r>
            <a:r>
              <a:rPr sz="2400" spc="-720" dirty="0">
                <a:latin typeface="MS PGothic"/>
                <a:cs typeface="MS PGothic"/>
              </a:rPr>
              <a:t> </a:t>
            </a:r>
            <a:r>
              <a:rPr sz="2400" dirty="0">
                <a:latin typeface="MS PGothic"/>
                <a:cs typeface="MS PGothic"/>
              </a:rPr>
              <a:t>according</a:t>
            </a:r>
            <a:r>
              <a:rPr sz="2400" spc="-26" dirty="0">
                <a:latin typeface="MS PGothic"/>
                <a:cs typeface="MS PGothic"/>
              </a:rPr>
              <a:t> </a:t>
            </a:r>
            <a:r>
              <a:rPr sz="2400" dirty="0">
                <a:latin typeface="MS PGothic"/>
                <a:cs typeface="MS PGothic"/>
              </a:rPr>
              <a:t>to</a:t>
            </a:r>
            <a:r>
              <a:rPr sz="2400" spc="-11" dirty="0">
                <a:latin typeface="MS PGothic"/>
                <a:cs typeface="MS PGothic"/>
              </a:rPr>
              <a:t> </a:t>
            </a:r>
            <a:r>
              <a:rPr sz="2400" dirty="0">
                <a:latin typeface="MS PGothic"/>
                <a:cs typeface="MS PGothic"/>
              </a:rPr>
              <a:t>the</a:t>
            </a:r>
            <a:r>
              <a:rPr sz="2400" spc="-8" dirty="0">
                <a:latin typeface="MS PGothic"/>
                <a:cs typeface="MS PGothic"/>
              </a:rPr>
              <a:t> </a:t>
            </a:r>
            <a:r>
              <a:rPr sz="2400" dirty="0">
                <a:latin typeface="MS PGothic"/>
                <a:cs typeface="MS PGothic"/>
              </a:rPr>
              <a:t>following</a:t>
            </a:r>
            <a:r>
              <a:rPr sz="2400" spc="-15" dirty="0">
                <a:latin typeface="MS PGothic"/>
                <a:cs typeface="MS PGothic"/>
              </a:rPr>
              <a:t> </a:t>
            </a:r>
            <a:r>
              <a:rPr sz="2400" dirty="0">
                <a:latin typeface="MS PGothic"/>
                <a:cs typeface="MS PGothic"/>
              </a:rPr>
              <a:t>criteria</a:t>
            </a:r>
            <a:r>
              <a:rPr sz="2400" spc="-23" dirty="0">
                <a:latin typeface="MS PGothic"/>
                <a:cs typeface="MS PGothic"/>
              </a:rPr>
              <a:t> </a:t>
            </a:r>
            <a:r>
              <a:rPr sz="2400" dirty="0">
                <a:latin typeface="MS PGothic"/>
                <a:cs typeface="MS PGothic"/>
              </a:rPr>
              <a:t>−</a:t>
            </a:r>
          </a:p>
        </p:txBody>
      </p:sp>
      <p:pic>
        <p:nvPicPr>
          <p:cNvPr id="4" name="object 4"/>
          <p:cNvPicPr/>
          <p:nvPr/>
        </p:nvPicPr>
        <p:blipFill>
          <a:blip r:embed="rId2" cstate="print"/>
          <a:stretch>
            <a:fillRect/>
          </a:stretch>
        </p:blipFill>
        <p:spPr>
          <a:xfrm>
            <a:off x="2057400" y="1631023"/>
            <a:ext cx="4400550" cy="3274590"/>
          </a:xfrm>
          <a:prstGeom prst="rect">
            <a:avLst/>
          </a:prstGeom>
        </p:spPr>
      </p:pic>
      <p:sp>
        <p:nvSpPr>
          <p:cNvPr id="7" name="Date Placeholder 6">
            <a:extLst>
              <a:ext uri="{FF2B5EF4-FFF2-40B4-BE49-F238E27FC236}">
                <a16:creationId xmlns:a16="http://schemas.microsoft.com/office/drawing/2014/main" id="{AC502462-B152-278B-E192-7F6A3821075E}"/>
              </a:ext>
            </a:extLst>
          </p:cNvPr>
          <p:cNvSpPr>
            <a:spLocks noGrp="1"/>
          </p:cNvSpPr>
          <p:nvPr>
            <p:ph type="dt" sz="half" idx="6"/>
          </p:nvPr>
        </p:nvSpPr>
        <p:spPr/>
        <p:txBody>
          <a:bodyPr/>
          <a:lstStyle/>
          <a:p>
            <a:fld id="{92DF5D67-4549-7D49-AD3C-C687B5B7DD55}" type="datetime1">
              <a:rPr lang="en-US" smtClean="0"/>
              <a:t>11/17/25</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29001" y="342900"/>
            <a:ext cx="3947636" cy="470802"/>
          </a:xfrm>
          <a:prstGeom prst="rect">
            <a:avLst/>
          </a:prstGeom>
        </p:spPr>
        <p:txBody>
          <a:bodyPr vert="horz" wrap="square" lIns="0" tIns="9049" rIns="0" bIns="0" rtlCol="0">
            <a:spAutoFit/>
          </a:bodyPr>
          <a:lstStyle/>
          <a:p>
            <a:pPr marL="9525">
              <a:spcBef>
                <a:spcPts val="71"/>
              </a:spcBef>
            </a:pPr>
            <a:r>
              <a:rPr sz="3000" b="1" spc="-4" dirty="0">
                <a:solidFill>
                  <a:srgbClr val="C00000"/>
                </a:solidFill>
              </a:rPr>
              <a:t>Data Extraction</a:t>
            </a:r>
            <a:r>
              <a:rPr sz="3000" b="1" spc="-11" dirty="0">
                <a:solidFill>
                  <a:srgbClr val="C00000"/>
                </a:solidFill>
              </a:rPr>
              <a:t> Process</a:t>
            </a:r>
            <a:endParaRPr sz="3000" dirty="0"/>
          </a:p>
        </p:txBody>
      </p:sp>
      <p:pic>
        <p:nvPicPr>
          <p:cNvPr id="3" name="object 3"/>
          <p:cNvPicPr/>
          <p:nvPr/>
        </p:nvPicPr>
        <p:blipFill>
          <a:blip r:embed="rId2" cstate="print"/>
          <a:stretch>
            <a:fillRect/>
          </a:stretch>
        </p:blipFill>
        <p:spPr>
          <a:xfrm>
            <a:off x="1083945" y="819150"/>
            <a:ext cx="4973955" cy="4320085"/>
          </a:xfrm>
          <a:prstGeom prst="rect">
            <a:avLst/>
          </a:prstGeom>
        </p:spPr>
      </p:pic>
      <p:sp>
        <p:nvSpPr>
          <p:cNvPr id="6" name="Date Placeholder 5">
            <a:extLst>
              <a:ext uri="{FF2B5EF4-FFF2-40B4-BE49-F238E27FC236}">
                <a16:creationId xmlns:a16="http://schemas.microsoft.com/office/drawing/2014/main" id="{C7489310-6007-2FDA-1675-1F1C2FC503E5}"/>
              </a:ext>
            </a:extLst>
          </p:cNvPr>
          <p:cNvSpPr>
            <a:spLocks noGrp="1"/>
          </p:cNvSpPr>
          <p:nvPr>
            <p:ph type="dt" sz="half" idx="6"/>
          </p:nvPr>
        </p:nvSpPr>
        <p:spPr/>
        <p:txBody>
          <a:bodyPr/>
          <a:lstStyle/>
          <a:p>
            <a:fld id="{A2561470-0399-4D43-B48C-A5279CD8F8E6}" type="datetime1">
              <a:rPr lang="en-US" smtClean="0"/>
              <a:t>11/17/25</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41375" y="664140"/>
            <a:ext cx="6659404" cy="517930"/>
          </a:xfrm>
          <a:prstGeom prst="rect">
            <a:avLst/>
          </a:prstGeom>
        </p:spPr>
        <p:txBody>
          <a:bodyPr vert="horz" wrap="square" lIns="0" tIns="10001" rIns="0" bIns="0" rtlCol="0">
            <a:spAutoFit/>
          </a:bodyPr>
          <a:lstStyle/>
          <a:p>
            <a:pPr marL="9525">
              <a:spcBef>
                <a:spcPts val="79"/>
              </a:spcBef>
            </a:pPr>
            <a:r>
              <a:rPr sz="3300" b="1" dirty="0">
                <a:solidFill>
                  <a:srgbClr val="C00000"/>
                </a:solidFill>
              </a:rPr>
              <a:t>Data</a:t>
            </a:r>
            <a:r>
              <a:rPr sz="3300" b="1" spc="-19" dirty="0">
                <a:solidFill>
                  <a:srgbClr val="C00000"/>
                </a:solidFill>
              </a:rPr>
              <a:t> </a:t>
            </a:r>
            <a:r>
              <a:rPr sz="3300" b="1" dirty="0">
                <a:solidFill>
                  <a:srgbClr val="C00000"/>
                </a:solidFill>
              </a:rPr>
              <a:t>mining</a:t>
            </a:r>
            <a:r>
              <a:rPr sz="3300" b="1" spc="-4" dirty="0">
                <a:solidFill>
                  <a:srgbClr val="C00000"/>
                </a:solidFill>
              </a:rPr>
              <a:t> </a:t>
            </a:r>
            <a:r>
              <a:rPr sz="3300" b="1" dirty="0">
                <a:solidFill>
                  <a:srgbClr val="C00000"/>
                </a:solidFill>
              </a:rPr>
              <a:t>Implementation</a:t>
            </a:r>
            <a:r>
              <a:rPr sz="3300" b="1" spc="-38" dirty="0">
                <a:solidFill>
                  <a:srgbClr val="C00000"/>
                </a:solidFill>
              </a:rPr>
              <a:t> </a:t>
            </a:r>
            <a:r>
              <a:rPr sz="3300" b="1" spc="-11" dirty="0">
                <a:solidFill>
                  <a:srgbClr val="C00000"/>
                </a:solidFill>
              </a:rPr>
              <a:t>Process</a:t>
            </a:r>
            <a:endParaRPr sz="3300"/>
          </a:p>
        </p:txBody>
      </p:sp>
      <p:pic>
        <p:nvPicPr>
          <p:cNvPr id="3" name="object 3"/>
          <p:cNvPicPr/>
          <p:nvPr/>
        </p:nvPicPr>
        <p:blipFill>
          <a:blip r:embed="rId2" cstate="print"/>
          <a:stretch>
            <a:fillRect/>
          </a:stretch>
        </p:blipFill>
        <p:spPr>
          <a:xfrm>
            <a:off x="114300" y="1210946"/>
            <a:ext cx="8743950" cy="3567303"/>
          </a:xfrm>
          <a:prstGeom prst="rect">
            <a:avLst/>
          </a:prstGeom>
        </p:spPr>
      </p:pic>
      <p:sp>
        <p:nvSpPr>
          <p:cNvPr id="6" name="Date Placeholder 5">
            <a:extLst>
              <a:ext uri="{FF2B5EF4-FFF2-40B4-BE49-F238E27FC236}">
                <a16:creationId xmlns:a16="http://schemas.microsoft.com/office/drawing/2014/main" id="{74882373-8DED-80C8-0681-410B392AE408}"/>
              </a:ext>
            </a:extLst>
          </p:cNvPr>
          <p:cNvSpPr>
            <a:spLocks noGrp="1"/>
          </p:cNvSpPr>
          <p:nvPr>
            <p:ph type="dt" sz="half" idx="6"/>
          </p:nvPr>
        </p:nvSpPr>
        <p:spPr/>
        <p:txBody>
          <a:bodyPr/>
          <a:lstStyle/>
          <a:p>
            <a:fld id="{9B076206-E720-2E4B-8A76-96762ABE6DAD}" type="datetime1">
              <a:rPr lang="en-US" smtClean="0"/>
              <a:t>11/17/25</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21211" y="523837"/>
            <a:ext cx="3500914" cy="470802"/>
          </a:xfrm>
          <a:prstGeom prst="rect">
            <a:avLst/>
          </a:prstGeom>
        </p:spPr>
        <p:txBody>
          <a:bodyPr vert="horz" wrap="square" lIns="0" tIns="9049" rIns="0" bIns="0" rtlCol="0">
            <a:spAutoFit/>
          </a:bodyPr>
          <a:lstStyle/>
          <a:p>
            <a:pPr marL="9525">
              <a:spcBef>
                <a:spcPts val="71"/>
              </a:spcBef>
            </a:pPr>
            <a:r>
              <a:rPr sz="3000" b="1" spc="-4" dirty="0">
                <a:solidFill>
                  <a:srgbClr val="C00000"/>
                </a:solidFill>
              </a:rPr>
              <a:t>Data</a:t>
            </a:r>
            <a:r>
              <a:rPr sz="3000" b="1" spc="-11" dirty="0">
                <a:solidFill>
                  <a:srgbClr val="C00000"/>
                </a:solidFill>
              </a:rPr>
              <a:t> </a:t>
            </a:r>
            <a:r>
              <a:rPr sz="3000" b="1" spc="-4" dirty="0">
                <a:solidFill>
                  <a:srgbClr val="C00000"/>
                </a:solidFill>
              </a:rPr>
              <a:t>transformation:</a:t>
            </a:r>
            <a:endParaRPr sz="3000"/>
          </a:p>
        </p:txBody>
      </p:sp>
      <p:sp>
        <p:nvSpPr>
          <p:cNvPr id="3" name="object 3"/>
          <p:cNvSpPr txBox="1"/>
          <p:nvPr/>
        </p:nvSpPr>
        <p:spPr>
          <a:xfrm>
            <a:off x="171451" y="1290029"/>
            <a:ext cx="8686799" cy="3665716"/>
          </a:xfrm>
          <a:prstGeom prst="rect">
            <a:avLst/>
          </a:prstGeom>
        </p:spPr>
        <p:txBody>
          <a:bodyPr vert="horz" wrap="square" lIns="0" tIns="64294" rIns="0" bIns="0" rtlCol="0">
            <a:spAutoFit/>
          </a:bodyPr>
          <a:lstStyle/>
          <a:p>
            <a:pPr marL="9525" marR="520065">
              <a:lnSpc>
                <a:spcPts val="1800"/>
              </a:lnSpc>
              <a:spcBef>
                <a:spcPts val="506"/>
              </a:spcBef>
            </a:pPr>
            <a:r>
              <a:rPr sz="2400" spc="-4" dirty="0">
                <a:latin typeface="MS PGothic"/>
                <a:cs typeface="MS PGothic"/>
              </a:rPr>
              <a:t>Data</a:t>
            </a:r>
            <a:r>
              <a:rPr sz="2400" spc="-11" dirty="0">
                <a:latin typeface="MS PGothic"/>
                <a:cs typeface="MS PGothic"/>
              </a:rPr>
              <a:t> </a:t>
            </a:r>
            <a:r>
              <a:rPr sz="2400" spc="-4" dirty="0">
                <a:latin typeface="MS PGothic"/>
                <a:cs typeface="MS PGothic"/>
              </a:rPr>
              <a:t>transformation</a:t>
            </a:r>
            <a:r>
              <a:rPr sz="2400" spc="19" dirty="0">
                <a:latin typeface="MS PGothic"/>
                <a:cs typeface="MS PGothic"/>
              </a:rPr>
              <a:t> </a:t>
            </a:r>
            <a:r>
              <a:rPr sz="2400" spc="-4" dirty="0">
                <a:latin typeface="MS PGothic"/>
                <a:cs typeface="MS PGothic"/>
              </a:rPr>
              <a:t>operations</a:t>
            </a:r>
            <a:r>
              <a:rPr sz="2400" spc="11" dirty="0">
                <a:latin typeface="MS PGothic"/>
                <a:cs typeface="MS PGothic"/>
              </a:rPr>
              <a:t> </a:t>
            </a:r>
            <a:r>
              <a:rPr sz="2400" spc="-4" dirty="0">
                <a:latin typeface="MS PGothic"/>
                <a:cs typeface="MS PGothic"/>
              </a:rPr>
              <a:t>would</a:t>
            </a:r>
            <a:r>
              <a:rPr sz="2400" dirty="0">
                <a:latin typeface="MS PGothic"/>
                <a:cs typeface="MS PGothic"/>
              </a:rPr>
              <a:t> </a:t>
            </a:r>
            <a:r>
              <a:rPr sz="2400" spc="-4" dirty="0">
                <a:latin typeface="MS PGothic"/>
                <a:cs typeface="MS PGothic"/>
              </a:rPr>
              <a:t>contribute</a:t>
            </a:r>
            <a:r>
              <a:rPr sz="2400" spc="4" dirty="0">
                <a:latin typeface="MS PGothic"/>
                <a:cs typeface="MS PGothic"/>
              </a:rPr>
              <a:t> </a:t>
            </a:r>
            <a:r>
              <a:rPr sz="2400" spc="-4" dirty="0">
                <a:latin typeface="MS PGothic"/>
                <a:cs typeface="MS PGothic"/>
              </a:rPr>
              <a:t>toward</a:t>
            </a:r>
            <a:r>
              <a:rPr sz="2400" spc="11" dirty="0">
                <a:latin typeface="MS PGothic"/>
                <a:cs typeface="MS PGothic"/>
              </a:rPr>
              <a:t> </a:t>
            </a:r>
            <a:r>
              <a:rPr sz="2400" spc="-4" dirty="0">
                <a:latin typeface="MS PGothic"/>
                <a:cs typeface="MS PGothic"/>
              </a:rPr>
              <a:t>the </a:t>
            </a:r>
            <a:r>
              <a:rPr sz="2400" spc="-559" dirty="0">
                <a:latin typeface="MS PGothic"/>
                <a:cs typeface="MS PGothic"/>
              </a:rPr>
              <a:t> </a:t>
            </a:r>
            <a:r>
              <a:rPr sz="2400" spc="-4" dirty="0">
                <a:latin typeface="MS PGothic"/>
                <a:cs typeface="MS PGothic"/>
              </a:rPr>
              <a:t>success</a:t>
            </a:r>
            <a:r>
              <a:rPr sz="2400" dirty="0">
                <a:latin typeface="MS PGothic"/>
                <a:cs typeface="MS PGothic"/>
              </a:rPr>
              <a:t> </a:t>
            </a:r>
            <a:r>
              <a:rPr sz="2400" spc="-4" dirty="0">
                <a:latin typeface="MS PGothic"/>
                <a:cs typeface="MS PGothic"/>
              </a:rPr>
              <a:t>of</a:t>
            </a:r>
            <a:r>
              <a:rPr sz="2400" dirty="0">
                <a:latin typeface="MS PGothic"/>
                <a:cs typeface="MS PGothic"/>
              </a:rPr>
              <a:t> </a:t>
            </a:r>
            <a:r>
              <a:rPr sz="2400" spc="-4" dirty="0">
                <a:latin typeface="MS PGothic"/>
                <a:cs typeface="MS PGothic"/>
              </a:rPr>
              <a:t>the</a:t>
            </a:r>
            <a:r>
              <a:rPr sz="2400" spc="4" dirty="0">
                <a:latin typeface="MS PGothic"/>
                <a:cs typeface="MS PGothic"/>
              </a:rPr>
              <a:t> </a:t>
            </a:r>
            <a:r>
              <a:rPr sz="2400" spc="-8" dirty="0">
                <a:latin typeface="MS PGothic"/>
                <a:cs typeface="MS PGothic"/>
              </a:rPr>
              <a:t>mining</a:t>
            </a:r>
            <a:r>
              <a:rPr sz="2400" dirty="0">
                <a:latin typeface="MS PGothic"/>
                <a:cs typeface="MS PGothic"/>
              </a:rPr>
              <a:t> </a:t>
            </a:r>
            <a:r>
              <a:rPr sz="2400" spc="-4" dirty="0">
                <a:latin typeface="MS PGothic"/>
                <a:cs typeface="MS PGothic"/>
              </a:rPr>
              <a:t>process.</a:t>
            </a:r>
            <a:endParaRPr sz="2400" dirty="0">
              <a:latin typeface="MS PGothic"/>
              <a:cs typeface="MS PGothic"/>
            </a:endParaRPr>
          </a:p>
          <a:p>
            <a:pPr marL="567214" indent="-215265">
              <a:lnSpc>
                <a:spcPts val="1871"/>
              </a:lnSpc>
              <a:buFont typeface="Arial MT"/>
              <a:buChar char="–"/>
              <a:tabLst>
                <a:tab pos="567214" algn="l"/>
                <a:tab pos="567690" algn="l"/>
              </a:tabLst>
            </a:pPr>
            <a:r>
              <a:rPr sz="2100" b="1" spc="-4" dirty="0">
                <a:latin typeface="Calibri"/>
                <a:cs typeface="Calibri"/>
              </a:rPr>
              <a:t>Smoothing:</a:t>
            </a:r>
            <a:r>
              <a:rPr sz="2100" b="1" spc="15" dirty="0">
                <a:latin typeface="Calibri"/>
                <a:cs typeface="Calibri"/>
              </a:rPr>
              <a:t> </a:t>
            </a:r>
            <a:r>
              <a:rPr sz="2100" spc="-4" dirty="0">
                <a:latin typeface="Calibri"/>
                <a:cs typeface="Calibri"/>
              </a:rPr>
              <a:t>It </a:t>
            </a:r>
            <a:r>
              <a:rPr sz="2100" spc="-8" dirty="0">
                <a:latin typeface="Calibri"/>
                <a:cs typeface="Calibri"/>
              </a:rPr>
              <a:t>helps</a:t>
            </a:r>
            <a:r>
              <a:rPr sz="2100" spc="-4" dirty="0">
                <a:latin typeface="Calibri"/>
                <a:cs typeface="Calibri"/>
              </a:rPr>
              <a:t> </a:t>
            </a:r>
            <a:r>
              <a:rPr sz="2100" spc="-15" dirty="0">
                <a:latin typeface="Calibri"/>
                <a:cs typeface="Calibri"/>
              </a:rPr>
              <a:t>to</a:t>
            </a:r>
            <a:r>
              <a:rPr sz="2100" spc="15" dirty="0">
                <a:latin typeface="Calibri"/>
                <a:cs typeface="Calibri"/>
              </a:rPr>
              <a:t> </a:t>
            </a:r>
            <a:r>
              <a:rPr sz="2100" spc="-11" dirty="0">
                <a:latin typeface="Calibri"/>
                <a:cs typeface="Calibri"/>
              </a:rPr>
              <a:t>remove</a:t>
            </a:r>
            <a:r>
              <a:rPr sz="2100" dirty="0">
                <a:latin typeface="Calibri"/>
                <a:cs typeface="Calibri"/>
              </a:rPr>
              <a:t> </a:t>
            </a:r>
            <a:r>
              <a:rPr sz="2100" spc="-4" dirty="0">
                <a:latin typeface="Calibri"/>
                <a:cs typeface="Calibri"/>
              </a:rPr>
              <a:t>noise</a:t>
            </a:r>
            <a:r>
              <a:rPr sz="2100" spc="4" dirty="0">
                <a:latin typeface="Calibri"/>
                <a:cs typeface="Calibri"/>
              </a:rPr>
              <a:t> </a:t>
            </a:r>
            <a:r>
              <a:rPr sz="2100" spc="-11" dirty="0">
                <a:latin typeface="Calibri"/>
                <a:cs typeface="Calibri"/>
              </a:rPr>
              <a:t>from</a:t>
            </a:r>
            <a:r>
              <a:rPr sz="2100" spc="-4" dirty="0">
                <a:latin typeface="Calibri"/>
                <a:cs typeface="Calibri"/>
              </a:rPr>
              <a:t> the</a:t>
            </a:r>
            <a:r>
              <a:rPr sz="2100" spc="8" dirty="0">
                <a:latin typeface="Calibri"/>
                <a:cs typeface="Calibri"/>
              </a:rPr>
              <a:t> </a:t>
            </a:r>
            <a:r>
              <a:rPr sz="2100" spc="-11" dirty="0">
                <a:latin typeface="Calibri"/>
                <a:cs typeface="Calibri"/>
              </a:rPr>
              <a:t>data.</a:t>
            </a:r>
            <a:endParaRPr sz="2100" dirty="0">
              <a:latin typeface="Calibri"/>
              <a:cs typeface="Calibri"/>
            </a:endParaRPr>
          </a:p>
          <a:p>
            <a:pPr marL="567214" marR="153353" indent="-215265">
              <a:lnSpc>
                <a:spcPct val="80000"/>
              </a:lnSpc>
              <a:spcBef>
                <a:spcPts val="398"/>
              </a:spcBef>
              <a:buFont typeface="Arial MT"/>
              <a:buChar char="–"/>
              <a:tabLst>
                <a:tab pos="567214" algn="l"/>
                <a:tab pos="567690" algn="l"/>
              </a:tabLst>
            </a:pPr>
            <a:r>
              <a:rPr sz="2100" b="1" spc="-8" dirty="0">
                <a:latin typeface="Calibri"/>
                <a:cs typeface="Calibri"/>
              </a:rPr>
              <a:t>Aggregation:</a:t>
            </a:r>
            <a:r>
              <a:rPr sz="2100" b="1" spc="15" dirty="0">
                <a:latin typeface="Calibri"/>
                <a:cs typeface="Calibri"/>
              </a:rPr>
              <a:t> </a:t>
            </a:r>
            <a:r>
              <a:rPr sz="2100" spc="-8" dirty="0">
                <a:latin typeface="Calibri"/>
                <a:cs typeface="Calibri"/>
              </a:rPr>
              <a:t>Summary</a:t>
            </a:r>
            <a:r>
              <a:rPr sz="2100" spc="15" dirty="0">
                <a:latin typeface="Calibri"/>
                <a:cs typeface="Calibri"/>
              </a:rPr>
              <a:t> </a:t>
            </a:r>
            <a:r>
              <a:rPr sz="2100" spc="-4" dirty="0">
                <a:latin typeface="Calibri"/>
                <a:cs typeface="Calibri"/>
              </a:rPr>
              <a:t>or</a:t>
            </a:r>
            <a:r>
              <a:rPr sz="2100" dirty="0">
                <a:latin typeface="Calibri"/>
                <a:cs typeface="Calibri"/>
              </a:rPr>
              <a:t> </a:t>
            </a:r>
            <a:r>
              <a:rPr sz="2100" spc="-8" dirty="0">
                <a:latin typeface="Calibri"/>
                <a:cs typeface="Calibri"/>
              </a:rPr>
              <a:t>aggregation</a:t>
            </a:r>
            <a:r>
              <a:rPr sz="2100" spc="8" dirty="0">
                <a:latin typeface="Calibri"/>
                <a:cs typeface="Calibri"/>
              </a:rPr>
              <a:t> </a:t>
            </a:r>
            <a:r>
              <a:rPr sz="2100" spc="-8" dirty="0">
                <a:latin typeface="Calibri"/>
                <a:cs typeface="Calibri"/>
              </a:rPr>
              <a:t>operations</a:t>
            </a:r>
            <a:r>
              <a:rPr sz="2100" spc="-4" dirty="0">
                <a:latin typeface="Calibri"/>
                <a:cs typeface="Calibri"/>
              </a:rPr>
              <a:t> </a:t>
            </a:r>
            <a:r>
              <a:rPr sz="2100" spc="-8" dirty="0">
                <a:latin typeface="Calibri"/>
                <a:cs typeface="Calibri"/>
              </a:rPr>
              <a:t>are</a:t>
            </a:r>
            <a:r>
              <a:rPr sz="2100" dirty="0">
                <a:latin typeface="Calibri"/>
                <a:cs typeface="Calibri"/>
              </a:rPr>
              <a:t> </a:t>
            </a:r>
            <a:r>
              <a:rPr sz="2100" spc="-4" dirty="0">
                <a:latin typeface="Calibri"/>
                <a:cs typeface="Calibri"/>
              </a:rPr>
              <a:t>applied </a:t>
            </a:r>
            <a:r>
              <a:rPr sz="2100" spc="-15" dirty="0">
                <a:latin typeface="Calibri"/>
                <a:cs typeface="Calibri"/>
              </a:rPr>
              <a:t>to</a:t>
            </a:r>
            <a:r>
              <a:rPr sz="2100" spc="8" dirty="0">
                <a:latin typeface="Calibri"/>
                <a:cs typeface="Calibri"/>
              </a:rPr>
              <a:t> </a:t>
            </a:r>
            <a:r>
              <a:rPr sz="2100" spc="-4" dirty="0">
                <a:latin typeface="Calibri"/>
                <a:cs typeface="Calibri"/>
              </a:rPr>
              <a:t>the </a:t>
            </a:r>
            <a:r>
              <a:rPr sz="2100" spc="-363" dirty="0">
                <a:latin typeface="Calibri"/>
                <a:cs typeface="Calibri"/>
              </a:rPr>
              <a:t> </a:t>
            </a:r>
            <a:r>
              <a:rPr sz="2100" spc="-11" dirty="0">
                <a:latin typeface="Calibri"/>
                <a:cs typeface="Calibri"/>
              </a:rPr>
              <a:t>data.</a:t>
            </a:r>
            <a:r>
              <a:rPr sz="2100" spc="-4" dirty="0">
                <a:latin typeface="Calibri"/>
                <a:cs typeface="Calibri"/>
              </a:rPr>
              <a:t> I.e.,</a:t>
            </a:r>
            <a:r>
              <a:rPr sz="2100" spc="4" dirty="0">
                <a:latin typeface="Calibri"/>
                <a:cs typeface="Calibri"/>
              </a:rPr>
              <a:t> </a:t>
            </a:r>
            <a:r>
              <a:rPr sz="2100" spc="-4" dirty="0">
                <a:latin typeface="Calibri"/>
                <a:cs typeface="Calibri"/>
              </a:rPr>
              <a:t>the</a:t>
            </a:r>
            <a:r>
              <a:rPr sz="2100" spc="8" dirty="0">
                <a:latin typeface="Calibri"/>
                <a:cs typeface="Calibri"/>
              </a:rPr>
              <a:t> </a:t>
            </a:r>
            <a:r>
              <a:rPr sz="2100" spc="-8" dirty="0">
                <a:latin typeface="Calibri"/>
                <a:cs typeface="Calibri"/>
              </a:rPr>
              <a:t>weekly</a:t>
            </a:r>
            <a:r>
              <a:rPr sz="2100" spc="26" dirty="0">
                <a:latin typeface="Calibri"/>
                <a:cs typeface="Calibri"/>
              </a:rPr>
              <a:t> </a:t>
            </a:r>
            <a:r>
              <a:rPr sz="2100" spc="-4" dirty="0">
                <a:latin typeface="Calibri"/>
                <a:cs typeface="Calibri"/>
              </a:rPr>
              <a:t>sales</a:t>
            </a:r>
            <a:r>
              <a:rPr sz="2100" dirty="0">
                <a:latin typeface="Calibri"/>
                <a:cs typeface="Calibri"/>
              </a:rPr>
              <a:t> </a:t>
            </a:r>
            <a:r>
              <a:rPr sz="2100" spc="-15" dirty="0">
                <a:latin typeface="Calibri"/>
                <a:cs typeface="Calibri"/>
              </a:rPr>
              <a:t>data</a:t>
            </a:r>
            <a:r>
              <a:rPr sz="2100" dirty="0">
                <a:latin typeface="Calibri"/>
                <a:cs typeface="Calibri"/>
              </a:rPr>
              <a:t> </a:t>
            </a:r>
            <a:r>
              <a:rPr sz="2100" spc="-4" dirty="0">
                <a:latin typeface="Calibri"/>
                <a:cs typeface="Calibri"/>
              </a:rPr>
              <a:t>is</a:t>
            </a:r>
            <a:r>
              <a:rPr sz="2100" spc="4" dirty="0">
                <a:latin typeface="Calibri"/>
                <a:cs typeface="Calibri"/>
              </a:rPr>
              <a:t> </a:t>
            </a:r>
            <a:r>
              <a:rPr sz="2100" spc="-11" dirty="0">
                <a:latin typeface="Calibri"/>
                <a:cs typeface="Calibri"/>
              </a:rPr>
              <a:t>aggregated</a:t>
            </a:r>
            <a:r>
              <a:rPr sz="2100" spc="4" dirty="0">
                <a:latin typeface="Calibri"/>
                <a:cs typeface="Calibri"/>
              </a:rPr>
              <a:t> </a:t>
            </a:r>
            <a:r>
              <a:rPr sz="2100" spc="-11" dirty="0">
                <a:latin typeface="Calibri"/>
                <a:cs typeface="Calibri"/>
              </a:rPr>
              <a:t>to</a:t>
            </a:r>
            <a:r>
              <a:rPr sz="2100" spc="4" dirty="0">
                <a:latin typeface="Calibri"/>
                <a:cs typeface="Calibri"/>
              </a:rPr>
              <a:t> </a:t>
            </a:r>
            <a:r>
              <a:rPr sz="2100" spc="-11" dirty="0">
                <a:latin typeface="Calibri"/>
                <a:cs typeface="Calibri"/>
              </a:rPr>
              <a:t>calculate</a:t>
            </a:r>
            <a:r>
              <a:rPr sz="2100" spc="4" dirty="0">
                <a:latin typeface="Calibri"/>
                <a:cs typeface="Calibri"/>
              </a:rPr>
              <a:t> </a:t>
            </a:r>
            <a:r>
              <a:rPr sz="2100" spc="-4" dirty="0">
                <a:latin typeface="Calibri"/>
                <a:cs typeface="Calibri"/>
              </a:rPr>
              <a:t>the </a:t>
            </a:r>
            <a:r>
              <a:rPr sz="2100" dirty="0">
                <a:latin typeface="Calibri"/>
                <a:cs typeface="Calibri"/>
              </a:rPr>
              <a:t> </a:t>
            </a:r>
            <a:r>
              <a:rPr sz="2100" spc="-4" dirty="0">
                <a:latin typeface="Calibri"/>
                <a:cs typeface="Calibri"/>
              </a:rPr>
              <a:t>monthly</a:t>
            </a:r>
            <a:r>
              <a:rPr sz="2100" spc="4" dirty="0">
                <a:latin typeface="Calibri"/>
                <a:cs typeface="Calibri"/>
              </a:rPr>
              <a:t> </a:t>
            </a:r>
            <a:r>
              <a:rPr sz="2100" spc="-4" dirty="0">
                <a:latin typeface="Calibri"/>
                <a:cs typeface="Calibri"/>
              </a:rPr>
              <a:t>and </a:t>
            </a:r>
            <a:r>
              <a:rPr sz="2100" spc="-8" dirty="0">
                <a:latin typeface="Calibri"/>
                <a:cs typeface="Calibri"/>
              </a:rPr>
              <a:t>yearly</a:t>
            </a:r>
            <a:r>
              <a:rPr sz="2100" dirty="0">
                <a:latin typeface="Calibri"/>
                <a:cs typeface="Calibri"/>
              </a:rPr>
              <a:t> </a:t>
            </a:r>
            <a:r>
              <a:rPr sz="2100" spc="-11" dirty="0">
                <a:latin typeface="Calibri"/>
                <a:cs typeface="Calibri"/>
              </a:rPr>
              <a:t>total.</a:t>
            </a:r>
            <a:endParaRPr sz="2100" dirty="0">
              <a:latin typeface="Calibri"/>
              <a:cs typeface="Calibri"/>
            </a:endParaRPr>
          </a:p>
          <a:p>
            <a:pPr marL="567214" marR="3810" indent="-215265" algn="just">
              <a:lnSpc>
                <a:spcPts val="1583"/>
              </a:lnSpc>
              <a:spcBef>
                <a:spcPts val="386"/>
              </a:spcBef>
              <a:buFont typeface="Arial MT"/>
              <a:buChar char="–"/>
              <a:tabLst>
                <a:tab pos="567690" algn="l"/>
              </a:tabLst>
            </a:pPr>
            <a:r>
              <a:rPr sz="2100" b="1" spc="-11" dirty="0">
                <a:latin typeface="Calibri"/>
                <a:cs typeface="Calibri"/>
              </a:rPr>
              <a:t>Generalization: </a:t>
            </a:r>
            <a:r>
              <a:rPr sz="2100" spc="-4" dirty="0">
                <a:latin typeface="Calibri"/>
                <a:cs typeface="Calibri"/>
              </a:rPr>
              <a:t>In this </a:t>
            </a:r>
            <a:r>
              <a:rPr sz="2100" spc="-11" dirty="0">
                <a:latin typeface="Calibri"/>
                <a:cs typeface="Calibri"/>
              </a:rPr>
              <a:t>step, </a:t>
            </a:r>
            <a:r>
              <a:rPr sz="2100" spc="-8" dirty="0">
                <a:latin typeface="Calibri"/>
                <a:cs typeface="Calibri"/>
              </a:rPr>
              <a:t>Low-level </a:t>
            </a:r>
            <a:r>
              <a:rPr sz="2100" spc="-15" dirty="0">
                <a:latin typeface="Calibri"/>
                <a:cs typeface="Calibri"/>
              </a:rPr>
              <a:t>data </a:t>
            </a:r>
            <a:r>
              <a:rPr sz="2100" spc="-4" dirty="0">
                <a:latin typeface="Calibri"/>
                <a:cs typeface="Calibri"/>
              </a:rPr>
              <a:t>is replaced </a:t>
            </a:r>
            <a:r>
              <a:rPr sz="2100" spc="-11" dirty="0">
                <a:latin typeface="Calibri"/>
                <a:cs typeface="Calibri"/>
              </a:rPr>
              <a:t>by </a:t>
            </a:r>
            <a:r>
              <a:rPr sz="2100" spc="-8" dirty="0">
                <a:latin typeface="Calibri"/>
                <a:cs typeface="Calibri"/>
              </a:rPr>
              <a:t>higher-level </a:t>
            </a:r>
            <a:r>
              <a:rPr sz="2100" spc="-4" dirty="0">
                <a:latin typeface="Calibri"/>
                <a:cs typeface="Calibri"/>
              </a:rPr>
              <a:t> </a:t>
            </a:r>
            <a:r>
              <a:rPr sz="2100" spc="-8" dirty="0">
                <a:latin typeface="Calibri"/>
                <a:cs typeface="Calibri"/>
              </a:rPr>
              <a:t>concepts </a:t>
            </a:r>
            <a:r>
              <a:rPr sz="2100" spc="-4" dirty="0">
                <a:latin typeface="Calibri"/>
                <a:cs typeface="Calibri"/>
              </a:rPr>
              <a:t>with the </a:t>
            </a:r>
            <a:r>
              <a:rPr sz="2100" spc="-8" dirty="0">
                <a:latin typeface="Calibri"/>
                <a:cs typeface="Calibri"/>
              </a:rPr>
              <a:t>help </a:t>
            </a:r>
            <a:r>
              <a:rPr sz="2100" spc="-4" dirty="0">
                <a:latin typeface="Calibri"/>
                <a:cs typeface="Calibri"/>
              </a:rPr>
              <a:t>of </a:t>
            </a:r>
            <a:r>
              <a:rPr sz="2100" spc="-11" dirty="0">
                <a:latin typeface="Calibri"/>
                <a:cs typeface="Calibri"/>
              </a:rPr>
              <a:t>concept hierarchies. For example, </a:t>
            </a:r>
            <a:r>
              <a:rPr sz="2100" spc="-4" dirty="0">
                <a:latin typeface="Calibri"/>
                <a:cs typeface="Calibri"/>
              </a:rPr>
              <a:t>the city is </a:t>
            </a:r>
            <a:r>
              <a:rPr sz="2100" spc="-363" dirty="0">
                <a:latin typeface="Calibri"/>
                <a:cs typeface="Calibri"/>
              </a:rPr>
              <a:t> </a:t>
            </a:r>
            <a:r>
              <a:rPr sz="2100" spc="-4" dirty="0">
                <a:latin typeface="Calibri"/>
                <a:cs typeface="Calibri"/>
              </a:rPr>
              <a:t>replaced</a:t>
            </a:r>
            <a:r>
              <a:rPr sz="2100" spc="-11" dirty="0">
                <a:latin typeface="Calibri"/>
                <a:cs typeface="Calibri"/>
              </a:rPr>
              <a:t> by</a:t>
            </a:r>
            <a:r>
              <a:rPr sz="2100" spc="4" dirty="0">
                <a:latin typeface="Calibri"/>
                <a:cs typeface="Calibri"/>
              </a:rPr>
              <a:t> </a:t>
            </a:r>
            <a:r>
              <a:rPr sz="2100" spc="-4" dirty="0">
                <a:latin typeface="Calibri"/>
                <a:cs typeface="Calibri"/>
              </a:rPr>
              <a:t>the</a:t>
            </a:r>
            <a:r>
              <a:rPr sz="2100" spc="8" dirty="0">
                <a:latin typeface="Calibri"/>
                <a:cs typeface="Calibri"/>
              </a:rPr>
              <a:t> </a:t>
            </a:r>
            <a:r>
              <a:rPr sz="2100" spc="-26" dirty="0">
                <a:latin typeface="Calibri"/>
                <a:cs typeface="Calibri"/>
              </a:rPr>
              <a:t>county.</a:t>
            </a:r>
            <a:endParaRPr sz="2100" dirty="0">
              <a:latin typeface="Calibri"/>
              <a:cs typeface="Calibri"/>
            </a:endParaRPr>
          </a:p>
          <a:p>
            <a:pPr marL="567214" marR="26194" indent="-215265">
              <a:lnSpc>
                <a:spcPct val="80000"/>
              </a:lnSpc>
              <a:spcBef>
                <a:spcPts val="413"/>
              </a:spcBef>
              <a:buFont typeface="Arial MT"/>
              <a:buChar char="–"/>
              <a:tabLst>
                <a:tab pos="567214" algn="l"/>
                <a:tab pos="567690" algn="l"/>
              </a:tabLst>
            </a:pPr>
            <a:r>
              <a:rPr sz="2100" b="1" spc="-8" dirty="0">
                <a:latin typeface="Calibri"/>
                <a:cs typeface="Calibri"/>
              </a:rPr>
              <a:t>Normalization:</a:t>
            </a:r>
            <a:r>
              <a:rPr sz="2100" b="1" spc="30" dirty="0">
                <a:latin typeface="Calibri"/>
                <a:cs typeface="Calibri"/>
              </a:rPr>
              <a:t> </a:t>
            </a:r>
            <a:r>
              <a:rPr sz="2100" spc="-8" dirty="0">
                <a:latin typeface="Calibri"/>
                <a:cs typeface="Calibri"/>
              </a:rPr>
              <a:t>Normalization</a:t>
            </a:r>
            <a:r>
              <a:rPr sz="2100" spc="11" dirty="0">
                <a:latin typeface="Calibri"/>
                <a:cs typeface="Calibri"/>
              </a:rPr>
              <a:t> </a:t>
            </a:r>
            <a:r>
              <a:rPr sz="2100" spc="-8" dirty="0">
                <a:latin typeface="Calibri"/>
                <a:cs typeface="Calibri"/>
              </a:rPr>
              <a:t>performed</a:t>
            </a:r>
            <a:r>
              <a:rPr sz="2100" spc="19" dirty="0">
                <a:latin typeface="Calibri"/>
                <a:cs typeface="Calibri"/>
              </a:rPr>
              <a:t> </a:t>
            </a:r>
            <a:r>
              <a:rPr sz="2100" spc="-4" dirty="0">
                <a:latin typeface="Calibri"/>
                <a:cs typeface="Calibri"/>
              </a:rPr>
              <a:t>when</a:t>
            </a:r>
            <a:r>
              <a:rPr sz="2100" spc="11" dirty="0">
                <a:latin typeface="Calibri"/>
                <a:cs typeface="Calibri"/>
              </a:rPr>
              <a:t> </a:t>
            </a:r>
            <a:r>
              <a:rPr sz="2100" spc="-4" dirty="0">
                <a:latin typeface="Calibri"/>
                <a:cs typeface="Calibri"/>
              </a:rPr>
              <a:t>the</a:t>
            </a:r>
            <a:r>
              <a:rPr sz="2100" spc="11" dirty="0">
                <a:latin typeface="Calibri"/>
                <a:cs typeface="Calibri"/>
              </a:rPr>
              <a:t> </a:t>
            </a:r>
            <a:r>
              <a:rPr sz="2100" spc="-11" dirty="0">
                <a:latin typeface="Calibri"/>
                <a:cs typeface="Calibri"/>
              </a:rPr>
              <a:t>attribute</a:t>
            </a:r>
            <a:r>
              <a:rPr sz="2100" spc="19" dirty="0">
                <a:latin typeface="Calibri"/>
                <a:cs typeface="Calibri"/>
              </a:rPr>
              <a:t> </a:t>
            </a:r>
            <a:r>
              <a:rPr sz="2100" spc="-15" dirty="0">
                <a:latin typeface="Calibri"/>
                <a:cs typeface="Calibri"/>
              </a:rPr>
              <a:t>data</a:t>
            </a:r>
            <a:r>
              <a:rPr sz="2100" spc="4" dirty="0">
                <a:latin typeface="Calibri"/>
                <a:cs typeface="Calibri"/>
              </a:rPr>
              <a:t> </a:t>
            </a:r>
            <a:r>
              <a:rPr sz="2100" spc="-8" dirty="0">
                <a:latin typeface="Calibri"/>
                <a:cs typeface="Calibri"/>
              </a:rPr>
              <a:t>are </a:t>
            </a:r>
            <a:r>
              <a:rPr sz="2100" spc="-363" dirty="0">
                <a:latin typeface="Calibri"/>
                <a:cs typeface="Calibri"/>
              </a:rPr>
              <a:t> </a:t>
            </a:r>
            <a:r>
              <a:rPr sz="2100" spc="-8" dirty="0">
                <a:latin typeface="Calibri"/>
                <a:cs typeface="Calibri"/>
              </a:rPr>
              <a:t>scaled</a:t>
            </a:r>
            <a:r>
              <a:rPr sz="2100" spc="4" dirty="0">
                <a:latin typeface="Calibri"/>
                <a:cs typeface="Calibri"/>
              </a:rPr>
              <a:t> </a:t>
            </a:r>
            <a:r>
              <a:rPr sz="2100" spc="-4" dirty="0">
                <a:latin typeface="Calibri"/>
                <a:cs typeface="Calibri"/>
              </a:rPr>
              <a:t>up</a:t>
            </a:r>
            <a:r>
              <a:rPr sz="2100" dirty="0">
                <a:latin typeface="Calibri"/>
                <a:cs typeface="Calibri"/>
              </a:rPr>
              <a:t> </a:t>
            </a:r>
            <a:r>
              <a:rPr sz="2100" spc="-4" dirty="0">
                <a:latin typeface="Calibri"/>
                <a:cs typeface="Calibri"/>
              </a:rPr>
              <a:t>o</a:t>
            </a:r>
            <a:r>
              <a:rPr sz="2100" dirty="0">
                <a:latin typeface="Calibri"/>
                <a:cs typeface="Calibri"/>
              </a:rPr>
              <a:t> </a:t>
            </a:r>
            <a:r>
              <a:rPr sz="2100" spc="-8" dirty="0">
                <a:latin typeface="Calibri"/>
                <a:cs typeface="Calibri"/>
              </a:rPr>
              <a:t>scaled</a:t>
            </a:r>
            <a:r>
              <a:rPr sz="2100" dirty="0">
                <a:latin typeface="Calibri"/>
                <a:cs typeface="Calibri"/>
              </a:rPr>
              <a:t> </a:t>
            </a:r>
            <a:r>
              <a:rPr sz="2100" spc="-8" dirty="0">
                <a:latin typeface="Calibri"/>
                <a:cs typeface="Calibri"/>
              </a:rPr>
              <a:t>down.</a:t>
            </a:r>
            <a:r>
              <a:rPr sz="2100" spc="4" dirty="0">
                <a:latin typeface="Calibri"/>
                <a:cs typeface="Calibri"/>
              </a:rPr>
              <a:t> </a:t>
            </a:r>
            <a:r>
              <a:rPr sz="2100" spc="-8" dirty="0">
                <a:latin typeface="Calibri"/>
                <a:cs typeface="Calibri"/>
              </a:rPr>
              <a:t>Example:</a:t>
            </a:r>
            <a:r>
              <a:rPr sz="2100" spc="8" dirty="0">
                <a:latin typeface="Calibri"/>
                <a:cs typeface="Calibri"/>
              </a:rPr>
              <a:t> </a:t>
            </a:r>
            <a:r>
              <a:rPr sz="2100" spc="-15" dirty="0">
                <a:latin typeface="Calibri"/>
                <a:cs typeface="Calibri"/>
              </a:rPr>
              <a:t>Data</a:t>
            </a:r>
            <a:r>
              <a:rPr sz="2100" spc="-8" dirty="0">
                <a:latin typeface="Calibri"/>
                <a:cs typeface="Calibri"/>
              </a:rPr>
              <a:t> </a:t>
            </a:r>
            <a:r>
              <a:rPr sz="2100" spc="-4" dirty="0">
                <a:latin typeface="Calibri"/>
                <a:cs typeface="Calibri"/>
              </a:rPr>
              <a:t>should</a:t>
            </a:r>
            <a:r>
              <a:rPr sz="2100" spc="-8" dirty="0">
                <a:latin typeface="Calibri"/>
                <a:cs typeface="Calibri"/>
              </a:rPr>
              <a:t> </a:t>
            </a:r>
            <a:r>
              <a:rPr sz="2100" spc="-11" dirty="0">
                <a:latin typeface="Calibri"/>
                <a:cs typeface="Calibri"/>
              </a:rPr>
              <a:t>fall</a:t>
            </a:r>
            <a:r>
              <a:rPr sz="2100" dirty="0">
                <a:latin typeface="Calibri"/>
                <a:cs typeface="Calibri"/>
              </a:rPr>
              <a:t> </a:t>
            </a:r>
            <a:r>
              <a:rPr sz="2100" spc="-4" dirty="0">
                <a:latin typeface="Calibri"/>
                <a:cs typeface="Calibri"/>
              </a:rPr>
              <a:t>in the</a:t>
            </a:r>
            <a:r>
              <a:rPr sz="2100" spc="8" dirty="0">
                <a:latin typeface="Calibri"/>
                <a:cs typeface="Calibri"/>
              </a:rPr>
              <a:t> </a:t>
            </a:r>
            <a:r>
              <a:rPr sz="2100" spc="-15" dirty="0">
                <a:latin typeface="Calibri"/>
                <a:cs typeface="Calibri"/>
              </a:rPr>
              <a:t>range</a:t>
            </a:r>
            <a:r>
              <a:rPr sz="2100" spc="30" dirty="0">
                <a:latin typeface="Calibri"/>
                <a:cs typeface="Calibri"/>
              </a:rPr>
              <a:t> </a:t>
            </a:r>
            <a:r>
              <a:rPr sz="2100" spc="-4" dirty="0">
                <a:latin typeface="Calibri"/>
                <a:cs typeface="Calibri"/>
              </a:rPr>
              <a:t>-2.0 </a:t>
            </a:r>
            <a:r>
              <a:rPr sz="2100" dirty="0">
                <a:latin typeface="Calibri"/>
                <a:cs typeface="Calibri"/>
              </a:rPr>
              <a:t> </a:t>
            </a:r>
            <a:r>
              <a:rPr sz="2100" spc="-15" dirty="0">
                <a:latin typeface="Calibri"/>
                <a:cs typeface="Calibri"/>
              </a:rPr>
              <a:t>to</a:t>
            </a:r>
            <a:r>
              <a:rPr sz="2100" dirty="0">
                <a:latin typeface="Calibri"/>
                <a:cs typeface="Calibri"/>
              </a:rPr>
              <a:t> </a:t>
            </a:r>
            <a:r>
              <a:rPr sz="2100" spc="-4" dirty="0">
                <a:latin typeface="Calibri"/>
                <a:cs typeface="Calibri"/>
              </a:rPr>
              <a:t>2.0</a:t>
            </a:r>
            <a:r>
              <a:rPr sz="2100" dirty="0">
                <a:latin typeface="Calibri"/>
                <a:cs typeface="Calibri"/>
              </a:rPr>
              <a:t> </a:t>
            </a:r>
            <a:r>
              <a:rPr sz="2100" spc="-8" dirty="0">
                <a:latin typeface="Calibri"/>
                <a:cs typeface="Calibri"/>
              </a:rPr>
              <a:t>post-normalization.</a:t>
            </a:r>
            <a:endParaRPr sz="2100" dirty="0">
              <a:latin typeface="Calibri"/>
              <a:cs typeface="Calibri"/>
            </a:endParaRPr>
          </a:p>
          <a:p>
            <a:pPr marL="567214" marR="17621" indent="-215265">
              <a:lnSpc>
                <a:spcPct val="80000"/>
              </a:lnSpc>
              <a:spcBef>
                <a:spcPts val="398"/>
              </a:spcBef>
              <a:buFont typeface="Arial MT"/>
              <a:buChar char="–"/>
              <a:tabLst>
                <a:tab pos="567214" algn="l"/>
                <a:tab pos="567690" algn="l"/>
              </a:tabLst>
            </a:pPr>
            <a:r>
              <a:rPr sz="2100" b="1" spc="-15" dirty="0">
                <a:latin typeface="Calibri"/>
                <a:cs typeface="Calibri"/>
              </a:rPr>
              <a:t>Attribute</a:t>
            </a:r>
            <a:r>
              <a:rPr sz="2100" b="1" spc="34" dirty="0">
                <a:latin typeface="Calibri"/>
                <a:cs typeface="Calibri"/>
              </a:rPr>
              <a:t> </a:t>
            </a:r>
            <a:r>
              <a:rPr sz="2100" b="1" spc="-8" dirty="0">
                <a:latin typeface="Calibri"/>
                <a:cs typeface="Calibri"/>
              </a:rPr>
              <a:t>construction</a:t>
            </a:r>
            <a:r>
              <a:rPr sz="2100" spc="-8" dirty="0">
                <a:latin typeface="Calibri"/>
                <a:cs typeface="Calibri"/>
              </a:rPr>
              <a:t>:</a:t>
            </a:r>
            <a:r>
              <a:rPr sz="2100" spc="38" dirty="0">
                <a:latin typeface="Calibri"/>
                <a:cs typeface="Calibri"/>
              </a:rPr>
              <a:t> </a:t>
            </a:r>
            <a:r>
              <a:rPr sz="2100" spc="-4" dirty="0">
                <a:latin typeface="Calibri"/>
                <a:cs typeface="Calibri"/>
              </a:rPr>
              <a:t>these</a:t>
            </a:r>
            <a:r>
              <a:rPr sz="2100" spc="15" dirty="0">
                <a:latin typeface="Calibri"/>
                <a:cs typeface="Calibri"/>
              </a:rPr>
              <a:t> </a:t>
            </a:r>
            <a:r>
              <a:rPr sz="2100" spc="-11" dirty="0">
                <a:latin typeface="Calibri"/>
                <a:cs typeface="Calibri"/>
              </a:rPr>
              <a:t>attributes</a:t>
            </a:r>
            <a:r>
              <a:rPr sz="2100" spc="23" dirty="0">
                <a:latin typeface="Calibri"/>
                <a:cs typeface="Calibri"/>
              </a:rPr>
              <a:t> </a:t>
            </a:r>
            <a:r>
              <a:rPr sz="2100" spc="-8" dirty="0">
                <a:latin typeface="Calibri"/>
                <a:cs typeface="Calibri"/>
              </a:rPr>
              <a:t>are </a:t>
            </a:r>
            <a:r>
              <a:rPr sz="2100" spc="-11" dirty="0">
                <a:latin typeface="Calibri"/>
                <a:cs typeface="Calibri"/>
              </a:rPr>
              <a:t>constructed</a:t>
            </a:r>
            <a:r>
              <a:rPr sz="2100" spc="19" dirty="0">
                <a:latin typeface="Calibri"/>
                <a:cs typeface="Calibri"/>
              </a:rPr>
              <a:t> </a:t>
            </a:r>
            <a:r>
              <a:rPr sz="2100" spc="-4" dirty="0">
                <a:latin typeface="Calibri"/>
                <a:cs typeface="Calibri"/>
              </a:rPr>
              <a:t>and</a:t>
            </a:r>
            <a:r>
              <a:rPr sz="2100" spc="4" dirty="0">
                <a:latin typeface="Calibri"/>
                <a:cs typeface="Calibri"/>
              </a:rPr>
              <a:t> </a:t>
            </a:r>
            <a:r>
              <a:rPr sz="2100" spc="-4" dirty="0">
                <a:latin typeface="Calibri"/>
                <a:cs typeface="Calibri"/>
              </a:rPr>
              <a:t>included </a:t>
            </a:r>
            <a:r>
              <a:rPr sz="2100" spc="-363" dirty="0">
                <a:latin typeface="Calibri"/>
                <a:cs typeface="Calibri"/>
              </a:rPr>
              <a:t> </a:t>
            </a:r>
            <a:r>
              <a:rPr sz="2100" spc="-4" dirty="0">
                <a:latin typeface="Calibri"/>
                <a:cs typeface="Calibri"/>
              </a:rPr>
              <a:t>the</a:t>
            </a:r>
            <a:r>
              <a:rPr sz="2100" spc="8" dirty="0">
                <a:latin typeface="Calibri"/>
                <a:cs typeface="Calibri"/>
              </a:rPr>
              <a:t> </a:t>
            </a:r>
            <a:r>
              <a:rPr sz="2100" spc="-8" dirty="0">
                <a:latin typeface="Calibri"/>
                <a:cs typeface="Calibri"/>
              </a:rPr>
              <a:t>given set</a:t>
            </a:r>
            <a:r>
              <a:rPr sz="2100" spc="8" dirty="0">
                <a:latin typeface="Calibri"/>
                <a:cs typeface="Calibri"/>
              </a:rPr>
              <a:t> </a:t>
            </a:r>
            <a:r>
              <a:rPr sz="2100" spc="-4" dirty="0">
                <a:latin typeface="Calibri"/>
                <a:cs typeface="Calibri"/>
              </a:rPr>
              <a:t>of</a:t>
            </a:r>
            <a:r>
              <a:rPr sz="2100" spc="4" dirty="0">
                <a:latin typeface="Calibri"/>
                <a:cs typeface="Calibri"/>
              </a:rPr>
              <a:t> </a:t>
            </a:r>
            <a:r>
              <a:rPr sz="2100" spc="-11" dirty="0">
                <a:latin typeface="Calibri"/>
                <a:cs typeface="Calibri"/>
              </a:rPr>
              <a:t>attributes</a:t>
            </a:r>
            <a:r>
              <a:rPr sz="2100" spc="15" dirty="0">
                <a:latin typeface="Calibri"/>
                <a:cs typeface="Calibri"/>
              </a:rPr>
              <a:t> </a:t>
            </a:r>
            <a:r>
              <a:rPr sz="2100" spc="-8" dirty="0">
                <a:latin typeface="Calibri"/>
                <a:cs typeface="Calibri"/>
              </a:rPr>
              <a:t>helpful</a:t>
            </a:r>
            <a:r>
              <a:rPr sz="2100" spc="-4" dirty="0">
                <a:latin typeface="Calibri"/>
                <a:cs typeface="Calibri"/>
              </a:rPr>
              <a:t> </a:t>
            </a:r>
            <a:r>
              <a:rPr sz="2100" spc="-15" dirty="0">
                <a:latin typeface="Calibri"/>
                <a:cs typeface="Calibri"/>
              </a:rPr>
              <a:t>for</a:t>
            </a:r>
            <a:r>
              <a:rPr sz="2100" spc="4" dirty="0">
                <a:latin typeface="Calibri"/>
                <a:cs typeface="Calibri"/>
              </a:rPr>
              <a:t> </a:t>
            </a:r>
            <a:r>
              <a:rPr sz="2100" spc="-15" dirty="0">
                <a:latin typeface="Calibri"/>
                <a:cs typeface="Calibri"/>
              </a:rPr>
              <a:t>data</a:t>
            </a:r>
            <a:r>
              <a:rPr sz="2100" spc="-4" dirty="0">
                <a:latin typeface="Calibri"/>
                <a:cs typeface="Calibri"/>
              </a:rPr>
              <a:t> mining.</a:t>
            </a:r>
            <a:endParaRPr sz="2100" dirty="0">
              <a:latin typeface="Calibri"/>
              <a:cs typeface="Calibri"/>
            </a:endParaRPr>
          </a:p>
        </p:txBody>
      </p:sp>
      <p:sp>
        <p:nvSpPr>
          <p:cNvPr id="6" name="Date Placeholder 5">
            <a:extLst>
              <a:ext uri="{FF2B5EF4-FFF2-40B4-BE49-F238E27FC236}">
                <a16:creationId xmlns:a16="http://schemas.microsoft.com/office/drawing/2014/main" id="{A21ACBE4-8BD7-75EE-24F7-FEB58B17C4FB}"/>
              </a:ext>
            </a:extLst>
          </p:cNvPr>
          <p:cNvSpPr>
            <a:spLocks noGrp="1"/>
          </p:cNvSpPr>
          <p:nvPr>
            <p:ph type="dt" sz="half" idx="6"/>
          </p:nvPr>
        </p:nvSpPr>
        <p:spPr/>
        <p:txBody>
          <a:bodyPr/>
          <a:lstStyle/>
          <a:p>
            <a:fld id="{E69154FA-5B92-8948-92D6-C360FC2086D1}" type="datetime1">
              <a:rPr lang="en-US" smtClean="0"/>
              <a:t>11/17/25</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72036" y="578168"/>
            <a:ext cx="3998119" cy="470802"/>
          </a:xfrm>
          <a:prstGeom prst="rect">
            <a:avLst/>
          </a:prstGeom>
        </p:spPr>
        <p:txBody>
          <a:bodyPr vert="horz" wrap="square" lIns="0" tIns="9049" rIns="0" bIns="0" rtlCol="0">
            <a:spAutoFit/>
          </a:bodyPr>
          <a:lstStyle/>
          <a:p>
            <a:pPr marL="9525">
              <a:spcBef>
                <a:spcPts val="71"/>
              </a:spcBef>
            </a:pPr>
            <a:r>
              <a:rPr sz="3000" b="1" spc="-4" dirty="0">
                <a:solidFill>
                  <a:srgbClr val="C00000"/>
                </a:solidFill>
              </a:rPr>
              <a:t>Data</a:t>
            </a:r>
            <a:r>
              <a:rPr sz="3000" b="1" spc="-19" dirty="0">
                <a:solidFill>
                  <a:srgbClr val="C00000"/>
                </a:solidFill>
              </a:rPr>
              <a:t> </a:t>
            </a:r>
            <a:r>
              <a:rPr sz="3000" b="1" spc="-4" dirty="0">
                <a:solidFill>
                  <a:srgbClr val="C00000"/>
                </a:solidFill>
              </a:rPr>
              <a:t>Mining</a:t>
            </a:r>
            <a:r>
              <a:rPr sz="3000" b="1" spc="-71" dirty="0">
                <a:solidFill>
                  <a:srgbClr val="C00000"/>
                </a:solidFill>
              </a:rPr>
              <a:t> </a:t>
            </a:r>
            <a:r>
              <a:rPr sz="3000" b="1" spc="-30" dirty="0">
                <a:solidFill>
                  <a:srgbClr val="C00000"/>
                </a:solidFill>
              </a:rPr>
              <a:t>Techniques</a:t>
            </a:r>
            <a:endParaRPr sz="3000"/>
          </a:p>
        </p:txBody>
      </p:sp>
      <p:pic>
        <p:nvPicPr>
          <p:cNvPr id="3" name="object 3"/>
          <p:cNvPicPr/>
          <p:nvPr/>
        </p:nvPicPr>
        <p:blipFill>
          <a:blip r:embed="rId2" cstate="print"/>
          <a:stretch>
            <a:fillRect/>
          </a:stretch>
        </p:blipFill>
        <p:spPr>
          <a:xfrm>
            <a:off x="535941" y="1085850"/>
            <a:ext cx="7522210" cy="3762660"/>
          </a:xfrm>
          <a:prstGeom prst="rect">
            <a:avLst/>
          </a:prstGeom>
        </p:spPr>
      </p:pic>
      <p:sp>
        <p:nvSpPr>
          <p:cNvPr id="6" name="Date Placeholder 5">
            <a:extLst>
              <a:ext uri="{FF2B5EF4-FFF2-40B4-BE49-F238E27FC236}">
                <a16:creationId xmlns:a16="http://schemas.microsoft.com/office/drawing/2014/main" id="{2CB90076-831D-8D43-AACC-232C4149B53A}"/>
              </a:ext>
            </a:extLst>
          </p:cNvPr>
          <p:cNvSpPr>
            <a:spLocks noGrp="1"/>
          </p:cNvSpPr>
          <p:nvPr>
            <p:ph type="dt" sz="half" idx="6"/>
          </p:nvPr>
        </p:nvSpPr>
        <p:spPr/>
        <p:txBody>
          <a:bodyPr/>
          <a:lstStyle/>
          <a:p>
            <a:fld id="{6618DA90-63F6-3C4F-92D5-992C431B3315}" type="datetime1">
              <a:rPr lang="en-US" smtClean="0"/>
              <a:t>11/17/25</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42236" y="741236"/>
            <a:ext cx="5658803" cy="517930"/>
          </a:xfrm>
          <a:prstGeom prst="rect">
            <a:avLst/>
          </a:prstGeom>
        </p:spPr>
        <p:txBody>
          <a:bodyPr vert="horz" wrap="square" lIns="0" tIns="10001" rIns="0" bIns="0" rtlCol="0">
            <a:spAutoFit/>
          </a:bodyPr>
          <a:lstStyle/>
          <a:p>
            <a:pPr marL="9525">
              <a:spcBef>
                <a:spcPts val="79"/>
              </a:spcBef>
            </a:pPr>
            <a:r>
              <a:rPr sz="3300" b="1" dirty="0">
                <a:solidFill>
                  <a:srgbClr val="C00000"/>
                </a:solidFill>
              </a:rPr>
              <a:t>Data</a:t>
            </a:r>
            <a:r>
              <a:rPr sz="3300" b="1" spc="-4" dirty="0">
                <a:solidFill>
                  <a:srgbClr val="C00000"/>
                </a:solidFill>
              </a:rPr>
              <a:t> Mining</a:t>
            </a:r>
            <a:r>
              <a:rPr sz="3300" b="1" spc="-56" dirty="0">
                <a:solidFill>
                  <a:srgbClr val="C00000"/>
                </a:solidFill>
              </a:rPr>
              <a:t> </a:t>
            </a:r>
            <a:r>
              <a:rPr sz="3300" b="1" spc="-19" dirty="0">
                <a:solidFill>
                  <a:srgbClr val="C00000"/>
                </a:solidFill>
              </a:rPr>
              <a:t>Techniques(cont..)</a:t>
            </a:r>
            <a:endParaRPr sz="3300"/>
          </a:p>
        </p:txBody>
      </p:sp>
      <p:sp>
        <p:nvSpPr>
          <p:cNvPr id="3" name="object 3"/>
          <p:cNvSpPr txBox="1"/>
          <p:nvPr/>
        </p:nvSpPr>
        <p:spPr>
          <a:xfrm>
            <a:off x="400051" y="1263682"/>
            <a:ext cx="8458199" cy="3481337"/>
          </a:xfrm>
          <a:prstGeom prst="rect">
            <a:avLst/>
          </a:prstGeom>
        </p:spPr>
        <p:txBody>
          <a:bodyPr vert="horz" wrap="square" lIns="0" tIns="78104" rIns="0" bIns="0" rtlCol="0">
            <a:spAutoFit/>
          </a:bodyPr>
          <a:lstStyle/>
          <a:p>
            <a:pPr marL="9525" marR="3810">
              <a:lnSpc>
                <a:spcPct val="80000"/>
              </a:lnSpc>
              <a:spcBef>
                <a:spcPts val="614"/>
              </a:spcBef>
              <a:buSzPct val="96666"/>
              <a:buAutoNum type="arabicPeriod"/>
              <a:tabLst>
                <a:tab pos="212884" algn="l"/>
              </a:tabLst>
            </a:pPr>
            <a:r>
              <a:rPr sz="2700" b="1" spc="-113" dirty="0">
                <a:latin typeface="Trebuchet MS"/>
                <a:cs typeface="Trebuchet MS"/>
              </a:rPr>
              <a:t>Classification:</a:t>
            </a:r>
            <a:r>
              <a:rPr sz="2700" b="1" spc="38" dirty="0">
                <a:latin typeface="Trebuchet MS"/>
                <a:cs typeface="Trebuchet MS"/>
              </a:rPr>
              <a:t> </a:t>
            </a:r>
            <a:r>
              <a:rPr sz="2700" dirty="0">
                <a:latin typeface="MS PGothic"/>
                <a:cs typeface="MS PGothic"/>
              </a:rPr>
              <a:t>This</a:t>
            </a:r>
            <a:r>
              <a:rPr sz="2700" spc="11" dirty="0">
                <a:latin typeface="MS PGothic"/>
                <a:cs typeface="MS PGothic"/>
              </a:rPr>
              <a:t> </a:t>
            </a:r>
            <a:r>
              <a:rPr sz="2700" spc="-4" dirty="0">
                <a:latin typeface="MS PGothic"/>
                <a:cs typeface="MS PGothic"/>
              </a:rPr>
              <a:t>analysis</a:t>
            </a:r>
            <a:r>
              <a:rPr sz="2700" spc="4" dirty="0">
                <a:latin typeface="MS PGothic"/>
                <a:cs typeface="MS PGothic"/>
              </a:rPr>
              <a:t> </a:t>
            </a:r>
            <a:r>
              <a:rPr sz="2700" dirty="0">
                <a:latin typeface="MS PGothic"/>
                <a:cs typeface="MS PGothic"/>
              </a:rPr>
              <a:t>is</a:t>
            </a:r>
            <a:r>
              <a:rPr sz="2700" spc="4" dirty="0">
                <a:latin typeface="MS PGothic"/>
                <a:cs typeface="MS PGothic"/>
              </a:rPr>
              <a:t> </a:t>
            </a:r>
            <a:r>
              <a:rPr sz="2700" dirty="0">
                <a:latin typeface="MS PGothic"/>
                <a:cs typeface="MS PGothic"/>
              </a:rPr>
              <a:t>used</a:t>
            </a:r>
            <a:r>
              <a:rPr sz="2700" spc="4" dirty="0">
                <a:latin typeface="MS PGothic"/>
                <a:cs typeface="MS PGothic"/>
              </a:rPr>
              <a:t> </a:t>
            </a:r>
            <a:r>
              <a:rPr sz="2700" dirty="0">
                <a:latin typeface="MS PGothic"/>
                <a:cs typeface="MS PGothic"/>
              </a:rPr>
              <a:t>to</a:t>
            </a:r>
            <a:r>
              <a:rPr sz="2700" spc="4" dirty="0">
                <a:latin typeface="MS PGothic"/>
                <a:cs typeface="MS PGothic"/>
              </a:rPr>
              <a:t> </a:t>
            </a:r>
            <a:r>
              <a:rPr sz="2700" spc="-4" dirty="0">
                <a:latin typeface="MS PGothic"/>
                <a:cs typeface="MS PGothic"/>
              </a:rPr>
              <a:t>retrieve </a:t>
            </a:r>
            <a:r>
              <a:rPr sz="2700" dirty="0">
                <a:latin typeface="MS PGothic"/>
                <a:cs typeface="MS PGothic"/>
              </a:rPr>
              <a:t> important</a:t>
            </a:r>
            <a:r>
              <a:rPr sz="2700" spc="-30" dirty="0">
                <a:latin typeface="MS PGothic"/>
                <a:cs typeface="MS PGothic"/>
              </a:rPr>
              <a:t> </a:t>
            </a:r>
            <a:r>
              <a:rPr sz="2700" dirty="0">
                <a:latin typeface="MS PGothic"/>
                <a:cs typeface="MS PGothic"/>
              </a:rPr>
              <a:t>and</a:t>
            </a:r>
            <a:r>
              <a:rPr sz="2700" spc="-4" dirty="0">
                <a:latin typeface="MS PGothic"/>
                <a:cs typeface="MS PGothic"/>
              </a:rPr>
              <a:t> relevant</a:t>
            </a:r>
            <a:r>
              <a:rPr sz="2700" spc="-26" dirty="0">
                <a:latin typeface="MS PGothic"/>
                <a:cs typeface="MS PGothic"/>
              </a:rPr>
              <a:t> </a:t>
            </a:r>
            <a:r>
              <a:rPr sz="2700" dirty="0">
                <a:latin typeface="MS PGothic"/>
                <a:cs typeface="MS PGothic"/>
              </a:rPr>
              <a:t>information</a:t>
            </a:r>
            <a:r>
              <a:rPr sz="2700" spc="-8" dirty="0">
                <a:latin typeface="MS PGothic"/>
                <a:cs typeface="MS PGothic"/>
              </a:rPr>
              <a:t> about</a:t>
            </a:r>
            <a:r>
              <a:rPr sz="2700" spc="-15" dirty="0">
                <a:latin typeface="MS PGothic"/>
                <a:cs typeface="MS PGothic"/>
              </a:rPr>
              <a:t> </a:t>
            </a:r>
            <a:r>
              <a:rPr sz="2700" spc="-4" dirty="0">
                <a:latin typeface="MS PGothic"/>
                <a:cs typeface="MS PGothic"/>
              </a:rPr>
              <a:t>data,</a:t>
            </a:r>
            <a:r>
              <a:rPr sz="2700" spc="-19" dirty="0">
                <a:latin typeface="MS PGothic"/>
                <a:cs typeface="MS PGothic"/>
              </a:rPr>
              <a:t> </a:t>
            </a:r>
            <a:r>
              <a:rPr sz="2700" dirty="0">
                <a:latin typeface="MS PGothic"/>
                <a:cs typeface="MS PGothic"/>
              </a:rPr>
              <a:t>and </a:t>
            </a:r>
            <a:r>
              <a:rPr sz="2700" spc="-675" dirty="0">
                <a:latin typeface="MS PGothic"/>
                <a:cs typeface="MS PGothic"/>
              </a:rPr>
              <a:t> </a:t>
            </a:r>
            <a:r>
              <a:rPr sz="2700" spc="-4" dirty="0">
                <a:latin typeface="MS PGothic"/>
                <a:cs typeface="MS PGothic"/>
              </a:rPr>
              <a:t>metadata. </a:t>
            </a:r>
            <a:r>
              <a:rPr sz="2700" dirty="0">
                <a:latin typeface="MS PGothic"/>
                <a:cs typeface="MS PGothic"/>
              </a:rPr>
              <a:t>This </a:t>
            </a:r>
            <a:r>
              <a:rPr sz="2700" spc="-4" dirty="0">
                <a:latin typeface="MS PGothic"/>
                <a:cs typeface="MS PGothic"/>
              </a:rPr>
              <a:t>data mining </a:t>
            </a:r>
            <a:r>
              <a:rPr sz="2700" dirty="0">
                <a:latin typeface="MS PGothic"/>
                <a:cs typeface="MS PGothic"/>
              </a:rPr>
              <a:t>method helps to </a:t>
            </a:r>
            <a:r>
              <a:rPr sz="2700" spc="4" dirty="0">
                <a:latin typeface="MS PGothic"/>
                <a:cs typeface="MS PGothic"/>
              </a:rPr>
              <a:t> </a:t>
            </a:r>
            <a:r>
              <a:rPr sz="2700" dirty="0">
                <a:latin typeface="MS PGothic"/>
                <a:cs typeface="MS PGothic"/>
              </a:rPr>
              <a:t>classify</a:t>
            </a:r>
            <a:r>
              <a:rPr sz="2700" spc="-11" dirty="0">
                <a:latin typeface="MS PGothic"/>
                <a:cs typeface="MS PGothic"/>
              </a:rPr>
              <a:t> </a:t>
            </a:r>
            <a:r>
              <a:rPr sz="2700" dirty="0">
                <a:latin typeface="MS PGothic"/>
                <a:cs typeface="MS PGothic"/>
              </a:rPr>
              <a:t>data</a:t>
            </a:r>
            <a:r>
              <a:rPr sz="2700" spc="-19" dirty="0">
                <a:latin typeface="MS PGothic"/>
                <a:cs typeface="MS PGothic"/>
              </a:rPr>
              <a:t> </a:t>
            </a:r>
            <a:r>
              <a:rPr sz="2700" dirty="0">
                <a:latin typeface="MS PGothic"/>
                <a:cs typeface="MS PGothic"/>
              </a:rPr>
              <a:t>in </a:t>
            </a:r>
            <a:r>
              <a:rPr sz="2700" spc="-4" dirty="0">
                <a:latin typeface="MS PGothic"/>
                <a:cs typeface="MS PGothic"/>
              </a:rPr>
              <a:t>different</a:t>
            </a:r>
            <a:r>
              <a:rPr sz="2700" spc="-19" dirty="0">
                <a:latin typeface="MS PGothic"/>
                <a:cs typeface="MS PGothic"/>
              </a:rPr>
              <a:t> </a:t>
            </a:r>
            <a:r>
              <a:rPr sz="2700" dirty="0">
                <a:latin typeface="MS PGothic"/>
                <a:cs typeface="MS PGothic"/>
              </a:rPr>
              <a:t>classes.</a:t>
            </a:r>
            <a:endParaRPr lang="en-US" sz="2700" dirty="0">
              <a:latin typeface="MS PGothic"/>
              <a:cs typeface="MS PGothic"/>
            </a:endParaRPr>
          </a:p>
          <a:p>
            <a:pPr marL="9525" marR="3810">
              <a:lnSpc>
                <a:spcPct val="80000"/>
              </a:lnSpc>
              <a:spcBef>
                <a:spcPts val="614"/>
              </a:spcBef>
              <a:buSzPct val="96666"/>
              <a:tabLst>
                <a:tab pos="212884" algn="l"/>
              </a:tabLst>
            </a:pPr>
            <a:r>
              <a:rPr lang="en-US" sz="2700" dirty="0">
                <a:latin typeface="__Source_Sans_Pro_fa6df0"/>
              </a:rPr>
              <a:t>Classification techniques can be divided into categories - binary classification and multi-class classification. Binary classification assigns labels to instances into two classes, such as fraudulent or non-fraudulent. Multi-class classification assigns labels into more than two classes, such as happy, neutral, or sad.</a:t>
            </a:r>
            <a:endParaRPr sz="2700" dirty="0">
              <a:latin typeface="MS PGothic"/>
              <a:cs typeface="MS PGothic"/>
            </a:endParaRPr>
          </a:p>
        </p:txBody>
      </p:sp>
      <p:sp>
        <p:nvSpPr>
          <p:cNvPr id="6" name="Date Placeholder 5">
            <a:extLst>
              <a:ext uri="{FF2B5EF4-FFF2-40B4-BE49-F238E27FC236}">
                <a16:creationId xmlns:a16="http://schemas.microsoft.com/office/drawing/2014/main" id="{F275C543-5D06-6847-CF54-C5D105B6F32C}"/>
              </a:ext>
            </a:extLst>
          </p:cNvPr>
          <p:cNvSpPr>
            <a:spLocks noGrp="1"/>
          </p:cNvSpPr>
          <p:nvPr>
            <p:ph type="dt" sz="half" idx="6"/>
          </p:nvPr>
        </p:nvSpPr>
        <p:spPr/>
        <p:txBody>
          <a:bodyPr/>
          <a:lstStyle/>
          <a:p>
            <a:fld id="{0BBA12F1-B145-9745-A939-AC52F9608C98}" type="datetime1">
              <a:rPr lang="en-US" smtClean="0"/>
              <a:t>11/17/25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classifications in data mining">
            <a:extLst>
              <a:ext uri="{FF2B5EF4-FFF2-40B4-BE49-F238E27FC236}">
                <a16:creationId xmlns:a16="http://schemas.microsoft.com/office/drawing/2014/main" id="{C043E04B-0267-FF9C-1C3B-60C6582137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0150" y="914401"/>
            <a:ext cx="7253288" cy="3943350"/>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2774A0F3-5758-044E-FFE1-7F0A43DC34C2}"/>
              </a:ext>
            </a:extLst>
          </p:cNvPr>
          <p:cNvSpPr>
            <a:spLocks noGrp="1"/>
          </p:cNvSpPr>
          <p:nvPr>
            <p:ph type="dt" sz="half" idx="6"/>
          </p:nvPr>
        </p:nvSpPr>
        <p:spPr/>
        <p:txBody>
          <a:bodyPr/>
          <a:lstStyle/>
          <a:p>
            <a:fld id="{CC0AD9E1-77BC-0B44-AA4F-21CC58894AE8}" type="datetime1">
              <a:rPr lang="en-US" smtClean="0"/>
              <a:t>11/17/25</a:t>
            </a:fld>
            <a:endParaRPr lang="en-US"/>
          </a:p>
        </p:txBody>
      </p:sp>
    </p:spTree>
    <p:extLst>
      <p:ext uri="{BB962C8B-B14F-4D97-AF65-F5344CB8AC3E}">
        <p14:creationId xmlns:p14="http://schemas.microsoft.com/office/powerpoint/2010/main" val="7354245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47C1D30-7DAE-7C74-5B57-C844BC85E983}"/>
              </a:ext>
            </a:extLst>
          </p:cNvPr>
          <p:cNvSpPr>
            <a:spLocks noGrp="1"/>
          </p:cNvSpPr>
          <p:nvPr>
            <p:ph type="body" idx="1"/>
          </p:nvPr>
        </p:nvSpPr>
        <p:spPr>
          <a:xfrm>
            <a:off x="535941" y="1200150"/>
            <a:ext cx="8072119" cy="3554819"/>
          </a:xfrm>
        </p:spPr>
        <p:txBody>
          <a:bodyPr/>
          <a:lstStyle/>
          <a:p>
            <a:r>
              <a:rPr lang="en-US" sz="2100" dirty="0">
                <a:latin typeface="__Source_Sans_Pro_fa6df0"/>
              </a:rPr>
              <a:t>Classification is a technique in data mining that involves categorizing or classifying data objects into predefined classes, categories, or groups based on their features or attributes. </a:t>
            </a:r>
          </a:p>
          <a:p>
            <a:r>
              <a:rPr lang="en-US" sz="2100" dirty="0">
                <a:latin typeface="__Source_Sans_Pro_fa6df0"/>
              </a:rPr>
              <a:t>It is a supervised learning technique that uses labeled data to build a model that can predict the class of new, unseen data.</a:t>
            </a:r>
          </a:p>
          <a:p>
            <a:r>
              <a:rPr lang="en-US" sz="2100" dirty="0">
                <a:latin typeface="__Source_Sans_Pro_fa6df0"/>
              </a:rPr>
              <a:t> It is an important task in data mining because it enables organizations to make informed decisions based on their data. </a:t>
            </a:r>
          </a:p>
          <a:p>
            <a:r>
              <a:rPr lang="en-US" sz="2100" dirty="0">
                <a:latin typeface="__Source_Sans_Pro_fa6df0"/>
              </a:rPr>
              <a:t>For example, a retailer may use data classification to group customers into different segments based on their purchase history and demographic data. This information can be used to target specific marketing campaigns for each segment and improve customer satisfaction.</a:t>
            </a:r>
            <a:endParaRPr lang="en-RW" sz="2100" dirty="0"/>
          </a:p>
        </p:txBody>
      </p:sp>
      <p:sp>
        <p:nvSpPr>
          <p:cNvPr id="4" name="Date Placeholder 3">
            <a:extLst>
              <a:ext uri="{FF2B5EF4-FFF2-40B4-BE49-F238E27FC236}">
                <a16:creationId xmlns:a16="http://schemas.microsoft.com/office/drawing/2014/main" id="{A586498A-86EF-DE6A-13E3-EB86DA094A51}"/>
              </a:ext>
            </a:extLst>
          </p:cNvPr>
          <p:cNvSpPr>
            <a:spLocks noGrp="1"/>
          </p:cNvSpPr>
          <p:nvPr>
            <p:ph type="dt" sz="half" idx="6"/>
          </p:nvPr>
        </p:nvSpPr>
        <p:spPr/>
        <p:txBody>
          <a:bodyPr/>
          <a:lstStyle/>
          <a:p>
            <a:fld id="{A23635CA-3BAF-7245-82C7-03606BEEEB67}" type="datetime1">
              <a:rPr lang="en-US" smtClean="0"/>
              <a:t>11/17/25</a:t>
            </a:fld>
            <a:endParaRPr lang="en-US"/>
          </a:p>
        </p:txBody>
      </p:sp>
    </p:spTree>
    <p:extLst>
      <p:ext uri="{BB962C8B-B14F-4D97-AF65-F5344CB8AC3E}">
        <p14:creationId xmlns:p14="http://schemas.microsoft.com/office/powerpoint/2010/main" val="18490303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F79BC3B-2C5A-4ECD-6930-5A484C0618A6}"/>
              </a:ext>
            </a:extLst>
          </p:cNvPr>
          <p:cNvSpPr>
            <a:spLocks noGrp="1"/>
          </p:cNvSpPr>
          <p:nvPr>
            <p:ph type="body" idx="1"/>
          </p:nvPr>
        </p:nvSpPr>
        <p:spPr>
          <a:xfrm>
            <a:off x="228600" y="800101"/>
            <a:ext cx="8515350" cy="3924151"/>
          </a:xfrm>
        </p:spPr>
        <p:txBody>
          <a:bodyPr/>
          <a:lstStyle/>
          <a:p>
            <a:r>
              <a:rPr lang="en-US" sz="2400" b="1" spc="-135" dirty="0">
                <a:latin typeface="Trebuchet MS"/>
                <a:cs typeface="Trebuchet MS"/>
              </a:rPr>
              <a:t>Clustering:</a:t>
            </a:r>
            <a:r>
              <a:rPr lang="en-US" sz="2400" b="1" spc="-131" dirty="0">
                <a:latin typeface="Trebuchet MS"/>
                <a:cs typeface="Trebuchet MS"/>
              </a:rPr>
              <a:t> </a:t>
            </a:r>
            <a:r>
              <a:rPr lang="en-US" sz="2100" spc="-4" dirty="0">
                <a:latin typeface="MS PGothic" panose="020B0600070205080204" pitchFamily="34" charset="-128"/>
                <a:ea typeface="MS PGothic" panose="020B0600070205080204" pitchFamily="34" charset="-128"/>
                <a:cs typeface="MS PGothic"/>
              </a:rPr>
              <a:t>Clustering analysis </a:t>
            </a:r>
            <a:r>
              <a:rPr lang="en-US" sz="2100" dirty="0">
                <a:latin typeface="MS PGothic" panose="020B0600070205080204" pitchFamily="34" charset="-128"/>
                <a:ea typeface="MS PGothic" panose="020B0600070205080204" pitchFamily="34" charset="-128"/>
                <a:cs typeface="MS PGothic"/>
              </a:rPr>
              <a:t>is a </a:t>
            </a:r>
            <a:r>
              <a:rPr lang="en-US" sz="2100" spc="-4" dirty="0">
                <a:latin typeface="MS PGothic" panose="020B0600070205080204" pitchFamily="34" charset="-128"/>
                <a:ea typeface="MS PGothic" panose="020B0600070205080204" pitchFamily="34" charset="-128"/>
                <a:cs typeface="MS PGothic"/>
              </a:rPr>
              <a:t>data mining </a:t>
            </a:r>
            <a:r>
              <a:rPr lang="en-US" sz="2100" dirty="0">
                <a:latin typeface="MS PGothic" panose="020B0600070205080204" pitchFamily="34" charset="-128"/>
                <a:ea typeface="MS PGothic" panose="020B0600070205080204" pitchFamily="34" charset="-128"/>
                <a:cs typeface="MS PGothic"/>
              </a:rPr>
              <a:t> technique</a:t>
            </a:r>
            <a:r>
              <a:rPr lang="en-US" sz="2100" spc="-11" dirty="0">
                <a:latin typeface="MS PGothic" panose="020B0600070205080204" pitchFamily="34" charset="-128"/>
                <a:ea typeface="MS PGothic" panose="020B0600070205080204" pitchFamily="34" charset="-128"/>
                <a:cs typeface="MS PGothic"/>
              </a:rPr>
              <a:t> </a:t>
            </a:r>
            <a:r>
              <a:rPr lang="en-US" sz="2100" dirty="0">
                <a:latin typeface="MS PGothic" panose="020B0600070205080204" pitchFamily="34" charset="-128"/>
                <a:ea typeface="MS PGothic" panose="020B0600070205080204" pitchFamily="34" charset="-128"/>
                <a:cs typeface="MS PGothic"/>
              </a:rPr>
              <a:t>to</a:t>
            </a:r>
            <a:r>
              <a:rPr lang="en-US" sz="2100" spc="-19" dirty="0">
                <a:latin typeface="MS PGothic" panose="020B0600070205080204" pitchFamily="34" charset="-128"/>
                <a:ea typeface="MS PGothic" panose="020B0600070205080204" pitchFamily="34" charset="-128"/>
                <a:cs typeface="MS PGothic"/>
              </a:rPr>
              <a:t> </a:t>
            </a:r>
            <a:r>
              <a:rPr lang="en-US" sz="2100" dirty="0">
                <a:latin typeface="MS PGothic" panose="020B0600070205080204" pitchFamily="34" charset="-128"/>
                <a:ea typeface="MS PGothic" panose="020B0600070205080204" pitchFamily="34" charset="-128"/>
                <a:cs typeface="MS PGothic"/>
              </a:rPr>
              <a:t>identify</a:t>
            </a:r>
            <a:r>
              <a:rPr lang="en-US" sz="2100" spc="-11" dirty="0">
                <a:latin typeface="MS PGothic" panose="020B0600070205080204" pitchFamily="34" charset="-128"/>
                <a:ea typeface="MS PGothic" panose="020B0600070205080204" pitchFamily="34" charset="-128"/>
                <a:cs typeface="MS PGothic"/>
              </a:rPr>
              <a:t> </a:t>
            </a:r>
            <a:r>
              <a:rPr lang="en-US" sz="2100" spc="-4" dirty="0">
                <a:latin typeface="MS PGothic" panose="020B0600070205080204" pitchFamily="34" charset="-128"/>
                <a:ea typeface="MS PGothic" panose="020B0600070205080204" pitchFamily="34" charset="-128"/>
                <a:cs typeface="MS PGothic"/>
              </a:rPr>
              <a:t>data</a:t>
            </a:r>
            <a:r>
              <a:rPr lang="en-US" sz="2100" spc="-26" dirty="0">
                <a:latin typeface="MS PGothic" panose="020B0600070205080204" pitchFamily="34" charset="-128"/>
                <a:ea typeface="MS PGothic" panose="020B0600070205080204" pitchFamily="34" charset="-128"/>
                <a:cs typeface="MS PGothic"/>
              </a:rPr>
              <a:t> </a:t>
            </a:r>
            <a:r>
              <a:rPr lang="en-US" sz="2100" dirty="0">
                <a:latin typeface="MS PGothic" panose="020B0600070205080204" pitchFamily="34" charset="-128"/>
                <a:ea typeface="MS PGothic" panose="020B0600070205080204" pitchFamily="34" charset="-128"/>
                <a:cs typeface="MS PGothic"/>
              </a:rPr>
              <a:t>that</a:t>
            </a:r>
            <a:r>
              <a:rPr lang="en-US" sz="2100" spc="-19" dirty="0">
                <a:latin typeface="MS PGothic" panose="020B0600070205080204" pitchFamily="34" charset="-128"/>
                <a:ea typeface="MS PGothic" panose="020B0600070205080204" pitchFamily="34" charset="-128"/>
                <a:cs typeface="MS PGothic"/>
              </a:rPr>
              <a:t> </a:t>
            </a:r>
            <a:r>
              <a:rPr lang="en-US" sz="2100" dirty="0">
                <a:latin typeface="MS PGothic" panose="020B0600070205080204" pitchFamily="34" charset="-128"/>
                <a:ea typeface="MS PGothic" panose="020B0600070205080204" pitchFamily="34" charset="-128"/>
                <a:cs typeface="MS PGothic"/>
              </a:rPr>
              <a:t>are</a:t>
            </a:r>
            <a:r>
              <a:rPr lang="en-US" sz="2100" spc="-23" dirty="0">
                <a:latin typeface="MS PGothic" panose="020B0600070205080204" pitchFamily="34" charset="-128"/>
                <a:ea typeface="MS PGothic" panose="020B0600070205080204" pitchFamily="34" charset="-128"/>
                <a:cs typeface="MS PGothic"/>
              </a:rPr>
              <a:t> </a:t>
            </a:r>
            <a:r>
              <a:rPr lang="en-US" sz="2100" dirty="0">
                <a:latin typeface="MS PGothic" panose="020B0600070205080204" pitchFamily="34" charset="-128"/>
                <a:ea typeface="MS PGothic" panose="020B0600070205080204" pitchFamily="34" charset="-128"/>
                <a:cs typeface="MS PGothic"/>
              </a:rPr>
              <a:t>like each</a:t>
            </a:r>
            <a:r>
              <a:rPr lang="en-US" sz="2100" spc="-8" dirty="0">
                <a:latin typeface="MS PGothic" panose="020B0600070205080204" pitchFamily="34" charset="-128"/>
                <a:ea typeface="MS PGothic" panose="020B0600070205080204" pitchFamily="34" charset="-128"/>
                <a:cs typeface="MS PGothic"/>
              </a:rPr>
              <a:t> </a:t>
            </a:r>
            <a:r>
              <a:rPr lang="en-US" sz="2100" dirty="0">
                <a:latin typeface="MS PGothic" panose="020B0600070205080204" pitchFamily="34" charset="-128"/>
                <a:ea typeface="MS PGothic" panose="020B0600070205080204" pitchFamily="34" charset="-128"/>
                <a:cs typeface="MS PGothic"/>
              </a:rPr>
              <a:t>other. </a:t>
            </a:r>
            <a:r>
              <a:rPr lang="en-US" sz="2100" spc="-675" dirty="0">
                <a:latin typeface="MS PGothic" panose="020B0600070205080204" pitchFamily="34" charset="-128"/>
                <a:ea typeface="MS PGothic" panose="020B0600070205080204" pitchFamily="34" charset="-128"/>
                <a:cs typeface="MS PGothic"/>
              </a:rPr>
              <a:t> </a:t>
            </a:r>
            <a:r>
              <a:rPr lang="en-US" sz="2100" dirty="0">
                <a:latin typeface="MS PGothic" panose="020B0600070205080204" pitchFamily="34" charset="-128"/>
                <a:ea typeface="MS PGothic" panose="020B0600070205080204" pitchFamily="34" charset="-128"/>
                <a:cs typeface="MS PGothic"/>
              </a:rPr>
              <a:t>This </a:t>
            </a:r>
            <a:r>
              <a:rPr lang="en-US" sz="2100" spc="-4" dirty="0">
                <a:latin typeface="MS PGothic" panose="020B0600070205080204" pitchFamily="34" charset="-128"/>
                <a:ea typeface="MS PGothic" panose="020B0600070205080204" pitchFamily="34" charset="-128"/>
                <a:cs typeface="MS PGothic"/>
              </a:rPr>
              <a:t>process </a:t>
            </a:r>
            <a:r>
              <a:rPr lang="en-US" sz="2100" dirty="0">
                <a:latin typeface="MS PGothic" panose="020B0600070205080204" pitchFamily="34" charset="-128"/>
                <a:ea typeface="MS PGothic" panose="020B0600070205080204" pitchFamily="34" charset="-128"/>
                <a:cs typeface="MS PGothic"/>
              </a:rPr>
              <a:t>helps to </a:t>
            </a:r>
            <a:r>
              <a:rPr lang="en-US" sz="2100" spc="-4" dirty="0">
                <a:latin typeface="MS PGothic" panose="020B0600070205080204" pitchFamily="34" charset="-128"/>
                <a:ea typeface="MS PGothic" panose="020B0600070205080204" pitchFamily="34" charset="-128"/>
                <a:cs typeface="MS PGothic"/>
              </a:rPr>
              <a:t>understand </a:t>
            </a:r>
            <a:r>
              <a:rPr lang="en-US" sz="2100" dirty="0">
                <a:latin typeface="MS PGothic" panose="020B0600070205080204" pitchFamily="34" charset="-128"/>
                <a:ea typeface="MS PGothic" panose="020B0600070205080204" pitchFamily="34" charset="-128"/>
                <a:cs typeface="MS PGothic"/>
              </a:rPr>
              <a:t>the </a:t>
            </a:r>
            <a:r>
              <a:rPr lang="en-US" sz="2100" spc="-4" dirty="0">
                <a:latin typeface="MS PGothic" panose="020B0600070205080204" pitchFamily="34" charset="-128"/>
                <a:ea typeface="MS PGothic" panose="020B0600070205080204" pitchFamily="34" charset="-128"/>
                <a:cs typeface="MS PGothic"/>
              </a:rPr>
              <a:t>differences </a:t>
            </a:r>
            <a:r>
              <a:rPr lang="en-US" sz="2100" dirty="0">
                <a:latin typeface="MS PGothic" panose="020B0600070205080204" pitchFamily="34" charset="-128"/>
                <a:ea typeface="MS PGothic" panose="020B0600070205080204" pitchFamily="34" charset="-128"/>
                <a:cs typeface="MS PGothic"/>
              </a:rPr>
              <a:t> and </a:t>
            </a:r>
            <a:r>
              <a:rPr lang="en-US" sz="2100" spc="-4" dirty="0">
                <a:latin typeface="MS PGothic" panose="020B0600070205080204" pitchFamily="34" charset="-128"/>
                <a:ea typeface="MS PGothic" panose="020B0600070205080204" pitchFamily="34" charset="-128"/>
                <a:cs typeface="MS PGothic"/>
              </a:rPr>
              <a:t>similarities between </a:t>
            </a:r>
            <a:r>
              <a:rPr lang="en-US" sz="2100" dirty="0">
                <a:latin typeface="MS PGothic" panose="020B0600070205080204" pitchFamily="34" charset="-128"/>
                <a:ea typeface="MS PGothic" panose="020B0600070205080204" pitchFamily="34" charset="-128"/>
                <a:cs typeface="MS PGothic"/>
              </a:rPr>
              <a:t>the </a:t>
            </a:r>
            <a:r>
              <a:rPr lang="en-US" sz="2100" spc="-4" dirty="0">
                <a:latin typeface="MS PGothic" panose="020B0600070205080204" pitchFamily="34" charset="-128"/>
                <a:ea typeface="MS PGothic" panose="020B0600070205080204" pitchFamily="34" charset="-128"/>
                <a:cs typeface="MS PGothic"/>
              </a:rPr>
              <a:t>data. Clustering </a:t>
            </a:r>
            <a:r>
              <a:rPr lang="en-US" sz="2100" dirty="0">
                <a:latin typeface="MS PGothic" panose="020B0600070205080204" pitchFamily="34" charset="-128"/>
                <a:ea typeface="MS PGothic" panose="020B0600070205080204" pitchFamily="34" charset="-128"/>
                <a:cs typeface="MS PGothic"/>
              </a:rPr>
              <a:t>is </a:t>
            </a:r>
            <a:r>
              <a:rPr lang="en-US" sz="2100" spc="4" dirty="0">
                <a:latin typeface="MS PGothic" panose="020B0600070205080204" pitchFamily="34" charset="-128"/>
                <a:ea typeface="MS PGothic" panose="020B0600070205080204" pitchFamily="34" charset="-128"/>
                <a:cs typeface="MS PGothic"/>
              </a:rPr>
              <a:t> </a:t>
            </a:r>
            <a:r>
              <a:rPr lang="en-US" sz="2100" dirty="0">
                <a:latin typeface="MS PGothic" panose="020B0600070205080204" pitchFamily="34" charset="-128"/>
                <a:ea typeface="MS PGothic" panose="020B0600070205080204" pitchFamily="34" charset="-128"/>
                <a:cs typeface="MS PGothic"/>
              </a:rPr>
              <a:t>very similar to the </a:t>
            </a:r>
            <a:r>
              <a:rPr lang="en-US" sz="2100" spc="-4" dirty="0">
                <a:latin typeface="MS PGothic" panose="020B0600070205080204" pitchFamily="34" charset="-128"/>
                <a:ea typeface="MS PGothic" panose="020B0600070205080204" pitchFamily="34" charset="-128"/>
                <a:cs typeface="MS PGothic"/>
              </a:rPr>
              <a:t>classification, but </a:t>
            </a:r>
            <a:r>
              <a:rPr lang="en-US" sz="2100" dirty="0">
                <a:latin typeface="MS PGothic" panose="020B0600070205080204" pitchFamily="34" charset="-128"/>
                <a:ea typeface="MS PGothic" panose="020B0600070205080204" pitchFamily="34" charset="-128"/>
                <a:cs typeface="MS PGothic"/>
              </a:rPr>
              <a:t>it involves </a:t>
            </a:r>
            <a:r>
              <a:rPr lang="en-US" sz="2100" spc="4" dirty="0">
                <a:latin typeface="MS PGothic" panose="020B0600070205080204" pitchFamily="34" charset="-128"/>
                <a:ea typeface="MS PGothic" panose="020B0600070205080204" pitchFamily="34" charset="-128"/>
                <a:cs typeface="MS PGothic"/>
              </a:rPr>
              <a:t> </a:t>
            </a:r>
            <a:r>
              <a:rPr lang="en-US" sz="2100" dirty="0">
                <a:latin typeface="MS PGothic" panose="020B0600070205080204" pitchFamily="34" charset="-128"/>
                <a:ea typeface="MS PGothic" panose="020B0600070205080204" pitchFamily="34" charset="-128"/>
                <a:cs typeface="MS PGothic"/>
              </a:rPr>
              <a:t>grouping chunks of </a:t>
            </a:r>
            <a:r>
              <a:rPr lang="en-US" sz="2100" spc="-4" dirty="0">
                <a:latin typeface="MS PGothic" panose="020B0600070205080204" pitchFamily="34" charset="-128"/>
                <a:ea typeface="MS PGothic" panose="020B0600070205080204" pitchFamily="34" charset="-128"/>
                <a:cs typeface="MS PGothic"/>
              </a:rPr>
              <a:t>data </a:t>
            </a:r>
            <a:r>
              <a:rPr lang="en-US" sz="2100" dirty="0">
                <a:latin typeface="MS PGothic" panose="020B0600070205080204" pitchFamily="34" charset="-128"/>
                <a:ea typeface="MS PGothic" panose="020B0600070205080204" pitchFamily="34" charset="-128"/>
                <a:cs typeface="MS PGothic"/>
              </a:rPr>
              <a:t>together </a:t>
            </a:r>
            <a:r>
              <a:rPr lang="en-US" sz="2100" spc="-4" dirty="0">
                <a:latin typeface="MS PGothic" panose="020B0600070205080204" pitchFamily="34" charset="-128"/>
                <a:ea typeface="MS PGothic" panose="020B0600070205080204" pitchFamily="34" charset="-128"/>
                <a:cs typeface="MS PGothic"/>
              </a:rPr>
              <a:t>based </a:t>
            </a:r>
            <a:r>
              <a:rPr lang="en-US" sz="2100" dirty="0">
                <a:latin typeface="MS PGothic" panose="020B0600070205080204" pitchFamily="34" charset="-128"/>
                <a:ea typeface="MS PGothic" panose="020B0600070205080204" pitchFamily="34" charset="-128"/>
                <a:cs typeface="MS PGothic"/>
              </a:rPr>
              <a:t>on their </a:t>
            </a:r>
            <a:r>
              <a:rPr lang="en-US" sz="2100" spc="4" dirty="0">
                <a:latin typeface="MS PGothic" panose="020B0600070205080204" pitchFamily="34" charset="-128"/>
                <a:ea typeface="MS PGothic" panose="020B0600070205080204" pitchFamily="34" charset="-128"/>
                <a:cs typeface="MS PGothic"/>
              </a:rPr>
              <a:t> </a:t>
            </a:r>
            <a:r>
              <a:rPr lang="en-US" sz="2100" dirty="0">
                <a:latin typeface="MS PGothic" panose="020B0600070205080204" pitchFamily="34" charset="-128"/>
                <a:ea typeface="MS PGothic" panose="020B0600070205080204" pitchFamily="34" charset="-128"/>
                <a:cs typeface="MS PGothic"/>
              </a:rPr>
              <a:t>similarities.</a:t>
            </a:r>
          </a:p>
          <a:p>
            <a:pPr algn="just" fontAlgn="base"/>
            <a:r>
              <a:rPr lang="en-US" sz="2100" dirty="0">
                <a:latin typeface="MS PGothic" panose="020B0600070205080204" pitchFamily="34" charset="-128"/>
                <a:ea typeface="MS PGothic" panose="020B0600070205080204" pitchFamily="34" charset="-128"/>
              </a:rPr>
              <a:t>The given data is divided into different groups by combining similar objects into a group. This group is nothing but a cluster. A cluster is nothing but a collection of similar data which is grouped together. </a:t>
            </a:r>
          </a:p>
          <a:p>
            <a:pPr algn="just" fontAlgn="base"/>
            <a:r>
              <a:rPr lang="en-US" sz="2100" dirty="0">
                <a:latin typeface="MS PGothic" panose="020B0600070205080204" pitchFamily="34" charset="-128"/>
                <a:ea typeface="MS PGothic" panose="020B0600070205080204" pitchFamily="34" charset="-128"/>
              </a:rPr>
              <a:t>For example, consider a dataset of vehicles given in which it contains information about different vehicles like cars,  buses, bicycles, etc. As it is unsupervised learning there are no class labels like Cars, Bikes, </a:t>
            </a:r>
            <a:r>
              <a:rPr lang="en-US" sz="2100" dirty="0" err="1">
                <a:latin typeface="MS PGothic" panose="020B0600070205080204" pitchFamily="34" charset="-128"/>
                <a:ea typeface="MS PGothic" panose="020B0600070205080204" pitchFamily="34" charset="-128"/>
              </a:rPr>
              <a:t>etc</a:t>
            </a:r>
            <a:r>
              <a:rPr lang="en-US" sz="2100" dirty="0">
                <a:latin typeface="MS PGothic" panose="020B0600070205080204" pitchFamily="34" charset="-128"/>
                <a:ea typeface="MS PGothic" panose="020B0600070205080204" pitchFamily="34" charset="-128"/>
              </a:rPr>
              <a:t> for all the vehicles, all the data is combined and is not in a structured manner.</a:t>
            </a:r>
          </a:p>
        </p:txBody>
      </p:sp>
      <p:sp>
        <p:nvSpPr>
          <p:cNvPr id="4" name="Date Placeholder 3">
            <a:extLst>
              <a:ext uri="{FF2B5EF4-FFF2-40B4-BE49-F238E27FC236}">
                <a16:creationId xmlns:a16="http://schemas.microsoft.com/office/drawing/2014/main" id="{7967C444-C020-FFB5-E914-AC6621DAA000}"/>
              </a:ext>
            </a:extLst>
          </p:cNvPr>
          <p:cNvSpPr>
            <a:spLocks noGrp="1"/>
          </p:cNvSpPr>
          <p:nvPr>
            <p:ph type="dt" sz="half" idx="6"/>
          </p:nvPr>
        </p:nvSpPr>
        <p:spPr/>
        <p:txBody>
          <a:bodyPr/>
          <a:lstStyle/>
          <a:p>
            <a:fld id="{0A593F04-97C6-8947-8176-F8E396E7CF31}" type="datetime1">
              <a:rPr lang="en-US" smtClean="0"/>
              <a:t>11/17/25</a:t>
            </a:fld>
            <a:endParaRPr lang="en-US"/>
          </a:p>
        </p:txBody>
      </p:sp>
    </p:spTree>
    <p:extLst>
      <p:ext uri="{BB962C8B-B14F-4D97-AF65-F5344CB8AC3E}">
        <p14:creationId xmlns:p14="http://schemas.microsoft.com/office/powerpoint/2010/main" val="9658296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42236" y="667323"/>
            <a:ext cx="5658803" cy="517930"/>
          </a:xfrm>
          <a:prstGeom prst="rect">
            <a:avLst/>
          </a:prstGeom>
        </p:spPr>
        <p:txBody>
          <a:bodyPr vert="horz" wrap="square" lIns="0" tIns="10001" rIns="0" bIns="0" rtlCol="0">
            <a:spAutoFit/>
          </a:bodyPr>
          <a:lstStyle/>
          <a:p>
            <a:pPr marL="9525">
              <a:spcBef>
                <a:spcPts val="79"/>
              </a:spcBef>
            </a:pPr>
            <a:r>
              <a:rPr sz="3300" b="1" dirty="0">
                <a:solidFill>
                  <a:srgbClr val="C00000"/>
                </a:solidFill>
              </a:rPr>
              <a:t>Data</a:t>
            </a:r>
            <a:r>
              <a:rPr sz="3300" b="1" spc="-4" dirty="0">
                <a:solidFill>
                  <a:srgbClr val="C00000"/>
                </a:solidFill>
              </a:rPr>
              <a:t> Mining</a:t>
            </a:r>
            <a:r>
              <a:rPr sz="3300" b="1" spc="-56" dirty="0">
                <a:solidFill>
                  <a:srgbClr val="C00000"/>
                </a:solidFill>
              </a:rPr>
              <a:t> </a:t>
            </a:r>
            <a:r>
              <a:rPr sz="3300" b="1" spc="-19" dirty="0">
                <a:solidFill>
                  <a:srgbClr val="C00000"/>
                </a:solidFill>
              </a:rPr>
              <a:t>Techniques(cont..)</a:t>
            </a:r>
            <a:endParaRPr sz="3300"/>
          </a:p>
        </p:txBody>
      </p:sp>
      <p:sp>
        <p:nvSpPr>
          <p:cNvPr id="3" name="object 3"/>
          <p:cNvSpPr txBox="1"/>
          <p:nvPr/>
        </p:nvSpPr>
        <p:spPr>
          <a:xfrm>
            <a:off x="971550" y="1203880"/>
            <a:ext cx="7943850" cy="2815000"/>
          </a:xfrm>
          <a:prstGeom prst="rect">
            <a:avLst/>
          </a:prstGeom>
        </p:spPr>
        <p:txBody>
          <a:bodyPr vert="horz" wrap="square" lIns="0" tIns="78104" rIns="0" bIns="0" rtlCol="0">
            <a:spAutoFit/>
          </a:bodyPr>
          <a:lstStyle/>
          <a:p>
            <a:pPr marL="9525" marR="166688">
              <a:lnSpc>
                <a:spcPct val="80000"/>
              </a:lnSpc>
              <a:spcBef>
                <a:spcPts val="614"/>
              </a:spcBef>
              <a:buAutoNum type="arabicPeriod" startAt="3"/>
              <a:tabLst>
                <a:tab pos="300038" algn="l"/>
              </a:tabLst>
            </a:pPr>
            <a:r>
              <a:rPr sz="2400" b="1" spc="-120" dirty="0">
                <a:solidFill>
                  <a:srgbClr val="F79546"/>
                </a:solidFill>
                <a:latin typeface="Trebuchet MS"/>
                <a:cs typeface="Trebuchet MS"/>
              </a:rPr>
              <a:t>Regression:</a:t>
            </a:r>
            <a:r>
              <a:rPr sz="2400" b="1" spc="71" dirty="0">
                <a:solidFill>
                  <a:srgbClr val="F79546"/>
                </a:solidFill>
                <a:latin typeface="Trebuchet MS"/>
                <a:cs typeface="Trebuchet MS"/>
              </a:rPr>
              <a:t> </a:t>
            </a:r>
            <a:r>
              <a:rPr sz="2400" spc="-4" dirty="0">
                <a:latin typeface="MS PGothic"/>
                <a:cs typeface="MS PGothic"/>
              </a:rPr>
              <a:t>Regression</a:t>
            </a:r>
            <a:r>
              <a:rPr sz="2400" spc="4" dirty="0">
                <a:latin typeface="MS PGothic"/>
                <a:cs typeface="MS PGothic"/>
              </a:rPr>
              <a:t> </a:t>
            </a:r>
            <a:r>
              <a:rPr sz="2400" dirty="0">
                <a:latin typeface="MS PGothic"/>
                <a:cs typeface="MS PGothic"/>
              </a:rPr>
              <a:t>analysis is</a:t>
            </a:r>
            <a:r>
              <a:rPr sz="2400" spc="4" dirty="0">
                <a:latin typeface="MS PGothic"/>
                <a:cs typeface="MS PGothic"/>
              </a:rPr>
              <a:t> </a:t>
            </a:r>
            <a:r>
              <a:rPr sz="2400" dirty="0">
                <a:latin typeface="MS PGothic"/>
                <a:cs typeface="MS PGothic"/>
              </a:rPr>
              <a:t>the</a:t>
            </a:r>
            <a:r>
              <a:rPr sz="2400" spc="4" dirty="0">
                <a:latin typeface="MS PGothic"/>
                <a:cs typeface="MS PGothic"/>
              </a:rPr>
              <a:t> </a:t>
            </a:r>
            <a:r>
              <a:rPr sz="2400" spc="-4" dirty="0">
                <a:latin typeface="MS PGothic"/>
                <a:cs typeface="MS PGothic"/>
              </a:rPr>
              <a:t>data</a:t>
            </a:r>
            <a:r>
              <a:rPr sz="2400" spc="-23" dirty="0">
                <a:latin typeface="MS PGothic"/>
                <a:cs typeface="MS PGothic"/>
              </a:rPr>
              <a:t> </a:t>
            </a:r>
            <a:r>
              <a:rPr sz="2400" spc="-4" dirty="0">
                <a:latin typeface="MS PGothic"/>
                <a:cs typeface="MS PGothic"/>
              </a:rPr>
              <a:t>mining method </a:t>
            </a:r>
            <a:r>
              <a:rPr sz="2400" dirty="0">
                <a:latin typeface="MS PGothic"/>
                <a:cs typeface="MS PGothic"/>
              </a:rPr>
              <a:t>of identifying </a:t>
            </a:r>
            <a:r>
              <a:rPr sz="2400" spc="-4" dirty="0">
                <a:latin typeface="MS PGothic"/>
                <a:cs typeface="MS PGothic"/>
              </a:rPr>
              <a:t>and analyzing </a:t>
            </a:r>
            <a:r>
              <a:rPr sz="2400" dirty="0">
                <a:latin typeface="MS PGothic"/>
                <a:cs typeface="MS PGothic"/>
              </a:rPr>
              <a:t>the relationship </a:t>
            </a:r>
            <a:r>
              <a:rPr sz="2400" spc="-4" dirty="0">
                <a:latin typeface="MS PGothic"/>
                <a:cs typeface="MS PGothic"/>
              </a:rPr>
              <a:t>between variables. It </a:t>
            </a:r>
            <a:r>
              <a:rPr sz="2400" dirty="0">
                <a:latin typeface="MS PGothic"/>
                <a:cs typeface="MS PGothic"/>
              </a:rPr>
              <a:t>is used to identify the likelihood of a specific variable, given the </a:t>
            </a:r>
            <a:r>
              <a:rPr sz="2400" spc="-4" dirty="0">
                <a:latin typeface="MS PGothic"/>
                <a:cs typeface="MS PGothic"/>
              </a:rPr>
              <a:t>presence </a:t>
            </a:r>
            <a:r>
              <a:rPr sz="2400" dirty="0">
                <a:latin typeface="MS PGothic"/>
                <a:cs typeface="MS PGothic"/>
              </a:rPr>
              <a:t>of other </a:t>
            </a:r>
            <a:r>
              <a:rPr sz="2400" spc="-4" dirty="0">
                <a:latin typeface="MS PGothic"/>
                <a:cs typeface="MS PGothic"/>
              </a:rPr>
              <a:t>variables. </a:t>
            </a:r>
            <a:endParaRPr lang="en-US" sz="2400" spc="-4" dirty="0">
              <a:latin typeface="MS PGothic"/>
              <a:cs typeface="MS PGothic"/>
            </a:endParaRPr>
          </a:p>
          <a:p>
            <a:pPr marL="9525" marR="166688">
              <a:lnSpc>
                <a:spcPct val="80000"/>
              </a:lnSpc>
              <a:spcBef>
                <a:spcPts val="614"/>
              </a:spcBef>
              <a:tabLst>
                <a:tab pos="300038" algn="l"/>
              </a:tabLst>
            </a:pPr>
            <a:r>
              <a:rPr sz="2400" dirty="0">
                <a:latin typeface="MS PGothic"/>
                <a:cs typeface="MS PGothic"/>
              </a:rPr>
              <a:t>For </a:t>
            </a:r>
            <a:r>
              <a:rPr sz="2400" spc="-4" dirty="0">
                <a:latin typeface="MS PGothic"/>
                <a:cs typeface="MS PGothic"/>
              </a:rPr>
              <a:t>example, we might use </a:t>
            </a:r>
            <a:r>
              <a:rPr sz="2400" dirty="0">
                <a:latin typeface="MS PGothic"/>
                <a:cs typeface="MS PGothic"/>
              </a:rPr>
              <a:t>it to </a:t>
            </a:r>
            <a:r>
              <a:rPr sz="2400" spc="-4" dirty="0">
                <a:latin typeface="MS PGothic"/>
                <a:cs typeface="MS PGothic"/>
              </a:rPr>
              <a:t>project </a:t>
            </a:r>
            <a:r>
              <a:rPr sz="2400" dirty="0">
                <a:latin typeface="MS PGothic"/>
                <a:cs typeface="MS PGothic"/>
              </a:rPr>
              <a:t>certain costs, </a:t>
            </a:r>
            <a:r>
              <a:rPr sz="2400" spc="-4" dirty="0">
                <a:latin typeface="MS PGothic"/>
                <a:cs typeface="MS PGothic"/>
              </a:rPr>
              <a:t>depending </a:t>
            </a:r>
            <a:r>
              <a:rPr sz="2400" dirty="0">
                <a:latin typeface="MS PGothic"/>
                <a:cs typeface="MS PGothic"/>
              </a:rPr>
              <a:t>on other factors such as </a:t>
            </a:r>
            <a:r>
              <a:rPr sz="2400" spc="-4" dirty="0">
                <a:latin typeface="MS PGothic"/>
                <a:cs typeface="MS PGothic"/>
              </a:rPr>
              <a:t>availability, </a:t>
            </a:r>
            <a:r>
              <a:rPr sz="2400" dirty="0">
                <a:latin typeface="MS PGothic"/>
                <a:cs typeface="MS PGothic"/>
              </a:rPr>
              <a:t>consumer </a:t>
            </a:r>
            <a:r>
              <a:rPr sz="2400" spc="-4" dirty="0">
                <a:latin typeface="MS PGothic"/>
                <a:cs typeface="MS PGothic"/>
              </a:rPr>
              <a:t>demand, </a:t>
            </a:r>
            <a:r>
              <a:rPr sz="2400" dirty="0">
                <a:latin typeface="MS PGothic"/>
                <a:cs typeface="MS PGothic"/>
              </a:rPr>
              <a:t>and competition. </a:t>
            </a:r>
            <a:r>
              <a:rPr sz="2400" spc="4" dirty="0">
                <a:latin typeface="MS PGothic"/>
                <a:cs typeface="MS PGothic"/>
              </a:rPr>
              <a:t> </a:t>
            </a:r>
            <a:r>
              <a:rPr sz="2400" spc="-4" dirty="0">
                <a:latin typeface="MS PGothic"/>
                <a:cs typeface="MS PGothic"/>
              </a:rPr>
              <a:t>Primarily </a:t>
            </a:r>
            <a:r>
              <a:rPr sz="2400" dirty="0">
                <a:latin typeface="MS PGothic"/>
                <a:cs typeface="MS PGothic"/>
              </a:rPr>
              <a:t>it gives the exact relationship </a:t>
            </a:r>
            <a:r>
              <a:rPr sz="2400" spc="-4" dirty="0">
                <a:latin typeface="MS PGothic"/>
                <a:cs typeface="MS PGothic"/>
              </a:rPr>
              <a:t>between </a:t>
            </a:r>
            <a:r>
              <a:rPr sz="2400" dirty="0">
                <a:latin typeface="MS PGothic"/>
                <a:cs typeface="MS PGothic"/>
              </a:rPr>
              <a:t>two or</a:t>
            </a:r>
            <a:r>
              <a:rPr sz="2400" spc="-4" dirty="0">
                <a:latin typeface="MS PGothic"/>
                <a:cs typeface="MS PGothic"/>
              </a:rPr>
              <a:t> more</a:t>
            </a:r>
            <a:r>
              <a:rPr sz="2400" spc="-26" dirty="0">
                <a:latin typeface="MS PGothic"/>
                <a:cs typeface="MS PGothic"/>
              </a:rPr>
              <a:t> </a:t>
            </a:r>
            <a:r>
              <a:rPr sz="2400" spc="-4" dirty="0">
                <a:latin typeface="MS PGothic"/>
                <a:cs typeface="MS PGothic"/>
              </a:rPr>
              <a:t>variables</a:t>
            </a:r>
            <a:r>
              <a:rPr sz="2400" spc="-8" dirty="0">
                <a:latin typeface="MS PGothic"/>
                <a:cs typeface="MS PGothic"/>
              </a:rPr>
              <a:t> </a:t>
            </a:r>
            <a:r>
              <a:rPr sz="2400" dirty="0">
                <a:latin typeface="MS PGothic"/>
                <a:cs typeface="MS PGothic"/>
              </a:rPr>
              <a:t>in the</a:t>
            </a:r>
            <a:r>
              <a:rPr sz="2400" spc="-4" dirty="0">
                <a:latin typeface="MS PGothic"/>
                <a:cs typeface="MS PGothic"/>
              </a:rPr>
              <a:t> </a:t>
            </a:r>
            <a:r>
              <a:rPr sz="2400" dirty="0">
                <a:latin typeface="MS PGothic"/>
                <a:cs typeface="MS PGothic"/>
              </a:rPr>
              <a:t>given</a:t>
            </a:r>
            <a:r>
              <a:rPr sz="2400" spc="-8" dirty="0">
                <a:latin typeface="MS PGothic"/>
                <a:cs typeface="MS PGothic"/>
              </a:rPr>
              <a:t> </a:t>
            </a:r>
            <a:r>
              <a:rPr sz="2400" spc="-4" dirty="0">
                <a:latin typeface="MS PGothic"/>
                <a:cs typeface="MS PGothic"/>
              </a:rPr>
              <a:t>data</a:t>
            </a:r>
            <a:r>
              <a:rPr sz="2400" spc="-23" dirty="0">
                <a:latin typeface="MS PGothic"/>
                <a:cs typeface="MS PGothic"/>
              </a:rPr>
              <a:t> </a:t>
            </a:r>
            <a:r>
              <a:rPr sz="2400" dirty="0">
                <a:latin typeface="MS PGothic"/>
                <a:cs typeface="MS PGothic"/>
              </a:rPr>
              <a:t>set.</a:t>
            </a:r>
          </a:p>
        </p:txBody>
      </p:sp>
      <p:sp>
        <p:nvSpPr>
          <p:cNvPr id="6" name="Date Placeholder 5">
            <a:extLst>
              <a:ext uri="{FF2B5EF4-FFF2-40B4-BE49-F238E27FC236}">
                <a16:creationId xmlns:a16="http://schemas.microsoft.com/office/drawing/2014/main" id="{B2FDDC27-BCA1-A4E9-7BCD-74DC945F5CAF}"/>
              </a:ext>
            </a:extLst>
          </p:cNvPr>
          <p:cNvSpPr>
            <a:spLocks noGrp="1"/>
          </p:cNvSpPr>
          <p:nvPr>
            <p:ph type="dt" sz="half" idx="6"/>
          </p:nvPr>
        </p:nvSpPr>
        <p:spPr/>
        <p:txBody>
          <a:bodyPr/>
          <a:lstStyle/>
          <a:p>
            <a:fld id="{EF26CC30-FCF5-3240-B55F-B2456460DB5E}" type="datetime1">
              <a:rPr lang="en-US" smtClean="0"/>
              <a:t>11/17/25</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68DB7-26CE-4ABC-AD46-E8DBD718CFF8}"/>
              </a:ext>
            </a:extLst>
          </p:cNvPr>
          <p:cNvSpPr>
            <a:spLocks noGrp="1"/>
          </p:cNvSpPr>
          <p:nvPr>
            <p:ph type="title"/>
          </p:nvPr>
        </p:nvSpPr>
        <p:spPr>
          <a:xfrm>
            <a:off x="3771900" y="285750"/>
            <a:ext cx="4743450" cy="623248"/>
          </a:xfrm>
        </p:spPr>
        <p:txBody>
          <a:bodyPr/>
          <a:lstStyle/>
          <a:p>
            <a:r>
              <a:rPr lang="en-US" sz="4050" b="1" spc="-86" dirty="0">
                <a:solidFill>
                  <a:srgbClr val="C00000"/>
                </a:solidFill>
                <a:latin typeface="Trebuchet MS"/>
                <a:cs typeface="Trebuchet MS"/>
              </a:rPr>
              <a:t>Association</a:t>
            </a:r>
            <a:r>
              <a:rPr lang="en-US" sz="4050" b="1" spc="30" dirty="0">
                <a:solidFill>
                  <a:srgbClr val="C00000"/>
                </a:solidFill>
                <a:latin typeface="Trebuchet MS"/>
                <a:cs typeface="Trebuchet MS"/>
              </a:rPr>
              <a:t> </a:t>
            </a:r>
            <a:r>
              <a:rPr lang="en-US" sz="4050" b="1" spc="-135" dirty="0">
                <a:solidFill>
                  <a:srgbClr val="C00000"/>
                </a:solidFill>
                <a:latin typeface="Trebuchet MS"/>
                <a:cs typeface="Trebuchet MS"/>
              </a:rPr>
              <a:t>Rules:</a:t>
            </a:r>
            <a:endParaRPr lang="en-RW" dirty="0">
              <a:solidFill>
                <a:srgbClr val="C00000"/>
              </a:solidFill>
            </a:endParaRPr>
          </a:p>
        </p:txBody>
      </p:sp>
      <p:sp>
        <p:nvSpPr>
          <p:cNvPr id="3" name="Text Placeholder 2">
            <a:extLst>
              <a:ext uri="{FF2B5EF4-FFF2-40B4-BE49-F238E27FC236}">
                <a16:creationId xmlns:a16="http://schemas.microsoft.com/office/drawing/2014/main" id="{79B22839-F840-E473-E764-54CAE8CACCC0}"/>
              </a:ext>
            </a:extLst>
          </p:cNvPr>
          <p:cNvSpPr>
            <a:spLocks noGrp="1"/>
          </p:cNvSpPr>
          <p:nvPr>
            <p:ph type="body" idx="1"/>
          </p:nvPr>
        </p:nvSpPr>
        <p:spPr>
          <a:xfrm>
            <a:off x="685800" y="928049"/>
            <a:ext cx="8150859" cy="3855408"/>
          </a:xfrm>
        </p:spPr>
        <p:txBody>
          <a:bodyPr/>
          <a:lstStyle/>
          <a:p>
            <a:r>
              <a:rPr lang="en-US" sz="2400" dirty="0">
                <a:latin typeface="MS PGothic" panose="020B0600070205080204" pitchFamily="34" charset="-128"/>
                <a:ea typeface="MS PGothic" panose="020B0600070205080204" pitchFamily="34" charset="-128"/>
                <a:cs typeface="MS PGothic"/>
              </a:rPr>
              <a:t>This</a:t>
            </a:r>
            <a:r>
              <a:rPr lang="en-US" sz="2400" spc="4" dirty="0">
                <a:latin typeface="MS PGothic" panose="020B0600070205080204" pitchFamily="34" charset="-128"/>
                <a:ea typeface="MS PGothic" panose="020B0600070205080204" pitchFamily="34" charset="-128"/>
                <a:cs typeface="MS PGothic"/>
              </a:rPr>
              <a:t> </a:t>
            </a:r>
            <a:r>
              <a:rPr lang="en-US" sz="2400" spc="-4" dirty="0">
                <a:latin typeface="MS PGothic" panose="020B0600070205080204" pitchFamily="34" charset="-128"/>
                <a:ea typeface="MS PGothic" panose="020B0600070205080204" pitchFamily="34" charset="-128"/>
                <a:cs typeface="MS PGothic"/>
              </a:rPr>
              <a:t>data</a:t>
            </a:r>
            <a:r>
              <a:rPr lang="en-US" sz="2400" spc="-23" dirty="0">
                <a:latin typeface="MS PGothic" panose="020B0600070205080204" pitchFamily="34" charset="-128"/>
                <a:ea typeface="MS PGothic" panose="020B0600070205080204" pitchFamily="34" charset="-128"/>
                <a:cs typeface="MS PGothic"/>
              </a:rPr>
              <a:t> </a:t>
            </a:r>
            <a:r>
              <a:rPr lang="en-US" sz="2400" spc="-4" dirty="0">
                <a:latin typeface="MS PGothic" panose="020B0600070205080204" pitchFamily="34" charset="-128"/>
                <a:ea typeface="MS PGothic" panose="020B0600070205080204" pitchFamily="34" charset="-128"/>
                <a:cs typeface="MS PGothic"/>
              </a:rPr>
              <a:t>mining </a:t>
            </a:r>
            <a:r>
              <a:rPr lang="en-US" sz="2400" dirty="0">
                <a:latin typeface="MS PGothic" panose="020B0600070205080204" pitchFamily="34" charset="-128"/>
                <a:ea typeface="MS PGothic" panose="020B0600070205080204" pitchFamily="34" charset="-128"/>
                <a:cs typeface="MS PGothic"/>
              </a:rPr>
              <a:t>technique</a:t>
            </a:r>
            <a:r>
              <a:rPr lang="en-US" sz="2400" spc="-4" dirty="0">
                <a:latin typeface="MS PGothic" panose="020B0600070205080204" pitchFamily="34" charset="-128"/>
                <a:ea typeface="MS PGothic" panose="020B0600070205080204" pitchFamily="34" charset="-128"/>
                <a:cs typeface="MS PGothic"/>
              </a:rPr>
              <a:t> </a:t>
            </a:r>
            <a:r>
              <a:rPr lang="en-US" sz="2400" dirty="0">
                <a:latin typeface="MS PGothic" panose="020B0600070205080204" pitchFamily="34" charset="-128"/>
                <a:ea typeface="MS PGothic" panose="020B0600070205080204" pitchFamily="34" charset="-128"/>
                <a:cs typeface="MS PGothic"/>
              </a:rPr>
              <a:t>helps to find the </a:t>
            </a:r>
            <a:r>
              <a:rPr lang="en-US" sz="2400" spc="-4" dirty="0">
                <a:latin typeface="MS PGothic" panose="020B0600070205080204" pitchFamily="34" charset="-128"/>
                <a:ea typeface="MS PGothic" panose="020B0600070205080204" pitchFamily="34" charset="-128"/>
                <a:cs typeface="MS PGothic"/>
              </a:rPr>
              <a:t>association between </a:t>
            </a:r>
            <a:r>
              <a:rPr lang="en-US" sz="2400" dirty="0">
                <a:latin typeface="MS PGothic" panose="020B0600070205080204" pitchFamily="34" charset="-128"/>
                <a:ea typeface="MS PGothic" panose="020B0600070205080204" pitchFamily="34" charset="-128"/>
                <a:cs typeface="MS PGothic"/>
              </a:rPr>
              <a:t>two or </a:t>
            </a:r>
            <a:r>
              <a:rPr lang="en-US" sz="2400" spc="-4" dirty="0">
                <a:latin typeface="MS PGothic" panose="020B0600070205080204" pitchFamily="34" charset="-128"/>
                <a:ea typeface="MS PGothic" panose="020B0600070205080204" pitchFamily="34" charset="-128"/>
                <a:cs typeface="MS PGothic"/>
              </a:rPr>
              <a:t>more Items. It discovers </a:t>
            </a:r>
            <a:r>
              <a:rPr lang="en-US" sz="2400" dirty="0">
                <a:latin typeface="MS PGothic" panose="020B0600070205080204" pitchFamily="34" charset="-128"/>
                <a:ea typeface="MS PGothic" panose="020B0600070205080204" pitchFamily="34" charset="-128"/>
                <a:cs typeface="MS PGothic"/>
              </a:rPr>
              <a:t>a</a:t>
            </a:r>
            <a:r>
              <a:rPr lang="en-US" sz="2400" spc="-15" dirty="0">
                <a:latin typeface="MS PGothic" panose="020B0600070205080204" pitchFamily="34" charset="-128"/>
                <a:ea typeface="MS PGothic" panose="020B0600070205080204" pitchFamily="34" charset="-128"/>
                <a:cs typeface="MS PGothic"/>
              </a:rPr>
              <a:t> </a:t>
            </a:r>
            <a:r>
              <a:rPr lang="en-US" sz="2400" dirty="0">
                <a:latin typeface="MS PGothic" panose="020B0600070205080204" pitchFamily="34" charset="-128"/>
                <a:ea typeface="MS PGothic" panose="020B0600070205080204" pitchFamily="34" charset="-128"/>
                <a:cs typeface="MS PGothic"/>
              </a:rPr>
              <a:t>hidden </a:t>
            </a:r>
            <a:r>
              <a:rPr lang="en-US" sz="2400" spc="-4" dirty="0">
                <a:latin typeface="MS PGothic" panose="020B0600070205080204" pitchFamily="34" charset="-128"/>
                <a:ea typeface="MS PGothic" panose="020B0600070205080204" pitchFamily="34" charset="-128"/>
                <a:cs typeface="MS PGothic"/>
              </a:rPr>
              <a:t>pattern</a:t>
            </a:r>
            <a:r>
              <a:rPr lang="en-US" sz="2400" spc="-23" dirty="0">
                <a:latin typeface="MS PGothic" panose="020B0600070205080204" pitchFamily="34" charset="-128"/>
                <a:ea typeface="MS PGothic" panose="020B0600070205080204" pitchFamily="34" charset="-128"/>
                <a:cs typeface="MS PGothic"/>
              </a:rPr>
              <a:t> </a:t>
            </a:r>
            <a:r>
              <a:rPr lang="en-US" sz="2400" dirty="0">
                <a:latin typeface="MS PGothic" panose="020B0600070205080204" pitchFamily="34" charset="-128"/>
                <a:ea typeface="MS PGothic" panose="020B0600070205080204" pitchFamily="34" charset="-128"/>
                <a:cs typeface="MS PGothic"/>
              </a:rPr>
              <a:t>in</a:t>
            </a:r>
            <a:r>
              <a:rPr lang="en-US" sz="2400" spc="-4" dirty="0">
                <a:latin typeface="MS PGothic" panose="020B0600070205080204" pitchFamily="34" charset="-128"/>
                <a:ea typeface="MS PGothic" panose="020B0600070205080204" pitchFamily="34" charset="-128"/>
                <a:cs typeface="MS PGothic"/>
              </a:rPr>
              <a:t> </a:t>
            </a:r>
            <a:r>
              <a:rPr lang="en-US" sz="2400" dirty="0">
                <a:latin typeface="MS PGothic" panose="020B0600070205080204" pitchFamily="34" charset="-128"/>
                <a:ea typeface="MS PGothic" panose="020B0600070205080204" pitchFamily="34" charset="-128"/>
                <a:cs typeface="MS PGothic"/>
              </a:rPr>
              <a:t>the</a:t>
            </a:r>
            <a:r>
              <a:rPr lang="en-US" sz="2400" spc="-15" dirty="0">
                <a:latin typeface="MS PGothic" panose="020B0600070205080204" pitchFamily="34" charset="-128"/>
                <a:ea typeface="MS PGothic" panose="020B0600070205080204" pitchFamily="34" charset="-128"/>
                <a:cs typeface="MS PGothic"/>
              </a:rPr>
              <a:t> </a:t>
            </a:r>
            <a:r>
              <a:rPr lang="en-US" sz="2400" spc="-4" dirty="0">
                <a:latin typeface="MS PGothic" panose="020B0600070205080204" pitchFamily="34" charset="-128"/>
                <a:ea typeface="MS PGothic" panose="020B0600070205080204" pitchFamily="34" charset="-128"/>
                <a:cs typeface="MS PGothic"/>
              </a:rPr>
              <a:t>data</a:t>
            </a:r>
            <a:r>
              <a:rPr lang="en-US" sz="2400" spc="-19" dirty="0">
                <a:latin typeface="MS PGothic" panose="020B0600070205080204" pitchFamily="34" charset="-128"/>
                <a:ea typeface="MS PGothic" panose="020B0600070205080204" pitchFamily="34" charset="-128"/>
                <a:cs typeface="MS PGothic"/>
              </a:rPr>
              <a:t> </a:t>
            </a:r>
            <a:r>
              <a:rPr lang="en-US" sz="2400" dirty="0">
                <a:latin typeface="MS PGothic" panose="020B0600070205080204" pitchFamily="34" charset="-128"/>
                <a:ea typeface="MS PGothic" panose="020B0600070205080204" pitchFamily="34" charset="-128"/>
                <a:cs typeface="MS PGothic"/>
              </a:rPr>
              <a:t>set.</a:t>
            </a:r>
          </a:p>
          <a:p>
            <a:r>
              <a:rPr lang="en-US" sz="2400" dirty="0">
                <a:latin typeface="MS PGothic" panose="020B0600070205080204" pitchFamily="34" charset="-128"/>
                <a:ea typeface="MS PGothic" panose="020B0600070205080204" pitchFamily="34" charset="-128"/>
              </a:rPr>
              <a:t>Association rule mining finds interesting associations and relationships among large sets of data items. This rule shows how frequently an item set occurs in a transaction. </a:t>
            </a:r>
          </a:p>
          <a:p>
            <a:r>
              <a:rPr lang="en-US" sz="2400" dirty="0">
                <a:latin typeface="MS PGothic" panose="020B0600070205080204" pitchFamily="34" charset="-128"/>
                <a:ea typeface="MS PGothic" panose="020B0600070205080204" pitchFamily="34" charset="-128"/>
              </a:rPr>
              <a:t>A typical example is a Market - Based Analysis.</a:t>
            </a:r>
          </a:p>
          <a:p>
            <a:r>
              <a:rPr lang="en-US" sz="2400" dirty="0">
                <a:latin typeface="MS PGothic" panose="020B0600070205080204" pitchFamily="34" charset="-128"/>
                <a:ea typeface="MS PGothic" panose="020B0600070205080204" pitchFamily="34" charset="-128"/>
              </a:rPr>
              <a:t>Market - Based Analysis is one of the key techniques used by large relations to show associations between items. It allows retailers to identify relationships between the items that people buy together frequently.</a:t>
            </a:r>
            <a:endParaRPr lang="en-RW" sz="2400" dirty="0">
              <a:latin typeface="MS PGothic" panose="020B0600070205080204" pitchFamily="34" charset="-128"/>
              <a:ea typeface="MS PGothic" panose="020B0600070205080204" pitchFamily="34" charset="-128"/>
            </a:endParaRPr>
          </a:p>
        </p:txBody>
      </p:sp>
      <p:sp>
        <p:nvSpPr>
          <p:cNvPr id="4" name="Date Placeholder 3">
            <a:extLst>
              <a:ext uri="{FF2B5EF4-FFF2-40B4-BE49-F238E27FC236}">
                <a16:creationId xmlns:a16="http://schemas.microsoft.com/office/drawing/2014/main" id="{243ED2BA-0A23-0EC8-474A-D024475008A0}"/>
              </a:ext>
            </a:extLst>
          </p:cNvPr>
          <p:cNvSpPr>
            <a:spLocks noGrp="1"/>
          </p:cNvSpPr>
          <p:nvPr>
            <p:ph type="dt" sz="half" idx="6"/>
          </p:nvPr>
        </p:nvSpPr>
        <p:spPr/>
        <p:txBody>
          <a:bodyPr/>
          <a:lstStyle/>
          <a:p>
            <a:fld id="{9A34975C-1124-0F46-9F7F-51BE16B0D631}" type="datetime1">
              <a:rPr lang="en-US" smtClean="0"/>
              <a:t>11/17/25</a:t>
            </a:fld>
            <a:endParaRPr lang="en-US"/>
          </a:p>
        </p:txBody>
      </p:sp>
    </p:spTree>
    <p:extLst>
      <p:ext uri="{BB962C8B-B14F-4D97-AF65-F5344CB8AC3E}">
        <p14:creationId xmlns:p14="http://schemas.microsoft.com/office/powerpoint/2010/main" val="22206353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13663" y="952843"/>
            <a:ext cx="5660231" cy="517930"/>
          </a:xfrm>
          <a:prstGeom prst="rect">
            <a:avLst/>
          </a:prstGeom>
        </p:spPr>
        <p:txBody>
          <a:bodyPr vert="horz" wrap="square" lIns="0" tIns="10001" rIns="0" bIns="0" rtlCol="0">
            <a:spAutoFit/>
          </a:bodyPr>
          <a:lstStyle/>
          <a:p>
            <a:pPr marL="9525">
              <a:spcBef>
                <a:spcPts val="79"/>
              </a:spcBef>
            </a:pPr>
            <a:r>
              <a:rPr sz="3300" b="1" dirty="0">
                <a:solidFill>
                  <a:srgbClr val="C00000"/>
                </a:solidFill>
              </a:rPr>
              <a:t>Data</a:t>
            </a:r>
            <a:r>
              <a:rPr sz="3300" b="1" spc="-15" dirty="0">
                <a:solidFill>
                  <a:srgbClr val="C00000"/>
                </a:solidFill>
              </a:rPr>
              <a:t> </a:t>
            </a:r>
            <a:r>
              <a:rPr sz="3300" b="1" dirty="0">
                <a:solidFill>
                  <a:srgbClr val="C00000"/>
                </a:solidFill>
              </a:rPr>
              <a:t>Mining</a:t>
            </a:r>
            <a:r>
              <a:rPr sz="3300" b="1" spc="-56" dirty="0">
                <a:solidFill>
                  <a:srgbClr val="C00000"/>
                </a:solidFill>
              </a:rPr>
              <a:t> </a:t>
            </a:r>
            <a:r>
              <a:rPr sz="3300" b="1" spc="-19" dirty="0">
                <a:solidFill>
                  <a:srgbClr val="C00000"/>
                </a:solidFill>
              </a:rPr>
              <a:t>Techniques(cont..)</a:t>
            </a:r>
            <a:endParaRPr sz="3300"/>
          </a:p>
        </p:txBody>
      </p:sp>
      <p:sp>
        <p:nvSpPr>
          <p:cNvPr id="3" name="object 3"/>
          <p:cNvSpPr txBox="1"/>
          <p:nvPr/>
        </p:nvSpPr>
        <p:spPr>
          <a:xfrm>
            <a:off x="535941" y="1600200"/>
            <a:ext cx="8436610" cy="1913984"/>
          </a:xfrm>
          <a:prstGeom prst="rect">
            <a:avLst/>
          </a:prstGeom>
        </p:spPr>
        <p:txBody>
          <a:bodyPr vert="horz" wrap="square" lIns="0" tIns="43814" rIns="0" bIns="0" rtlCol="0">
            <a:spAutoFit/>
          </a:bodyPr>
          <a:lstStyle/>
          <a:p>
            <a:pPr marL="9525" marR="240506">
              <a:lnSpc>
                <a:spcPct val="90000"/>
              </a:lnSpc>
              <a:spcBef>
                <a:spcPts val="344"/>
              </a:spcBef>
              <a:buAutoNum type="arabicPeriod" startAt="5"/>
              <a:tabLst>
                <a:tab pos="299561" algn="l"/>
              </a:tabLst>
            </a:pPr>
            <a:r>
              <a:rPr sz="2700" b="1" spc="-124" dirty="0">
                <a:solidFill>
                  <a:srgbClr val="F79546"/>
                </a:solidFill>
                <a:latin typeface="Trebuchet MS"/>
                <a:cs typeface="Trebuchet MS"/>
              </a:rPr>
              <a:t>Outer </a:t>
            </a:r>
            <a:r>
              <a:rPr sz="2700" b="1" spc="-161" dirty="0">
                <a:solidFill>
                  <a:srgbClr val="F79546"/>
                </a:solidFill>
                <a:latin typeface="Trebuchet MS"/>
                <a:cs typeface="Trebuchet MS"/>
              </a:rPr>
              <a:t>detection:</a:t>
            </a:r>
            <a:r>
              <a:rPr sz="2700" b="1" spc="-158" dirty="0">
                <a:solidFill>
                  <a:srgbClr val="F79546"/>
                </a:solidFill>
                <a:latin typeface="Trebuchet MS"/>
                <a:cs typeface="Trebuchet MS"/>
              </a:rPr>
              <a:t> </a:t>
            </a:r>
            <a:r>
              <a:rPr sz="2700" dirty="0">
                <a:latin typeface="MS PGothic"/>
                <a:cs typeface="MS PGothic"/>
              </a:rPr>
              <a:t>This type of </a:t>
            </a:r>
            <a:r>
              <a:rPr sz="2700" spc="-4" dirty="0">
                <a:latin typeface="MS PGothic"/>
                <a:cs typeface="MS PGothic"/>
              </a:rPr>
              <a:t>data mining </a:t>
            </a:r>
            <a:r>
              <a:rPr sz="2700" dirty="0">
                <a:latin typeface="MS PGothic"/>
                <a:cs typeface="MS PGothic"/>
              </a:rPr>
              <a:t> technique refers to </a:t>
            </a:r>
            <a:r>
              <a:rPr sz="2700" spc="-4" dirty="0">
                <a:latin typeface="MS PGothic"/>
                <a:cs typeface="MS PGothic"/>
              </a:rPr>
              <a:t>observation </a:t>
            </a:r>
            <a:r>
              <a:rPr sz="2700" dirty="0">
                <a:latin typeface="MS PGothic"/>
                <a:cs typeface="MS PGothic"/>
              </a:rPr>
              <a:t>of </a:t>
            </a:r>
            <a:r>
              <a:rPr sz="2700" spc="-4" dirty="0">
                <a:latin typeface="MS PGothic"/>
                <a:cs typeface="MS PGothic"/>
              </a:rPr>
              <a:t>data </a:t>
            </a:r>
            <a:r>
              <a:rPr sz="2700" dirty="0">
                <a:latin typeface="MS PGothic"/>
                <a:cs typeface="MS PGothic"/>
              </a:rPr>
              <a:t>items in </a:t>
            </a:r>
            <a:r>
              <a:rPr sz="2700" spc="-675" dirty="0">
                <a:latin typeface="MS PGothic"/>
                <a:cs typeface="MS PGothic"/>
              </a:rPr>
              <a:t> </a:t>
            </a:r>
            <a:r>
              <a:rPr sz="2700" dirty="0">
                <a:latin typeface="MS PGothic"/>
                <a:cs typeface="MS PGothic"/>
              </a:rPr>
              <a:t>the </a:t>
            </a:r>
            <a:r>
              <a:rPr sz="2700" spc="-4" dirty="0">
                <a:latin typeface="MS PGothic"/>
                <a:cs typeface="MS PGothic"/>
              </a:rPr>
              <a:t>dataset which do </a:t>
            </a:r>
            <a:r>
              <a:rPr sz="2700" dirty="0">
                <a:latin typeface="MS PGothic"/>
                <a:cs typeface="MS PGothic"/>
              </a:rPr>
              <a:t>not </a:t>
            </a:r>
            <a:r>
              <a:rPr sz="2700" spc="-4" dirty="0">
                <a:latin typeface="MS PGothic"/>
                <a:cs typeface="MS PGothic"/>
              </a:rPr>
              <a:t>match </a:t>
            </a:r>
            <a:r>
              <a:rPr sz="2700" dirty="0">
                <a:latin typeface="MS PGothic"/>
                <a:cs typeface="MS PGothic"/>
              </a:rPr>
              <a:t>an </a:t>
            </a:r>
            <a:r>
              <a:rPr sz="2700" spc="-4" dirty="0">
                <a:latin typeface="MS PGothic"/>
                <a:cs typeface="MS PGothic"/>
              </a:rPr>
              <a:t>expected </a:t>
            </a:r>
            <a:r>
              <a:rPr sz="2700" dirty="0">
                <a:latin typeface="MS PGothic"/>
                <a:cs typeface="MS PGothic"/>
              </a:rPr>
              <a:t> </a:t>
            </a:r>
            <a:r>
              <a:rPr sz="2700" spc="-4" dirty="0">
                <a:latin typeface="MS PGothic"/>
                <a:cs typeface="MS PGothic"/>
              </a:rPr>
              <a:t>pattern</a:t>
            </a:r>
            <a:r>
              <a:rPr sz="2700" spc="-34" dirty="0">
                <a:latin typeface="MS PGothic"/>
                <a:cs typeface="MS PGothic"/>
              </a:rPr>
              <a:t> </a:t>
            </a:r>
            <a:r>
              <a:rPr sz="2700" dirty="0">
                <a:latin typeface="MS PGothic"/>
                <a:cs typeface="MS PGothic"/>
              </a:rPr>
              <a:t>or</a:t>
            </a:r>
            <a:r>
              <a:rPr sz="2700" spc="-11" dirty="0">
                <a:latin typeface="MS PGothic"/>
                <a:cs typeface="MS PGothic"/>
              </a:rPr>
              <a:t> </a:t>
            </a:r>
            <a:r>
              <a:rPr sz="2700" dirty="0">
                <a:latin typeface="MS PGothic"/>
                <a:cs typeface="MS PGothic"/>
              </a:rPr>
              <a:t>expected</a:t>
            </a:r>
            <a:r>
              <a:rPr sz="2700" spc="-15" dirty="0">
                <a:latin typeface="MS PGothic"/>
                <a:cs typeface="MS PGothic"/>
              </a:rPr>
              <a:t> </a:t>
            </a:r>
            <a:r>
              <a:rPr sz="2700" spc="-4" dirty="0">
                <a:latin typeface="MS PGothic"/>
                <a:cs typeface="MS PGothic"/>
              </a:rPr>
              <a:t>behavior.</a:t>
            </a:r>
            <a:r>
              <a:rPr sz="2700" spc="-23" dirty="0">
                <a:latin typeface="MS PGothic"/>
                <a:cs typeface="MS PGothic"/>
              </a:rPr>
              <a:t> </a:t>
            </a:r>
            <a:r>
              <a:rPr sz="2700" spc="-4" dirty="0">
                <a:latin typeface="MS PGothic"/>
                <a:cs typeface="MS PGothic"/>
              </a:rPr>
              <a:t>Outer</a:t>
            </a:r>
            <a:r>
              <a:rPr sz="2700" spc="-19" dirty="0">
                <a:latin typeface="MS PGothic"/>
                <a:cs typeface="MS PGothic"/>
              </a:rPr>
              <a:t> </a:t>
            </a:r>
            <a:r>
              <a:rPr sz="2700" spc="-4" dirty="0">
                <a:latin typeface="MS PGothic"/>
                <a:cs typeface="MS PGothic"/>
              </a:rPr>
              <a:t>detection</a:t>
            </a:r>
            <a:r>
              <a:rPr sz="2700" spc="-23" dirty="0">
                <a:latin typeface="MS PGothic"/>
                <a:cs typeface="MS PGothic"/>
              </a:rPr>
              <a:t> </a:t>
            </a:r>
            <a:r>
              <a:rPr sz="2700" dirty="0">
                <a:latin typeface="MS PGothic"/>
                <a:cs typeface="MS PGothic"/>
              </a:rPr>
              <a:t>is </a:t>
            </a:r>
            <a:r>
              <a:rPr sz="2700" spc="-675" dirty="0">
                <a:latin typeface="MS PGothic"/>
                <a:cs typeface="MS PGothic"/>
              </a:rPr>
              <a:t> </a:t>
            </a:r>
            <a:r>
              <a:rPr sz="2700" dirty="0">
                <a:latin typeface="MS PGothic"/>
                <a:cs typeface="MS PGothic"/>
              </a:rPr>
              <a:t>also</a:t>
            </a:r>
            <a:r>
              <a:rPr sz="2700" spc="-8" dirty="0">
                <a:latin typeface="MS PGothic"/>
                <a:cs typeface="MS PGothic"/>
              </a:rPr>
              <a:t> </a:t>
            </a:r>
            <a:r>
              <a:rPr sz="2700" dirty="0">
                <a:latin typeface="MS PGothic"/>
                <a:cs typeface="MS PGothic"/>
              </a:rPr>
              <a:t>called</a:t>
            </a:r>
            <a:r>
              <a:rPr sz="2700" spc="-4" dirty="0">
                <a:latin typeface="MS PGothic"/>
                <a:cs typeface="MS PGothic"/>
              </a:rPr>
              <a:t> Outlier Analysis </a:t>
            </a:r>
            <a:r>
              <a:rPr sz="2700" dirty="0">
                <a:latin typeface="MS PGothic"/>
                <a:cs typeface="MS PGothic"/>
              </a:rPr>
              <a:t>or</a:t>
            </a:r>
            <a:r>
              <a:rPr sz="2700" spc="-4" dirty="0">
                <a:latin typeface="MS PGothic"/>
                <a:cs typeface="MS PGothic"/>
              </a:rPr>
              <a:t> Outlier mining.</a:t>
            </a:r>
            <a:endParaRPr sz="2700" dirty="0">
              <a:latin typeface="MS PGothic"/>
              <a:cs typeface="MS PGothic"/>
            </a:endParaRPr>
          </a:p>
        </p:txBody>
      </p:sp>
      <p:sp>
        <p:nvSpPr>
          <p:cNvPr id="6" name="Date Placeholder 5">
            <a:extLst>
              <a:ext uri="{FF2B5EF4-FFF2-40B4-BE49-F238E27FC236}">
                <a16:creationId xmlns:a16="http://schemas.microsoft.com/office/drawing/2014/main" id="{D0079581-D7EE-5BE0-0404-E8BD652EF628}"/>
              </a:ext>
            </a:extLst>
          </p:cNvPr>
          <p:cNvSpPr>
            <a:spLocks noGrp="1"/>
          </p:cNvSpPr>
          <p:nvPr>
            <p:ph type="dt" sz="half" idx="6"/>
          </p:nvPr>
        </p:nvSpPr>
        <p:spPr/>
        <p:txBody>
          <a:bodyPr/>
          <a:lstStyle/>
          <a:p>
            <a:fld id="{E48BDEC5-448A-3244-ADCF-26C2BD8EB966}" type="datetime1">
              <a:rPr lang="en-US" smtClean="0"/>
              <a:t>11/17/25</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1CF42-9127-29A6-18A1-AB565B58C0F9}"/>
              </a:ext>
            </a:extLst>
          </p:cNvPr>
          <p:cNvSpPr>
            <a:spLocks noGrp="1"/>
          </p:cNvSpPr>
          <p:nvPr>
            <p:ph type="title"/>
          </p:nvPr>
        </p:nvSpPr>
        <p:spPr>
          <a:xfrm>
            <a:off x="304800" y="742950"/>
            <a:ext cx="8322309" cy="1154162"/>
          </a:xfrm>
        </p:spPr>
        <p:txBody>
          <a:bodyPr/>
          <a:lstStyle/>
          <a:p>
            <a:r>
              <a:rPr lang="en-US" b="1" i="0" dirty="0">
                <a:solidFill>
                  <a:srgbClr val="C00000"/>
                </a:solidFill>
                <a:effectLst/>
                <a:latin typeface="__Source_Sans_Pro_fa6df0"/>
              </a:rPr>
              <a:t>What Are The Different Types of Outliers?</a:t>
            </a:r>
            <a:br>
              <a:rPr lang="en-US" b="1" i="0" dirty="0">
                <a:solidFill>
                  <a:srgbClr val="C00000"/>
                </a:solidFill>
                <a:effectLst/>
                <a:latin typeface="__Source_Sans_Pro_fa6df0"/>
              </a:rPr>
            </a:br>
            <a:endParaRPr lang="en-RW" dirty="0">
              <a:solidFill>
                <a:srgbClr val="C00000"/>
              </a:solidFill>
            </a:endParaRPr>
          </a:p>
        </p:txBody>
      </p:sp>
      <p:sp>
        <p:nvSpPr>
          <p:cNvPr id="3" name="Text Placeholder 2">
            <a:extLst>
              <a:ext uri="{FF2B5EF4-FFF2-40B4-BE49-F238E27FC236}">
                <a16:creationId xmlns:a16="http://schemas.microsoft.com/office/drawing/2014/main" id="{BE46481B-0B98-42CC-18E2-8BC81482AFCD}"/>
              </a:ext>
            </a:extLst>
          </p:cNvPr>
          <p:cNvSpPr>
            <a:spLocks noGrp="1"/>
          </p:cNvSpPr>
          <p:nvPr>
            <p:ph type="body" idx="1"/>
          </p:nvPr>
        </p:nvSpPr>
        <p:spPr>
          <a:xfrm>
            <a:off x="574041" y="1485900"/>
            <a:ext cx="8072119" cy="3150863"/>
          </a:xfrm>
        </p:spPr>
        <p:txBody>
          <a:bodyPr/>
          <a:lstStyle/>
          <a:p>
            <a:pPr algn="l"/>
            <a:r>
              <a:rPr lang="en-US" sz="1575" dirty="0">
                <a:latin typeface="__Source_Sans_Pro_fa6df0"/>
              </a:rPr>
              <a:t>Outlier detection, also known as anomaly detection, is a crucial task in data mining. It refers to the process of identifying data points that are significantly different from the rest of the data in a given dataset. Outliers can cause issues in data analysis, as they can skew results and mislead statistical models. Different types of outliers can exist in a dataset. A few of the most common types of outliers include the following -</a:t>
            </a:r>
          </a:p>
          <a:p>
            <a:pPr algn="l">
              <a:buFont typeface="Arial" panose="020B0604020202020204" pitchFamily="34" charset="0"/>
              <a:buChar char="•"/>
            </a:pPr>
            <a:r>
              <a:rPr lang="en-US" sz="1575" b="1" dirty="0">
                <a:latin typeface="__Source_Sans_Pro_fa6df0"/>
              </a:rPr>
              <a:t>Global Outliers</a:t>
            </a:r>
            <a:r>
              <a:rPr lang="en-US" sz="1575" dirty="0">
                <a:latin typeface="__Source_Sans_Pro_fa6df0"/>
              </a:rPr>
              <a:t> - These are data points that are significantly different from the rest of the dataset. They are often caused by measurement errors, incorrect data entry, or rare events.</a:t>
            </a:r>
          </a:p>
          <a:p>
            <a:pPr algn="l">
              <a:buFont typeface="Arial" panose="020B0604020202020204" pitchFamily="34" charset="0"/>
              <a:buChar char="•"/>
            </a:pPr>
            <a:r>
              <a:rPr lang="en-US" sz="1575" b="1" dirty="0">
                <a:latin typeface="__Source_Sans_Pro_fa6df0"/>
              </a:rPr>
              <a:t>Contextual Outliers</a:t>
            </a:r>
            <a:r>
              <a:rPr lang="en-US" sz="1575" dirty="0">
                <a:latin typeface="__Source_Sans_Pro_fa6df0"/>
              </a:rPr>
              <a:t> - These are data points that are considered outliers only in specific contexts. For example, a high income in a low-income neighborhood might be considered an outlier, but not in a high-income neighborhood.</a:t>
            </a:r>
          </a:p>
          <a:p>
            <a:pPr algn="l">
              <a:buFont typeface="Arial" panose="020B0604020202020204" pitchFamily="34" charset="0"/>
              <a:buChar char="•"/>
            </a:pPr>
            <a:r>
              <a:rPr lang="en-US" sz="1575" b="1" dirty="0">
                <a:latin typeface="__Source_Sans_Pro_fa6df0"/>
              </a:rPr>
              <a:t>Collective Outliers</a:t>
            </a:r>
            <a:r>
              <a:rPr lang="en-US" sz="1575" dirty="0">
                <a:latin typeface="__Source_Sans_Pro_fa6df0"/>
              </a:rPr>
              <a:t> - These are groups of data points that are collectively different from the rest of the dataset. They might indicate a subgroup or a different underlying distribution of data.</a:t>
            </a:r>
          </a:p>
          <a:p>
            <a:endParaRPr lang="en-RW" sz="1575" dirty="0"/>
          </a:p>
        </p:txBody>
      </p:sp>
      <p:sp>
        <p:nvSpPr>
          <p:cNvPr id="4" name="Date Placeholder 3">
            <a:extLst>
              <a:ext uri="{FF2B5EF4-FFF2-40B4-BE49-F238E27FC236}">
                <a16:creationId xmlns:a16="http://schemas.microsoft.com/office/drawing/2014/main" id="{2E7D3E1B-C87A-8A08-513F-4E450751280F}"/>
              </a:ext>
            </a:extLst>
          </p:cNvPr>
          <p:cNvSpPr>
            <a:spLocks noGrp="1"/>
          </p:cNvSpPr>
          <p:nvPr>
            <p:ph type="dt" sz="half" idx="6"/>
          </p:nvPr>
        </p:nvSpPr>
        <p:spPr/>
        <p:txBody>
          <a:bodyPr/>
          <a:lstStyle/>
          <a:p>
            <a:fld id="{C9D4CF7D-8C40-A547-8B7C-87723EB68BB4}" type="datetime1">
              <a:rPr lang="en-US" smtClean="0"/>
              <a:t>11/17/25</a:t>
            </a:fld>
            <a:endParaRPr lang="en-US"/>
          </a:p>
        </p:txBody>
      </p:sp>
    </p:spTree>
    <p:extLst>
      <p:ext uri="{BB962C8B-B14F-4D97-AF65-F5344CB8AC3E}">
        <p14:creationId xmlns:p14="http://schemas.microsoft.com/office/powerpoint/2010/main" val="39128739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B499ACD-640C-2EC1-22BA-93AA57FEC9B5}"/>
              </a:ext>
            </a:extLst>
          </p:cNvPr>
          <p:cNvSpPr>
            <a:spLocks noGrp="1"/>
          </p:cNvSpPr>
          <p:nvPr>
            <p:ph type="body" idx="1"/>
          </p:nvPr>
        </p:nvSpPr>
        <p:spPr>
          <a:xfrm>
            <a:off x="400050" y="1085850"/>
            <a:ext cx="8072119" cy="2769989"/>
          </a:xfrm>
        </p:spPr>
        <p:txBody>
          <a:bodyPr/>
          <a:lstStyle/>
          <a:p>
            <a:pPr algn="ctr"/>
            <a:r>
              <a:rPr lang="en-US" sz="3000" b="1" spc="-131" dirty="0">
                <a:solidFill>
                  <a:srgbClr val="F79546"/>
                </a:solidFill>
                <a:latin typeface="Trebuchet MS"/>
                <a:cs typeface="Trebuchet MS"/>
              </a:rPr>
              <a:t>Sequential</a:t>
            </a:r>
            <a:r>
              <a:rPr lang="en-US" sz="3000" b="1" spc="8" dirty="0">
                <a:solidFill>
                  <a:srgbClr val="F79546"/>
                </a:solidFill>
                <a:latin typeface="Trebuchet MS"/>
                <a:cs typeface="Trebuchet MS"/>
              </a:rPr>
              <a:t> </a:t>
            </a:r>
            <a:r>
              <a:rPr lang="en-US" sz="3000" b="1" spc="-120" dirty="0">
                <a:solidFill>
                  <a:srgbClr val="F79546"/>
                </a:solidFill>
                <a:latin typeface="Trebuchet MS"/>
                <a:cs typeface="Trebuchet MS"/>
              </a:rPr>
              <a:t>Patterns:</a:t>
            </a:r>
            <a:r>
              <a:rPr lang="en-US" sz="3000" b="1" spc="64" dirty="0">
                <a:solidFill>
                  <a:srgbClr val="F79546"/>
                </a:solidFill>
                <a:latin typeface="Trebuchet MS"/>
                <a:cs typeface="Trebuchet MS"/>
              </a:rPr>
              <a:t> </a:t>
            </a:r>
          </a:p>
          <a:p>
            <a:endParaRPr lang="en-US" sz="3000" b="1" spc="64" dirty="0">
              <a:solidFill>
                <a:srgbClr val="F79546"/>
              </a:solidFill>
              <a:latin typeface="Trebuchet MS"/>
              <a:cs typeface="MS PGothic"/>
            </a:endParaRPr>
          </a:p>
          <a:p>
            <a:r>
              <a:rPr lang="en-US" sz="3000" dirty="0">
                <a:latin typeface="MS PGothic"/>
                <a:cs typeface="MS PGothic"/>
              </a:rPr>
              <a:t>This</a:t>
            </a:r>
            <a:r>
              <a:rPr lang="en-US" sz="3000" spc="-8" dirty="0">
                <a:latin typeface="MS PGothic"/>
                <a:cs typeface="MS PGothic"/>
              </a:rPr>
              <a:t> </a:t>
            </a:r>
            <a:r>
              <a:rPr lang="en-US" sz="3000" spc="-4" dirty="0">
                <a:latin typeface="MS PGothic"/>
                <a:cs typeface="MS PGothic"/>
              </a:rPr>
              <a:t>data</a:t>
            </a:r>
            <a:r>
              <a:rPr lang="en-US" sz="3000" spc="-23" dirty="0">
                <a:latin typeface="MS PGothic"/>
                <a:cs typeface="MS PGothic"/>
              </a:rPr>
              <a:t> </a:t>
            </a:r>
            <a:r>
              <a:rPr lang="en-US" sz="3000" spc="-4" dirty="0">
                <a:latin typeface="MS PGothic"/>
                <a:cs typeface="MS PGothic"/>
              </a:rPr>
              <a:t>mining</a:t>
            </a:r>
            <a:r>
              <a:rPr lang="en-US" sz="3000" spc="-8" dirty="0">
                <a:latin typeface="MS PGothic"/>
                <a:cs typeface="MS PGothic"/>
              </a:rPr>
              <a:t> </a:t>
            </a:r>
            <a:r>
              <a:rPr lang="en-US" sz="3000" dirty="0">
                <a:latin typeface="MS PGothic"/>
                <a:cs typeface="MS PGothic"/>
              </a:rPr>
              <a:t>technique helps to </a:t>
            </a:r>
            <a:r>
              <a:rPr lang="en-US" sz="3000" spc="-4" dirty="0">
                <a:latin typeface="MS PGothic"/>
                <a:cs typeface="MS PGothic"/>
              </a:rPr>
              <a:t>discover </a:t>
            </a:r>
            <a:r>
              <a:rPr lang="en-US" sz="3000" dirty="0">
                <a:latin typeface="MS PGothic"/>
                <a:cs typeface="MS PGothic"/>
              </a:rPr>
              <a:t>or identify similar </a:t>
            </a:r>
            <a:r>
              <a:rPr lang="en-US" sz="3000" spc="-4" dirty="0">
                <a:latin typeface="MS PGothic"/>
                <a:cs typeface="MS PGothic"/>
              </a:rPr>
              <a:t>patterns </a:t>
            </a:r>
            <a:r>
              <a:rPr lang="en-US" sz="3000" dirty="0">
                <a:latin typeface="MS PGothic"/>
                <a:cs typeface="MS PGothic"/>
              </a:rPr>
              <a:t>or trends</a:t>
            </a:r>
            <a:r>
              <a:rPr lang="en-US" sz="3000" spc="-4" dirty="0">
                <a:latin typeface="MS PGothic"/>
                <a:cs typeface="MS PGothic"/>
              </a:rPr>
              <a:t> </a:t>
            </a:r>
            <a:r>
              <a:rPr lang="en-US" sz="3000" dirty="0">
                <a:latin typeface="MS PGothic"/>
                <a:cs typeface="MS PGothic"/>
              </a:rPr>
              <a:t>in</a:t>
            </a:r>
            <a:r>
              <a:rPr lang="en-US" sz="3000" spc="-4" dirty="0">
                <a:latin typeface="MS PGothic"/>
                <a:cs typeface="MS PGothic"/>
              </a:rPr>
              <a:t> transaction</a:t>
            </a:r>
            <a:r>
              <a:rPr lang="en-US" sz="3000" spc="-19" dirty="0">
                <a:latin typeface="MS PGothic"/>
                <a:cs typeface="MS PGothic"/>
              </a:rPr>
              <a:t> </a:t>
            </a:r>
            <a:r>
              <a:rPr lang="en-US" sz="3000" spc="-4" dirty="0">
                <a:latin typeface="MS PGothic"/>
                <a:cs typeface="MS PGothic"/>
              </a:rPr>
              <a:t>data</a:t>
            </a:r>
            <a:r>
              <a:rPr lang="en-US" sz="3000" spc="-19" dirty="0">
                <a:latin typeface="MS PGothic"/>
                <a:cs typeface="MS PGothic"/>
              </a:rPr>
              <a:t> </a:t>
            </a:r>
            <a:r>
              <a:rPr lang="en-US" sz="3000" dirty="0">
                <a:latin typeface="MS PGothic"/>
                <a:cs typeface="MS PGothic"/>
              </a:rPr>
              <a:t>for</a:t>
            </a:r>
            <a:r>
              <a:rPr lang="en-US" sz="3000" spc="-19" dirty="0">
                <a:latin typeface="MS PGothic"/>
                <a:cs typeface="MS PGothic"/>
              </a:rPr>
              <a:t> a </a:t>
            </a:r>
            <a:r>
              <a:rPr lang="en-US" sz="3000" dirty="0">
                <a:latin typeface="MS PGothic"/>
                <a:cs typeface="MS PGothic"/>
              </a:rPr>
              <a:t>certain</a:t>
            </a:r>
            <a:r>
              <a:rPr lang="en-US" sz="3000" spc="-15" dirty="0">
                <a:latin typeface="MS PGothic"/>
                <a:cs typeface="MS PGothic"/>
              </a:rPr>
              <a:t> </a:t>
            </a:r>
            <a:r>
              <a:rPr lang="en-US" sz="3000" spc="-4" dirty="0">
                <a:latin typeface="MS PGothic"/>
                <a:cs typeface="MS PGothic"/>
              </a:rPr>
              <a:t>period.</a:t>
            </a:r>
            <a:endParaRPr lang="en-US" sz="3000" dirty="0">
              <a:latin typeface="MS PGothic"/>
              <a:cs typeface="MS PGothic"/>
            </a:endParaRPr>
          </a:p>
          <a:p>
            <a:endParaRPr lang="en-RW" sz="3000" dirty="0"/>
          </a:p>
        </p:txBody>
      </p:sp>
      <p:sp>
        <p:nvSpPr>
          <p:cNvPr id="4" name="Date Placeholder 3">
            <a:extLst>
              <a:ext uri="{FF2B5EF4-FFF2-40B4-BE49-F238E27FC236}">
                <a16:creationId xmlns:a16="http://schemas.microsoft.com/office/drawing/2014/main" id="{BB00F71E-79B0-4081-835B-3DE63C221313}"/>
              </a:ext>
            </a:extLst>
          </p:cNvPr>
          <p:cNvSpPr>
            <a:spLocks noGrp="1"/>
          </p:cNvSpPr>
          <p:nvPr>
            <p:ph type="dt" sz="half" idx="6"/>
          </p:nvPr>
        </p:nvSpPr>
        <p:spPr/>
        <p:txBody>
          <a:bodyPr/>
          <a:lstStyle/>
          <a:p>
            <a:fld id="{FCAB0849-5B1B-274C-847C-757FB0A1942E}" type="datetime1">
              <a:rPr lang="en-US" smtClean="0"/>
              <a:t>11/17/25</a:t>
            </a:fld>
            <a:endParaRPr lang="en-US"/>
          </a:p>
        </p:txBody>
      </p:sp>
    </p:spTree>
    <p:extLst>
      <p:ext uri="{BB962C8B-B14F-4D97-AF65-F5344CB8AC3E}">
        <p14:creationId xmlns:p14="http://schemas.microsoft.com/office/powerpoint/2010/main" val="26578550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92152" y="400050"/>
            <a:ext cx="5660231" cy="517930"/>
          </a:xfrm>
          <a:prstGeom prst="rect">
            <a:avLst/>
          </a:prstGeom>
        </p:spPr>
        <p:txBody>
          <a:bodyPr vert="horz" wrap="square" lIns="0" tIns="10001" rIns="0" bIns="0" rtlCol="0">
            <a:spAutoFit/>
          </a:bodyPr>
          <a:lstStyle/>
          <a:p>
            <a:pPr marL="9525">
              <a:spcBef>
                <a:spcPts val="79"/>
              </a:spcBef>
            </a:pPr>
            <a:r>
              <a:rPr sz="3300" b="1" dirty="0">
                <a:solidFill>
                  <a:srgbClr val="C00000"/>
                </a:solidFill>
              </a:rPr>
              <a:t>Data</a:t>
            </a:r>
            <a:r>
              <a:rPr sz="3300" b="1" spc="-15" dirty="0">
                <a:solidFill>
                  <a:srgbClr val="C00000"/>
                </a:solidFill>
              </a:rPr>
              <a:t> </a:t>
            </a:r>
            <a:r>
              <a:rPr sz="3300" b="1" dirty="0">
                <a:solidFill>
                  <a:srgbClr val="C00000"/>
                </a:solidFill>
              </a:rPr>
              <a:t>Mining</a:t>
            </a:r>
            <a:r>
              <a:rPr sz="3300" b="1" spc="-56" dirty="0">
                <a:solidFill>
                  <a:srgbClr val="C00000"/>
                </a:solidFill>
              </a:rPr>
              <a:t> </a:t>
            </a:r>
            <a:r>
              <a:rPr sz="3300" b="1" spc="-19" dirty="0">
                <a:solidFill>
                  <a:srgbClr val="C00000"/>
                </a:solidFill>
              </a:rPr>
              <a:t>Techniques(cont..)</a:t>
            </a:r>
            <a:endParaRPr sz="3300" dirty="0"/>
          </a:p>
        </p:txBody>
      </p:sp>
      <p:sp>
        <p:nvSpPr>
          <p:cNvPr id="3" name="object 3"/>
          <p:cNvSpPr txBox="1"/>
          <p:nvPr/>
        </p:nvSpPr>
        <p:spPr>
          <a:xfrm>
            <a:off x="669925" y="929323"/>
            <a:ext cx="7944358" cy="3521316"/>
          </a:xfrm>
          <a:prstGeom prst="rect">
            <a:avLst/>
          </a:prstGeom>
        </p:spPr>
        <p:txBody>
          <a:bodyPr vert="horz" wrap="square" lIns="0" tIns="10001" rIns="0" bIns="0" rtlCol="0">
            <a:spAutoFit/>
          </a:bodyPr>
          <a:lstStyle/>
          <a:p>
            <a:pPr marL="9525" marR="3810" algn="ctr">
              <a:spcBef>
                <a:spcPts val="79"/>
              </a:spcBef>
            </a:pPr>
            <a:r>
              <a:rPr sz="2400" b="1" spc="-195" dirty="0">
                <a:solidFill>
                  <a:srgbClr val="F79546"/>
                </a:solidFill>
                <a:latin typeface="Trebuchet MS"/>
                <a:cs typeface="Trebuchet MS"/>
              </a:rPr>
              <a:t>7</a:t>
            </a:r>
            <a:r>
              <a:rPr sz="2400" b="1" spc="-394" dirty="0">
                <a:solidFill>
                  <a:srgbClr val="F79546"/>
                </a:solidFill>
                <a:latin typeface="Trebuchet MS"/>
                <a:cs typeface="Trebuchet MS"/>
              </a:rPr>
              <a:t>.</a:t>
            </a:r>
            <a:r>
              <a:rPr sz="2400" b="1" spc="19" dirty="0">
                <a:solidFill>
                  <a:srgbClr val="F79546"/>
                </a:solidFill>
                <a:latin typeface="Trebuchet MS"/>
                <a:cs typeface="Trebuchet MS"/>
              </a:rPr>
              <a:t> </a:t>
            </a:r>
            <a:r>
              <a:rPr sz="2400" b="1" spc="79" dirty="0">
                <a:solidFill>
                  <a:srgbClr val="F79546"/>
                </a:solidFill>
                <a:latin typeface="Trebuchet MS"/>
                <a:cs typeface="Trebuchet MS"/>
              </a:rPr>
              <a:t>P</a:t>
            </a:r>
            <a:r>
              <a:rPr sz="2400" b="1" spc="-184" dirty="0">
                <a:solidFill>
                  <a:srgbClr val="F79546"/>
                </a:solidFill>
                <a:latin typeface="Trebuchet MS"/>
                <a:cs typeface="Trebuchet MS"/>
              </a:rPr>
              <a:t>r</a:t>
            </a:r>
            <a:r>
              <a:rPr sz="2400" b="1" spc="-169" dirty="0">
                <a:solidFill>
                  <a:srgbClr val="F79546"/>
                </a:solidFill>
                <a:latin typeface="Trebuchet MS"/>
                <a:cs typeface="Trebuchet MS"/>
              </a:rPr>
              <a:t>e</a:t>
            </a:r>
            <a:r>
              <a:rPr sz="2400" b="1" spc="-278" dirty="0">
                <a:solidFill>
                  <a:srgbClr val="F79546"/>
                </a:solidFill>
                <a:latin typeface="Trebuchet MS"/>
                <a:cs typeface="Trebuchet MS"/>
              </a:rPr>
              <a:t>d</a:t>
            </a:r>
            <a:r>
              <a:rPr sz="2400" b="1" spc="-135" dirty="0">
                <a:solidFill>
                  <a:srgbClr val="F79546"/>
                </a:solidFill>
                <a:latin typeface="Trebuchet MS"/>
                <a:cs typeface="Trebuchet MS"/>
              </a:rPr>
              <a:t>i</a:t>
            </a:r>
            <a:r>
              <a:rPr sz="2400" b="1" spc="-19" dirty="0">
                <a:solidFill>
                  <a:srgbClr val="F79546"/>
                </a:solidFill>
                <a:latin typeface="Trebuchet MS"/>
                <a:cs typeface="Trebuchet MS"/>
              </a:rPr>
              <a:t>c</a:t>
            </a:r>
            <a:r>
              <a:rPr sz="2400" b="1" spc="-101" dirty="0">
                <a:solidFill>
                  <a:srgbClr val="F79546"/>
                </a:solidFill>
                <a:latin typeface="Trebuchet MS"/>
                <a:cs typeface="Trebuchet MS"/>
              </a:rPr>
              <a:t>t</a:t>
            </a:r>
            <a:r>
              <a:rPr sz="2400" b="1" spc="-120" dirty="0">
                <a:solidFill>
                  <a:srgbClr val="F79546"/>
                </a:solidFill>
                <a:latin typeface="Trebuchet MS"/>
                <a:cs typeface="Trebuchet MS"/>
              </a:rPr>
              <a:t>i</a:t>
            </a:r>
            <a:r>
              <a:rPr sz="2400" b="1" spc="-214" dirty="0">
                <a:solidFill>
                  <a:srgbClr val="F79546"/>
                </a:solidFill>
                <a:latin typeface="Trebuchet MS"/>
                <a:cs typeface="Trebuchet MS"/>
              </a:rPr>
              <a:t>o</a:t>
            </a:r>
            <a:r>
              <a:rPr sz="2400" b="1" spc="-206" dirty="0">
                <a:solidFill>
                  <a:srgbClr val="F79546"/>
                </a:solidFill>
                <a:latin typeface="Trebuchet MS"/>
                <a:cs typeface="Trebuchet MS"/>
              </a:rPr>
              <a:t>n</a:t>
            </a:r>
            <a:r>
              <a:rPr sz="2400" b="1" spc="-394" dirty="0">
                <a:solidFill>
                  <a:srgbClr val="F79546"/>
                </a:solidFill>
                <a:latin typeface="Trebuchet MS"/>
                <a:cs typeface="Trebuchet MS"/>
              </a:rPr>
              <a:t>:</a:t>
            </a:r>
            <a:r>
              <a:rPr sz="2400" b="1" spc="23" dirty="0">
                <a:solidFill>
                  <a:srgbClr val="F79546"/>
                </a:solidFill>
                <a:latin typeface="Trebuchet MS"/>
                <a:cs typeface="Trebuchet MS"/>
              </a:rPr>
              <a:t> </a:t>
            </a:r>
            <a:endParaRPr lang="en-US" sz="2400" b="1" spc="23" dirty="0">
              <a:solidFill>
                <a:srgbClr val="F79546"/>
              </a:solidFill>
              <a:latin typeface="Trebuchet MS"/>
              <a:cs typeface="Trebuchet MS"/>
            </a:endParaRPr>
          </a:p>
          <a:p>
            <a:pPr marL="9525" marR="3810">
              <a:spcBef>
                <a:spcPts val="79"/>
              </a:spcBef>
            </a:pPr>
            <a:r>
              <a:rPr sz="2250" spc="-4" dirty="0">
                <a:latin typeface="MS PGothic" panose="020B0600070205080204" pitchFamily="34" charset="-128"/>
                <a:ea typeface="MS PGothic" panose="020B0600070205080204" pitchFamily="34" charset="-128"/>
                <a:cs typeface="MS PGothic"/>
              </a:rPr>
              <a:t>Pr</a:t>
            </a:r>
            <a:r>
              <a:rPr sz="2250" spc="8" dirty="0">
                <a:latin typeface="MS PGothic" panose="020B0600070205080204" pitchFamily="34" charset="-128"/>
                <a:ea typeface="MS PGothic" panose="020B0600070205080204" pitchFamily="34" charset="-128"/>
                <a:cs typeface="MS PGothic"/>
              </a:rPr>
              <a:t>e</a:t>
            </a:r>
            <a:r>
              <a:rPr sz="2250" spc="-4" dirty="0">
                <a:latin typeface="MS PGothic" panose="020B0600070205080204" pitchFamily="34" charset="-128"/>
                <a:ea typeface="MS PGothic" panose="020B0600070205080204" pitchFamily="34" charset="-128"/>
                <a:cs typeface="MS PGothic"/>
              </a:rPr>
              <a:t>dicti</a:t>
            </a:r>
            <a:r>
              <a:rPr sz="2250" spc="4" dirty="0">
                <a:latin typeface="MS PGothic" panose="020B0600070205080204" pitchFamily="34" charset="-128"/>
                <a:ea typeface="MS PGothic" panose="020B0600070205080204" pitchFamily="34" charset="-128"/>
                <a:cs typeface="MS PGothic"/>
              </a:rPr>
              <a:t>o</a:t>
            </a:r>
            <a:r>
              <a:rPr sz="2250" dirty="0">
                <a:latin typeface="MS PGothic" panose="020B0600070205080204" pitchFamily="34" charset="-128"/>
                <a:ea typeface="MS PGothic" panose="020B0600070205080204" pitchFamily="34" charset="-128"/>
                <a:cs typeface="MS PGothic"/>
              </a:rPr>
              <a:t>n</a:t>
            </a:r>
            <a:r>
              <a:rPr sz="2250" spc="-15" dirty="0">
                <a:latin typeface="MS PGothic" panose="020B0600070205080204" pitchFamily="34" charset="-128"/>
                <a:ea typeface="MS PGothic" panose="020B0600070205080204" pitchFamily="34" charset="-128"/>
                <a:cs typeface="MS PGothic"/>
              </a:rPr>
              <a:t> </a:t>
            </a:r>
            <a:r>
              <a:rPr sz="2250" dirty="0">
                <a:latin typeface="MS PGothic" panose="020B0600070205080204" pitchFamily="34" charset="-128"/>
                <a:ea typeface="MS PGothic" panose="020B0600070205080204" pitchFamily="34" charset="-128"/>
                <a:cs typeface="MS PGothic"/>
              </a:rPr>
              <a:t>has us</a:t>
            </a:r>
            <a:r>
              <a:rPr sz="2250" spc="4" dirty="0">
                <a:latin typeface="MS PGothic" panose="020B0600070205080204" pitchFamily="34" charset="-128"/>
                <a:ea typeface="MS PGothic" panose="020B0600070205080204" pitchFamily="34" charset="-128"/>
                <a:cs typeface="MS PGothic"/>
              </a:rPr>
              <a:t>e</a:t>
            </a:r>
            <a:r>
              <a:rPr sz="2250" dirty="0">
                <a:latin typeface="MS PGothic" panose="020B0600070205080204" pitchFamily="34" charset="-128"/>
                <a:ea typeface="MS PGothic" panose="020B0600070205080204" pitchFamily="34" charset="-128"/>
                <a:cs typeface="MS PGothic"/>
              </a:rPr>
              <a:t>d</a:t>
            </a:r>
            <a:r>
              <a:rPr sz="2250" spc="-11" dirty="0">
                <a:latin typeface="MS PGothic" panose="020B0600070205080204" pitchFamily="34" charset="-128"/>
                <a:ea typeface="MS PGothic" panose="020B0600070205080204" pitchFamily="34" charset="-128"/>
                <a:cs typeface="MS PGothic"/>
              </a:rPr>
              <a:t> </a:t>
            </a:r>
            <a:r>
              <a:rPr sz="2250" dirty="0">
                <a:latin typeface="MS PGothic" panose="020B0600070205080204" pitchFamily="34" charset="-128"/>
                <a:ea typeface="MS PGothic" panose="020B0600070205080204" pitchFamily="34" charset="-128"/>
                <a:cs typeface="MS PGothic"/>
              </a:rPr>
              <a:t>a </a:t>
            </a:r>
            <a:r>
              <a:rPr sz="2250" spc="-4" dirty="0">
                <a:latin typeface="MS PGothic" panose="020B0600070205080204" pitchFamily="34" charset="-128"/>
                <a:ea typeface="MS PGothic" panose="020B0600070205080204" pitchFamily="34" charset="-128"/>
                <a:cs typeface="MS PGothic"/>
              </a:rPr>
              <a:t>combination </a:t>
            </a:r>
            <a:r>
              <a:rPr sz="2250" dirty="0">
                <a:latin typeface="MS PGothic" panose="020B0600070205080204" pitchFamily="34" charset="-128"/>
                <a:ea typeface="MS PGothic" panose="020B0600070205080204" pitchFamily="34" charset="-128"/>
                <a:cs typeface="MS PGothic"/>
              </a:rPr>
              <a:t>of the other techniques of</a:t>
            </a:r>
            <a:r>
              <a:rPr lang="en-US" sz="2250" dirty="0">
                <a:latin typeface="MS PGothic" panose="020B0600070205080204" pitchFamily="34" charset="-128"/>
                <a:ea typeface="MS PGothic" panose="020B0600070205080204" pitchFamily="34" charset="-128"/>
                <a:cs typeface="MS PGothic"/>
              </a:rPr>
              <a:t> </a:t>
            </a:r>
            <a:r>
              <a:rPr sz="2250" spc="-4" dirty="0">
                <a:latin typeface="MS PGothic" panose="020B0600070205080204" pitchFamily="34" charset="-128"/>
                <a:ea typeface="MS PGothic" panose="020B0600070205080204" pitchFamily="34" charset="-128"/>
                <a:cs typeface="MS PGothic"/>
              </a:rPr>
              <a:t>data mining like </a:t>
            </a:r>
            <a:r>
              <a:rPr sz="2250" dirty="0">
                <a:latin typeface="MS PGothic" panose="020B0600070205080204" pitchFamily="34" charset="-128"/>
                <a:ea typeface="MS PGothic" panose="020B0600070205080204" pitchFamily="34" charset="-128"/>
                <a:cs typeface="MS PGothic"/>
              </a:rPr>
              <a:t>trends, sequential patterns, </a:t>
            </a:r>
            <a:r>
              <a:rPr sz="2250" spc="4" dirty="0">
                <a:latin typeface="MS PGothic" panose="020B0600070205080204" pitchFamily="34" charset="-128"/>
                <a:ea typeface="MS PGothic" panose="020B0600070205080204" pitchFamily="34" charset="-128"/>
                <a:cs typeface="MS PGothic"/>
              </a:rPr>
              <a:t> </a:t>
            </a:r>
            <a:r>
              <a:rPr sz="2250" dirty="0">
                <a:latin typeface="MS PGothic" panose="020B0600070205080204" pitchFamily="34" charset="-128"/>
                <a:ea typeface="MS PGothic" panose="020B0600070205080204" pitchFamily="34" charset="-128"/>
                <a:cs typeface="MS PGothic"/>
              </a:rPr>
              <a:t>clustering,</a:t>
            </a:r>
            <a:r>
              <a:rPr sz="2250" spc="-23" dirty="0">
                <a:latin typeface="MS PGothic" panose="020B0600070205080204" pitchFamily="34" charset="-128"/>
                <a:ea typeface="MS PGothic" panose="020B0600070205080204" pitchFamily="34" charset="-128"/>
                <a:cs typeface="MS PGothic"/>
              </a:rPr>
              <a:t> </a:t>
            </a:r>
            <a:r>
              <a:rPr sz="2250" dirty="0">
                <a:latin typeface="MS PGothic" panose="020B0600070205080204" pitchFamily="34" charset="-128"/>
                <a:ea typeface="MS PGothic" panose="020B0600070205080204" pitchFamily="34" charset="-128"/>
                <a:cs typeface="MS PGothic"/>
              </a:rPr>
              <a:t>classification,</a:t>
            </a:r>
            <a:r>
              <a:rPr sz="2250" spc="-26" dirty="0">
                <a:latin typeface="MS PGothic" panose="020B0600070205080204" pitchFamily="34" charset="-128"/>
                <a:ea typeface="MS PGothic" panose="020B0600070205080204" pitchFamily="34" charset="-128"/>
                <a:cs typeface="MS PGothic"/>
              </a:rPr>
              <a:t> </a:t>
            </a:r>
            <a:r>
              <a:rPr sz="2250" dirty="0">
                <a:latin typeface="MS PGothic" panose="020B0600070205080204" pitchFamily="34" charset="-128"/>
                <a:ea typeface="MS PGothic" panose="020B0600070205080204" pitchFamily="34" charset="-128"/>
                <a:cs typeface="MS PGothic"/>
              </a:rPr>
              <a:t>etc.</a:t>
            </a:r>
            <a:r>
              <a:rPr sz="2250" spc="-15" dirty="0">
                <a:latin typeface="MS PGothic" panose="020B0600070205080204" pitchFamily="34" charset="-128"/>
                <a:ea typeface="MS PGothic" panose="020B0600070205080204" pitchFamily="34" charset="-128"/>
                <a:cs typeface="MS PGothic"/>
              </a:rPr>
              <a:t> </a:t>
            </a:r>
            <a:r>
              <a:rPr sz="2250" spc="-4" dirty="0">
                <a:latin typeface="MS PGothic" panose="020B0600070205080204" pitchFamily="34" charset="-128"/>
                <a:ea typeface="MS PGothic" panose="020B0600070205080204" pitchFamily="34" charset="-128"/>
                <a:cs typeface="MS PGothic"/>
              </a:rPr>
              <a:t>It analyzes</a:t>
            </a:r>
            <a:r>
              <a:rPr sz="2250" spc="-15" dirty="0">
                <a:latin typeface="MS PGothic" panose="020B0600070205080204" pitchFamily="34" charset="-128"/>
                <a:ea typeface="MS PGothic" panose="020B0600070205080204" pitchFamily="34" charset="-128"/>
                <a:cs typeface="MS PGothic"/>
              </a:rPr>
              <a:t> </a:t>
            </a:r>
            <a:r>
              <a:rPr sz="2250" spc="-4" dirty="0">
                <a:latin typeface="MS PGothic" panose="020B0600070205080204" pitchFamily="34" charset="-128"/>
                <a:ea typeface="MS PGothic" panose="020B0600070205080204" pitchFamily="34" charset="-128"/>
                <a:cs typeface="MS PGothic"/>
              </a:rPr>
              <a:t>past </a:t>
            </a:r>
            <a:r>
              <a:rPr sz="2250" dirty="0">
                <a:latin typeface="MS PGothic" panose="020B0600070205080204" pitchFamily="34" charset="-128"/>
                <a:ea typeface="MS PGothic" panose="020B0600070205080204" pitchFamily="34" charset="-128"/>
                <a:cs typeface="MS PGothic"/>
              </a:rPr>
              <a:t>events or instances in </a:t>
            </a:r>
            <a:r>
              <a:rPr lang="en-US" sz="2250" dirty="0">
                <a:latin typeface="MS PGothic" panose="020B0600070205080204" pitchFamily="34" charset="-128"/>
                <a:ea typeface="MS PGothic" panose="020B0600070205080204" pitchFamily="34" charset="-128"/>
                <a:cs typeface="MS PGothic"/>
              </a:rPr>
              <a:t>the</a:t>
            </a:r>
            <a:r>
              <a:rPr sz="2250" dirty="0">
                <a:latin typeface="MS PGothic" panose="020B0600070205080204" pitchFamily="34" charset="-128"/>
                <a:ea typeface="MS PGothic" panose="020B0600070205080204" pitchFamily="34" charset="-128"/>
                <a:cs typeface="MS PGothic"/>
              </a:rPr>
              <a:t> right sequence for </a:t>
            </a:r>
            <a:r>
              <a:rPr sz="2250" spc="-4" dirty="0">
                <a:latin typeface="MS PGothic" panose="020B0600070205080204" pitchFamily="34" charset="-128"/>
                <a:ea typeface="MS PGothic" panose="020B0600070205080204" pitchFamily="34" charset="-128"/>
                <a:cs typeface="MS PGothic"/>
              </a:rPr>
              <a:t>predicting</a:t>
            </a:r>
            <a:r>
              <a:rPr sz="2250" spc="-15" dirty="0">
                <a:latin typeface="MS PGothic" panose="020B0600070205080204" pitchFamily="34" charset="-128"/>
                <a:ea typeface="MS PGothic" panose="020B0600070205080204" pitchFamily="34" charset="-128"/>
                <a:cs typeface="MS PGothic"/>
              </a:rPr>
              <a:t> </a:t>
            </a:r>
            <a:r>
              <a:rPr sz="2250" dirty="0">
                <a:latin typeface="MS PGothic" panose="020B0600070205080204" pitchFamily="34" charset="-128"/>
                <a:ea typeface="MS PGothic" panose="020B0600070205080204" pitchFamily="34" charset="-128"/>
                <a:cs typeface="MS PGothic"/>
              </a:rPr>
              <a:t>a</a:t>
            </a:r>
            <a:r>
              <a:rPr sz="2250" spc="-8" dirty="0">
                <a:latin typeface="MS PGothic" panose="020B0600070205080204" pitchFamily="34" charset="-128"/>
                <a:ea typeface="MS PGothic" panose="020B0600070205080204" pitchFamily="34" charset="-128"/>
                <a:cs typeface="MS PGothic"/>
              </a:rPr>
              <a:t> </a:t>
            </a:r>
            <a:r>
              <a:rPr sz="2250" dirty="0">
                <a:latin typeface="MS PGothic" panose="020B0600070205080204" pitchFamily="34" charset="-128"/>
                <a:ea typeface="MS PGothic" panose="020B0600070205080204" pitchFamily="34" charset="-128"/>
                <a:cs typeface="MS PGothic"/>
              </a:rPr>
              <a:t>future</a:t>
            </a:r>
            <a:r>
              <a:rPr sz="2250" spc="-15" dirty="0">
                <a:latin typeface="MS PGothic" panose="020B0600070205080204" pitchFamily="34" charset="-128"/>
                <a:ea typeface="MS PGothic" panose="020B0600070205080204" pitchFamily="34" charset="-128"/>
                <a:cs typeface="MS PGothic"/>
              </a:rPr>
              <a:t> </a:t>
            </a:r>
            <a:r>
              <a:rPr sz="2250" dirty="0">
                <a:latin typeface="MS PGothic" panose="020B0600070205080204" pitchFamily="34" charset="-128"/>
                <a:ea typeface="MS PGothic" panose="020B0600070205080204" pitchFamily="34" charset="-128"/>
                <a:cs typeface="MS PGothic"/>
              </a:rPr>
              <a:t>event.</a:t>
            </a:r>
            <a:endParaRPr lang="en-US" sz="2250" dirty="0">
              <a:latin typeface="MS PGothic" panose="020B0600070205080204" pitchFamily="34" charset="-128"/>
              <a:ea typeface="MS PGothic" panose="020B0600070205080204" pitchFamily="34" charset="-128"/>
              <a:cs typeface="MS PGothic"/>
            </a:endParaRPr>
          </a:p>
          <a:p>
            <a:pPr marL="9525" marR="3810">
              <a:spcBef>
                <a:spcPts val="79"/>
              </a:spcBef>
            </a:pPr>
            <a:r>
              <a:rPr lang="en-US" sz="2250" dirty="0">
                <a:latin typeface="MS PGothic" panose="020B0600070205080204" pitchFamily="34" charset="-128"/>
                <a:ea typeface="MS PGothic" panose="020B0600070205080204" pitchFamily="34" charset="-128"/>
              </a:rPr>
              <a:t>Consider the following scenario: A marketing manager needs to forecast how much a specific consumer will spend during a sale. In this scenario, we are bothered to forecast a numerical value. In this situation, a model or predictor that forecasts a continuous or ordered value function will be built.</a:t>
            </a:r>
            <a:endParaRPr sz="2250" dirty="0">
              <a:latin typeface="MS PGothic" panose="020B0600070205080204" pitchFamily="34" charset="-128"/>
              <a:ea typeface="MS PGothic" panose="020B0600070205080204" pitchFamily="34" charset="-128"/>
              <a:cs typeface="MS PGothic"/>
            </a:endParaRPr>
          </a:p>
        </p:txBody>
      </p:sp>
      <p:sp>
        <p:nvSpPr>
          <p:cNvPr id="6" name="Date Placeholder 5">
            <a:extLst>
              <a:ext uri="{FF2B5EF4-FFF2-40B4-BE49-F238E27FC236}">
                <a16:creationId xmlns:a16="http://schemas.microsoft.com/office/drawing/2014/main" id="{D2DDB78F-4C47-F9C4-35AC-B04F5A382187}"/>
              </a:ext>
            </a:extLst>
          </p:cNvPr>
          <p:cNvSpPr>
            <a:spLocks noGrp="1"/>
          </p:cNvSpPr>
          <p:nvPr>
            <p:ph type="dt" sz="half" idx="6"/>
          </p:nvPr>
        </p:nvSpPr>
        <p:spPr/>
        <p:txBody>
          <a:bodyPr/>
          <a:lstStyle/>
          <a:p>
            <a:fld id="{A028BDA1-0AFB-844B-A0AF-1E946921E979}" type="datetime1">
              <a:rPr lang="en-US" smtClean="0"/>
              <a:t>11/17/25</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BF16E52-5661-EFF2-9F89-C48A011AEB1C}"/>
              </a:ext>
            </a:extLst>
          </p:cNvPr>
          <p:cNvSpPr>
            <a:spLocks noGrp="1"/>
          </p:cNvSpPr>
          <p:nvPr>
            <p:ph type="body" idx="1"/>
          </p:nvPr>
        </p:nvSpPr>
        <p:spPr>
          <a:xfrm>
            <a:off x="535940" y="1080849"/>
            <a:ext cx="8072119" cy="4062651"/>
          </a:xfrm>
        </p:spPr>
        <p:txBody>
          <a:bodyPr/>
          <a:lstStyle/>
          <a:p>
            <a:pPr algn="just"/>
            <a:r>
              <a:rPr lang="en-US" sz="2400" dirty="0"/>
              <a:t>Data mining architecture is a system designed to extract valuable knowledge from large datasets by structuring the process into several key components: data sources, a data mining engine, pattern evaluation modules, a graphical user interface, and a knowledge base.</a:t>
            </a:r>
          </a:p>
          <a:p>
            <a:pPr algn="just"/>
            <a:r>
              <a:rPr lang="en-US" sz="2400" dirty="0"/>
              <a:t> This architecture provides a blueprint for how data flows through the system, from initial collection and cleaning to the final interpretation of patterns and insights. </a:t>
            </a:r>
          </a:p>
          <a:p>
            <a:pPr algn="just"/>
            <a:r>
              <a:rPr lang="en-US" sz="2400" dirty="0"/>
              <a:t>The specific architecture can range from no-coupling to tight-coupling, affecting how the system integrates with data storage systems. </a:t>
            </a:r>
            <a:endParaRPr lang="en-RW" sz="2400" dirty="0"/>
          </a:p>
        </p:txBody>
      </p:sp>
      <p:sp>
        <p:nvSpPr>
          <p:cNvPr id="4" name="Date Placeholder 3">
            <a:extLst>
              <a:ext uri="{FF2B5EF4-FFF2-40B4-BE49-F238E27FC236}">
                <a16:creationId xmlns:a16="http://schemas.microsoft.com/office/drawing/2014/main" id="{125D5CAF-7553-AAD6-CCC2-6B2E7125B2A7}"/>
              </a:ext>
            </a:extLst>
          </p:cNvPr>
          <p:cNvSpPr>
            <a:spLocks noGrp="1"/>
          </p:cNvSpPr>
          <p:nvPr>
            <p:ph type="dt" sz="half" idx="6"/>
          </p:nvPr>
        </p:nvSpPr>
        <p:spPr>
          <a:xfrm>
            <a:off x="7543800" y="209550"/>
            <a:ext cx="2103120" cy="207749"/>
          </a:xfrm>
        </p:spPr>
        <p:txBody>
          <a:bodyPr/>
          <a:lstStyle/>
          <a:p>
            <a:fld id="{89544584-E348-BA45-9B1A-E595AC20BAB8}" type="datetime1">
              <a:rPr lang="en-US" smtClean="0">
                <a:solidFill>
                  <a:schemeClr val="tx1"/>
                </a:solidFill>
              </a:rPr>
              <a:t>11/17/25</a:t>
            </a:fld>
            <a:endParaRPr lang="en-US" dirty="0">
              <a:solidFill>
                <a:schemeClr val="tx1"/>
              </a:solidFill>
            </a:endParaRPr>
          </a:p>
        </p:txBody>
      </p:sp>
      <p:sp>
        <p:nvSpPr>
          <p:cNvPr id="5" name="object 2">
            <a:extLst>
              <a:ext uri="{FF2B5EF4-FFF2-40B4-BE49-F238E27FC236}">
                <a16:creationId xmlns:a16="http://schemas.microsoft.com/office/drawing/2014/main" id="{4B130E32-000C-B23D-A049-D448FC16145F}"/>
              </a:ext>
            </a:extLst>
          </p:cNvPr>
          <p:cNvSpPr txBox="1">
            <a:spLocks noGrp="1"/>
          </p:cNvSpPr>
          <p:nvPr>
            <p:ph type="title"/>
          </p:nvPr>
        </p:nvSpPr>
        <p:spPr>
          <a:xfrm>
            <a:off x="3035300" y="514350"/>
            <a:ext cx="4356100" cy="470802"/>
          </a:xfrm>
          <a:prstGeom prst="rect">
            <a:avLst/>
          </a:prstGeom>
        </p:spPr>
        <p:txBody>
          <a:bodyPr vert="horz" wrap="square" lIns="0" tIns="9049" rIns="0" bIns="0" rtlCol="0">
            <a:spAutoFit/>
          </a:bodyPr>
          <a:lstStyle/>
          <a:p>
            <a:pPr marL="9525">
              <a:spcBef>
                <a:spcPts val="71"/>
              </a:spcBef>
            </a:pPr>
            <a:r>
              <a:rPr sz="3000" b="1" spc="-4" dirty="0">
                <a:solidFill>
                  <a:srgbClr val="C00000"/>
                </a:solidFill>
              </a:rPr>
              <a:t>Data</a:t>
            </a:r>
            <a:r>
              <a:rPr sz="3000" b="1" spc="-19" dirty="0">
                <a:solidFill>
                  <a:srgbClr val="C00000"/>
                </a:solidFill>
              </a:rPr>
              <a:t> </a:t>
            </a:r>
            <a:r>
              <a:rPr sz="3000" b="1" spc="-4" dirty="0">
                <a:solidFill>
                  <a:srgbClr val="C00000"/>
                </a:solidFill>
              </a:rPr>
              <a:t>Mining</a:t>
            </a:r>
            <a:r>
              <a:rPr sz="3000" b="1" spc="-176" dirty="0">
                <a:solidFill>
                  <a:srgbClr val="C00000"/>
                </a:solidFill>
              </a:rPr>
              <a:t> </a:t>
            </a:r>
            <a:r>
              <a:rPr sz="3000" b="1" spc="-11" dirty="0">
                <a:solidFill>
                  <a:srgbClr val="C00000"/>
                </a:solidFill>
              </a:rPr>
              <a:t>Architecture</a:t>
            </a:r>
            <a:endParaRPr sz="3000" dirty="0"/>
          </a:p>
        </p:txBody>
      </p:sp>
    </p:spTree>
    <p:extLst>
      <p:ext uri="{BB962C8B-B14F-4D97-AF65-F5344CB8AC3E}">
        <p14:creationId xmlns:p14="http://schemas.microsoft.com/office/powerpoint/2010/main" val="9257274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06326" y="548450"/>
            <a:ext cx="4215765" cy="470802"/>
          </a:xfrm>
          <a:prstGeom prst="rect">
            <a:avLst/>
          </a:prstGeom>
        </p:spPr>
        <p:txBody>
          <a:bodyPr vert="horz" wrap="square" lIns="0" tIns="9049" rIns="0" bIns="0" rtlCol="0">
            <a:spAutoFit/>
          </a:bodyPr>
          <a:lstStyle/>
          <a:p>
            <a:pPr marL="9525">
              <a:spcBef>
                <a:spcPts val="71"/>
              </a:spcBef>
            </a:pPr>
            <a:r>
              <a:rPr sz="3000" b="1" spc="-4" dirty="0">
                <a:solidFill>
                  <a:srgbClr val="C00000"/>
                </a:solidFill>
              </a:rPr>
              <a:t>Data</a:t>
            </a:r>
            <a:r>
              <a:rPr sz="3000" b="1" spc="-19" dirty="0">
                <a:solidFill>
                  <a:srgbClr val="C00000"/>
                </a:solidFill>
              </a:rPr>
              <a:t> </a:t>
            </a:r>
            <a:r>
              <a:rPr sz="3000" b="1" spc="-4" dirty="0">
                <a:solidFill>
                  <a:srgbClr val="C00000"/>
                </a:solidFill>
              </a:rPr>
              <a:t>Mining</a:t>
            </a:r>
            <a:r>
              <a:rPr sz="3000" b="1" spc="-176" dirty="0">
                <a:solidFill>
                  <a:srgbClr val="C00000"/>
                </a:solidFill>
              </a:rPr>
              <a:t> </a:t>
            </a:r>
            <a:r>
              <a:rPr sz="3000" b="1" spc="-11" dirty="0">
                <a:solidFill>
                  <a:srgbClr val="C00000"/>
                </a:solidFill>
              </a:rPr>
              <a:t>Architecture</a:t>
            </a:r>
            <a:endParaRPr sz="3000" dirty="0"/>
          </a:p>
        </p:txBody>
      </p:sp>
      <p:pic>
        <p:nvPicPr>
          <p:cNvPr id="3" name="object 3"/>
          <p:cNvPicPr/>
          <p:nvPr/>
        </p:nvPicPr>
        <p:blipFill>
          <a:blip r:embed="rId2" cstate="print"/>
          <a:stretch>
            <a:fillRect/>
          </a:stretch>
        </p:blipFill>
        <p:spPr>
          <a:xfrm>
            <a:off x="1428750" y="1028700"/>
            <a:ext cx="5543550" cy="3819810"/>
          </a:xfrm>
          <a:prstGeom prst="rect">
            <a:avLst/>
          </a:prstGeom>
        </p:spPr>
      </p:pic>
      <p:sp>
        <p:nvSpPr>
          <p:cNvPr id="6" name="Date Placeholder 5">
            <a:extLst>
              <a:ext uri="{FF2B5EF4-FFF2-40B4-BE49-F238E27FC236}">
                <a16:creationId xmlns:a16="http://schemas.microsoft.com/office/drawing/2014/main" id="{4C044154-B7E8-B03D-833A-63A76239931E}"/>
              </a:ext>
            </a:extLst>
          </p:cNvPr>
          <p:cNvSpPr>
            <a:spLocks noGrp="1"/>
          </p:cNvSpPr>
          <p:nvPr>
            <p:ph type="dt" sz="half" idx="6"/>
          </p:nvPr>
        </p:nvSpPr>
        <p:spPr/>
        <p:txBody>
          <a:bodyPr/>
          <a:lstStyle/>
          <a:p>
            <a:fld id="{010FE18F-7AD0-B94A-94FE-EA508189EBAE}" type="datetime1">
              <a:rPr lang="en-US" smtClean="0"/>
              <a:t>11/17/25</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25422" y="749618"/>
            <a:ext cx="5835968" cy="470802"/>
          </a:xfrm>
          <a:prstGeom prst="rect">
            <a:avLst/>
          </a:prstGeom>
        </p:spPr>
        <p:txBody>
          <a:bodyPr vert="horz" wrap="square" lIns="0" tIns="9049" rIns="0" bIns="0" rtlCol="0">
            <a:spAutoFit/>
          </a:bodyPr>
          <a:lstStyle/>
          <a:p>
            <a:pPr marL="9525">
              <a:spcBef>
                <a:spcPts val="71"/>
              </a:spcBef>
            </a:pPr>
            <a:r>
              <a:rPr sz="3000" b="1" spc="-4" dirty="0">
                <a:solidFill>
                  <a:srgbClr val="C00000"/>
                </a:solidFill>
              </a:rPr>
              <a:t>Data</a:t>
            </a:r>
            <a:r>
              <a:rPr sz="3000" b="1" dirty="0">
                <a:solidFill>
                  <a:srgbClr val="C00000"/>
                </a:solidFill>
              </a:rPr>
              <a:t> </a:t>
            </a:r>
            <a:r>
              <a:rPr sz="3000" b="1" spc="-4" dirty="0">
                <a:solidFill>
                  <a:srgbClr val="C00000"/>
                </a:solidFill>
              </a:rPr>
              <a:t>Mining</a:t>
            </a:r>
            <a:r>
              <a:rPr sz="3000" b="1" spc="-165" dirty="0">
                <a:solidFill>
                  <a:srgbClr val="C00000"/>
                </a:solidFill>
              </a:rPr>
              <a:t> </a:t>
            </a:r>
            <a:r>
              <a:rPr sz="3000" b="1" spc="-11" dirty="0">
                <a:solidFill>
                  <a:srgbClr val="C00000"/>
                </a:solidFill>
              </a:rPr>
              <a:t>Architecture</a:t>
            </a:r>
            <a:r>
              <a:rPr sz="3000" b="1" spc="11" dirty="0">
                <a:solidFill>
                  <a:srgbClr val="C00000"/>
                </a:solidFill>
              </a:rPr>
              <a:t> </a:t>
            </a:r>
            <a:r>
              <a:rPr sz="3000" b="1" spc="-4" dirty="0">
                <a:solidFill>
                  <a:srgbClr val="C00000"/>
                </a:solidFill>
              </a:rPr>
              <a:t>(cont.….)</a:t>
            </a:r>
            <a:endParaRPr sz="3000"/>
          </a:p>
        </p:txBody>
      </p:sp>
      <p:sp>
        <p:nvSpPr>
          <p:cNvPr id="3" name="object 3"/>
          <p:cNvSpPr txBox="1"/>
          <p:nvPr/>
        </p:nvSpPr>
        <p:spPr>
          <a:xfrm>
            <a:off x="171450" y="1314450"/>
            <a:ext cx="8781541" cy="3129863"/>
          </a:xfrm>
          <a:prstGeom prst="rect">
            <a:avLst/>
          </a:prstGeom>
        </p:spPr>
        <p:txBody>
          <a:bodyPr vert="horz" wrap="square" lIns="0" tIns="64294" rIns="0" bIns="0" rtlCol="0">
            <a:spAutoFit/>
          </a:bodyPr>
          <a:lstStyle/>
          <a:p>
            <a:pPr marL="352425" marR="63341" indent="-343376">
              <a:spcBef>
                <a:spcPts val="506"/>
              </a:spcBef>
              <a:buFont typeface="Arial MT"/>
              <a:buChar char="•"/>
              <a:tabLst>
                <a:tab pos="352425" algn="l"/>
                <a:tab pos="352901" algn="l"/>
              </a:tabLst>
            </a:pPr>
            <a:r>
              <a:rPr sz="2100" b="1" spc="-71" dirty="0">
                <a:latin typeface="Trebuchet MS"/>
                <a:cs typeface="Trebuchet MS"/>
              </a:rPr>
              <a:t>Data</a:t>
            </a:r>
            <a:r>
              <a:rPr sz="2100" b="1" spc="15" dirty="0">
                <a:latin typeface="Trebuchet MS"/>
                <a:cs typeface="Trebuchet MS"/>
              </a:rPr>
              <a:t> </a:t>
            </a:r>
            <a:r>
              <a:rPr sz="2100" b="1" spc="-101" dirty="0">
                <a:latin typeface="Trebuchet MS"/>
                <a:cs typeface="Trebuchet MS"/>
              </a:rPr>
              <a:t>Source:</a:t>
            </a:r>
            <a:r>
              <a:rPr sz="2100" b="1" spc="34" dirty="0">
                <a:latin typeface="Trebuchet MS"/>
                <a:cs typeface="Trebuchet MS"/>
              </a:rPr>
              <a:t> </a:t>
            </a:r>
            <a:r>
              <a:rPr sz="2100" spc="-4" dirty="0">
                <a:latin typeface="MS PGothic"/>
                <a:cs typeface="MS PGothic"/>
              </a:rPr>
              <a:t>The</a:t>
            </a:r>
            <a:r>
              <a:rPr sz="2100" spc="8" dirty="0">
                <a:latin typeface="MS PGothic"/>
                <a:cs typeface="MS PGothic"/>
              </a:rPr>
              <a:t> </a:t>
            </a:r>
            <a:r>
              <a:rPr sz="2100" spc="-4" dirty="0">
                <a:latin typeface="MS PGothic"/>
                <a:cs typeface="MS PGothic"/>
              </a:rPr>
              <a:t>actual</a:t>
            </a:r>
            <a:r>
              <a:rPr sz="2100" dirty="0">
                <a:latin typeface="MS PGothic"/>
                <a:cs typeface="MS PGothic"/>
              </a:rPr>
              <a:t> </a:t>
            </a:r>
            <a:r>
              <a:rPr sz="2100" spc="-4" dirty="0">
                <a:latin typeface="MS PGothic"/>
                <a:cs typeface="MS PGothic"/>
              </a:rPr>
              <a:t>source</a:t>
            </a:r>
            <a:r>
              <a:rPr sz="2100" spc="11" dirty="0">
                <a:latin typeface="MS PGothic"/>
                <a:cs typeface="MS PGothic"/>
              </a:rPr>
              <a:t> </a:t>
            </a:r>
            <a:r>
              <a:rPr sz="2100" spc="-4" dirty="0">
                <a:latin typeface="MS PGothic"/>
                <a:cs typeface="MS PGothic"/>
              </a:rPr>
              <a:t>of</a:t>
            </a:r>
            <a:r>
              <a:rPr sz="2100" spc="15" dirty="0">
                <a:latin typeface="MS PGothic"/>
                <a:cs typeface="MS PGothic"/>
              </a:rPr>
              <a:t> </a:t>
            </a:r>
            <a:r>
              <a:rPr sz="2100" spc="-8" dirty="0">
                <a:latin typeface="MS PGothic"/>
                <a:cs typeface="MS PGothic"/>
              </a:rPr>
              <a:t>data </a:t>
            </a:r>
            <a:r>
              <a:rPr sz="2100" spc="-4" dirty="0">
                <a:latin typeface="MS PGothic"/>
                <a:cs typeface="MS PGothic"/>
              </a:rPr>
              <a:t>is</a:t>
            </a:r>
            <a:r>
              <a:rPr sz="2100" dirty="0">
                <a:latin typeface="MS PGothic"/>
                <a:cs typeface="MS PGothic"/>
              </a:rPr>
              <a:t> </a:t>
            </a:r>
            <a:r>
              <a:rPr sz="2100" spc="-4" dirty="0">
                <a:latin typeface="MS PGothic"/>
                <a:cs typeface="MS PGothic"/>
              </a:rPr>
              <a:t>the</a:t>
            </a:r>
            <a:r>
              <a:rPr sz="2100" spc="4" dirty="0">
                <a:latin typeface="MS PGothic"/>
                <a:cs typeface="MS PGothic"/>
              </a:rPr>
              <a:t> </a:t>
            </a:r>
            <a:r>
              <a:rPr sz="2100" spc="-8" dirty="0">
                <a:latin typeface="MS PGothic"/>
                <a:cs typeface="MS PGothic"/>
              </a:rPr>
              <a:t>Database, </a:t>
            </a:r>
            <a:r>
              <a:rPr sz="2100" spc="-563" dirty="0">
                <a:latin typeface="MS PGothic"/>
                <a:cs typeface="MS PGothic"/>
              </a:rPr>
              <a:t> </a:t>
            </a:r>
            <a:r>
              <a:rPr sz="2100" spc="-8" dirty="0">
                <a:latin typeface="MS PGothic"/>
                <a:cs typeface="MS PGothic"/>
              </a:rPr>
              <a:t>data</a:t>
            </a:r>
            <a:r>
              <a:rPr sz="2100" spc="-11" dirty="0">
                <a:latin typeface="MS PGothic"/>
                <a:cs typeface="MS PGothic"/>
              </a:rPr>
              <a:t> </a:t>
            </a:r>
            <a:r>
              <a:rPr sz="2100" spc="-4" dirty="0">
                <a:latin typeface="MS PGothic"/>
                <a:cs typeface="MS PGothic"/>
              </a:rPr>
              <a:t>warehouse,</a:t>
            </a:r>
            <a:r>
              <a:rPr sz="2100" spc="34" dirty="0">
                <a:latin typeface="MS PGothic"/>
                <a:cs typeface="MS PGothic"/>
              </a:rPr>
              <a:t> </a:t>
            </a:r>
            <a:r>
              <a:rPr sz="2100" spc="-8" dirty="0">
                <a:latin typeface="MS PGothic"/>
                <a:cs typeface="MS PGothic"/>
              </a:rPr>
              <a:t>World</a:t>
            </a:r>
            <a:r>
              <a:rPr sz="2100" spc="8" dirty="0">
                <a:latin typeface="MS PGothic"/>
                <a:cs typeface="MS PGothic"/>
              </a:rPr>
              <a:t> </a:t>
            </a:r>
            <a:r>
              <a:rPr sz="2100" spc="-8" dirty="0">
                <a:latin typeface="MS PGothic"/>
                <a:cs typeface="MS PGothic"/>
              </a:rPr>
              <a:t>Wide Web</a:t>
            </a:r>
            <a:r>
              <a:rPr sz="2100" dirty="0">
                <a:latin typeface="MS PGothic"/>
                <a:cs typeface="MS PGothic"/>
              </a:rPr>
              <a:t> </a:t>
            </a:r>
            <a:r>
              <a:rPr sz="2100" spc="-8" dirty="0">
                <a:latin typeface="MS PGothic"/>
                <a:cs typeface="MS PGothic"/>
              </a:rPr>
              <a:t>(WWW),</a:t>
            </a:r>
            <a:r>
              <a:rPr sz="2100" spc="19" dirty="0">
                <a:latin typeface="MS PGothic"/>
                <a:cs typeface="MS PGothic"/>
              </a:rPr>
              <a:t> </a:t>
            </a:r>
            <a:r>
              <a:rPr sz="2100" spc="-4" dirty="0">
                <a:latin typeface="MS PGothic"/>
                <a:cs typeface="MS PGothic"/>
              </a:rPr>
              <a:t>text</a:t>
            </a:r>
            <a:r>
              <a:rPr sz="2100" dirty="0">
                <a:latin typeface="MS PGothic"/>
                <a:cs typeface="MS PGothic"/>
              </a:rPr>
              <a:t> </a:t>
            </a:r>
            <a:r>
              <a:rPr sz="2100" spc="-4" dirty="0">
                <a:latin typeface="MS PGothic"/>
                <a:cs typeface="MS PGothic"/>
              </a:rPr>
              <a:t>files,</a:t>
            </a:r>
            <a:r>
              <a:rPr sz="2100" spc="4" dirty="0">
                <a:latin typeface="MS PGothic"/>
                <a:cs typeface="MS PGothic"/>
              </a:rPr>
              <a:t> </a:t>
            </a:r>
            <a:r>
              <a:rPr sz="2100" spc="-4" dirty="0">
                <a:latin typeface="MS PGothic"/>
                <a:cs typeface="MS PGothic"/>
              </a:rPr>
              <a:t>and </a:t>
            </a:r>
            <a:r>
              <a:rPr sz="2100" dirty="0">
                <a:latin typeface="MS PGothic"/>
                <a:cs typeface="MS PGothic"/>
              </a:rPr>
              <a:t> </a:t>
            </a:r>
            <a:r>
              <a:rPr sz="2100" spc="-4" dirty="0">
                <a:latin typeface="MS PGothic"/>
                <a:cs typeface="MS PGothic"/>
              </a:rPr>
              <a:t>other</a:t>
            </a:r>
            <a:r>
              <a:rPr sz="2100" spc="11" dirty="0">
                <a:latin typeface="MS PGothic"/>
                <a:cs typeface="MS PGothic"/>
              </a:rPr>
              <a:t> </a:t>
            </a:r>
            <a:r>
              <a:rPr sz="2100" spc="-8" dirty="0">
                <a:latin typeface="MS PGothic"/>
                <a:cs typeface="MS PGothic"/>
              </a:rPr>
              <a:t>documents.</a:t>
            </a:r>
            <a:r>
              <a:rPr sz="2100" spc="15" dirty="0">
                <a:latin typeface="MS PGothic"/>
                <a:cs typeface="MS PGothic"/>
              </a:rPr>
              <a:t> </a:t>
            </a:r>
            <a:r>
              <a:rPr sz="2100" spc="-4" dirty="0">
                <a:latin typeface="MS PGothic"/>
                <a:cs typeface="MS PGothic"/>
              </a:rPr>
              <a:t>You</a:t>
            </a:r>
            <a:r>
              <a:rPr sz="2100" spc="11" dirty="0">
                <a:latin typeface="MS PGothic"/>
                <a:cs typeface="MS PGothic"/>
              </a:rPr>
              <a:t> </a:t>
            </a:r>
            <a:r>
              <a:rPr sz="2100" spc="-4" dirty="0">
                <a:latin typeface="MS PGothic"/>
                <a:cs typeface="MS PGothic"/>
              </a:rPr>
              <a:t>need</a:t>
            </a:r>
            <a:r>
              <a:rPr sz="2100" dirty="0">
                <a:latin typeface="MS PGothic"/>
                <a:cs typeface="MS PGothic"/>
              </a:rPr>
              <a:t> </a:t>
            </a:r>
            <a:r>
              <a:rPr sz="2100" spc="-4" dirty="0">
                <a:latin typeface="MS PGothic"/>
                <a:cs typeface="MS PGothic"/>
              </a:rPr>
              <a:t>a</a:t>
            </a:r>
            <a:r>
              <a:rPr sz="2100" spc="8" dirty="0">
                <a:latin typeface="MS PGothic"/>
                <a:cs typeface="MS PGothic"/>
              </a:rPr>
              <a:t> </a:t>
            </a:r>
            <a:r>
              <a:rPr sz="2100" spc="-4" dirty="0">
                <a:latin typeface="MS PGothic"/>
                <a:cs typeface="MS PGothic"/>
              </a:rPr>
              <a:t>huge</a:t>
            </a:r>
            <a:r>
              <a:rPr sz="2100" spc="4" dirty="0">
                <a:latin typeface="MS PGothic"/>
                <a:cs typeface="MS PGothic"/>
              </a:rPr>
              <a:t> </a:t>
            </a:r>
            <a:r>
              <a:rPr sz="2100" spc="-4" dirty="0">
                <a:latin typeface="MS PGothic"/>
                <a:cs typeface="MS PGothic"/>
              </a:rPr>
              <a:t>amount</a:t>
            </a:r>
            <a:r>
              <a:rPr sz="2100" spc="8" dirty="0">
                <a:latin typeface="MS PGothic"/>
                <a:cs typeface="MS PGothic"/>
              </a:rPr>
              <a:t> </a:t>
            </a:r>
            <a:r>
              <a:rPr sz="2100" spc="-4" dirty="0">
                <a:latin typeface="MS PGothic"/>
                <a:cs typeface="MS PGothic"/>
              </a:rPr>
              <a:t>of</a:t>
            </a:r>
            <a:r>
              <a:rPr sz="2100" spc="4" dirty="0">
                <a:latin typeface="MS PGothic"/>
                <a:cs typeface="MS PGothic"/>
              </a:rPr>
              <a:t> </a:t>
            </a:r>
            <a:r>
              <a:rPr sz="2100" spc="-4" dirty="0">
                <a:latin typeface="MS PGothic"/>
                <a:cs typeface="MS PGothic"/>
              </a:rPr>
              <a:t>historical </a:t>
            </a:r>
            <a:r>
              <a:rPr sz="2100" dirty="0">
                <a:latin typeface="MS PGothic"/>
                <a:cs typeface="MS PGothic"/>
              </a:rPr>
              <a:t> </a:t>
            </a:r>
            <a:r>
              <a:rPr sz="2100" spc="-8" dirty="0">
                <a:latin typeface="MS PGothic"/>
                <a:cs typeface="MS PGothic"/>
              </a:rPr>
              <a:t>data</a:t>
            </a:r>
            <a:r>
              <a:rPr sz="2100" spc="-11" dirty="0">
                <a:latin typeface="MS PGothic"/>
                <a:cs typeface="MS PGothic"/>
              </a:rPr>
              <a:t> </a:t>
            </a:r>
            <a:r>
              <a:rPr sz="2100" spc="-4" dirty="0">
                <a:latin typeface="MS PGothic"/>
                <a:cs typeface="MS PGothic"/>
              </a:rPr>
              <a:t>for</a:t>
            </a:r>
            <a:r>
              <a:rPr sz="2100" spc="15" dirty="0">
                <a:latin typeface="MS PGothic"/>
                <a:cs typeface="MS PGothic"/>
              </a:rPr>
              <a:t> </a:t>
            </a:r>
            <a:r>
              <a:rPr sz="2100" spc="-8" dirty="0">
                <a:latin typeface="MS PGothic"/>
                <a:cs typeface="MS PGothic"/>
              </a:rPr>
              <a:t>data </a:t>
            </a:r>
            <a:r>
              <a:rPr sz="2100" spc="-4" dirty="0">
                <a:latin typeface="MS PGothic"/>
                <a:cs typeface="MS PGothic"/>
              </a:rPr>
              <a:t>mining</a:t>
            </a:r>
            <a:r>
              <a:rPr sz="2100" dirty="0">
                <a:latin typeface="MS PGothic"/>
                <a:cs typeface="MS PGothic"/>
              </a:rPr>
              <a:t> </a:t>
            </a:r>
            <a:r>
              <a:rPr sz="2100" spc="-4" dirty="0">
                <a:latin typeface="MS PGothic"/>
                <a:cs typeface="MS PGothic"/>
              </a:rPr>
              <a:t>to</a:t>
            </a:r>
            <a:r>
              <a:rPr sz="2100" dirty="0">
                <a:latin typeface="MS PGothic"/>
                <a:cs typeface="MS PGothic"/>
              </a:rPr>
              <a:t> </a:t>
            </a:r>
            <a:r>
              <a:rPr sz="2100" spc="-8" dirty="0">
                <a:latin typeface="MS PGothic"/>
                <a:cs typeface="MS PGothic"/>
              </a:rPr>
              <a:t>be</a:t>
            </a:r>
            <a:r>
              <a:rPr sz="2100" dirty="0">
                <a:latin typeface="MS PGothic"/>
                <a:cs typeface="MS PGothic"/>
              </a:rPr>
              <a:t> </a:t>
            </a:r>
            <a:r>
              <a:rPr sz="2100" spc="-4" dirty="0">
                <a:latin typeface="MS PGothic"/>
                <a:cs typeface="MS PGothic"/>
              </a:rPr>
              <a:t>successful.</a:t>
            </a:r>
            <a:endParaRPr sz="2100" dirty="0">
              <a:latin typeface="MS PGothic"/>
              <a:cs typeface="MS PGothic"/>
            </a:endParaRPr>
          </a:p>
          <a:p>
            <a:pPr marL="352425" marR="3810" indent="-343376">
              <a:spcBef>
                <a:spcPts val="465"/>
              </a:spcBef>
              <a:buFont typeface="Arial MT"/>
              <a:buChar char="•"/>
              <a:tabLst>
                <a:tab pos="352425" algn="l"/>
                <a:tab pos="352901" algn="l"/>
              </a:tabLst>
            </a:pPr>
            <a:r>
              <a:rPr sz="2100" b="1" spc="-116" dirty="0">
                <a:latin typeface="Trebuchet MS"/>
                <a:cs typeface="Trebuchet MS"/>
              </a:rPr>
              <a:t>Different</a:t>
            </a:r>
            <a:r>
              <a:rPr sz="2100" b="1" spc="-113" dirty="0">
                <a:latin typeface="Trebuchet MS"/>
                <a:cs typeface="Trebuchet MS"/>
              </a:rPr>
              <a:t> </a:t>
            </a:r>
            <a:r>
              <a:rPr sz="2100" b="1" spc="-83" dirty="0">
                <a:latin typeface="Trebuchet MS"/>
                <a:cs typeface="Trebuchet MS"/>
              </a:rPr>
              <a:t>processes: </a:t>
            </a:r>
            <a:r>
              <a:rPr sz="2100" spc="-4" dirty="0">
                <a:latin typeface="MS PGothic"/>
                <a:cs typeface="MS PGothic"/>
              </a:rPr>
              <a:t>Before </a:t>
            </a:r>
            <a:r>
              <a:rPr sz="2100" spc="-8" dirty="0">
                <a:latin typeface="MS PGothic"/>
                <a:cs typeface="MS PGothic"/>
              </a:rPr>
              <a:t>passing </a:t>
            </a:r>
            <a:r>
              <a:rPr sz="2100" spc="-4" dirty="0">
                <a:latin typeface="MS PGothic"/>
                <a:cs typeface="MS PGothic"/>
              </a:rPr>
              <a:t>the </a:t>
            </a:r>
            <a:r>
              <a:rPr sz="2100" spc="-8" dirty="0">
                <a:latin typeface="MS PGothic"/>
                <a:cs typeface="MS PGothic"/>
              </a:rPr>
              <a:t>data </a:t>
            </a:r>
            <a:r>
              <a:rPr sz="2100" spc="-4" dirty="0">
                <a:latin typeface="MS PGothic"/>
                <a:cs typeface="MS PGothic"/>
              </a:rPr>
              <a:t>to the </a:t>
            </a:r>
            <a:r>
              <a:rPr sz="2100" dirty="0">
                <a:latin typeface="MS PGothic"/>
                <a:cs typeface="MS PGothic"/>
              </a:rPr>
              <a:t> </a:t>
            </a:r>
            <a:r>
              <a:rPr sz="2100" spc="-8" dirty="0">
                <a:latin typeface="MS PGothic"/>
                <a:cs typeface="MS PGothic"/>
              </a:rPr>
              <a:t>database</a:t>
            </a:r>
            <a:r>
              <a:rPr sz="2100" spc="-4" dirty="0">
                <a:latin typeface="MS PGothic"/>
                <a:cs typeface="MS PGothic"/>
              </a:rPr>
              <a:t> or</a:t>
            </a:r>
            <a:r>
              <a:rPr sz="2100" spc="8" dirty="0">
                <a:latin typeface="MS PGothic"/>
                <a:cs typeface="MS PGothic"/>
              </a:rPr>
              <a:t> </a:t>
            </a:r>
            <a:r>
              <a:rPr sz="2100" spc="-8" dirty="0">
                <a:latin typeface="MS PGothic"/>
                <a:cs typeface="MS PGothic"/>
              </a:rPr>
              <a:t>data</a:t>
            </a:r>
            <a:r>
              <a:rPr sz="2100" spc="-11" dirty="0">
                <a:latin typeface="MS PGothic"/>
                <a:cs typeface="MS PGothic"/>
              </a:rPr>
              <a:t> </a:t>
            </a:r>
            <a:r>
              <a:rPr sz="2100" spc="-4" dirty="0">
                <a:latin typeface="MS PGothic"/>
                <a:cs typeface="MS PGothic"/>
              </a:rPr>
              <a:t>warehouse</a:t>
            </a:r>
            <a:r>
              <a:rPr sz="2100" spc="15" dirty="0">
                <a:latin typeface="MS PGothic"/>
                <a:cs typeface="MS PGothic"/>
              </a:rPr>
              <a:t> </a:t>
            </a:r>
            <a:r>
              <a:rPr sz="2100" spc="-4" dirty="0">
                <a:latin typeface="MS PGothic"/>
                <a:cs typeface="MS PGothic"/>
              </a:rPr>
              <a:t>server,</a:t>
            </a:r>
            <a:r>
              <a:rPr sz="2100" spc="30" dirty="0">
                <a:latin typeface="MS PGothic"/>
                <a:cs typeface="MS PGothic"/>
              </a:rPr>
              <a:t> </a:t>
            </a:r>
            <a:r>
              <a:rPr sz="2100" spc="-4" dirty="0">
                <a:latin typeface="MS PGothic"/>
                <a:cs typeface="MS PGothic"/>
              </a:rPr>
              <a:t>the</a:t>
            </a:r>
            <a:r>
              <a:rPr sz="2100" spc="-8" dirty="0">
                <a:latin typeface="MS PGothic"/>
                <a:cs typeface="MS PGothic"/>
              </a:rPr>
              <a:t> data </a:t>
            </a:r>
            <a:r>
              <a:rPr sz="2100" spc="-4" dirty="0">
                <a:latin typeface="MS PGothic"/>
                <a:cs typeface="MS PGothic"/>
              </a:rPr>
              <a:t>must </a:t>
            </a:r>
            <a:r>
              <a:rPr sz="2100" spc="-8" dirty="0">
                <a:latin typeface="MS PGothic"/>
                <a:cs typeface="MS PGothic"/>
              </a:rPr>
              <a:t>be </a:t>
            </a:r>
            <a:r>
              <a:rPr sz="2100" spc="-4" dirty="0">
                <a:latin typeface="MS PGothic"/>
                <a:cs typeface="MS PGothic"/>
              </a:rPr>
              <a:t> cleaned,</a:t>
            </a:r>
            <a:r>
              <a:rPr sz="2100" spc="4" dirty="0">
                <a:latin typeface="MS PGothic"/>
                <a:cs typeface="MS PGothic"/>
              </a:rPr>
              <a:t> </a:t>
            </a:r>
            <a:r>
              <a:rPr sz="2100" spc="-4" dirty="0">
                <a:latin typeface="MS PGothic"/>
                <a:cs typeface="MS PGothic"/>
              </a:rPr>
              <a:t>integrated,</a:t>
            </a:r>
            <a:r>
              <a:rPr sz="2100" spc="11" dirty="0">
                <a:latin typeface="MS PGothic"/>
                <a:cs typeface="MS PGothic"/>
              </a:rPr>
              <a:t> </a:t>
            </a:r>
            <a:r>
              <a:rPr sz="2100" spc="-4" dirty="0">
                <a:latin typeface="MS PGothic"/>
                <a:cs typeface="MS PGothic"/>
              </a:rPr>
              <a:t>and</a:t>
            </a:r>
            <a:r>
              <a:rPr sz="2100" dirty="0">
                <a:latin typeface="MS PGothic"/>
                <a:cs typeface="MS PGothic"/>
              </a:rPr>
              <a:t> </a:t>
            </a:r>
            <a:r>
              <a:rPr sz="2100" spc="-4" dirty="0">
                <a:latin typeface="MS PGothic"/>
                <a:cs typeface="MS PGothic"/>
              </a:rPr>
              <a:t>selected.</a:t>
            </a:r>
            <a:r>
              <a:rPr sz="2100" dirty="0">
                <a:latin typeface="MS PGothic"/>
                <a:cs typeface="MS PGothic"/>
              </a:rPr>
              <a:t> As</a:t>
            </a:r>
            <a:r>
              <a:rPr sz="2100" spc="4" dirty="0">
                <a:latin typeface="MS PGothic"/>
                <a:cs typeface="MS PGothic"/>
              </a:rPr>
              <a:t> </a:t>
            </a:r>
            <a:r>
              <a:rPr sz="2100" spc="-4" dirty="0">
                <a:latin typeface="MS PGothic"/>
                <a:cs typeface="MS PGothic"/>
              </a:rPr>
              <a:t>the</a:t>
            </a:r>
            <a:r>
              <a:rPr sz="2100" dirty="0">
                <a:latin typeface="MS PGothic"/>
                <a:cs typeface="MS PGothic"/>
              </a:rPr>
              <a:t> </a:t>
            </a:r>
            <a:r>
              <a:rPr sz="2100" spc="-4" dirty="0">
                <a:latin typeface="MS PGothic"/>
                <a:cs typeface="MS PGothic"/>
              </a:rPr>
              <a:t>information </a:t>
            </a:r>
            <a:r>
              <a:rPr sz="2100" dirty="0">
                <a:latin typeface="MS PGothic"/>
                <a:cs typeface="MS PGothic"/>
              </a:rPr>
              <a:t> </a:t>
            </a:r>
            <a:r>
              <a:rPr sz="2100" spc="-4" dirty="0">
                <a:latin typeface="MS PGothic"/>
                <a:cs typeface="MS PGothic"/>
              </a:rPr>
              <a:t>comes</a:t>
            </a:r>
            <a:r>
              <a:rPr sz="2100" dirty="0">
                <a:latin typeface="MS PGothic"/>
                <a:cs typeface="MS PGothic"/>
              </a:rPr>
              <a:t> </a:t>
            </a:r>
            <a:r>
              <a:rPr sz="2100" spc="-4" dirty="0">
                <a:latin typeface="MS PGothic"/>
                <a:cs typeface="MS PGothic"/>
              </a:rPr>
              <a:t>from</a:t>
            </a:r>
            <a:r>
              <a:rPr sz="2100" spc="15" dirty="0">
                <a:latin typeface="MS PGothic"/>
                <a:cs typeface="MS PGothic"/>
              </a:rPr>
              <a:t> </a:t>
            </a:r>
            <a:r>
              <a:rPr sz="2100" spc="-4" dirty="0">
                <a:latin typeface="MS PGothic"/>
                <a:cs typeface="MS PGothic"/>
              </a:rPr>
              <a:t>various</a:t>
            </a:r>
            <a:r>
              <a:rPr sz="2100" spc="15" dirty="0">
                <a:latin typeface="MS PGothic"/>
                <a:cs typeface="MS PGothic"/>
              </a:rPr>
              <a:t> </a:t>
            </a:r>
            <a:r>
              <a:rPr sz="2100" spc="-4" dirty="0">
                <a:latin typeface="MS PGothic"/>
                <a:cs typeface="MS PGothic"/>
              </a:rPr>
              <a:t>sources</a:t>
            </a:r>
            <a:r>
              <a:rPr sz="2100" spc="11" dirty="0">
                <a:latin typeface="MS PGothic"/>
                <a:cs typeface="MS PGothic"/>
              </a:rPr>
              <a:t> </a:t>
            </a:r>
            <a:r>
              <a:rPr sz="2100" spc="-4" dirty="0">
                <a:latin typeface="MS PGothic"/>
                <a:cs typeface="MS PGothic"/>
              </a:rPr>
              <a:t>and</a:t>
            </a:r>
            <a:r>
              <a:rPr sz="2100" dirty="0">
                <a:latin typeface="MS PGothic"/>
                <a:cs typeface="MS PGothic"/>
              </a:rPr>
              <a:t> </a:t>
            </a:r>
            <a:r>
              <a:rPr sz="2100" spc="-4" dirty="0">
                <a:latin typeface="MS PGothic"/>
                <a:cs typeface="MS PGothic"/>
              </a:rPr>
              <a:t>in different</a:t>
            </a:r>
            <a:r>
              <a:rPr sz="2100" spc="19" dirty="0">
                <a:latin typeface="MS PGothic"/>
                <a:cs typeface="MS PGothic"/>
              </a:rPr>
              <a:t> </a:t>
            </a:r>
            <a:r>
              <a:rPr sz="2100" spc="-4" dirty="0">
                <a:latin typeface="MS PGothic"/>
                <a:cs typeface="MS PGothic"/>
              </a:rPr>
              <a:t>formats,</a:t>
            </a:r>
            <a:r>
              <a:rPr sz="2100" spc="15" dirty="0">
                <a:latin typeface="MS PGothic"/>
                <a:cs typeface="MS PGothic"/>
              </a:rPr>
              <a:t> </a:t>
            </a:r>
            <a:r>
              <a:rPr sz="2100" spc="-4" dirty="0">
                <a:latin typeface="MS PGothic"/>
                <a:cs typeface="MS PGothic"/>
              </a:rPr>
              <a:t>it </a:t>
            </a:r>
            <a:r>
              <a:rPr sz="2100" dirty="0">
                <a:latin typeface="MS PGothic"/>
                <a:cs typeface="MS PGothic"/>
              </a:rPr>
              <a:t> </a:t>
            </a:r>
            <a:r>
              <a:rPr sz="2100" spc="-4" dirty="0">
                <a:latin typeface="MS PGothic"/>
                <a:cs typeface="MS PGothic"/>
              </a:rPr>
              <a:t>can't</a:t>
            </a:r>
            <a:r>
              <a:rPr sz="2100" dirty="0">
                <a:latin typeface="MS PGothic"/>
                <a:cs typeface="MS PGothic"/>
              </a:rPr>
              <a:t> </a:t>
            </a:r>
            <a:r>
              <a:rPr sz="2100" spc="-4" dirty="0">
                <a:latin typeface="MS PGothic"/>
                <a:cs typeface="MS PGothic"/>
              </a:rPr>
              <a:t>be used</a:t>
            </a:r>
            <a:r>
              <a:rPr sz="2100" dirty="0">
                <a:latin typeface="MS PGothic"/>
                <a:cs typeface="MS PGothic"/>
              </a:rPr>
              <a:t> </a:t>
            </a:r>
            <a:r>
              <a:rPr sz="2100" spc="-8" dirty="0">
                <a:latin typeface="MS PGothic"/>
                <a:cs typeface="MS PGothic"/>
              </a:rPr>
              <a:t>directly</a:t>
            </a:r>
            <a:r>
              <a:rPr sz="2100" dirty="0">
                <a:latin typeface="MS PGothic"/>
                <a:cs typeface="MS PGothic"/>
              </a:rPr>
              <a:t> </a:t>
            </a:r>
            <a:r>
              <a:rPr sz="2100" spc="-4" dirty="0">
                <a:latin typeface="MS PGothic"/>
                <a:cs typeface="MS PGothic"/>
              </a:rPr>
              <a:t>for</a:t>
            </a:r>
            <a:r>
              <a:rPr sz="2100" spc="15" dirty="0">
                <a:latin typeface="MS PGothic"/>
                <a:cs typeface="MS PGothic"/>
              </a:rPr>
              <a:t> </a:t>
            </a:r>
            <a:r>
              <a:rPr sz="2100" spc="-4" dirty="0">
                <a:latin typeface="MS PGothic"/>
                <a:cs typeface="MS PGothic"/>
              </a:rPr>
              <a:t>the </a:t>
            </a:r>
            <a:r>
              <a:rPr sz="2100" spc="-8" dirty="0">
                <a:latin typeface="MS PGothic"/>
                <a:cs typeface="MS PGothic"/>
              </a:rPr>
              <a:t>data</a:t>
            </a:r>
            <a:r>
              <a:rPr sz="2100" dirty="0">
                <a:latin typeface="MS PGothic"/>
                <a:cs typeface="MS PGothic"/>
              </a:rPr>
              <a:t> </a:t>
            </a:r>
            <a:r>
              <a:rPr sz="2100" spc="-4" dirty="0">
                <a:latin typeface="MS PGothic"/>
                <a:cs typeface="MS PGothic"/>
              </a:rPr>
              <a:t>mining procedure </a:t>
            </a:r>
            <a:r>
              <a:rPr sz="2100" dirty="0">
                <a:latin typeface="MS PGothic"/>
                <a:cs typeface="MS PGothic"/>
              </a:rPr>
              <a:t> </a:t>
            </a:r>
            <a:r>
              <a:rPr sz="2100" spc="-8" dirty="0">
                <a:latin typeface="MS PGothic"/>
                <a:cs typeface="MS PGothic"/>
              </a:rPr>
              <a:t>because</a:t>
            </a:r>
            <a:r>
              <a:rPr sz="2100" spc="-4" dirty="0">
                <a:latin typeface="MS PGothic"/>
                <a:cs typeface="MS PGothic"/>
              </a:rPr>
              <a:t> the</a:t>
            </a:r>
            <a:r>
              <a:rPr sz="2100" spc="4" dirty="0">
                <a:latin typeface="MS PGothic"/>
                <a:cs typeface="MS PGothic"/>
              </a:rPr>
              <a:t> </a:t>
            </a:r>
            <a:r>
              <a:rPr sz="2100" spc="-8" dirty="0">
                <a:latin typeface="MS PGothic"/>
                <a:cs typeface="MS PGothic"/>
              </a:rPr>
              <a:t>data may</a:t>
            </a:r>
            <a:r>
              <a:rPr sz="2100" spc="-4" dirty="0">
                <a:latin typeface="MS PGothic"/>
                <a:cs typeface="MS PGothic"/>
              </a:rPr>
              <a:t> not</a:t>
            </a:r>
            <a:r>
              <a:rPr sz="2100" spc="4" dirty="0">
                <a:latin typeface="MS PGothic"/>
                <a:cs typeface="MS PGothic"/>
              </a:rPr>
              <a:t> </a:t>
            </a:r>
            <a:r>
              <a:rPr sz="2100" spc="-4" dirty="0">
                <a:latin typeface="MS PGothic"/>
                <a:cs typeface="MS PGothic"/>
              </a:rPr>
              <a:t>be complete</a:t>
            </a:r>
            <a:r>
              <a:rPr sz="2100" dirty="0">
                <a:latin typeface="MS PGothic"/>
                <a:cs typeface="MS PGothic"/>
              </a:rPr>
              <a:t> </a:t>
            </a:r>
            <a:r>
              <a:rPr sz="2100" spc="-4" dirty="0">
                <a:latin typeface="MS PGothic"/>
                <a:cs typeface="MS PGothic"/>
              </a:rPr>
              <a:t>and</a:t>
            </a:r>
            <a:r>
              <a:rPr sz="2100" spc="4" dirty="0">
                <a:latin typeface="MS PGothic"/>
                <a:cs typeface="MS PGothic"/>
              </a:rPr>
              <a:t> </a:t>
            </a:r>
            <a:r>
              <a:rPr sz="2100" spc="-4" dirty="0">
                <a:latin typeface="MS PGothic"/>
                <a:cs typeface="MS PGothic"/>
              </a:rPr>
              <a:t>accurate.</a:t>
            </a:r>
            <a:r>
              <a:rPr sz="2100" spc="11" dirty="0">
                <a:latin typeface="MS PGothic"/>
                <a:cs typeface="MS PGothic"/>
              </a:rPr>
              <a:t> </a:t>
            </a:r>
            <a:r>
              <a:rPr sz="2100" spc="-4" dirty="0">
                <a:latin typeface="MS PGothic"/>
                <a:cs typeface="MS PGothic"/>
              </a:rPr>
              <a:t>So, </a:t>
            </a:r>
            <a:r>
              <a:rPr sz="2100" spc="-563" dirty="0">
                <a:latin typeface="MS PGothic"/>
                <a:cs typeface="MS PGothic"/>
              </a:rPr>
              <a:t> </a:t>
            </a:r>
            <a:r>
              <a:rPr sz="2100" spc="-4" dirty="0">
                <a:latin typeface="MS PGothic"/>
                <a:cs typeface="MS PGothic"/>
              </a:rPr>
              <a:t>the</a:t>
            </a:r>
            <a:r>
              <a:rPr sz="2100" dirty="0">
                <a:latin typeface="MS PGothic"/>
                <a:cs typeface="MS PGothic"/>
              </a:rPr>
              <a:t> </a:t>
            </a:r>
            <a:r>
              <a:rPr sz="2100" spc="-4" dirty="0">
                <a:latin typeface="MS PGothic"/>
                <a:cs typeface="MS PGothic"/>
              </a:rPr>
              <a:t>first</a:t>
            </a:r>
            <a:r>
              <a:rPr sz="2100" dirty="0">
                <a:latin typeface="MS PGothic"/>
                <a:cs typeface="MS PGothic"/>
              </a:rPr>
              <a:t> </a:t>
            </a:r>
            <a:r>
              <a:rPr sz="2100" spc="-8" dirty="0">
                <a:latin typeface="MS PGothic"/>
                <a:cs typeface="MS PGothic"/>
              </a:rPr>
              <a:t>data </a:t>
            </a:r>
            <a:r>
              <a:rPr sz="2100" spc="-4" dirty="0">
                <a:latin typeface="MS PGothic"/>
                <a:cs typeface="MS PGothic"/>
              </a:rPr>
              <a:t>requires</a:t>
            </a:r>
            <a:r>
              <a:rPr sz="2100" spc="11" dirty="0">
                <a:latin typeface="MS PGothic"/>
                <a:cs typeface="MS PGothic"/>
              </a:rPr>
              <a:t> </a:t>
            </a:r>
            <a:r>
              <a:rPr sz="2100" spc="-4" dirty="0">
                <a:latin typeface="MS PGothic"/>
                <a:cs typeface="MS PGothic"/>
              </a:rPr>
              <a:t>to</a:t>
            </a:r>
            <a:r>
              <a:rPr sz="2100" spc="4" dirty="0">
                <a:latin typeface="MS PGothic"/>
                <a:cs typeface="MS PGothic"/>
              </a:rPr>
              <a:t> </a:t>
            </a:r>
            <a:r>
              <a:rPr sz="2100" spc="-4" dirty="0">
                <a:latin typeface="MS PGothic"/>
                <a:cs typeface="MS PGothic"/>
              </a:rPr>
              <a:t>be</a:t>
            </a:r>
            <a:r>
              <a:rPr sz="2100" dirty="0">
                <a:latin typeface="MS PGothic"/>
                <a:cs typeface="MS PGothic"/>
              </a:rPr>
              <a:t> </a:t>
            </a:r>
            <a:r>
              <a:rPr sz="2100" spc="-4" dirty="0">
                <a:latin typeface="MS PGothic"/>
                <a:cs typeface="MS PGothic"/>
              </a:rPr>
              <a:t>cleaned</a:t>
            </a:r>
            <a:r>
              <a:rPr sz="2100" dirty="0">
                <a:latin typeface="MS PGothic"/>
                <a:cs typeface="MS PGothic"/>
              </a:rPr>
              <a:t> </a:t>
            </a:r>
            <a:r>
              <a:rPr sz="2100" spc="-4" dirty="0">
                <a:latin typeface="MS PGothic"/>
                <a:cs typeface="MS PGothic"/>
              </a:rPr>
              <a:t>and</a:t>
            </a:r>
            <a:r>
              <a:rPr sz="2100" spc="4" dirty="0">
                <a:latin typeface="MS PGothic"/>
                <a:cs typeface="MS PGothic"/>
              </a:rPr>
              <a:t> </a:t>
            </a:r>
            <a:r>
              <a:rPr sz="2100" spc="-4" dirty="0">
                <a:latin typeface="MS PGothic"/>
                <a:cs typeface="MS PGothic"/>
              </a:rPr>
              <a:t>unified</a:t>
            </a:r>
            <a:r>
              <a:rPr sz="2700" spc="-4" dirty="0">
                <a:latin typeface="MS PGothic"/>
                <a:cs typeface="MS PGothic"/>
              </a:rPr>
              <a:t>.</a:t>
            </a:r>
            <a:endParaRPr sz="2700" dirty="0">
              <a:latin typeface="MS PGothic"/>
              <a:cs typeface="MS PGothic"/>
            </a:endParaRPr>
          </a:p>
        </p:txBody>
      </p:sp>
      <p:sp>
        <p:nvSpPr>
          <p:cNvPr id="6" name="Date Placeholder 5">
            <a:extLst>
              <a:ext uri="{FF2B5EF4-FFF2-40B4-BE49-F238E27FC236}">
                <a16:creationId xmlns:a16="http://schemas.microsoft.com/office/drawing/2014/main" id="{231E1325-B145-CE02-F89A-78086B48581E}"/>
              </a:ext>
            </a:extLst>
          </p:cNvPr>
          <p:cNvSpPr>
            <a:spLocks noGrp="1"/>
          </p:cNvSpPr>
          <p:nvPr>
            <p:ph type="dt" sz="half" idx="6"/>
          </p:nvPr>
        </p:nvSpPr>
        <p:spPr/>
        <p:txBody>
          <a:bodyPr/>
          <a:lstStyle/>
          <a:p>
            <a:fld id="{CD6C1BEE-75BE-D648-B076-D60F75485646}" type="datetime1">
              <a:rPr lang="en-US" smtClean="0"/>
              <a:t>11/17/25</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68527" y="749618"/>
            <a:ext cx="5549741" cy="470802"/>
          </a:xfrm>
          <a:prstGeom prst="rect">
            <a:avLst/>
          </a:prstGeom>
        </p:spPr>
        <p:txBody>
          <a:bodyPr vert="horz" wrap="square" lIns="0" tIns="9049" rIns="0" bIns="0" rtlCol="0">
            <a:spAutoFit/>
          </a:bodyPr>
          <a:lstStyle/>
          <a:p>
            <a:pPr marL="9525">
              <a:spcBef>
                <a:spcPts val="71"/>
              </a:spcBef>
            </a:pPr>
            <a:r>
              <a:rPr sz="3000" b="1" spc="-4" dirty="0">
                <a:solidFill>
                  <a:srgbClr val="C00000"/>
                </a:solidFill>
              </a:rPr>
              <a:t>Data</a:t>
            </a:r>
            <a:r>
              <a:rPr sz="3000" b="1" spc="-11" dirty="0">
                <a:solidFill>
                  <a:srgbClr val="C00000"/>
                </a:solidFill>
              </a:rPr>
              <a:t> </a:t>
            </a:r>
            <a:r>
              <a:rPr sz="3000" b="1" spc="-4" dirty="0">
                <a:solidFill>
                  <a:srgbClr val="C00000"/>
                </a:solidFill>
              </a:rPr>
              <a:t>Mining</a:t>
            </a:r>
            <a:r>
              <a:rPr sz="3000" b="1" spc="-176" dirty="0">
                <a:solidFill>
                  <a:srgbClr val="C00000"/>
                </a:solidFill>
              </a:rPr>
              <a:t> </a:t>
            </a:r>
            <a:r>
              <a:rPr sz="3000" b="1" spc="-8" dirty="0">
                <a:solidFill>
                  <a:srgbClr val="C00000"/>
                </a:solidFill>
              </a:rPr>
              <a:t>Architecture(cont…)</a:t>
            </a:r>
            <a:endParaRPr sz="3000"/>
          </a:p>
        </p:txBody>
      </p:sp>
      <p:sp>
        <p:nvSpPr>
          <p:cNvPr id="3" name="object 3"/>
          <p:cNvSpPr txBox="1"/>
          <p:nvPr/>
        </p:nvSpPr>
        <p:spPr>
          <a:xfrm>
            <a:off x="285750" y="1225869"/>
            <a:ext cx="8347583" cy="3341139"/>
          </a:xfrm>
          <a:prstGeom prst="rect">
            <a:avLst/>
          </a:prstGeom>
        </p:spPr>
        <p:txBody>
          <a:bodyPr vert="horz" wrap="square" lIns="0" tIns="57626" rIns="0" bIns="0" rtlCol="0">
            <a:spAutoFit/>
          </a:bodyPr>
          <a:lstStyle/>
          <a:p>
            <a:pPr marL="9525" marR="294323" algn="just">
              <a:spcBef>
                <a:spcPts val="454"/>
              </a:spcBef>
            </a:pPr>
            <a:r>
              <a:rPr sz="2100" b="1" spc="-68" dirty="0">
                <a:latin typeface="MS PGothic" panose="020B0600070205080204" pitchFamily="34" charset="-128"/>
                <a:ea typeface="MS PGothic" panose="020B0600070205080204" pitchFamily="34" charset="-128"/>
                <a:cs typeface="Trebuchet MS"/>
              </a:rPr>
              <a:t>Database </a:t>
            </a:r>
            <a:r>
              <a:rPr sz="2100" b="1" spc="-113" dirty="0">
                <a:latin typeface="MS PGothic" panose="020B0600070205080204" pitchFamily="34" charset="-128"/>
                <a:ea typeface="MS PGothic" panose="020B0600070205080204" pitchFamily="34" charset="-128"/>
                <a:cs typeface="Trebuchet MS"/>
              </a:rPr>
              <a:t>or</a:t>
            </a:r>
            <a:r>
              <a:rPr sz="2100" b="1" spc="-109" dirty="0">
                <a:latin typeface="MS PGothic" panose="020B0600070205080204" pitchFamily="34" charset="-128"/>
                <a:ea typeface="MS PGothic" panose="020B0600070205080204" pitchFamily="34" charset="-128"/>
                <a:cs typeface="Trebuchet MS"/>
              </a:rPr>
              <a:t> </a:t>
            </a:r>
            <a:r>
              <a:rPr sz="2100" b="1" spc="-60" dirty="0">
                <a:latin typeface="MS PGothic" panose="020B0600070205080204" pitchFamily="34" charset="-128"/>
                <a:ea typeface="MS PGothic" panose="020B0600070205080204" pitchFamily="34" charset="-128"/>
                <a:cs typeface="Trebuchet MS"/>
              </a:rPr>
              <a:t>Data </a:t>
            </a:r>
            <a:r>
              <a:rPr sz="2100" b="1" spc="-113" dirty="0">
                <a:latin typeface="MS PGothic" panose="020B0600070205080204" pitchFamily="34" charset="-128"/>
                <a:ea typeface="MS PGothic" panose="020B0600070205080204" pitchFamily="34" charset="-128"/>
                <a:cs typeface="Trebuchet MS"/>
              </a:rPr>
              <a:t>Warehouse</a:t>
            </a:r>
            <a:r>
              <a:rPr sz="2100" b="1" spc="-109" dirty="0">
                <a:latin typeface="MS PGothic" panose="020B0600070205080204" pitchFamily="34" charset="-128"/>
                <a:ea typeface="MS PGothic" panose="020B0600070205080204" pitchFamily="34" charset="-128"/>
                <a:cs typeface="Trebuchet MS"/>
              </a:rPr>
              <a:t> </a:t>
            </a:r>
            <a:r>
              <a:rPr sz="2100" b="1" spc="-98" dirty="0">
                <a:latin typeface="MS PGothic" panose="020B0600070205080204" pitchFamily="34" charset="-128"/>
                <a:ea typeface="MS PGothic" panose="020B0600070205080204" pitchFamily="34" charset="-128"/>
                <a:cs typeface="Trebuchet MS"/>
              </a:rPr>
              <a:t>Server:</a:t>
            </a:r>
            <a:r>
              <a:rPr sz="2100" b="1" spc="-94" dirty="0">
                <a:latin typeface="MS PGothic" panose="020B0600070205080204" pitchFamily="34" charset="-128"/>
                <a:ea typeface="MS PGothic" panose="020B0600070205080204" pitchFamily="34" charset="-128"/>
                <a:cs typeface="Trebuchet MS"/>
              </a:rPr>
              <a:t> </a:t>
            </a:r>
            <a:r>
              <a:rPr sz="2100" spc="-4" dirty="0">
                <a:latin typeface="MS PGothic" panose="020B0600070205080204" pitchFamily="34" charset="-128"/>
                <a:ea typeface="MS PGothic" panose="020B0600070205080204" pitchFamily="34" charset="-128"/>
                <a:cs typeface="MS PGothic"/>
              </a:rPr>
              <a:t>The database or data </a:t>
            </a:r>
            <a:r>
              <a:rPr sz="2100" dirty="0">
                <a:latin typeface="MS PGothic" panose="020B0600070205080204" pitchFamily="34" charset="-128"/>
                <a:ea typeface="MS PGothic" panose="020B0600070205080204" pitchFamily="34" charset="-128"/>
                <a:cs typeface="MS PGothic"/>
              </a:rPr>
              <a:t> </a:t>
            </a:r>
            <a:r>
              <a:rPr sz="2100" spc="-4" dirty="0">
                <a:latin typeface="MS PGothic" panose="020B0600070205080204" pitchFamily="34" charset="-128"/>
                <a:ea typeface="MS PGothic" panose="020B0600070205080204" pitchFamily="34" charset="-128"/>
                <a:cs typeface="MS PGothic"/>
              </a:rPr>
              <a:t>warehouse server</a:t>
            </a:r>
            <a:r>
              <a:rPr sz="2100" spc="4" dirty="0">
                <a:latin typeface="MS PGothic" panose="020B0600070205080204" pitchFamily="34" charset="-128"/>
                <a:ea typeface="MS PGothic" panose="020B0600070205080204" pitchFamily="34" charset="-128"/>
                <a:cs typeface="MS PGothic"/>
              </a:rPr>
              <a:t> </a:t>
            </a:r>
            <a:r>
              <a:rPr sz="2100" spc="-4" dirty="0">
                <a:latin typeface="MS PGothic" panose="020B0600070205080204" pitchFamily="34" charset="-128"/>
                <a:ea typeface="MS PGothic" panose="020B0600070205080204" pitchFamily="34" charset="-128"/>
                <a:cs typeface="MS PGothic"/>
              </a:rPr>
              <a:t>consists</a:t>
            </a:r>
            <a:r>
              <a:rPr sz="2100" spc="8" dirty="0">
                <a:latin typeface="MS PGothic" panose="020B0600070205080204" pitchFamily="34" charset="-128"/>
                <a:ea typeface="MS PGothic" panose="020B0600070205080204" pitchFamily="34" charset="-128"/>
                <a:cs typeface="MS PGothic"/>
              </a:rPr>
              <a:t> </a:t>
            </a:r>
            <a:r>
              <a:rPr sz="2100" spc="-4" dirty="0">
                <a:latin typeface="MS PGothic" panose="020B0600070205080204" pitchFamily="34" charset="-128"/>
                <a:ea typeface="MS PGothic" panose="020B0600070205080204" pitchFamily="34" charset="-128"/>
                <a:cs typeface="MS PGothic"/>
              </a:rPr>
              <a:t>of</a:t>
            </a:r>
            <a:r>
              <a:rPr sz="2100" spc="4" dirty="0">
                <a:latin typeface="MS PGothic" panose="020B0600070205080204" pitchFamily="34" charset="-128"/>
                <a:ea typeface="MS PGothic" panose="020B0600070205080204" pitchFamily="34" charset="-128"/>
                <a:cs typeface="MS PGothic"/>
              </a:rPr>
              <a:t> </a:t>
            </a:r>
            <a:r>
              <a:rPr sz="2100" spc="-4" dirty="0">
                <a:latin typeface="MS PGothic" panose="020B0600070205080204" pitchFamily="34" charset="-128"/>
                <a:ea typeface="MS PGothic" panose="020B0600070205080204" pitchFamily="34" charset="-128"/>
                <a:cs typeface="MS PGothic"/>
              </a:rPr>
              <a:t>the</a:t>
            </a:r>
            <a:r>
              <a:rPr sz="2100" spc="11" dirty="0">
                <a:latin typeface="MS PGothic" panose="020B0600070205080204" pitchFamily="34" charset="-128"/>
                <a:ea typeface="MS PGothic" panose="020B0600070205080204" pitchFamily="34" charset="-128"/>
                <a:cs typeface="MS PGothic"/>
              </a:rPr>
              <a:t> </a:t>
            </a:r>
            <a:r>
              <a:rPr sz="2100" spc="-4" dirty="0">
                <a:latin typeface="MS PGothic" panose="020B0600070205080204" pitchFamily="34" charset="-128"/>
                <a:ea typeface="MS PGothic" panose="020B0600070205080204" pitchFamily="34" charset="-128"/>
                <a:cs typeface="MS PGothic"/>
              </a:rPr>
              <a:t>original</a:t>
            </a:r>
            <a:r>
              <a:rPr sz="2100" dirty="0">
                <a:latin typeface="MS PGothic" panose="020B0600070205080204" pitchFamily="34" charset="-128"/>
                <a:ea typeface="MS PGothic" panose="020B0600070205080204" pitchFamily="34" charset="-128"/>
                <a:cs typeface="MS PGothic"/>
              </a:rPr>
              <a:t> </a:t>
            </a:r>
            <a:r>
              <a:rPr sz="2100" spc="-8" dirty="0">
                <a:latin typeface="MS PGothic" panose="020B0600070205080204" pitchFamily="34" charset="-128"/>
                <a:ea typeface="MS PGothic" panose="020B0600070205080204" pitchFamily="34" charset="-128"/>
                <a:cs typeface="MS PGothic"/>
              </a:rPr>
              <a:t>data</a:t>
            </a:r>
            <a:r>
              <a:rPr sz="2100" spc="4" dirty="0">
                <a:latin typeface="MS PGothic" panose="020B0600070205080204" pitchFamily="34" charset="-128"/>
                <a:ea typeface="MS PGothic" panose="020B0600070205080204" pitchFamily="34" charset="-128"/>
                <a:cs typeface="MS PGothic"/>
              </a:rPr>
              <a:t> </a:t>
            </a:r>
            <a:r>
              <a:rPr sz="2100" spc="-4" dirty="0">
                <a:latin typeface="MS PGothic" panose="020B0600070205080204" pitchFamily="34" charset="-128"/>
                <a:ea typeface="MS PGothic" panose="020B0600070205080204" pitchFamily="34" charset="-128"/>
                <a:cs typeface="MS PGothic"/>
              </a:rPr>
              <a:t>that</a:t>
            </a:r>
            <a:r>
              <a:rPr sz="2100" spc="15" dirty="0">
                <a:latin typeface="MS PGothic" panose="020B0600070205080204" pitchFamily="34" charset="-128"/>
                <a:ea typeface="MS PGothic" panose="020B0600070205080204" pitchFamily="34" charset="-128"/>
                <a:cs typeface="MS PGothic"/>
              </a:rPr>
              <a:t> </a:t>
            </a:r>
            <a:r>
              <a:rPr sz="2100" spc="-4" dirty="0">
                <a:latin typeface="MS PGothic" panose="020B0600070205080204" pitchFamily="34" charset="-128"/>
                <a:ea typeface="MS PGothic" panose="020B0600070205080204" pitchFamily="34" charset="-128"/>
                <a:cs typeface="MS PGothic"/>
              </a:rPr>
              <a:t>is</a:t>
            </a:r>
            <a:r>
              <a:rPr sz="2100" spc="4" dirty="0">
                <a:latin typeface="MS PGothic" panose="020B0600070205080204" pitchFamily="34" charset="-128"/>
                <a:ea typeface="MS PGothic" panose="020B0600070205080204" pitchFamily="34" charset="-128"/>
                <a:cs typeface="MS PGothic"/>
              </a:rPr>
              <a:t> </a:t>
            </a:r>
            <a:r>
              <a:rPr sz="2100" dirty="0">
                <a:latin typeface="MS PGothic" panose="020B0600070205080204" pitchFamily="34" charset="-128"/>
                <a:ea typeface="MS PGothic" panose="020B0600070205080204" pitchFamily="34" charset="-128"/>
                <a:cs typeface="MS PGothic"/>
              </a:rPr>
              <a:t>ready</a:t>
            </a:r>
            <a:r>
              <a:rPr sz="2100" spc="4" dirty="0">
                <a:latin typeface="MS PGothic" panose="020B0600070205080204" pitchFamily="34" charset="-128"/>
                <a:ea typeface="MS PGothic" panose="020B0600070205080204" pitchFamily="34" charset="-128"/>
                <a:cs typeface="MS PGothic"/>
              </a:rPr>
              <a:t> </a:t>
            </a:r>
            <a:r>
              <a:rPr sz="2100" spc="-8" dirty="0">
                <a:latin typeface="MS PGothic" panose="020B0600070205080204" pitchFamily="34" charset="-128"/>
                <a:ea typeface="MS PGothic" panose="020B0600070205080204" pitchFamily="34" charset="-128"/>
                <a:cs typeface="MS PGothic"/>
              </a:rPr>
              <a:t>to</a:t>
            </a:r>
            <a:r>
              <a:rPr lang="en-US" sz="2100" spc="-8" dirty="0">
                <a:latin typeface="MS PGothic" panose="020B0600070205080204" pitchFamily="34" charset="-128"/>
                <a:ea typeface="MS PGothic" panose="020B0600070205080204" pitchFamily="34" charset="-128"/>
                <a:cs typeface="MS PGothic"/>
              </a:rPr>
              <a:t> </a:t>
            </a:r>
            <a:r>
              <a:rPr sz="2100" spc="-8" dirty="0">
                <a:latin typeface="MS PGothic" panose="020B0600070205080204" pitchFamily="34" charset="-128"/>
                <a:ea typeface="MS PGothic" panose="020B0600070205080204" pitchFamily="34" charset="-128"/>
                <a:cs typeface="MS PGothic"/>
              </a:rPr>
              <a:t>be </a:t>
            </a:r>
            <a:r>
              <a:rPr sz="2100" spc="-491" dirty="0">
                <a:latin typeface="MS PGothic" panose="020B0600070205080204" pitchFamily="34" charset="-128"/>
                <a:ea typeface="MS PGothic" panose="020B0600070205080204" pitchFamily="34" charset="-128"/>
                <a:cs typeface="MS PGothic"/>
              </a:rPr>
              <a:t> </a:t>
            </a:r>
            <a:r>
              <a:rPr sz="2100" spc="-4" dirty="0">
                <a:latin typeface="MS PGothic" panose="020B0600070205080204" pitchFamily="34" charset="-128"/>
                <a:ea typeface="MS PGothic" panose="020B0600070205080204" pitchFamily="34" charset="-128"/>
                <a:cs typeface="MS PGothic"/>
              </a:rPr>
              <a:t>processed.</a:t>
            </a:r>
            <a:r>
              <a:rPr sz="2100" spc="-8" dirty="0">
                <a:latin typeface="MS PGothic" panose="020B0600070205080204" pitchFamily="34" charset="-128"/>
                <a:ea typeface="MS PGothic" panose="020B0600070205080204" pitchFamily="34" charset="-128"/>
                <a:cs typeface="MS PGothic"/>
              </a:rPr>
              <a:t> </a:t>
            </a:r>
            <a:r>
              <a:rPr sz="2100" spc="-4" dirty="0">
                <a:latin typeface="MS PGothic" panose="020B0600070205080204" pitchFamily="34" charset="-128"/>
                <a:ea typeface="MS PGothic" panose="020B0600070205080204" pitchFamily="34" charset="-128"/>
                <a:cs typeface="MS PGothic"/>
              </a:rPr>
              <a:t>Hence,</a:t>
            </a:r>
            <a:r>
              <a:rPr sz="2100" spc="4" dirty="0">
                <a:latin typeface="MS PGothic" panose="020B0600070205080204" pitchFamily="34" charset="-128"/>
                <a:ea typeface="MS PGothic" panose="020B0600070205080204" pitchFamily="34" charset="-128"/>
                <a:cs typeface="MS PGothic"/>
              </a:rPr>
              <a:t> </a:t>
            </a:r>
            <a:r>
              <a:rPr sz="2100" spc="-4" dirty="0">
                <a:latin typeface="MS PGothic" panose="020B0600070205080204" pitchFamily="34" charset="-128"/>
                <a:ea typeface="MS PGothic" panose="020B0600070205080204" pitchFamily="34" charset="-128"/>
                <a:cs typeface="MS PGothic"/>
              </a:rPr>
              <a:t>the</a:t>
            </a:r>
            <a:r>
              <a:rPr sz="2100" spc="8" dirty="0">
                <a:latin typeface="MS PGothic" panose="020B0600070205080204" pitchFamily="34" charset="-128"/>
                <a:ea typeface="MS PGothic" panose="020B0600070205080204" pitchFamily="34" charset="-128"/>
                <a:cs typeface="MS PGothic"/>
              </a:rPr>
              <a:t> </a:t>
            </a:r>
            <a:r>
              <a:rPr sz="2100" spc="-4" dirty="0">
                <a:latin typeface="MS PGothic" panose="020B0600070205080204" pitchFamily="34" charset="-128"/>
                <a:ea typeface="MS PGothic" panose="020B0600070205080204" pitchFamily="34" charset="-128"/>
                <a:cs typeface="MS PGothic"/>
              </a:rPr>
              <a:t>server</a:t>
            </a:r>
            <a:r>
              <a:rPr sz="2100" spc="8" dirty="0">
                <a:latin typeface="MS PGothic" panose="020B0600070205080204" pitchFamily="34" charset="-128"/>
                <a:ea typeface="MS PGothic" panose="020B0600070205080204" pitchFamily="34" charset="-128"/>
                <a:cs typeface="MS PGothic"/>
              </a:rPr>
              <a:t> </a:t>
            </a:r>
            <a:r>
              <a:rPr sz="2100" spc="-4" dirty="0">
                <a:latin typeface="MS PGothic" panose="020B0600070205080204" pitchFamily="34" charset="-128"/>
                <a:ea typeface="MS PGothic" panose="020B0600070205080204" pitchFamily="34" charset="-128"/>
                <a:cs typeface="MS PGothic"/>
              </a:rPr>
              <a:t>is</a:t>
            </a:r>
            <a:r>
              <a:rPr sz="2100" spc="4" dirty="0">
                <a:latin typeface="MS PGothic" panose="020B0600070205080204" pitchFamily="34" charset="-128"/>
                <a:ea typeface="MS PGothic" panose="020B0600070205080204" pitchFamily="34" charset="-128"/>
                <a:cs typeface="MS PGothic"/>
              </a:rPr>
              <a:t> </a:t>
            </a:r>
            <a:r>
              <a:rPr sz="2100" spc="-4" dirty="0">
                <a:latin typeface="MS PGothic" panose="020B0600070205080204" pitchFamily="34" charset="-128"/>
                <a:ea typeface="MS PGothic" panose="020B0600070205080204" pitchFamily="34" charset="-128"/>
                <a:cs typeface="MS PGothic"/>
              </a:rPr>
              <a:t>cause</a:t>
            </a:r>
            <a:r>
              <a:rPr sz="2100" spc="8" dirty="0">
                <a:latin typeface="MS PGothic" panose="020B0600070205080204" pitchFamily="34" charset="-128"/>
                <a:ea typeface="MS PGothic" panose="020B0600070205080204" pitchFamily="34" charset="-128"/>
                <a:cs typeface="MS PGothic"/>
              </a:rPr>
              <a:t> </a:t>
            </a:r>
            <a:r>
              <a:rPr sz="2100" dirty="0">
                <a:latin typeface="MS PGothic" panose="020B0600070205080204" pitchFamily="34" charset="-128"/>
                <a:ea typeface="MS PGothic" panose="020B0600070205080204" pitchFamily="34" charset="-128"/>
                <a:cs typeface="MS PGothic"/>
              </a:rPr>
              <a:t>for</a:t>
            </a:r>
            <a:r>
              <a:rPr sz="2100" spc="8" dirty="0">
                <a:latin typeface="MS PGothic" panose="020B0600070205080204" pitchFamily="34" charset="-128"/>
                <a:ea typeface="MS PGothic" panose="020B0600070205080204" pitchFamily="34" charset="-128"/>
                <a:cs typeface="MS PGothic"/>
              </a:rPr>
              <a:t> </a:t>
            </a:r>
            <a:r>
              <a:rPr sz="2100" spc="-4" dirty="0">
                <a:latin typeface="MS PGothic" panose="020B0600070205080204" pitchFamily="34" charset="-128"/>
                <a:ea typeface="MS PGothic" panose="020B0600070205080204" pitchFamily="34" charset="-128"/>
                <a:cs typeface="MS PGothic"/>
              </a:rPr>
              <a:t>retrieving the</a:t>
            </a:r>
            <a:r>
              <a:rPr sz="2100" spc="8" dirty="0">
                <a:latin typeface="MS PGothic" panose="020B0600070205080204" pitchFamily="34" charset="-128"/>
                <a:ea typeface="MS PGothic" panose="020B0600070205080204" pitchFamily="34" charset="-128"/>
                <a:cs typeface="MS PGothic"/>
              </a:rPr>
              <a:t> </a:t>
            </a:r>
            <a:r>
              <a:rPr sz="2100" spc="-4" dirty="0">
                <a:latin typeface="MS PGothic" panose="020B0600070205080204" pitchFamily="34" charset="-128"/>
                <a:ea typeface="MS PGothic" panose="020B0600070205080204" pitchFamily="34" charset="-128"/>
                <a:cs typeface="MS PGothic"/>
              </a:rPr>
              <a:t>relevant </a:t>
            </a:r>
            <a:r>
              <a:rPr sz="2100" dirty="0">
                <a:latin typeface="MS PGothic" panose="020B0600070205080204" pitchFamily="34" charset="-128"/>
                <a:ea typeface="MS PGothic" panose="020B0600070205080204" pitchFamily="34" charset="-128"/>
                <a:cs typeface="MS PGothic"/>
              </a:rPr>
              <a:t> </a:t>
            </a:r>
            <a:r>
              <a:rPr sz="2100" spc="-8" dirty="0">
                <a:latin typeface="MS PGothic" panose="020B0600070205080204" pitchFamily="34" charset="-128"/>
                <a:ea typeface="MS PGothic" panose="020B0600070205080204" pitchFamily="34" charset="-128"/>
                <a:cs typeface="MS PGothic"/>
              </a:rPr>
              <a:t>data</a:t>
            </a:r>
            <a:r>
              <a:rPr sz="2100" dirty="0">
                <a:latin typeface="MS PGothic" panose="020B0600070205080204" pitchFamily="34" charset="-128"/>
                <a:ea typeface="MS PGothic" panose="020B0600070205080204" pitchFamily="34" charset="-128"/>
                <a:cs typeface="MS PGothic"/>
              </a:rPr>
              <a:t> </a:t>
            </a:r>
            <a:r>
              <a:rPr sz="2100" spc="-4" dirty="0">
                <a:latin typeface="MS PGothic" panose="020B0600070205080204" pitchFamily="34" charset="-128"/>
                <a:ea typeface="MS PGothic" panose="020B0600070205080204" pitchFamily="34" charset="-128"/>
                <a:cs typeface="MS PGothic"/>
              </a:rPr>
              <a:t>that</a:t>
            </a:r>
            <a:r>
              <a:rPr sz="2100" spc="11" dirty="0">
                <a:latin typeface="MS PGothic" panose="020B0600070205080204" pitchFamily="34" charset="-128"/>
                <a:ea typeface="MS PGothic" panose="020B0600070205080204" pitchFamily="34" charset="-128"/>
                <a:cs typeface="MS PGothic"/>
              </a:rPr>
              <a:t> </a:t>
            </a:r>
            <a:r>
              <a:rPr sz="2100" spc="-4" dirty="0">
                <a:latin typeface="MS PGothic" panose="020B0600070205080204" pitchFamily="34" charset="-128"/>
                <a:ea typeface="MS PGothic" panose="020B0600070205080204" pitchFamily="34" charset="-128"/>
                <a:cs typeface="MS PGothic"/>
              </a:rPr>
              <a:t>is</a:t>
            </a:r>
            <a:r>
              <a:rPr sz="2100" dirty="0">
                <a:latin typeface="MS PGothic" panose="020B0600070205080204" pitchFamily="34" charset="-128"/>
                <a:ea typeface="MS PGothic" panose="020B0600070205080204" pitchFamily="34" charset="-128"/>
                <a:cs typeface="MS PGothic"/>
              </a:rPr>
              <a:t> </a:t>
            </a:r>
            <a:r>
              <a:rPr sz="2100" spc="-8" dirty="0">
                <a:latin typeface="MS PGothic" panose="020B0600070205080204" pitchFamily="34" charset="-128"/>
                <a:ea typeface="MS PGothic" panose="020B0600070205080204" pitchFamily="34" charset="-128"/>
                <a:cs typeface="MS PGothic"/>
              </a:rPr>
              <a:t>based</a:t>
            </a:r>
            <a:r>
              <a:rPr sz="2100" spc="4" dirty="0">
                <a:latin typeface="MS PGothic" panose="020B0600070205080204" pitchFamily="34" charset="-128"/>
                <a:ea typeface="MS PGothic" panose="020B0600070205080204" pitchFamily="34" charset="-128"/>
                <a:cs typeface="MS PGothic"/>
              </a:rPr>
              <a:t> </a:t>
            </a:r>
            <a:r>
              <a:rPr sz="2100" spc="-4" dirty="0">
                <a:latin typeface="MS PGothic" panose="020B0600070205080204" pitchFamily="34" charset="-128"/>
                <a:ea typeface="MS PGothic" panose="020B0600070205080204" pitchFamily="34" charset="-128"/>
                <a:cs typeface="MS PGothic"/>
              </a:rPr>
              <a:t>on</a:t>
            </a:r>
            <a:r>
              <a:rPr sz="2100" spc="8" dirty="0">
                <a:latin typeface="MS PGothic" panose="020B0600070205080204" pitchFamily="34" charset="-128"/>
                <a:ea typeface="MS PGothic" panose="020B0600070205080204" pitchFamily="34" charset="-128"/>
                <a:cs typeface="MS PGothic"/>
              </a:rPr>
              <a:t> </a:t>
            </a:r>
            <a:r>
              <a:rPr sz="2100" spc="-8" dirty="0">
                <a:latin typeface="MS PGothic" panose="020B0600070205080204" pitchFamily="34" charset="-128"/>
                <a:ea typeface="MS PGothic" panose="020B0600070205080204" pitchFamily="34" charset="-128"/>
                <a:cs typeface="MS PGothic"/>
              </a:rPr>
              <a:t>data</a:t>
            </a:r>
            <a:r>
              <a:rPr sz="2100" dirty="0">
                <a:latin typeface="MS PGothic" panose="020B0600070205080204" pitchFamily="34" charset="-128"/>
                <a:ea typeface="MS PGothic" panose="020B0600070205080204" pitchFamily="34" charset="-128"/>
                <a:cs typeface="MS PGothic"/>
              </a:rPr>
              <a:t> </a:t>
            </a:r>
            <a:r>
              <a:rPr sz="2100" spc="-4" dirty="0">
                <a:latin typeface="MS PGothic" panose="020B0600070205080204" pitchFamily="34" charset="-128"/>
                <a:ea typeface="MS PGothic" panose="020B0600070205080204" pitchFamily="34" charset="-128"/>
                <a:cs typeface="MS PGothic"/>
              </a:rPr>
              <a:t>mining as</a:t>
            </a:r>
            <a:r>
              <a:rPr sz="2100" spc="4" dirty="0">
                <a:latin typeface="MS PGothic" panose="020B0600070205080204" pitchFamily="34" charset="-128"/>
                <a:ea typeface="MS PGothic" panose="020B0600070205080204" pitchFamily="34" charset="-128"/>
                <a:cs typeface="MS PGothic"/>
              </a:rPr>
              <a:t> </a:t>
            </a:r>
            <a:r>
              <a:rPr sz="2100" spc="-4" dirty="0">
                <a:latin typeface="MS PGothic" panose="020B0600070205080204" pitchFamily="34" charset="-128"/>
                <a:ea typeface="MS PGothic" panose="020B0600070205080204" pitchFamily="34" charset="-128"/>
                <a:cs typeface="MS PGothic"/>
              </a:rPr>
              <a:t>per</a:t>
            </a:r>
            <a:r>
              <a:rPr sz="2100" dirty="0">
                <a:latin typeface="MS PGothic" panose="020B0600070205080204" pitchFamily="34" charset="-128"/>
                <a:ea typeface="MS PGothic" panose="020B0600070205080204" pitchFamily="34" charset="-128"/>
                <a:cs typeface="MS PGothic"/>
              </a:rPr>
              <a:t> </a:t>
            </a:r>
            <a:r>
              <a:rPr sz="2100" spc="-4" dirty="0">
                <a:latin typeface="MS PGothic" panose="020B0600070205080204" pitchFamily="34" charset="-128"/>
                <a:ea typeface="MS PGothic" panose="020B0600070205080204" pitchFamily="34" charset="-128"/>
                <a:cs typeface="MS PGothic"/>
              </a:rPr>
              <a:t>user</a:t>
            </a:r>
            <a:r>
              <a:rPr sz="2100" dirty="0">
                <a:latin typeface="MS PGothic" panose="020B0600070205080204" pitchFamily="34" charset="-128"/>
                <a:ea typeface="MS PGothic" panose="020B0600070205080204" pitchFamily="34" charset="-128"/>
                <a:cs typeface="MS PGothic"/>
              </a:rPr>
              <a:t> </a:t>
            </a:r>
            <a:r>
              <a:rPr sz="2100" spc="-4" dirty="0">
                <a:latin typeface="MS PGothic" panose="020B0600070205080204" pitchFamily="34" charset="-128"/>
                <a:ea typeface="MS PGothic" panose="020B0600070205080204" pitchFamily="34" charset="-128"/>
                <a:cs typeface="MS PGothic"/>
              </a:rPr>
              <a:t>request.</a:t>
            </a:r>
            <a:endParaRPr sz="2100" dirty="0">
              <a:latin typeface="MS PGothic" panose="020B0600070205080204" pitchFamily="34" charset="-128"/>
              <a:ea typeface="MS PGothic" panose="020B0600070205080204" pitchFamily="34" charset="-128"/>
              <a:cs typeface="MS PGothic"/>
            </a:endParaRPr>
          </a:p>
          <a:p>
            <a:pPr marL="9525" marR="33814" algn="just"/>
            <a:r>
              <a:rPr sz="2100" b="1" spc="-64" dirty="0">
                <a:latin typeface="MS PGothic" panose="020B0600070205080204" pitchFamily="34" charset="-128"/>
                <a:ea typeface="MS PGothic" panose="020B0600070205080204" pitchFamily="34" charset="-128"/>
                <a:cs typeface="Trebuchet MS"/>
              </a:rPr>
              <a:t>Data</a:t>
            </a:r>
            <a:r>
              <a:rPr sz="2100" b="1" spc="26" dirty="0">
                <a:latin typeface="MS PGothic" panose="020B0600070205080204" pitchFamily="34" charset="-128"/>
                <a:ea typeface="MS PGothic" panose="020B0600070205080204" pitchFamily="34" charset="-128"/>
                <a:cs typeface="Trebuchet MS"/>
              </a:rPr>
              <a:t> </a:t>
            </a:r>
            <a:r>
              <a:rPr sz="2100" b="1" spc="-105" dirty="0">
                <a:latin typeface="MS PGothic" panose="020B0600070205080204" pitchFamily="34" charset="-128"/>
                <a:ea typeface="MS PGothic" panose="020B0600070205080204" pitchFamily="34" charset="-128"/>
                <a:cs typeface="Trebuchet MS"/>
              </a:rPr>
              <a:t>Mining</a:t>
            </a:r>
            <a:r>
              <a:rPr sz="2100" b="1" spc="-8" dirty="0">
                <a:latin typeface="MS PGothic" panose="020B0600070205080204" pitchFamily="34" charset="-128"/>
                <a:ea typeface="MS PGothic" panose="020B0600070205080204" pitchFamily="34" charset="-128"/>
                <a:cs typeface="Trebuchet MS"/>
              </a:rPr>
              <a:t> </a:t>
            </a:r>
            <a:r>
              <a:rPr sz="2100" b="1" spc="-124" dirty="0">
                <a:latin typeface="MS PGothic" panose="020B0600070205080204" pitchFamily="34" charset="-128"/>
                <a:ea typeface="MS PGothic" panose="020B0600070205080204" pitchFamily="34" charset="-128"/>
                <a:cs typeface="Trebuchet MS"/>
              </a:rPr>
              <a:t>Engine:</a:t>
            </a:r>
            <a:r>
              <a:rPr sz="2100" b="1" spc="38" dirty="0">
                <a:latin typeface="MS PGothic" panose="020B0600070205080204" pitchFamily="34" charset="-128"/>
                <a:ea typeface="MS PGothic" panose="020B0600070205080204" pitchFamily="34" charset="-128"/>
                <a:cs typeface="Trebuchet MS"/>
              </a:rPr>
              <a:t> </a:t>
            </a:r>
            <a:r>
              <a:rPr sz="2100" spc="-4" dirty="0">
                <a:latin typeface="MS PGothic" panose="020B0600070205080204" pitchFamily="34" charset="-128"/>
                <a:ea typeface="MS PGothic" panose="020B0600070205080204" pitchFamily="34" charset="-128"/>
                <a:cs typeface="MS PGothic"/>
              </a:rPr>
              <a:t>The</a:t>
            </a:r>
            <a:r>
              <a:rPr sz="2100" dirty="0">
                <a:latin typeface="MS PGothic" panose="020B0600070205080204" pitchFamily="34" charset="-128"/>
                <a:ea typeface="MS PGothic" panose="020B0600070205080204" pitchFamily="34" charset="-128"/>
                <a:cs typeface="MS PGothic"/>
              </a:rPr>
              <a:t> </a:t>
            </a:r>
            <a:r>
              <a:rPr sz="2100" spc="-8" dirty="0">
                <a:latin typeface="MS PGothic" panose="020B0600070205080204" pitchFamily="34" charset="-128"/>
                <a:ea typeface="MS PGothic" panose="020B0600070205080204" pitchFamily="34" charset="-128"/>
                <a:cs typeface="MS PGothic"/>
              </a:rPr>
              <a:t>data</a:t>
            </a:r>
            <a:r>
              <a:rPr sz="2100" spc="23" dirty="0">
                <a:latin typeface="MS PGothic" panose="020B0600070205080204" pitchFamily="34" charset="-128"/>
                <a:ea typeface="MS PGothic" panose="020B0600070205080204" pitchFamily="34" charset="-128"/>
                <a:cs typeface="MS PGothic"/>
              </a:rPr>
              <a:t> </a:t>
            </a:r>
            <a:r>
              <a:rPr sz="2100" spc="-4" dirty="0">
                <a:latin typeface="MS PGothic" panose="020B0600070205080204" pitchFamily="34" charset="-128"/>
                <a:ea typeface="MS PGothic" panose="020B0600070205080204" pitchFamily="34" charset="-128"/>
                <a:cs typeface="MS PGothic"/>
              </a:rPr>
              <a:t>mining </a:t>
            </a:r>
            <a:r>
              <a:rPr sz="2100" dirty="0">
                <a:latin typeface="MS PGothic" panose="020B0600070205080204" pitchFamily="34" charset="-128"/>
                <a:ea typeface="MS PGothic" panose="020B0600070205080204" pitchFamily="34" charset="-128"/>
                <a:cs typeface="MS PGothic"/>
              </a:rPr>
              <a:t>engine</a:t>
            </a:r>
            <a:r>
              <a:rPr sz="2100" spc="-4" dirty="0">
                <a:latin typeface="MS PGothic" panose="020B0600070205080204" pitchFamily="34" charset="-128"/>
                <a:ea typeface="MS PGothic" panose="020B0600070205080204" pitchFamily="34" charset="-128"/>
                <a:cs typeface="MS PGothic"/>
              </a:rPr>
              <a:t> is</a:t>
            </a:r>
            <a:r>
              <a:rPr sz="2100" spc="4" dirty="0">
                <a:latin typeface="MS PGothic" panose="020B0600070205080204" pitchFamily="34" charset="-128"/>
                <a:ea typeface="MS PGothic" panose="020B0600070205080204" pitchFamily="34" charset="-128"/>
                <a:cs typeface="MS PGothic"/>
              </a:rPr>
              <a:t> </a:t>
            </a:r>
            <a:r>
              <a:rPr sz="2100" spc="-4" dirty="0">
                <a:latin typeface="MS PGothic" panose="020B0600070205080204" pitchFamily="34" charset="-128"/>
                <a:ea typeface="MS PGothic" panose="020B0600070205080204" pitchFamily="34" charset="-128"/>
                <a:cs typeface="MS PGothic"/>
              </a:rPr>
              <a:t>a</a:t>
            </a:r>
            <a:r>
              <a:rPr sz="2100" spc="11" dirty="0">
                <a:latin typeface="MS PGothic" panose="020B0600070205080204" pitchFamily="34" charset="-128"/>
                <a:ea typeface="MS PGothic" panose="020B0600070205080204" pitchFamily="34" charset="-128"/>
                <a:cs typeface="MS PGothic"/>
              </a:rPr>
              <a:t> </a:t>
            </a:r>
            <a:r>
              <a:rPr sz="2100" spc="-8" dirty="0">
                <a:latin typeface="MS PGothic" panose="020B0600070205080204" pitchFamily="34" charset="-128"/>
                <a:ea typeface="MS PGothic" panose="020B0600070205080204" pitchFamily="34" charset="-128"/>
                <a:cs typeface="MS PGothic"/>
              </a:rPr>
              <a:t>major</a:t>
            </a:r>
            <a:r>
              <a:rPr sz="2100" spc="15" dirty="0">
                <a:latin typeface="MS PGothic" panose="020B0600070205080204" pitchFamily="34" charset="-128"/>
                <a:ea typeface="MS PGothic" panose="020B0600070205080204" pitchFamily="34" charset="-128"/>
                <a:cs typeface="MS PGothic"/>
              </a:rPr>
              <a:t> </a:t>
            </a:r>
            <a:r>
              <a:rPr sz="2100" dirty="0">
                <a:latin typeface="MS PGothic" panose="020B0600070205080204" pitchFamily="34" charset="-128"/>
                <a:ea typeface="MS PGothic" panose="020B0600070205080204" pitchFamily="34" charset="-128"/>
                <a:cs typeface="MS PGothic"/>
              </a:rPr>
              <a:t>component</a:t>
            </a:r>
            <a:r>
              <a:rPr sz="2100" spc="-4" dirty="0">
                <a:latin typeface="MS PGothic" panose="020B0600070205080204" pitchFamily="34" charset="-128"/>
                <a:ea typeface="MS PGothic" panose="020B0600070205080204" pitchFamily="34" charset="-128"/>
                <a:cs typeface="MS PGothic"/>
              </a:rPr>
              <a:t> of </a:t>
            </a:r>
            <a:r>
              <a:rPr sz="2100" spc="-491" dirty="0">
                <a:latin typeface="MS PGothic" panose="020B0600070205080204" pitchFamily="34" charset="-128"/>
                <a:ea typeface="MS PGothic" panose="020B0600070205080204" pitchFamily="34" charset="-128"/>
                <a:cs typeface="MS PGothic"/>
              </a:rPr>
              <a:t> </a:t>
            </a:r>
            <a:r>
              <a:rPr sz="2100" spc="-4" dirty="0">
                <a:latin typeface="MS PGothic" panose="020B0600070205080204" pitchFamily="34" charset="-128"/>
                <a:ea typeface="MS PGothic" panose="020B0600070205080204" pitchFamily="34" charset="-128"/>
                <a:cs typeface="MS PGothic"/>
              </a:rPr>
              <a:t>any</a:t>
            </a:r>
            <a:r>
              <a:rPr sz="2100" spc="11" dirty="0">
                <a:latin typeface="MS PGothic" panose="020B0600070205080204" pitchFamily="34" charset="-128"/>
                <a:ea typeface="MS PGothic" panose="020B0600070205080204" pitchFamily="34" charset="-128"/>
                <a:cs typeface="MS PGothic"/>
              </a:rPr>
              <a:t> </a:t>
            </a:r>
            <a:r>
              <a:rPr sz="2100" spc="-8" dirty="0">
                <a:latin typeface="MS PGothic" panose="020B0600070205080204" pitchFamily="34" charset="-128"/>
                <a:ea typeface="MS PGothic" panose="020B0600070205080204" pitchFamily="34" charset="-128"/>
                <a:cs typeface="MS PGothic"/>
              </a:rPr>
              <a:t>data</a:t>
            </a:r>
            <a:r>
              <a:rPr sz="2100" spc="4" dirty="0">
                <a:latin typeface="MS PGothic" panose="020B0600070205080204" pitchFamily="34" charset="-128"/>
                <a:ea typeface="MS PGothic" panose="020B0600070205080204" pitchFamily="34" charset="-128"/>
                <a:cs typeface="MS PGothic"/>
              </a:rPr>
              <a:t> </a:t>
            </a:r>
            <a:r>
              <a:rPr sz="2100" spc="-4" dirty="0">
                <a:latin typeface="MS PGothic" panose="020B0600070205080204" pitchFamily="34" charset="-128"/>
                <a:ea typeface="MS PGothic" panose="020B0600070205080204" pitchFamily="34" charset="-128"/>
                <a:cs typeface="MS PGothic"/>
              </a:rPr>
              <a:t>mining</a:t>
            </a:r>
            <a:r>
              <a:rPr sz="2100" dirty="0">
                <a:latin typeface="MS PGothic" panose="020B0600070205080204" pitchFamily="34" charset="-128"/>
                <a:ea typeface="MS PGothic" panose="020B0600070205080204" pitchFamily="34" charset="-128"/>
                <a:cs typeface="MS PGothic"/>
              </a:rPr>
              <a:t> </a:t>
            </a:r>
            <a:r>
              <a:rPr sz="2100" spc="-8" dirty="0">
                <a:latin typeface="MS PGothic" panose="020B0600070205080204" pitchFamily="34" charset="-128"/>
                <a:ea typeface="MS PGothic" panose="020B0600070205080204" pitchFamily="34" charset="-128"/>
                <a:cs typeface="MS PGothic"/>
              </a:rPr>
              <a:t>system.</a:t>
            </a:r>
            <a:r>
              <a:rPr sz="2100" spc="23" dirty="0">
                <a:latin typeface="MS PGothic" panose="020B0600070205080204" pitchFamily="34" charset="-128"/>
                <a:ea typeface="MS PGothic" panose="020B0600070205080204" pitchFamily="34" charset="-128"/>
                <a:cs typeface="MS PGothic"/>
              </a:rPr>
              <a:t> </a:t>
            </a:r>
            <a:r>
              <a:rPr sz="2100" spc="-4" dirty="0">
                <a:latin typeface="MS PGothic" panose="020B0600070205080204" pitchFamily="34" charset="-128"/>
                <a:ea typeface="MS PGothic" panose="020B0600070205080204" pitchFamily="34" charset="-128"/>
                <a:cs typeface="MS PGothic"/>
              </a:rPr>
              <a:t>It</a:t>
            </a:r>
            <a:r>
              <a:rPr sz="2100" spc="8" dirty="0">
                <a:latin typeface="MS PGothic" panose="020B0600070205080204" pitchFamily="34" charset="-128"/>
                <a:ea typeface="MS PGothic" panose="020B0600070205080204" pitchFamily="34" charset="-128"/>
                <a:cs typeface="MS PGothic"/>
              </a:rPr>
              <a:t> </a:t>
            </a:r>
            <a:r>
              <a:rPr sz="2100" spc="-4" dirty="0">
                <a:latin typeface="MS PGothic" panose="020B0600070205080204" pitchFamily="34" charset="-128"/>
                <a:ea typeface="MS PGothic" panose="020B0600070205080204" pitchFamily="34" charset="-128"/>
                <a:cs typeface="MS PGothic"/>
              </a:rPr>
              <a:t>contains</a:t>
            </a:r>
            <a:r>
              <a:rPr sz="2100" dirty="0">
                <a:latin typeface="MS PGothic" panose="020B0600070205080204" pitchFamily="34" charset="-128"/>
                <a:ea typeface="MS PGothic" panose="020B0600070205080204" pitchFamily="34" charset="-128"/>
                <a:cs typeface="MS PGothic"/>
              </a:rPr>
              <a:t> </a:t>
            </a:r>
            <a:r>
              <a:rPr sz="2100" spc="-4" dirty="0">
                <a:latin typeface="MS PGothic" panose="020B0600070205080204" pitchFamily="34" charset="-128"/>
                <a:ea typeface="MS PGothic" panose="020B0600070205080204" pitchFamily="34" charset="-128"/>
                <a:cs typeface="MS PGothic"/>
              </a:rPr>
              <a:t>several</a:t>
            </a:r>
            <a:r>
              <a:rPr sz="2100" spc="8" dirty="0">
                <a:latin typeface="MS PGothic" panose="020B0600070205080204" pitchFamily="34" charset="-128"/>
                <a:ea typeface="MS PGothic" panose="020B0600070205080204" pitchFamily="34" charset="-128"/>
                <a:cs typeface="MS PGothic"/>
              </a:rPr>
              <a:t> </a:t>
            </a:r>
            <a:r>
              <a:rPr sz="2100" spc="-4" dirty="0">
                <a:latin typeface="MS PGothic" panose="020B0600070205080204" pitchFamily="34" charset="-128"/>
                <a:ea typeface="MS PGothic" panose="020B0600070205080204" pitchFamily="34" charset="-128"/>
                <a:cs typeface="MS PGothic"/>
              </a:rPr>
              <a:t>modules</a:t>
            </a:r>
            <a:r>
              <a:rPr sz="2100" spc="-8" dirty="0">
                <a:latin typeface="MS PGothic" panose="020B0600070205080204" pitchFamily="34" charset="-128"/>
                <a:ea typeface="MS PGothic" panose="020B0600070205080204" pitchFamily="34" charset="-128"/>
                <a:cs typeface="MS PGothic"/>
              </a:rPr>
              <a:t> </a:t>
            </a:r>
            <a:r>
              <a:rPr sz="2100" spc="-4" dirty="0">
                <a:latin typeface="MS PGothic" panose="020B0600070205080204" pitchFamily="34" charset="-128"/>
                <a:ea typeface="MS PGothic" panose="020B0600070205080204" pitchFamily="34" charset="-128"/>
                <a:cs typeface="MS PGothic"/>
              </a:rPr>
              <a:t>for</a:t>
            </a:r>
            <a:r>
              <a:rPr sz="2100" spc="8" dirty="0">
                <a:latin typeface="MS PGothic" panose="020B0600070205080204" pitchFamily="34" charset="-128"/>
                <a:ea typeface="MS PGothic" panose="020B0600070205080204" pitchFamily="34" charset="-128"/>
                <a:cs typeface="MS PGothic"/>
              </a:rPr>
              <a:t> </a:t>
            </a:r>
            <a:r>
              <a:rPr sz="2100" spc="-4" dirty="0">
                <a:latin typeface="MS PGothic" panose="020B0600070205080204" pitchFamily="34" charset="-128"/>
                <a:ea typeface="MS PGothic" panose="020B0600070205080204" pitchFamily="34" charset="-128"/>
                <a:cs typeface="MS PGothic"/>
              </a:rPr>
              <a:t>operating </a:t>
            </a:r>
            <a:r>
              <a:rPr sz="2100" dirty="0">
                <a:latin typeface="MS PGothic" panose="020B0600070205080204" pitchFamily="34" charset="-128"/>
                <a:ea typeface="MS PGothic" panose="020B0600070205080204" pitchFamily="34" charset="-128"/>
                <a:cs typeface="MS PGothic"/>
              </a:rPr>
              <a:t> </a:t>
            </a:r>
            <a:r>
              <a:rPr sz="2100" spc="-8" dirty="0">
                <a:latin typeface="MS PGothic" panose="020B0600070205080204" pitchFamily="34" charset="-128"/>
                <a:ea typeface="MS PGothic" panose="020B0600070205080204" pitchFamily="34" charset="-128"/>
                <a:cs typeface="MS PGothic"/>
              </a:rPr>
              <a:t>data</a:t>
            </a:r>
            <a:r>
              <a:rPr sz="2100" dirty="0">
                <a:latin typeface="MS PGothic" panose="020B0600070205080204" pitchFamily="34" charset="-128"/>
                <a:ea typeface="MS PGothic" panose="020B0600070205080204" pitchFamily="34" charset="-128"/>
                <a:cs typeface="MS PGothic"/>
              </a:rPr>
              <a:t> </a:t>
            </a:r>
            <a:r>
              <a:rPr sz="2100" spc="-4" dirty="0">
                <a:latin typeface="MS PGothic" panose="020B0600070205080204" pitchFamily="34" charset="-128"/>
                <a:ea typeface="MS PGothic" panose="020B0600070205080204" pitchFamily="34" charset="-128"/>
                <a:cs typeface="MS PGothic"/>
              </a:rPr>
              <a:t>mining </a:t>
            </a:r>
            <a:r>
              <a:rPr sz="2100" spc="-8" dirty="0">
                <a:latin typeface="MS PGothic" panose="020B0600070205080204" pitchFamily="34" charset="-128"/>
                <a:ea typeface="MS PGothic" panose="020B0600070205080204" pitchFamily="34" charset="-128"/>
                <a:cs typeface="MS PGothic"/>
              </a:rPr>
              <a:t>tasks,</a:t>
            </a:r>
            <a:r>
              <a:rPr sz="2100" spc="26" dirty="0">
                <a:latin typeface="MS PGothic" panose="020B0600070205080204" pitchFamily="34" charset="-128"/>
                <a:ea typeface="MS PGothic" panose="020B0600070205080204" pitchFamily="34" charset="-128"/>
                <a:cs typeface="MS PGothic"/>
              </a:rPr>
              <a:t> </a:t>
            </a:r>
            <a:r>
              <a:rPr sz="2100" dirty="0">
                <a:latin typeface="MS PGothic" panose="020B0600070205080204" pitchFamily="34" charset="-128"/>
                <a:ea typeface="MS PGothic" panose="020B0600070205080204" pitchFamily="34" charset="-128"/>
                <a:cs typeface="MS PGothic"/>
              </a:rPr>
              <a:t>including</a:t>
            </a:r>
            <a:r>
              <a:rPr sz="2100" spc="-30" dirty="0">
                <a:latin typeface="MS PGothic" panose="020B0600070205080204" pitchFamily="34" charset="-128"/>
                <a:ea typeface="MS PGothic" panose="020B0600070205080204" pitchFamily="34" charset="-128"/>
                <a:cs typeface="MS PGothic"/>
              </a:rPr>
              <a:t> </a:t>
            </a:r>
            <a:r>
              <a:rPr sz="2100" spc="-4" dirty="0">
                <a:latin typeface="MS PGothic" panose="020B0600070205080204" pitchFamily="34" charset="-128"/>
                <a:ea typeface="MS PGothic" panose="020B0600070205080204" pitchFamily="34" charset="-128"/>
                <a:cs typeface="MS PGothic"/>
              </a:rPr>
              <a:t>association,</a:t>
            </a:r>
            <a:r>
              <a:rPr sz="2100" spc="8" dirty="0">
                <a:latin typeface="MS PGothic" panose="020B0600070205080204" pitchFamily="34" charset="-128"/>
                <a:ea typeface="MS PGothic" panose="020B0600070205080204" pitchFamily="34" charset="-128"/>
                <a:cs typeface="MS PGothic"/>
              </a:rPr>
              <a:t> </a:t>
            </a:r>
            <a:r>
              <a:rPr sz="2100" spc="-4" dirty="0">
                <a:latin typeface="MS PGothic" panose="020B0600070205080204" pitchFamily="34" charset="-128"/>
                <a:ea typeface="MS PGothic" panose="020B0600070205080204" pitchFamily="34" charset="-128"/>
                <a:cs typeface="MS PGothic"/>
              </a:rPr>
              <a:t>characterization, </a:t>
            </a:r>
            <a:r>
              <a:rPr sz="2100" dirty="0">
                <a:latin typeface="MS PGothic" panose="020B0600070205080204" pitchFamily="34" charset="-128"/>
                <a:ea typeface="MS PGothic" panose="020B0600070205080204" pitchFamily="34" charset="-128"/>
                <a:cs typeface="MS PGothic"/>
              </a:rPr>
              <a:t> </a:t>
            </a:r>
            <a:r>
              <a:rPr sz="2100" spc="-4" dirty="0">
                <a:latin typeface="MS PGothic" panose="020B0600070205080204" pitchFamily="34" charset="-128"/>
                <a:ea typeface="MS PGothic" panose="020B0600070205080204" pitchFamily="34" charset="-128"/>
                <a:cs typeface="MS PGothic"/>
              </a:rPr>
              <a:t>classification, </a:t>
            </a:r>
            <a:r>
              <a:rPr sz="2100" dirty="0">
                <a:latin typeface="MS PGothic" panose="020B0600070205080204" pitchFamily="34" charset="-128"/>
                <a:ea typeface="MS PGothic" panose="020B0600070205080204" pitchFamily="34" charset="-128"/>
                <a:cs typeface="MS PGothic"/>
              </a:rPr>
              <a:t>clustering,</a:t>
            </a:r>
            <a:r>
              <a:rPr sz="2100" spc="-4" dirty="0">
                <a:latin typeface="MS PGothic" panose="020B0600070205080204" pitchFamily="34" charset="-128"/>
                <a:ea typeface="MS PGothic" panose="020B0600070205080204" pitchFamily="34" charset="-128"/>
                <a:cs typeface="MS PGothic"/>
              </a:rPr>
              <a:t> prediction,</a:t>
            </a:r>
            <a:r>
              <a:rPr sz="2100" spc="-11" dirty="0">
                <a:latin typeface="MS PGothic" panose="020B0600070205080204" pitchFamily="34" charset="-128"/>
                <a:ea typeface="MS PGothic" panose="020B0600070205080204" pitchFamily="34" charset="-128"/>
                <a:cs typeface="MS PGothic"/>
              </a:rPr>
              <a:t> </a:t>
            </a:r>
            <a:r>
              <a:rPr sz="2100" dirty="0">
                <a:latin typeface="MS PGothic" panose="020B0600070205080204" pitchFamily="34" charset="-128"/>
                <a:ea typeface="MS PGothic" panose="020B0600070205080204" pitchFamily="34" charset="-128"/>
                <a:cs typeface="MS PGothic"/>
              </a:rPr>
              <a:t>time-series</a:t>
            </a:r>
            <a:r>
              <a:rPr sz="2100" spc="-11" dirty="0">
                <a:latin typeface="MS PGothic" panose="020B0600070205080204" pitchFamily="34" charset="-128"/>
                <a:ea typeface="MS PGothic" panose="020B0600070205080204" pitchFamily="34" charset="-128"/>
                <a:cs typeface="MS PGothic"/>
              </a:rPr>
              <a:t> </a:t>
            </a:r>
            <a:r>
              <a:rPr sz="2100" spc="-4" dirty="0">
                <a:latin typeface="MS PGothic" panose="020B0600070205080204" pitchFamily="34" charset="-128"/>
                <a:ea typeface="MS PGothic" panose="020B0600070205080204" pitchFamily="34" charset="-128"/>
                <a:cs typeface="MS PGothic"/>
              </a:rPr>
              <a:t>analysis,</a:t>
            </a:r>
            <a:r>
              <a:rPr sz="2100" spc="19" dirty="0">
                <a:latin typeface="MS PGothic" panose="020B0600070205080204" pitchFamily="34" charset="-128"/>
                <a:ea typeface="MS PGothic" panose="020B0600070205080204" pitchFamily="34" charset="-128"/>
                <a:cs typeface="MS PGothic"/>
              </a:rPr>
              <a:t> </a:t>
            </a:r>
            <a:r>
              <a:rPr sz="2100" spc="-4" dirty="0">
                <a:latin typeface="MS PGothic" panose="020B0600070205080204" pitchFamily="34" charset="-128"/>
                <a:ea typeface="MS PGothic" panose="020B0600070205080204" pitchFamily="34" charset="-128"/>
                <a:cs typeface="MS PGothic"/>
              </a:rPr>
              <a:t>etc.</a:t>
            </a:r>
            <a:endParaRPr sz="2100" dirty="0">
              <a:latin typeface="MS PGothic" panose="020B0600070205080204" pitchFamily="34" charset="-128"/>
              <a:ea typeface="MS PGothic" panose="020B0600070205080204" pitchFamily="34" charset="-128"/>
              <a:cs typeface="MS PGothic"/>
            </a:endParaRPr>
          </a:p>
          <a:p>
            <a:pPr marL="9525" marR="3810" algn="just">
              <a:spcBef>
                <a:spcPts val="398"/>
              </a:spcBef>
            </a:pPr>
            <a:r>
              <a:rPr sz="2100" spc="-4" dirty="0">
                <a:latin typeface="MS PGothic" panose="020B0600070205080204" pitchFamily="34" charset="-128"/>
                <a:ea typeface="MS PGothic" panose="020B0600070205080204" pitchFamily="34" charset="-128"/>
                <a:cs typeface="MS PGothic"/>
              </a:rPr>
              <a:t>In</a:t>
            </a:r>
            <a:r>
              <a:rPr sz="2100" spc="8" dirty="0">
                <a:latin typeface="MS PGothic" panose="020B0600070205080204" pitchFamily="34" charset="-128"/>
                <a:ea typeface="MS PGothic" panose="020B0600070205080204" pitchFamily="34" charset="-128"/>
                <a:cs typeface="MS PGothic"/>
              </a:rPr>
              <a:t> </a:t>
            </a:r>
            <a:r>
              <a:rPr sz="2100" spc="-4" dirty="0">
                <a:latin typeface="MS PGothic" panose="020B0600070205080204" pitchFamily="34" charset="-128"/>
                <a:ea typeface="MS PGothic" panose="020B0600070205080204" pitchFamily="34" charset="-128"/>
                <a:cs typeface="MS PGothic"/>
              </a:rPr>
              <a:t>other</a:t>
            </a:r>
            <a:r>
              <a:rPr sz="2100" spc="4" dirty="0">
                <a:latin typeface="MS PGothic" panose="020B0600070205080204" pitchFamily="34" charset="-128"/>
                <a:ea typeface="MS PGothic" panose="020B0600070205080204" pitchFamily="34" charset="-128"/>
                <a:cs typeface="MS PGothic"/>
              </a:rPr>
              <a:t> </a:t>
            </a:r>
            <a:r>
              <a:rPr sz="2100" spc="-8" dirty="0">
                <a:latin typeface="MS PGothic" panose="020B0600070205080204" pitchFamily="34" charset="-128"/>
                <a:ea typeface="MS PGothic" panose="020B0600070205080204" pitchFamily="34" charset="-128"/>
                <a:cs typeface="MS PGothic"/>
              </a:rPr>
              <a:t>words,</a:t>
            </a:r>
            <a:r>
              <a:rPr sz="2100" dirty="0">
                <a:latin typeface="MS PGothic" panose="020B0600070205080204" pitchFamily="34" charset="-128"/>
                <a:ea typeface="MS PGothic" panose="020B0600070205080204" pitchFamily="34" charset="-128"/>
                <a:cs typeface="MS PGothic"/>
              </a:rPr>
              <a:t> </a:t>
            </a:r>
            <a:r>
              <a:rPr sz="2100" spc="-4" dirty="0">
                <a:latin typeface="MS PGothic" panose="020B0600070205080204" pitchFamily="34" charset="-128"/>
                <a:ea typeface="MS PGothic" panose="020B0600070205080204" pitchFamily="34" charset="-128"/>
                <a:cs typeface="MS PGothic"/>
              </a:rPr>
              <a:t>we</a:t>
            </a:r>
            <a:r>
              <a:rPr sz="2100" spc="8" dirty="0">
                <a:latin typeface="MS PGothic" panose="020B0600070205080204" pitchFamily="34" charset="-128"/>
                <a:ea typeface="MS PGothic" panose="020B0600070205080204" pitchFamily="34" charset="-128"/>
                <a:cs typeface="MS PGothic"/>
              </a:rPr>
              <a:t> </a:t>
            </a:r>
            <a:r>
              <a:rPr sz="2100" spc="-4" dirty="0">
                <a:latin typeface="MS PGothic" panose="020B0600070205080204" pitchFamily="34" charset="-128"/>
                <a:ea typeface="MS PGothic" panose="020B0600070205080204" pitchFamily="34" charset="-128"/>
                <a:cs typeface="MS PGothic"/>
              </a:rPr>
              <a:t>can</a:t>
            </a:r>
            <a:r>
              <a:rPr sz="2100" spc="8" dirty="0">
                <a:latin typeface="MS PGothic" panose="020B0600070205080204" pitchFamily="34" charset="-128"/>
                <a:ea typeface="MS PGothic" panose="020B0600070205080204" pitchFamily="34" charset="-128"/>
                <a:cs typeface="MS PGothic"/>
              </a:rPr>
              <a:t> </a:t>
            </a:r>
            <a:r>
              <a:rPr sz="2100" spc="-4" dirty="0">
                <a:latin typeface="MS PGothic" panose="020B0600070205080204" pitchFamily="34" charset="-128"/>
                <a:ea typeface="MS PGothic" panose="020B0600070205080204" pitchFamily="34" charset="-128"/>
                <a:cs typeface="MS PGothic"/>
              </a:rPr>
              <a:t>say</a:t>
            </a:r>
            <a:r>
              <a:rPr sz="2100" spc="4" dirty="0">
                <a:latin typeface="MS PGothic" panose="020B0600070205080204" pitchFamily="34" charset="-128"/>
                <a:ea typeface="MS PGothic" panose="020B0600070205080204" pitchFamily="34" charset="-128"/>
                <a:cs typeface="MS PGothic"/>
              </a:rPr>
              <a:t> </a:t>
            </a:r>
            <a:r>
              <a:rPr sz="2100" spc="-8" dirty="0">
                <a:latin typeface="MS PGothic" panose="020B0600070205080204" pitchFamily="34" charset="-128"/>
                <a:ea typeface="MS PGothic" panose="020B0600070205080204" pitchFamily="34" charset="-128"/>
                <a:cs typeface="MS PGothic"/>
              </a:rPr>
              <a:t>data</a:t>
            </a:r>
            <a:r>
              <a:rPr sz="2100" spc="11" dirty="0">
                <a:latin typeface="MS PGothic" panose="020B0600070205080204" pitchFamily="34" charset="-128"/>
                <a:ea typeface="MS PGothic" panose="020B0600070205080204" pitchFamily="34" charset="-128"/>
                <a:cs typeface="MS PGothic"/>
              </a:rPr>
              <a:t> </a:t>
            </a:r>
            <a:r>
              <a:rPr sz="2100" spc="-4" dirty="0">
                <a:latin typeface="MS PGothic" panose="020B0600070205080204" pitchFamily="34" charset="-128"/>
                <a:ea typeface="MS PGothic" panose="020B0600070205080204" pitchFamily="34" charset="-128"/>
                <a:cs typeface="MS PGothic"/>
              </a:rPr>
              <a:t>mining</a:t>
            </a:r>
            <a:r>
              <a:rPr sz="2100" spc="-8" dirty="0">
                <a:latin typeface="MS PGothic" panose="020B0600070205080204" pitchFamily="34" charset="-128"/>
                <a:ea typeface="MS PGothic" panose="020B0600070205080204" pitchFamily="34" charset="-128"/>
                <a:cs typeface="MS PGothic"/>
              </a:rPr>
              <a:t> </a:t>
            </a:r>
            <a:r>
              <a:rPr sz="2100" spc="-4" dirty="0">
                <a:latin typeface="MS PGothic" panose="020B0600070205080204" pitchFamily="34" charset="-128"/>
                <a:ea typeface="MS PGothic" panose="020B0600070205080204" pitchFamily="34" charset="-128"/>
                <a:cs typeface="MS PGothic"/>
              </a:rPr>
              <a:t>is</a:t>
            </a:r>
            <a:r>
              <a:rPr sz="2100" dirty="0">
                <a:latin typeface="MS PGothic" panose="020B0600070205080204" pitchFamily="34" charset="-128"/>
                <a:ea typeface="MS PGothic" panose="020B0600070205080204" pitchFamily="34" charset="-128"/>
                <a:cs typeface="MS PGothic"/>
              </a:rPr>
              <a:t> </a:t>
            </a:r>
            <a:r>
              <a:rPr sz="2100" spc="-4" dirty="0">
                <a:latin typeface="MS PGothic" panose="020B0600070205080204" pitchFamily="34" charset="-128"/>
                <a:ea typeface="MS PGothic" panose="020B0600070205080204" pitchFamily="34" charset="-128"/>
                <a:cs typeface="MS PGothic"/>
              </a:rPr>
              <a:t>the</a:t>
            </a:r>
            <a:r>
              <a:rPr sz="2100" spc="8" dirty="0">
                <a:latin typeface="MS PGothic" panose="020B0600070205080204" pitchFamily="34" charset="-128"/>
                <a:ea typeface="MS PGothic" panose="020B0600070205080204" pitchFamily="34" charset="-128"/>
                <a:cs typeface="MS PGothic"/>
              </a:rPr>
              <a:t> </a:t>
            </a:r>
            <a:r>
              <a:rPr sz="2100" spc="-4" dirty="0">
                <a:latin typeface="MS PGothic" panose="020B0600070205080204" pitchFamily="34" charset="-128"/>
                <a:ea typeface="MS PGothic" panose="020B0600070205080204" pitchFamily="34" charset="-128"/>
                <a:cs typeface="MS PGothic"/>
              </a:rPr>
              <a:t>root</a:t>
            </a:r>
            <a:r>
              <a:rPr sz="2100" spc="4" dirty="0">
                <a:latin typeface="MS PGothic" panose="020B0600070205080204" pitchFamily="34" charset="-128"/>
                <a:ea typeface="MS PGothic" panose="020B0600070205080204" pitchFamily="34" charset="-128"/>
                <a:cs typeface="MS PGothic"/>
              </a:rPr>
              <a:t> </a:t>
            </a:r>
            <a:r>
              <a:rPr sz="2100" spc="-4" dirty="0">
                <a:latin typeface="MS PGothic" panose="020B0600070205080204" pitchFamily="34" charset="-128"/>
                <a:ea typeface="MS PGothic" panose="020B0600070205080204" pitchFamily="34" charset="-128"/>
                <a:cs typeface="MS PGothic"/>
              </a:rPr>
              <a:t>of</a:t>
            </a:r>
            <a:r>
              <a:rPr sz="2100" spc="8" dirty="0">
                <a:latin typeface="MS PGothic" panose="020B0600070205080204" pitchFamily="34" charset="-128"/>
                <a:ea typeface="MS PGothic" panose="020B0600070205080204" pitchFamily="34" charset="-128"/>
                <a:cs typeface="MS PGothic"/>
              </a:rPr>
              <a:t> </a:t>
            </a:r>
            <a:r>
              <a:rPr sz="2100" spc="-4" dirty="0">
                <a:latin typeface="MS PGothic" panose="020B0600070205080204" pitchFamily="34" charset="-128"/>
                <a:ea typeface="MS PGothic" panose="020B0600070205080204" pitchFamily="34" charset="-128"/>
                <a:cs typeface="MS PGothic"/>
              </a:rPr>
              <a:t>our</a:t>
            </a:r>
            <a:r>
              <a:rPr sz="2100" spc="4" dirty="0">
                <a:latin typeface="MS PGothic" panose="020B0600070205080204" pitchFamily="34" charset="-128"/>
                <a:ea typeface="MS PGothic" panose="020B0600070205080204" pitchFamily="34" charset="-128"/>
                <a:cs typeface="MS PGothic"/>
              </a:rPr>
              <a:t> </a:t>
            </a:r>
            <a:r>
              <a:rPr sz="2100" spc="-4" dirty="0">
                <a:latin typeface="MS PGothic" panose="020B0600070205080204" pitchFamily="34" charset="-128"/>
                <a:ea typeface="MS PGothic" panose="020B0600070205080204" pitchFamily="34" charset="-128"/>
                <a:cs typeface="MS PGothic"/>
              </a:rPr>
              <a:t>data</a:t>
            </a:r>
            <a:r>
              <a:rPr sz="2100" spc="11" dirty="0">
                <a:latin typeface="MS PGothic" panose="020B0600070205080204" pitchFamily="34" charset="-128"/>
                <a:ea typeface="MS PGothic" panose="020B0600070205080204" pitchFamily="34" charset="-128"/>
                <a:cs typeface="MS PGothic"/>
              </a:rPr>
              <a:t> </a:t>
            </a:r>
            <a:r>
              <a:rPr sz="2100" spc="-4" dirty="0">
                <a:latin typeface="MS PGothic" panose="020B0600070205080204" pitchFamily="34" charset="-128"/>
                <a:ea typeface="MS PGothic" panose="020B0600070205080204" pitchFamily="34" charset="-128"/>
                <a:cs typeface="MS PGothic"/>
              </a:rPr>
              <a:t>mining </a:t>
            </a:r>
            <a:r>
              <a:rPr sz="2100" spc="-491" dirty="0">
                <a:latin typeface="MS PGothic" panose="020B0600070205080204" pitchFamily="34" charset="-128"/>
                <a:ea typeface="MS PGothic" panose="020B0600070205080204" pitchFamily="34" charset="-128"/>
                <a:cs typeface="MS PGothic"/>
              </a:rPr>
              <a:t> </a:t>
            </a:r>
            <a:r>
              <a:rPr sz="2100" spc="-4" dirty="0">
                <a:latin typeface="MS PGothic" panose="020B0600070205080204" pitchFamily="34" charset="-128"/>
                <a:ea typeface="MS PGothic" panose="020B0600070205080204" pitchFamily="34" charset="-128"/>
                <a:cs typeface="MS PGothic"/>
              </a:rPr>
              <a:t>architecture</a:t>
            </a:r>
            <a:r>
              <a:rPr sz="1500" spc="-4" dirty="0">
                <a:latin typeface="MS PGothic"/>
                <a:cs typeface="MS PGothic"/>
              </a:rPr>
              <a:t>.</a:t>
            </a:r>
            <a:endParaRPr sz="1500" dirty="0">
              <a:latin typeface="MS PGothic"/>
              <a:cs typeface="MS PGothic"/>
            </a:endParaRPr>
          </a:p>
        </p:txBody>
      </p:sp>
      <p:sp>
        <p:nvSpPr>
          <p:cNvPr id="6" name="Date Placeholder 5">
            <a:extLst>
              <a:ext uri="{FF2B5EF4-FFF2-40B4-BE49-F238E27FC236}">
                <a16:creationId xmlns:a16="http://schemas.microsoft.com/office/drawing/2014/main" id="{76E166E3-0ED9-20C1-5736-19AF2744E85E}"/>
              </a:ext>
            </a:extLst>
          </p:cNvPr>
          <p:cNvSpPr>
            <a:spLocks noGrp="1"/>
          </p:cNvSpPr>
          <p:nvPr>
            <p:ph type="dt" sz="half" idx="6"/>
          </p:nvPr>
        </p:nvSpPr>
        <p:spPr/>
        <p:txBody>
          <a:bodyPr/>
          <a:lstStyle/>
          <a:p>
            <a:fld id="{9DE544F4-FEC9-4245-9BCC-CA7160340318}" type="datetime1">
              <a:rPr lang="en-US" smtClean="0"/>
              <a:t>11/17/25</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68527" y="749618"/>
            <a:ext cx="5549741" cy="470802"/>
          </a:xfrm>
          <a:prstGeom prst="rect">
            <a:avLst/>
          </a:prstGeom>
        </p:spPr>
        <p:txBody>
          <a:bodyPr vert="horz" wrap="square" lIns="0" tIns="9049" rIns="0" bIns="0" rtlCol="0">
            <a:spAutoFit/>
          </a:bodyPr>
          <a:lstStyle/>
          <a:p>
            <a:pPr marL="9525">
              <a:spcBef>
                <a:spcPts val="71"/>
              </a:spcBef>
            </a:pPr>
            <a:r>
              <a:rPr sz="3000" b="1" spc="-4" dirty="0">
                <a:solidFill>
                  <a:srgbClr val="C00000"/>
                </a:solidFill>
              </a:rPr>
              <a:t>Data</a:t>
            </a:r>
            <a:r>
              <a:rPr sz="3000" b="1" spc="-15" dirty="0">
                <a:solidFill>
                  <a:srgbClr val="C00000"/>
                </a:solidFill>
              </a:rPr>
              <a:t> </a:t>
            </a:r>
            <a:r>
              <a:rPr sz="3000" b="1" spc="-4" dirty="0">
                <a:solidFill>
                  <a:srgbClr val="C00000"/>
                </a:solidFill>
              </a:rPr>
              <a:t>Mining</a:t>
            </a:r>
            <a:r>
              <a:rPr sz="3000" b="1" spc="-169" dirty="0">
                <a:solidFill>
                  <a:srgbClr val="C00000"/>
                </a:solidFill>
              </a:rPr>
              <a:t> </a:t>
            </a:r>
            <a:r>
              <a:rPr sz="3000" b="1" spc="-8" dirty="0">
                <a:solidFill>
                  <a:srgbClr val="C00000"/>
                </a:solidFill>
              </a:rPr>
              <a:t>Architecture(cont…)</a:t>
            </a:r>
            <a:endParaRPr sz="3000"/>
          </a:p>
        </p:txBody>
      </p:sp>
      <p:sp>
        <p:nvSpPr>
          <p:cNvPr id="3" name="object 3"/>
          <p:cNvSpPr txBox="1"/>
          <p:nvPr/>
        </p:nvSpPr>
        <p:spPr>
          <a:xfrm>
            <a:off x="457200" y="1428750"/>
            <a:ext cx="8458200" cy="2370520"/>
          </a:xfrm>
          <a:prstGeom prst="rect">
            <a:avLst/>
          </a:prstGeom>
        </p:spPr>
        <p:txBody>
          <a:bodyPr vert="horz" wrap="square" lIns="0" tIns="43814" rIns="0" bIns="0" rtlCol="0">
            <a:spAutoFit/>
          </a:bodyPr>
          <a:lstStyle/>
          <a:p>
            <a:pPr marL="352425" marR="165734" indent="-343376" algn="just">
              <a:spcBef>
                <a:spcPts val="344"/>
              </a:spcBef>
              <a:buFont typeface="Arial MT"/>
              <a:buChar char="•"/>
              <a:tabLst>
                <a:tab pos="352425" algn="l"/>
                <a:tab pos="352901" algn="l"/>
              </a:tabLst>
            </a:pPr>
            <a:r>
              <a:rPr sz="2100" b="1" spc="-120" dirty="0">
                <a:latin typeface="Trebuchet MS"/>
                <a:cs typeface="Trebuchet MS"/>
              </a:rPr>
              <a:t>Graphical </a:t>
            </a:r>
            <a:r>
              <a:rPr sz="2100" b="1" spc="-79" dirty="0">
                <a:latin typeface="Trebuchet MS"/>
                <a:cs typeface="Trebuchet MS"/>
              </a:rPr>
              <a:t>User </a:t>
            </a:r>
            <a:r>
              <a:rPr sz="2100" b="1" spc="-135" dirty="0">
                <a:latin typeface="Trebuchet MS"/>
                <a:cs typeface="Trebuchet MS"/>
              </a:rPr>
              <a:t>Interface:</a:t>
            </a:r>
            <a:r>
              <a:rPr sz="2100" b="1" spc="-131" dirty="0">
                <a:latin typeface="Trebuchet MS"/>
                <a:cs typeface="Trebuchet MS"/>
              </a:rPr>
              <a:t> </a:t>
            </a:r>
            <a:r>
              <a:rPr sz="2100" dirty="0">
                <a:latin typeface="MS PGothic"/>
                <a:cs typeface="MS PGothic"/>
              </a:rPr>
              <a:t>The graphical user </a:t>
            </a:r>
            <a:r>
              <a:rPr sz="2100" spc="4" dirty="0">
                <a:latin typeface="MS PGothic"/>
                <a:cs typeface="MS PGothic"/>
              </a:rPr>
              <a:t> </a:t>
            </a:r>
            <a:r>
              <a:rPr sz="2100" dirty="0">
                <a:latin typeface="MS PGothic"/>
                <a:cs typeface="MS PGothic"/>
              </a:rPr>
              <a:t>interface </a:t>
            </a:r>
            <a:r>
              <a:rPr sz="2100" spc="-4" dirty="0">
                <a:latin typeface="MS PGothic"/>
                <a:cs typeface="MS PGothic"/>
              </a:rPr>
              <a:t>(GUI) module </a:t>
            </a:r>
            <a:r>
              <a:rPr sz="2100" dirty="0">
                <a:latin typeface="MS PGothic"/>
                <a:cs typeface="MS PGothic"/>
              </a:rPr>
              <a:t>communicates between the </a:t>
            </a:r>
            <a:r>
              <a:rPr sz="2100" spc="-608" dirty="0">
                <a:latin typeface="MS PGothic"/>
                <a:cs typeface="MS PGothic"/>
              </a:rPr>
              <a:t> </a:t>
            </a:r>
            <a:r>
              <a:rPr sz="2100" spc="-4" dirty="0">
                <a:latin typeface="MS PGothic"/>
                <a:cs typeface="MS PGothic"/>
              </a:rPr>
              <a:t>data</a:t>
            </a:r>
            <a:r>
              <a:rPr sz="2100" spc="-11" dirty="0">
                <a:latin typeface="MS PGothic"/>
                <a:cs typeface="MS PGothic"/>
              </a:rPr>
              <a:t> </a:t>
            </a:r>
            <a:r>
              <a:rPr sz="2100" spc="-4" dirty="0">
                <a:latin typeface="MS PGothic"/>
                <a:cs typeface="MS PGothic"/>
              </a:rPr>
              <a:t>mining</a:t>
            </a:r>
            <a:r>
              <a:rPr sz="2100" spc="8" dirty="0">
                <a:latin typeface="MS PGothic"/>
                <a:cs typeface="MS PGothic"/>
              </a:rPr>
              <a:t> </a:t>
            </a:r>
            <a:r>
              <a:rPr sz="2100" dirty="0">
                <a:latin typeface="MS PGothic"/>
                <a:cs typeface="MS PGothic"/>
              </a:rPr>
              <a:t>system</a:t>
            </a:r>
            <a:r>
              <a:rPr sz="2100" spc="4" dirty="0">
                <a:latin typeface="MS PGothic"/>
                <a:cs typeface="MS PGothic"/>
              </a:rPr>
              <a:t> </a:t>
            </a:r>
            <a:r>
              <a:rPr sz="2100" dirty="0">
                <a:latin typeface="MS PGothic"/>
                <a:cs typeface="MS PGothic"/>
              </a:rPr>
              <a:t>and </a:t>
            </a:r>
            <a:r>
              <a:rPr sz="2100" spc="-4" dirty="0">
                <a:latin typeface="MS PGothic"/>
                <a:cs typeface="MS PGothic"/>
              </a:rPr>
              <a:t>the</a:t>
            </a:r>
            <a:r>
              <a:rPr sz="2100" dirty="0">
                <a:latin typeface="MS PGothic"/>
                <a:cs typeface="MS PGothic"/>
              </a:rPr>
              <a:t> user.</a:t>
            </a:r>
          </a:p>
          <a:p>
            <a:pPr marL="352425" marR="3810" indent="-343376" algn="just">
              <a:spcBef>
                <a:spcPts val="450"/>
              </a:spcBef>
              <a:buFont typeface="Arial MT"/>
              <a:buChar char="•"/>
              <a:tabLst>
                <a:tab pos="352425" algn="l"/>
                <a:tab pos="352901" algn="l"/>
              </a:tabLst>
            </a:pPr>
            <a:r>
              <a:rPr sz="2100" b="1" spc="-146" dirty="0">
                <a:latin typeface="Trebuchet MS"/>
                <a:cs typeface="Trebuchet MS"/>
              </a:rPr>
              <a:t>Knowledge</a:t>
            </a:r>
            <a:r>
              <a:rPr sz="2100" b="1" spc="-143" dirty="0">
                <a:latin typeface="Trebuchet MS"/>
                <a:cs typeface="Trebuchet MS"/>
              </a:rPr>
              <a:t> </a:t>
            </a:r>
            <a:r>
              <a:rPr sz="2100" b="1" spc="-86" dirty="0">
                <a:latin typeface="Trebuchet MS"/>
                <a:cs typeface="Trebuchet MS"/>
              </a:rPr>
              <a:t>Base: </a:t>
            </a:r>
            <a:r>
              <a:rPr sz="2100" dirty="0">
                <a:latin typeface="MS PGothic"/>
                <a:cs typeface="MS PGothic"/>
              </a:rPr>
              <a:t>The knowledge base is helpful in </a:t>
            </a:r>
            <a:r>
              <a:rPr sz="2100" spc="4" dirty="0">
                <a:latin typeface="MS PGothic"/>
                <a:cs typeface="MS PGothic"/>
              </a:rPr>
              <a:t> </a:t>
            </a:r>
            <a:r>
              <a:rPr sz="2100" dirty="0">
                <a:latin typeface="MS PGothic"/>
                <a:cs typeface="MS PGothic"/>
              </a:rPr>
              <a:t>the</a:t>
            </a:r>
            <a:r>
              <a:rPr sz="2100" spc="4" dirty="0">
                <a:latin typeface="MS PGothic"/>
                <a:cs typeface="MS PGothic"/>
              </a:rPr>
              <a:t> </a:t>
            </a:r>
            <a:r>
              <a:rPr sz="2100" dirty="0">
                <a:latin typeface="MS PGothic"/>
                <a:cs typeface="MS PGothic"/>
              </a:rPr>
              <a:t>entire</a:t>
            </a:r>
            <a:r>
              <a:rPr sz="2100" spc="-11" dirty="0">
                <a:latin typeface="MS PGothic"/>
                <a:cs typeface="MS PGothic"/>
              </a:rPr>
              <a:t> </a:t>
            </a:r>
            <a:r>
              <a:rPr sz="2100" spc="-4" dirty="0">
                <a:latin typeface="MS PGothic"/>
                <a:cs typeface="MS PGothic"/>
              </a:rPr>
              <a:t>process</a:t>
            </a:r>
            <a:r>
              <a:rPr sz="2100" dirty="0">
                <a:latin typeface="MS PGothic"/>
                <a:cs typeface="MS PGothic"/>
              </a:rPr>
              <a:t> of</a:t>
            </a:r>
            <a:r>
              <a:rPr sz="2100" spc="-4" dirty="0">
                <a:latin typeface="MS PGothic"/>
                <a:cs typeface="MS PGothic"/>
              </a:rPr>
              <a:t> </a:t>
            </a:r>
            <a:r>
              <a:rPr sz="2100" dirty="0">
                <a:latin typeface="MS PGothic"/>
                <a:cs typeface="MS PGothic"/>
              </a:rPr>
              <a:t>data</a:t>
            </a:r>
            <a:r>
              <a:rPr sz="2100" spc="-11" dirty="0">
                <a:latin typeface="MS PGothic"/>
                <a:cs typeface="MS PGothic"/>
              </a:rPr>
              <a:t> </a:t>
            </a:r>
            <a:r>
              <a:rPr sz="2100" spc="-4" dirty="0">
                <a:latin typeface="MS PGothic"/>
                <a:cs typeface="MS PGothic"/>
              </a:rPr>
              <a:t>mining.</a:t>
            </a:r>
            <a:r>
              <a:rPr sz="2100" spc="11" dirty="0">
                <a:latin typeface="MS PGothic"/>
                <a:cs typeface="MS PGothic"/>
              </a:rPr>
              <a:t> </a:t>
            </a:r>
            <a:r>
              <a:rPr sz="2100" spc="-4" dirty="0">
                <a:latin typeface="MS PGothic"/>
                <a:cs typeface="MS PGothic"/>
              </a:rPr>
              <a:t>It might</a:t>
            </a:r>
            <a:r>
              <a:rPr sz="2100" spc="4" dirty="0">
                <a:latin typeface="MS PGothic"/>
                <a:cs typeface="MS PGothic"/>
              </a:rPr>
              <a:t> </a:t>
            </a:r>
            <a:r>
              <a:rPr sz="2100" spc="-4" dirty="0">
                <a:latin typeface="MS PGothic"/>
                <a:cs typeface="MS PGothic"/>
              </a:rPr>
              <a:t>be</a:t>
            </a:r>
            <a:r>
              <a:rPr sz="2100" spc="4" dirty="0">
                <a:latin typeface="MS PGothic"/>
                <a:cs typeface="MS PGothic"/>
              </a:rPr>
              <a:t> </a:t>
            </a:r>
            <a:r>
              <a:rPr sz="2100" dirty="0">
                <a:latin typeface="MS PGothic"/>
                <a:cs typeface="MS PGothic"/>
              </a:rPr>
              <a:t>helpful </a:t>
            </a:r>
            <a:r>
              <a:rPr sz="2100" spc="-608" dirty="0">
                <a:latin typeface="MS PGothic"/>
                <a:cs typeface="MS PGothic"/>
              </a:rPr>
              <a:t> </a:t>
            </a:r>
            <a:r>
              <a:rPr sz="2100" dirty="0">
                <a:latin typeface="MS PGothic"/>
                <a:cs typeface="MS PGothic"/>
              </a:rPr>
              <a:t>to</a:t>
            </a:r>
            <a:r>
              <a:rPr sz="2100" spc="-4" dirty="0">
                <a:latin typeface="MS PGothic"/>
                <a:cs typeface="MS PGothic"/>
              </a:rPr>
              <a:t> </a:t>
            </a:r>
            <a:r>
              <a:rPr sz="2100" dirty="0">
                <a:latin typeface="MS PGothic"/>
                <a:cs typeface="MS PGothic"/>
              </a:rPr>
              <a:t>guide</a:t>
            </a:r>
            <a:r>
              <a:rPr sz="2100" spc="4" dirty="0">
                <a:latin typeface="MS PGothic"/>
                <a:cs typeface="MS PGothic"/>
              </a:rPr>
              <a:t> </a:t>
            </a:r>
            <a:r>
              <a:rPr sz="2100" dirty="0">
                <a:latin typeface="MS PGothic"/>
                <a:cs typeface="MS PGothic"/>
              </a:rPr>
              <a:t>the</a:t>
            </a:r>
            <a:r>
              <a:rPr sz="2100" spc="4" dirty="0">
                <a:latin typeface="MS PGothic"/>
                <a:cs typeface="MS PGothic"/>
              </a:rPr>
              <a:t> </a:t>
            </a:r>
            <a:r>
              <a:rPr sz="2100" dirty="0">
                <a:latin typeface="MS PGothic"/>
                <a:cs typeface="MS PGothic"/>
              </a:rPr>
              <a:t>search</a:t>
            </a:r>
            <a:r>
              <a:rPr sz="2100" spc="-4" dirty="0">
                <a:latin typeface="MS PGothic"/>
                <a:cs typeface="MS PGothic"/>
              </a:rPr>
              <a:t> </a:t>
            </a:r>
            <a:r>
              <a:rPr sz="2100" dirty="0">
                <a:latin typeface="MS PGothic"/>
                <a:cs typeface="MS PGothic"/>
              </a:rPr>
              <a:t>or</a:t>
            </a:r>
            <a:r>
              <a:rPr sz="2100" spc="-11" dirty="0">
                <a:latin typeface="MS PGothic"/>
                <a:cs typeface="MS PGothic"/>
              </a:rPr>
              <a:t> </a:t>
            </a:r>
            <a:r>
              <a:rPr sz="2100" spc="-4" dirty="0">
                <a:latin typeface="MS PGothic"/>
                <a:cs typeface="MS PGothic"/>
              </a:rPr>
              <a:t>evaluate</a:t>
            </a:r>
            <a:r>
              <a:rPr sz="2100" spc="4" dirty="0">
                <a:latin typeface="MS PGothic"/>
                <a:cs typeface="MS PGothic"/>
              </a:rPr>
              <a:t> </a:t>
            </a:r>
            <a:r>
              <a:rPr sz="2100" dirty="0">
                <a:latin typeface="MS PGothic"/>
                <a:cs typeface="MS PGothic"/>
              </a:rPr>
              <a:t>the</a:t>
            </a:r>
            <a:r>
              <a:rPr sz="2100" spc="4" dirty="0">
                <a:latin typeface="MS PGothic"/>
                <a:cs typeface="MS PGothic"/>
              </a:rPr>
              <a:t> </a:t>
            </a:r>
            <a:r>
              <a:rPr sz="2100" spc="-4" dirty="0">
                <a:latin typeface="MS PGothic"/>
                <a:cs typeface="MS PGothic"/>
              </a:rPr>
              <a:t>stake</a:t>
            </a:r>
            <a:r>
              <a:rPr sz="2100" dirty="0">
                <a:latin typeface="MS PGothic"/>
                <a:cs typeface="MS PGothic"/>
              </a:rPr>
              <a:t> of</a:t>
            </a:r>
            <a:r>
              <a:rPr sz="2100" spc="4" dirty="0">
                <a:latin typeface="MS PGothic"/>
                <a:cs typeface="MS PGothic"/>
              </a:rPr>
              <a:t> </a:t>
            </a:r>
            <a:r>
              <a:rPr sz="2100" dirty="0">
                <a:latin typeface="MS PGothic"/>
                <a:cs typeface="MS PGothic"/>
              </a:rPr>
              <a:t>the </a:t>
            </a:r>
            <a:r>
              <a:rPr sz="2100" spc="4" dirty="0">
                <a:latin typeface="MS PGothic"/>
                <a:cs typeface="MS PGothic"/>
              </a:rPr>
              <a:t> </a:t>
            </a:r>
            <a:r>
              <a:rPr sz="2100" dirty="0">
                <a:latin typeface="MS PGothic"/>
                <a:cs typeface="MS PGothic"/>
              </a:rPr>
              <a:t>result </a:t>
            </a:r>
            <a:r>
              <a:rPr sz="2100" spc="-4" dirty="0">
                <a:latin typeface="MS PGothic"/>
                <a:cs typeface="MS PGothic"/>
              </a:rPr>
              <a:t>patterns. </a:t>
            </a:r>
            <a:r>
              <a:rPr sz="2100" dirty="0">
                <a:latin typeface="MS PGothic"/>
                <a:cs typeface="MS PGothic"/>
              </a:rPr>
              <a:t>The knowledge </a:t>
            </a:r>
            <a:r>
              <a:rPr sz="2100" spc="-4" dirty="0">
                <a:latin typeface="MS PGothic"/>
                <a:cs typeface="MS PGothic"/>
              </a:rPr>
              <a:t>base may </a:t>
            </a:r>
            <a:r>
              <a:rPr sz="2100" dirty="0">
                <a:latin typeface="MS PGothic"/>
                <a:cs typeface="MS PGothic"/>
              </a:rPr>
              <a:t>even </a:t>
            </a:r>
            <a:r>
              <a:rPr sz="2100" spc="4" dirty="0">
                <a:latin typeface="MS PGothic"/>
                <a:cs typeface="MS PGothic"/>
              </a:rPr>
              <a:t> </a:t>
            </a:r>
            <a:r>
              <a:rPr sz="2100" spc="-4" dirty="0">
                <a:latin typeface="MS PGothic"/>
                <a:cs typeface="MS PGothic"/>
              </a:rPr>
              <a:t>contain</a:t>
            </a:r>
            <a:r>
              <a:rPr sz="2100" spc="4" dirty="0">
                <a:latin typeface="MS PGothic"/>
                <a:cs typeface="MS PGothic"/>
              </a:rPr>
              <a:t> </a:t>
            </a:r>
            <a:r>
              <a:rPr sz="2100" dirty="0">
                <a:latin typeface="MS PGothic"/>
                <a:cs typeface="MS PGothic"/>
              </a:rPr>
              <a:t>user</a:t>
            </a:r>
            <a:r>
              <a:rPr sz="2100" spc="-11" dirty="0">
                <a:latin typeface="MS PGothic"/>
                <a:cs typeface="MS PGothic"/>
              </a:rPr>
              <a:t> </a:t>
            </a:r>
            <a:r>
              <a:rPr sz="2100" spc="-4" dirty="0">
                <a:latin typeface="MS PGothic"/>
                <a:cs typeface="MS PGothic"/>
              </a:rPr>
              <a:t>views</a:t>
            </a:r>
            <a:r>
              <a:rPr sz="2100" spc="19" dirty="0">
                <a:latin typeface="MS PGothic"/>
                <a:cs typeface="MS PGothic"/>
              </a:rPr>
              <a:t> </a:t>
            </a:r>
            <a:r>
              <a:rPr sz="2100" dirty="0">
                <a:latin typeface="MS PGothic"/>
                <a:cs typeface="MS PGothic"/>
              </a:rPr>
              <a:t>and </a:t>
            </a:r>
            <a:r>
              <a:rPr sz="2100" spc="-8" dirty="0">
                <a:latin typeface="MS PGothic"/>
                <a:cs typeface="MS PGothic"/>
              </a:rPr>
              <a:t>data</a:t>
            </a:r>
            <a:r>
              <a:rPr sz="2100" dirty="0">
                <a:latin typeface="MS PGothic"/>
                <a:cs typeface="MS PGothic"/>
              </a:rPr>
              <a:t> from</a:t>
            </a:r>
            <a:r>
              <a:rPr sz="2100" spc="8" dirty="0">
                <a:latin typeface="MS PGothic"/>
                <a:cs typeface="MS PGothic"/>
              </a:rPr>
              <a:t> </a:t>
            </a:r>
            <a:r>
              <a:rPr sz="2100" dirty="0">
                <a:latin typeface="MS PGothic"/>
                <a:cs typeface="MS PGothic"/>
              </a:rPr>
              <a:t>user</a:t>
            </a:r>
            <a:r>
              <a:rPr sz="2100" spc="-11" dirty="0">
                <a:latin typeface="MS PGothic"/>
                <a:cs typeface="MS PGothic"/>
              </a:rPr>
              <a:t> </a:t>
            </a:r>
            <a:r>
              <a:rPr sz="2100" dirty="0">
                <a:latin typeface="MS PGothic"/>
                <a:cs typeface="MS PGothic"/>
              </a:rPr>
              <a:t>experiences </a:t>
            </a:r>
            <a:r>
              <a:rPr sz="2100" spc="4" dirty="0">
                <a:latin typeface="MS PGothic"/>
                <a:cs typeface="MS PGothic"/>
              </a:rPr>
              <a:t> </a:t>
            </a:r>
            <a:r>
              <a:rPr sz="2100" dirty="0">
                <a:latin typeface="MS PGothic"/>
                <a:cs typeface="MS PGothic"/>
              </a:rPr>
              <a:t>that</a:t>
            </a:r>
            <a:r>
              <a:rPr sz="2100" spc="-4" dirty="0">
                <a:latin typeface="MS PGothic"/>
                <a:cs typeface="MS PGothic"/>
              </a:rPr>
              <a:t> might</a:t>
            </a:r>
            <a:r>
              <a:rPr sz="2100" spc="8" dirty="0">
                <a:latin typeface="MS PGothic"/>
                <a:cs typeface="MS PGothic"/>
              </a:rPr>
              <a:t> </a:t>
            </a:r>
            <a:r>
              <a:rPr sz="2100" spc="-4" dirty="0">
                <a:latin typeface="MS PGothic"/>
                <a:cs typeface="MS PGothic"/>
              </a:rPr>
              <a:t>be</a:t>
            </a:r>
            <a:r>
              <a:rPr sz="2100" spc="4" dirty="0">
                <a:latin typeface="MS PGothic"/>
                <a:cs typeface="MS PGothic"/>
              </a:rPr>
              <a:t> </a:t>
            </a:r>
            <a:r>
              <a:rPr sz="2100" dirty="0">
                <a:latin typeface="MS PGothic"/>
                <a:cs typeface="MS PGothic"/>
              </a:rPr>
              <a:t>helpful</a:t>
            </a:r>
            <a:r>
              <a:rPr sz="2100" spc="-15" dirty="0">
                <a:latin typeface="MS PGothic"/>
                <a:cs typeface="MS PGothic"/>
              </a:rPr>
              <a:t> </a:t>
            </a:r>
            <a:r>
              <a:rPr sz="2100" dirty="0">
                <a:latin typeface="MS PGothic"/>
                <a:cs typeface="MS PGothic"/>
              </a:rPr>
              <a:t>in the</a:t>
            </a:r>
            <a:r>
              <a:rPr sz="2100" spc="-4" dirty="0">
                <a:latin typeface="MS PGothic"/>
                <a:cs typeface="MS PGothic"/>
              </a:rPr>
              <a:t> data</a:t>
            </a:r>
            <a:r>
              <a:rPr sz="2100" dirty="0">
                <a:latin typeface="MS PGothic"/>
                <a:cs typeface="MS PGothic"/>
              </a:rPr>
              <a:t> </a:t>
            </a:r>
            <a:r>
              <a:rPr sz="2100" spc="-4" dirty="0">
                <a:latin typeface="MS PGothic"/>
                <a:cs typeface="MS PGothic"/>
              </a:rPr>
              <a:t>mining</a:t>
            </a:r>
            <a:r>
              <a:rPr sz="2100" spc="11" dirty="0">
                <a:latin typeface="MS PGothic"/>
                <a:cs typeface="MS PGothic"/>
              </a:rPr>
              <a:t> </a:t>
            </a:r>
            <a:r>
              <a:rPr sz="2100" spc="-4" dirty="0">
                <a:latin typeface="MS PGothic"/>
                <a:cs typeface="MS PGothic"/>
              </a:rPr>
              <a:t>process.</a:t>
            </a:r>
            <a:endParaRPr sz="2100" dirty="0">
              <a:latin typeface="MS PGothic"/>
              <a:cs typeface="MS PGothic"/>
            </a:endParaRPr>
          </a:p>
        </p:txBody>
      </p:sp>
      <p:sp>
        <p:nvSpPr>
          <p:cNvPr id="6" name="Date Placeholder 5">
            <a:extLst>
              <a:ext uri="{FF2B5EF4-FFF2-40B4-BE49-F238E27FC236}">
                <a16:creationId xmlns:a16="http://schemas.microsoft.com/office/drawing/2014/main" id="{27E0BC24-E2C9-9602-4FD4-F90A059A947E}"/>
              </a:ext>
            </a:extLst>
          </p:cNvPr>
          <p:cNvSpPr>
            <a:spLocks noGrp="1"/>
          </p:cNvSpPr>
          <p:nvPr>
            <p:ph type="dt" sz="half" idx="6"/>
          </p:nvPr>
        </p:nvSpPr>
        <p:spPr/>
        <p:txBody>
          <a:bodyPr/>
          <a:lstStyle/>
          <a:p>
            <a:fld id="{311755CC-52FD-5349-AF7F-C95DB34EB2AA}" type="datetime1">
              <a:rPr lang="en-US" smtClean="0"/>
              <a:t>11/17/25</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07718" y="749618"/>
            <a:ext cx="5673090" cy="470802"/>
          </a:xfrm>
          <a:prstGeom prst="rect">
            <a:avLst/>
          </a:prstGeom>
        </p:spPr>
        <p:txBody>
          <a:bodyPr vert="horz" wrap="square" lIns="0" tIns="9049" rIns="0" bIns="0" rtlCol="0">
            <a:spAutoFit/>
          </a:bodyPr>
          <a:lstStyle/>
          <a:p>
            <a:pPr marL="9525">
              <a:spcBef>
                <a:spcPts val="71"/>
              </a:spcBef>
            </a:pPr>
            <a:r>
              <a:rPr sz="3000" b="1" spc="-49" dirty="0">
                <a:solidFill>
                  <a:srgbClr val="C00000"/>
                </a:solidFill>
              </a:rPr>
              <a:t>Types</a:t>
            </a:r>
            <a:r>
              <a:rPr sz="3000" b="1" spc="8" dirty="0">
                <a:solidFill>
                  <a:srgbClr val="C00000"/>
                </a:solidFill>
              </a:rPr>
              <a:t> </a:t>
            </a:r>
            <a:r>
              <a:rPr sz="3000" b="1" spc="-4" dirty="0">
                <a:solidFill>
                  <a:srgbClr val="C00000"/>
                </a:solidFill>
              </a:rPr>
              <a:t>of</a:t>
            </a:r>
            <a:r>
              <a:rPr sz="3000" b="1" dirty="0">
                <a:solidFill>
                  <a:srgbClr val="C00000"/>
                </a:solidFill>
              </a:rPr>
              <a:t> </a:t>
            </a:r>
            <a:r>
              <a:rPr sz="3000" b="1" spc="-4" dirty="0">
                <a:solidFill>
                  <a:srgbClr val="C00000"/>
                </a:solidFill>
              </a:rPr>
              <a:t>Data</a:t>
            </a:r>
            <a:r>
              <a:rPr sz="3000" b="1" spc="8" dirty="0">
                <a:solidFill>
                  <a:srgbClr val="C00000"/>
                </a:solidFill>
              </a:rPr>
              <a:t> </a:t>
            </a:r>
            <a:r>
              <a:rPr sz="3000" b="1" spc="-4" dirty="0">
                <a:solidFill>
                  <a:srgbClr val="C00000"/>
                </a:solidFill>
              </a:rPr>
              <a:t>Mining</a:t>
            </a:r>
            <a:r>
              <a:rPr sz="3000" b="1" spc="-158" dirty="0">
                <a:solidFill>
                  <a:srgbClr val="C00000"/>
                </a:solidFill>
              </a:rPr>
              <a:t> </a:t>
            </a:r>
            <a:r>
              <a:rPr sz="3000" b="1" spc="-11" dirty="0">
                <a:solidFill>
                  <a:srgbClr val="C00000"/>
                </a:solidFill>
              </a:rPr>
              <a:t>Architecture</a:t>
            </a:r>
            <a:endParaRPr sz="3000"/>
          </a:p>
        </p:txBody>
      </p:sp>
      <p:sp>
        <p:nvSpPr>
          <p:cNvPr id="3" name="object 3"/>
          <p:cNvSpPr txBox="1"/>
          <p:nvPr/>
        </p:nvSpPr>
        <p:spPr>
          <a:xfrm>
            <a:off x="285750" y="1316317"/>
            <a:ext cx="8458200" cy="3428983"/>
          </a:xfrm>
          <a:prstGeom prst="rect">
            <a:avLst/>
          </a:prstGeom>
        </p:spPr>
        <p:txBody>
          <a:bodyPr vert="horz" wrap="square" lIns="0" tIns="40481" rIns="0" bIns="0" rtlCol="0">
            <a:spAutoFit/>
          </a:bodyPr>
          <a:lstStyle/>
          <a:p>
            <a:pPr marL="352425" marR="3810" indent="-343376" algn="just">
              <a:lnSpc>
                <a:spcPct val="90000"/>
              </a:lnSpc>
              <a:spcBef>
                <a:spcPts val="319"/>
              </a:spcBef>
              <a:buFont typeface="Arial MT"/>
              <a:buChar char="•"/>
              <a:tabLst>
                <a:tab pos="352425" algn="l"/>
                <a:tab pos="352901" algn="l"/>
              </a:tabLst>
            </a:pPr>
            <a:r>
              <a:rPr sz="2400" b="1" spc="-86" dirty="0">
                <a:latin typeface="Trebuchet MS"/>
                <a:cs typeface="Trebuchet MS"/>
              </a:rPr>
              <a:t>No-coupling </a:t>
            </a:r>
            <a:r>
              <a:rPr sz="2400" b="1" spc="-75" dirty="0">
                <a:latin typeface="Trebuchet MS"/>
                <a:cs typeface="Trebuchet MS"/>
              </a:rPr>
              <a:t>Data </a:t>
            </a:r>
            <a:r>
              <a:rPr sz="2400" b="1" spc="-158" dirty="0">
                <a:latin typeface="Trebuchet MS"/>
                <a:cs typeface="Trebuchet MS"/>
              </a:rPr>
              <a:t>Mining:</a:t>
            </a:r>
            <a:r>
              <a:rPr sz="2400" b="1" spc="-153" dirty="0">
                <a:latin typeface="Trebuchet MS"/>
                <a:cs typeface="Trebuchet MS"/>
              </a:rPr>
              <a:t> </a:t>
            </a:r>
            <a:r>
              <a:rPr sz="2400" spc="-4" dirty="0">
                <a:latin typeface="MS PGothic"/>
                <a:cs typeface="MS PGothic"/>
              </a:rPr>
              <a:t>In </a:t>
            </a:r>
            <a:r>
              <a:rPr sz="2400" dirty="0">
                <a:latin typeface="MS PGothic"/>
                <a:cs typeface="MS PGothic"/>
              </a:rPr>
              <a:t>this architecture, </a:t>
            </a:r>
            <a:r>
              <a:rPr sz="2400" spc="-4" dirty="0">
                <a:latin typeface="MS PGothic"/>
                <a:cs typeface="MS PGothic"/>
              </a:rPr>
              <a:t>data </a:t>
            </a:r>
            <a:r>
              <a:rPr sz="2400" dirty="0">
                <a:latin typeface="MS PGothic"/>
                <a:cs typeface="MS PGothic"/>
              </a:rPr>
              <a:t> </a:t>
            </a:r>
            <a:r>
              <a:rPr sz="2400" spc="-4" dirty="0">
                <a:latin typeface="MS PGothic"/>
                <a:cs typeface="MS PGothic"/>
              </a:rPr>
              <a:t>mining</a:t>
            </a:r>
            <a:r>
              <a:rPr sz="2400" spc="8" dirty="0">
                <a:latin typeface="MS PGothic"/>
                <a:cs typeface="MS PGothic"/>
              </a:rPr>
              <a:t> </a:t>
            </a:r>
            <a:r>
              <a:rPr sz="2400" dirty="0">
                <a:latin typeface="MS PGothic"/>
                <a:cs typeface="MS PGothic"/>
              </a:rPr>
              <a:t>system</a:t>
            </a:r>
            <a:r>
              <a:rPr sz="2400" spc="11" dirty="0">
                <a:latin typeface="MS PGothic"/>
                <a:cs typeface="MS PGothic"/>
              </a:rPr>
              <a:t> </a:t>
            </a:r>
            <a:r>
              <a:rPr sz="2400" spc="-4" dirty="0">
                <a:latin typeface="MS PGothic"/>
                <a:cs typeface="MS PGothic"/>
              </a:rPr>
              <a:t>does</a:t>
            </a:r>
            <a:r>
              <a:rPr sz="2400" spc="4" dirty="0">
                <a:latin typeface="MS PGothic"/>
                <a:cs typeface="MS PGothic"/>
              </a:rPr>
              <a:t> </a:t>
            </a:r>
            <a:r>
              <a:rPr sz="2400" dirty="0">
                <a:latin typeface="MS PGothic"/>
                <a:cs typeface="MS PGothic"/>
              </a:rPr>
              <a:t>not</a:t>
            </a:r>
            <a:r>
              <a:rPr sz="2400" spc="-4" dirty="0">
                <a:latin typeface="MS PGothic"/>
                <a:cs typeface="MS PGothic"/>
              </a:rPr>
              <a:t> </a:t>
            </a:r>
            <a:r>
              <a:rPr sz="2400" dirty="0">
                <a:latin typeface="MS PGothic"/>
                <a:cs typeface="MS PGothic"/>
              </a:rPr>
              <a:t>use</a:t>
            </a:r>
            <a:r>
              <a:rPr sz="2400" spc="-8" dirty="0">
                <a:latin typeface="MS PGothic"/>
                <a:cs typeface="MS PGothic"/>
              </a:rPr>
              <a:t> </a:t>
            </a:r>
            <a:r>
              <a:rPr sz="2400" dirty="0">
                <a:latin typeface="MS PGothic"/>
                <a:cs typeface="MS PGothic"/>
              </a:rPr>
              <a:t>any</a:t>
            </a:r>
            <a:r>
              <a:rPr sz="2400" spc="-4" dirty="0">
                <a:latin typeface="MS PGothic"/>
                <a:cs typeface="MS PGothic"/>
              </a:rPr>
              <a:t> functionality</a:t>
            </a:r>
            <a:r>
              <a:rPr sz="2400" spc="15" dirty="0">
                <a:latin typeface="MS PGothic"/>
                <a:cs typeface="MS PGothic"/>
              </a:rPr>
              <a:t> </a:t>
            </a:r>
            <a:r>
              <a:rPr sz="2400" dirty="0">
                <a:latin typeface="MS PGothic"/>
                <a:cs typeface="MS PGothic"/>
              </a:rPr>
              <a:t>of</a:t>
            </a:r>
            <a:r>
              <a:rPr sz="2400" spc="-4" dirty="0">
                <a:latin typeface="MS PGothic"/>
                <a:cs typeface="MS PGothic"/>
              </a:rPr>
              <a:t> </a:t>
            </a:r>
            <a:r>
              <a:rPr sz="2400" dirty="0">
                <a:latin typeface="MS PGothic"/>
                <a:cs typeface="MS PGothic"/>
              </a:rPr>
              <a:t>a </a:t>
            </a:r>
            <a:r>
              <a:rPr sz="2400" spc="4" dirty="0">
                <a:latin typeface="MS PGothic"/>
                <a:cs typeface="MS PGothic"/>
              </a:rPr>
              <a:t> </a:t>
            </a:r>
            <a:r>
              <a:rPr sz="2400" spc="-4" dirty="0">
                <a:latin typeface="MS PGothic"/>
                <a:cs typeface="MS PGothic"/>
              </a:rPr>
              <a:t>database, that </a:t>
            </a:r>
            <a:r>
              <a:rPr sz="2400" dirty="0">
                <a:latin typeface="MS PGothic"/>
                <a:cs typeface="MS PGothic"/>
              </a:rPr>
              <a:t>is </a:t>
            </a:r>
            <a:r>
              <a:rPr sz="2400" spc="-4" dirty="0">
                <a:latin typeface="MS PGothic"/>
                <a:cs typeface="MS PGothic"/>
              </a:rPr>
              <a:t>already </a:t>
            </a:r>
            <a:r>
              <a:rPr sz="2400" dirty="0">
                <a:latin typeface="MS PGothic"/>
                <a:cs typeface="MS PGothic"/>
              </a:rPr>
              <a:t>very efficient in organizing, </a:t>
            </a:r>
            <a:r>
              <a:rPr sz="2400" spc="-608" dirty="0">
                <a:latin typeface="MS PGothic"/>
                <a:cs typeface="MS PGothic"/>
              </a:rPr>
              <a:t> </a:t>
            </a:r>
            <a:r>
              <a:rPr sz="2400" spc="-4" dirty="0">
                <a:latin typeface="MS PGothic"/>
                <a:cs typeface="MS PGothic"/>
              </a:rPr>
              <a:t>storing,</a:t>
            </a:r>
            <a:r>
              <a:rPr sz="2400" spc="11" dirty="0">
                <a:latin typeface="MS PGothic"/>
                <a:cs typeface="MS PGothic"/>
              </a:rPr>
              <a:t> </a:t>
            </a:r>
            <a:r>
              <a:rPr sz="2400" dirty="0">
                <a:latin typeface="MS PGothic"/>
                <a:cs typeface="MS PGothic"/>
              </a:rPr>
              <a:t>accessing</a:t>
            </a:r>
            <a:r>
              <a:rPr sz="2400" spc="4" dirty="0">
                <a:latin typeface="MS PGothic"/>
                <a:cs typeface="MS PGothic"/>
              </a:rPr>
              <a:t> </a:t>
            </a:r>
            <a:r>
              <a:rPr sz="2400" dirty="0">
                <a:latin typeface="MS PGothic"/>
                <a:cs typeface="MS PGothic"/>
              </a:rPr>
              <a:t>and</a:t>
            </a:r>
            <a:r>
              <a:rPr sz="2400" spc="8" dirty="0">
                <a:latin typeface="MS PGothic"/>
                <a:cs typeface="MS PGothic"/>
              </a:rPr>
              <a:t> </a:t>
            </a:r>
            <a:r>
              <a:rPr sz="2400" spc="-4" dirty="0">
                <a:latin typeface="MS PGothic"/>
                <a:cs typeface="MS PGothic"/>
              </a:rPr>
              <a:t>retrieving</a:t>
            </a:r>
            <a:r>
              <a:rPr sz="2400" spc="15" dirty="0">
                <a:latin typeface="MS PGothic"/>
                <a:cs typeface="MS PGothic"/>
              </a:rPr>
              <a:t> </a:t>
            </a:r>
            <a:r>
              <a:rPr sz="2400" spc="-4" dirty="0">
                <a:latin typeface="MS PGothic"/>
                <a:cs typeface="MS PGothic"/>
              </a:rPr>
              <a:t>data.</a:t>
            </a:r>
            <a:r>
              <a:rPr sz="2400" spc="-8" dirty="0">
                <a:latin typeface="MS PGothic"/>
                <a:cs typeface="MS PGothic"/>
              </a:rPr>
              <a:t> </a:t>
            </a:r>
            <a:r>
              <a:rPr sz="2400" spc="-4" dirty="0">
                <a:latin typeface="MS PGothic"/>
                <a:cs typeface="MS PGothic"/>
              </a:rPr>
              <a:t>It</a:t>
            </a:r>
            <a:r>
              <a:rPr sz="2400" spc="4" dirty="0">
                <a:latin typeface="MS PGothic"/>
                <a:cs typeface="MS PGothic"/>
              </a:rPr>
              <a:t> </a:t>
            </a:r>
            <a:r>
              <a:rPr sz="2400" spc="-4" dirty="0">
                <a:latin typeface="MS PGothic"/>
                <a:cs typeface="MS PGothic"/>
              </a:rPr>
              <a:t>retrieves </a:t>
            </a:r>
            <a:r>
              <a:rPr sz="2400" dirty="0">
                <a:latin typeface="MS PGothic"/>
                <a:cs typeface="MS PGothic"/>
              </a:rPr>
              <a:t> </a:t>
            </a:r>
            <a:r>
              <a:rPr sz="2400" spc="-4" dirty="0">
                <a:latin typeface="MS PGothic"/>
                <a:cs typeface="MS PGothic"/>
              </a:rPr>
              <a:t>data</a:t>
            </a:r>
            <a:r>
              <a:rPr sz="2400" spc="-8" dirty="0">
                <a:latin typeface="MS PGothic"/>
                <a:cs typeface="MS PGothic"/>
              </a:rPr>
              <a:t> </a:t>
            </a:r>
            <a:r>
              <a:rPr sz="2400" dirty="0">
                <a:latin typeface="MS PGothic"/>
                <a:cs typeface="MS PGothic"/>
              </a:rPr>
              <a:t>from</a:t>
            </a:r>
            <a:r>
              <a:rPr sz="2400" spc="11" dirty="0">
                <a:latin typeface="MS PGothic"/>
                <a:cs typeface="MS PGothic"/>
              </a:rPr>
              <a:t> </a:t>
            </a:r>
            <a:r>
              <a:rPr sz="2400" dirty="0">
                <a:latin typeface="MS PGothic"/>
                <a:cs typeface="MS PGothic"/>
              </a:rPr>
              <a:t>a </a:t>
            </a:r>
            <a:r>
              <a:rPr sz="2400" spc="-4" dirty="0">
                <a:latin typeface="MS PGothic"/>
                <a:cs typeface="MS PGothic"/>
              </a:rPr>
              <a:t>particular</a:t>
            </a:r>
            <a:r>
              <a:rPr sz="2400" spc="4" dirty="0">
                <a:latin typeface="MS PGothic"/>
                <a:cs typeface="MS PGothic"/>
              </a:rPr>
              <a:t> </a:t>
            </a:r>
            <a:r>
              <a:rPr sz="2400" spc="-4" dirty="0">
                <a:latin typeface="MS PGothic"/>
                <a:cs typeface="MS PGothic"/>
              </a:rPr>
              <a:t>data</a:t>
            </a:r>
            <a:r>
              <a:rPr sz="2400" spc="-8" dirty="0">
                <a:latin typeface="MS PGothic"/>
                <a:cs typeface="MS PGothic"/>
              </a:rPr>
              <a:t> </a:t>
            </a:r>
            <a:r>
              <a:rPr sz="2400" dirty="0">
                <a:latin typeface="MS PGothic"/>
                <a:cs typeface="MS PGothic"/>
              </a:rPr>
              <a:t>sources</a:t>
            </a:r>
            <a:r>
              <a:rPr sz="2400" spc="4" dirty="0">
                <a:latin typeface="MS PGothic"/>
                <a:cs typeface="MS PGothic"/>
              </a:rPr>
              <a:t> (eg</a:t>
            </a:r>
            <a:r>
              <a:rPr sz="2400" spc="-4" dirty="0">
                <a:latin typeface="MS PGothic"/>
                <a:cs typeface="MS PGothic"/>
              </a:rPr>
              <a:t> email,</a:t>
            </a:r>
            <a:r>
              <a:rPr sz="2400" spc="19" dirty="0">
                <a:latin typeface="MS PGothic"/>
                <a:cs typeface="MS PGothic"/>
              </a:rPr>
              <a:t> </a:t>
            </a:r>
            <a:r>
              <a:rPr sz="2400" spc="-4" dirty="0">
                <a:latin typeface="MS PGothic"/>
                <a:cs typeface="MS PGothic"/>
              </a:rPr>
              <a:t>Social </a:t>
            </a:r>
            <a:r>
              <a:rPr sz="2400" spc="-608" dirty="0">
                <a:latin typeface="MS PGothic"/>
                <a:cs typeface="MS PGothic"/>
              </a:rPr>
              <a:t> </a:t>
            </a:r>
            <a:r>
              <a:rPr sz="2400" spc="-4" dirty="0">
                <a:latin typeface="MS PGothic"/>
                <a:cs typeface="MS PGothic"/>
              </a:rPr>
              <a:t>media…). </a:t>
            </a:r>
            <a:r>
              <a:rPr sz="2400" dirty="0">
                <a:latin typeface="MS PGothic"/>
                <a:cs typeface="MS PGothic"/>
              </a:rPr>
              <a:t>is considered a </a:t>
            </a:r>
            <a:r>
              <a:rPr sz="2400" spc="-4" dirty="0">
                <a:latin typeface="MS PGothic"/>
                <a:cs typeface="MS PGothic"/>
              </a:rPr>
              <a:t>poor </a:t>
            </a:r>
            <a:r>
              <a:rPr sz="2400" dirty="0">
                <a:latin typeface="MS PGothic"/>
                <a:cs typeface="MS PGothic"/>
              </a:rPr>
              <a:t>architecture for </a:t>
            </a:r>
            <a:r>
              <a:rPr sz="2400" spc="-4" dirty="0">
                <a:latin typeface="MS PGothic"/>
                <a:cs typeface="MS PGothic"/>
              </a:rPr>
              <a:t>data </a:t>
            </a:r>
            <a:r>
              <a:rPr sz="2400" spc="-608" dirty="0">
                <a:latin typeface="MS PGothic"/>
                <a:cs typeface="MS PGothic"/>
              </a:rPr>
              <a:t> </a:t>
            </a:r>
            <a:r>
              <a:rPr sz="2400" spc="-4" dirty="0">
                <a:latin typeface="MS PGothic"/>
                <a:cs typeface="MS PGothic"/>
              </a:rPr>
              <a:t>mining</a:t>
            </a:r>
            <a:r>
              <a:rPr sz="2400" spc="4" dirty="0">
                <a:latin typeface="MS PGothic"/>
                <a:cs typeface="MS PGothic"/>
              </a:rPr>
              <a:t> </a:t>
            </a:r>
            <a:r>
              <a:rPr sz="2400" dirty="0">
                <a:latin typeface="MS PGothic"/>
                <a:cs typeface="MS PGothic"/>
              </a:rPr>
              <a:t>system.</a:t>
            </a:r>
            <a:r>
              <a:rPr sz="2400" spc="8" dirty="0">
                <a:latin typeface="MS PGothic"/>
                <a:cs typeface="MS PGothic"/>
              </a:rPr>
              <a:t> </a:t>
            </a:r>
            <a:r>
              <a:rPr sz="2400" dirty="0">
                <a:latin typeface="MS PGothic"/>
                <a:cs typeface="MS PGothic"/>
              </a:rPr>
              <a:t>But</a:t>
            </a:r>
            <a:r>
              <a:rPr sz="2400" spc="-8" dirty="0">
                <a:latin typeface="MS PGothic"/>
                <a:cs typeface="MS PGothic"/>
              </a:rPr>
              <a:t> </a:t>
            </a:r>
            <a:r>
              <a:rPr sz="2400" dirty="0">
                <a:latin typeface="MS PGothic"/>
                <a:cs typeface="MS PGothic"/>
              </a:rPr>
              <a:t>it</a:t>
            </a:r>
            <a:r>
              <a:rPr sz="2400" spc="19" dirty="0">
                <a:latin typeface="MS PGothic"/>
                <a:cs typeface="MS PGothic"/>
              </a:rPr>
              <a:t> </a:t>
            </a:r>
            <a:r>
              <a:rPr sz="2400" dirty="0">
                <a:latin typeface="MS PGothic"/>
                <a:cs typeface="MS PGothic"/>
              </a:rPr>
              <a:t>is used</a:t>
            </a:r>
            <a:r>
              <a:rPr sz="2400" spc="-4" dirty="0">
                <a:latin typeface="MS PGothic"/>
                <a:cs typeface="MS PGothic"/>
              </a:rPr>
              <a:t> </a:t>
            </a:r>
            <a:r>
              <a:rPr sz="2400" dirty="0">
                <a:latin typeface="MS PGothic"/>
                <a:cs typeface="MS PGothic"/>
              </a:rPr>
              <a:t>for</a:t>
            </a:r>
            <a:r>
              <a:rPr sz="2400" spc="-4" dirty="0">
                <a:latin typeface="MS PGothic"/>
                <a:cs typeface="MS PGothic"/>
              </a:rPr>
              <a:t> </a:t>
            </a:r>
            <a:r>
              <a:rPr sz="2400" dirty="0">
                <a:latin typeface="MS PGothic"/>
                <a:cs typeface="MS PGothic"/>
              </a:rPr>
              <a:t>simple</a:t>
            </a:r>
            <a:r>
              <a:rPr sz="2400" spc="15" dirty="0">
                <a:latin typeface="MS PGothic"/>
                <a:cs typeface="MS PGothic"/>
              </a:rPr>
              <a:t> </a:t>
            </a:r>
            <a:r>
              <a:rPr sz="2400" spc="-4" dirty="0">
                <a:latin typeface="MS PGothic"/>
                <a:cs typeface="MS PGothic"/>
              </a:rPr>
              <a:t>data mining</a:t>
            </a:r>
            <a:r>
              <a:rPr sz="2400" dirty="0">
                <a:latin typeface="MS PGothic"/>
                <a:cs typeface="MS PGothic"/>
              </a:rPr>
              <a:t> </a:t>
            </a:r>
            <a:r>
              <a:rPr sz="2400" spc="-4" dirty="0">
                <a:latin typeface="MS PGothic"/>
                <a:cs typeface="MS PGothic"/>
              </a:rPr>
              <a:t>processes.</a:t>
            </a:r>
            <a:endParaRPr sz="2400" dirty="0">
              <a:latin typeface="MS PGothic"/>
              <a:cs typeface="MS PGothic"/>
            </a:endParaRPr>
          </a:p>
          <a:p>
            <a:pPr marL="352425" marR="154305" indent="-343376" algn="just">
              <a:lnSpc>
                <a:spcPct val="90000"/>
              </a:lnSpc>
              <a:spcBef>
                <a:spcPts val="488"/>
              </a:spcBef>
              <a:buFont typeface="Arial MT"/>
              <a:buChar char="•"/>
              <a:tabLst>
                <a:tab pos="352425" algn="l"/>
                <a:tab pos="352901" algn="l"/>
              </a:tabLst>
            </a:pPr>
            <a:r>
              <a:rPr sz="2400" b="1" spc="-68" dirty="0">
                <a:latin typeface="Trebuchet MS"/>
                <a:cs typeface="Trebuchet MS"/>
              </a:rPr>
              <a:t>Loose</a:t>
            </a:r>
            <a:r>
              <a:rPr sz="2400" b="1" spc="19" dirty="0">
                <a:latin typeface="Trebuchet MS"/>
                <a:cs typeface="Trebuchet MS"/>
              </a:rPr>
              <a:t> </a:t>
            </a:r>
            <a:r>
              <a:rPr sz="2400" b="1" spc="-120" dirty="0">
                <a:latin typeface="Trebuchet MS"/>
                <a:cs typeface="Trebuchet MS"/>
              </a:rPr>
              <a:t>Coupling</a:t>
            </a:r>
            <a:r>
              <a:rPr sz="2400" b="1" spc="4" dirty="0">
                <a:latin typeface="Trebuchet MS"/>
                <a:cs typeface="Trebuchet MS"/>
              </a:rPr>
              <a:t> </a:t>
            </a:r>
            <a:r>
              <a:rPr sz="2400" b="1" spc="-75" dirty="0">
                <a:latin typeface="Trebuchet MS"/>
                <a:cs typeface="Trebuchet MS"/>
              </a:rPr>
              <a:t>Data</a:t>
            </a:r>
            <a:r>
              <a:rPr sz="2400" b="1" spc="19" dirty="0">
                <a:latin typeface="Trebuchet MS"/>
                <a:cs typeface="Trebuchet MS"/>
              </a:rPr>
              <a:t> </a:t>
            </a:r>
            <a:r>
              <a:rPr sz="2400" b="1" spc="-158" dirty="0">
                <a:latin typeface="Trebuchet MS"/>
                <a:cs typeface="Trebuchet MS"/>
              </a:rPr>
              <a:t>Mining:</a:t>
            </a:r>
            <a:r>
              <a:rPr sz="2400" b="1" spc="49" dirty="0">
                <a:latin typeface="Trebuchet MS"/>
                <a:cs typeface="Trebuchet MS"/>
              </a:rPr>
              <a:t> </a:t>
            </a:r>
            <a:r>
              <a:rPr sz="2400" spc="-4" dirty="0">
                <a:latin typeface="MS PGothic"/>
                <a:cs typeface="MS PGothic"/>
              </a:rPr>
              <a:t>In</a:t>
            </a:r>
            <a:r>
              <a:rPr sz="2400" spc="-15" dirty="0">
                <a:latin typeface="MS PGothic"/>
                <a:cs typeface="MS PGothic"/>
              </a:rPr>
              <a:t> </a:t>
            </a:r>
            <a:r>
              <a:rPr sz="2400" dirty="0">
                <a:latin typeface="MS PGothic"/>
                <a:cs typeface="MS PGothic"/>
              </a:rPr>
              <a:t>this</a:t>
            </a:r>
            <a:r>
              <a:rPr sz="2400" spc="4" dirty="0">
                <a:latin typeface="MS PGothic"/>
                <a:cs typeface="MS PGothic"/>
              </a:rPr>
              <a:t> </a:t>
            </a:r>
            <a:r>
              <a:rPr sz="2400" dirty="0">
                <a:latin typeface="MS PGothic"/>
                <a:cs typeface="MS PGothic"/>
              </a:rPr>
              <a:t>architecture, </a:t>
            </a:r>
            <a:r>
              <a:rPr sz="2400" spc="4" dirty="0">
                <a:latin typeface="MS PGothic"/>
                <a:cs typeface="MS PGothic"/>
              </a:rPr>
              <a:t> </a:t>
            </a:r>
            <a:r>
              <a:rPr sz="2400" spc="-4" dirty="0">
                <a:latin typeface="MS PGothic"/>
                <a:cs typeface="MS PGothic"/>
              </a:rPr>
              <a:t>data mining</a:t>
            </a:r>
            <a:r>
              <a:rPr sz="2400" spc="11" dirty="0">
                <a:latin typeface="MS PGothic"/>
                <a:cs typeface="MS PGothic"/>
              </a:rPr>
              <a:t> </a:t>
            </a:r>
            <a:r>
              <a:rPr sz="2400" dirty="0">
                <a:latin typeface="MS PGothic"/>
                <a:cs typeface="MS PGothic"/>
              </a:rPr>
              <a:t>system</a:t>
            </a:r>
            <a:r>
              <a:rPr sz="2400" spc="11" dirty="0">
                <a:latin typeface="MS PGothic"/>
                <a:cs typeface="MS PGothic"/>
              </a:rPr>
              <a:t> </a:t>
            </a:r>
            <a:r>
              <a:rPr sz="2400" spc="-4" dirty="0">
                <a:latin typeface="MS PGothic"/>
                <a:cs typeface="MS PGothic"/>
              </a:rPr>
              <a:t>retrieves</a:t>
            </a:r>
            <a:r>
              <a:rPr sz="2400" dirty="0">
                <a:latin typeface="MS PGothic"/>
                <a:cs typeface="MS PGothic"/>
              </a:rPr>
              <a:t> data</a:t>
            </a:r>
            <a:r>
              <a:rPr sz="2400" spc="-11" dirty="0">
                <a:latin typeface="MS PGothic"/>
                <a:cs typeface="MS PGothic"/>
              </a:rPr>
              <a:t> </a:t>
            </a:r>
            <a:r>
              <a:rPr sz="2400" dirty="0">
                <a:latin typeface="MS PGothic"/>
                <a:cs typeface="MS PGothic"/>
              </a:rPr>
              <a:t>from a</a:t>
            </a:r>
            <a:r>
              <a:rPr sz="2400" spc="-4" dirty="0">
                <a:latin typeface="MS PGothic"/>
                <a:cs typeface="MS PGothic"/>
              </a:rPr>
              <a:t> database </a:t>
            </a:r>
            <a:r>
              <a:rPr sz="2400" spc="-608" dirty="0">
                <a:latin typeface="MS PGothic"/>
                <a:cs typeface="MS PGothic"/>
              </a:rPr>
              <a:t> </a:t>
            </a:r>
            <a:r>
              <a:rPr sz="2400" dirty="0">
                <a:latin typeface="MS PGothic"/>
                <a:cs typeface="MS PGothic"/>
              </a:rPr>
              <a:t>and</a:t>
            </a:r>
            <a:r>
              <a:rPr sz="2400" spc="-4" dirty="0">
                <a:latin typeface="MS PGothic"/>
                <a:cs typeface="MS PGothic"/>
              </a:rPr>
              <a:t> </a:t>
            </a:r>
            <a:r>
              <a:rPr sz="2400" dirty="0">
                <a:latin typeface="MS PGothic"/>
                <a:cs typeface="MS PGothic"/>
              </a:rPr>
              <a:t>it stores the</a:t>
            </a:r>
            <a:r>
              <a:rPr sz="2400" spc="-4" dirty="0">
                <a:latin typeface="MS PGothic"/>
                <a:cs typeface="MS PGothic"/>
              </a:rPr>
              <a:t> </a:t>
            </a:r>
            <a:r>
              <a:rPr sz="2400" dirty="0">
                <a:latin typeface="MS PGothic"/>
                <a:cs typeface="MS PGothic"/>
              </a:rPr>
              <a:t>result</a:t>
            </a:r>
            <a:r>
              <a:rPr sz="2400" spc="-8" dirty="0">
                <a:latin typeface="MS PGothic"/>
                <a:cs typeface="MS PGothic"/>
              </a:rPr>
              <a:t> </a:t>
            </a:r>
            <a:r>
              <a:rPr sz="2400" dirty="0">
                <a:latin typeface="MS PGothic"/>
                <a:cs typeface="MS PGothic"/>
              </a:rPr>
              <a:t>in</a:t>
            </a:r>
            <a:r>
              <a:rPr sz="2400" spc="11" dirty="0">
                <a:latin typeface="MS PGothic"/>
                <a:cs typeface="MS PGothic"/>
              </a:rPr>
              <a:t> </a:t>
            </a:r>
            <a:r>
              <a:rPr sz="2400" dirty="0">
                <a:latin typeface="MS PGothic"/>
                <a:cs typeface="MS PGothic"/>
              </a:rPr>
              <a:t>those</a:t>
            </a:r>
            <a:r>
              <a:rPr sz="2400" spc="4" dirty="0">
                <a:latin typeface="MS PGothic"/>
                <a:cs typeface="MS PGothic"/>
              </a:rPr>
              <a:t> </a:t>
            </a:r>
            <a:r>
              <a:rPr sz="2400" spc="-4" dirty="0">
                <a:latin typeface="MS PGothic"/>
                <a:cs typeface="MS PGothic"/>
              </a:rPr>
              <a:t>systems.</a:t>
            </a:r>
            <a:endParaRPr sz="2400" dirty="0">
              <a:latin typeface="MS PGothic"/>
              <a:cs typeface="MS PGothic"/>
            </a:endParaRPr>
          </a:p>
        </p:txBody>
      </p:sp>
      <p:sp>
        <p:nvSpPr>
          <p:cNvPr id="6" name="Date Placeholder 5">
            <a:extLst>
              <a:ext uri="{FF2B5EF4-FFF2-40B4-BE49-F238E27FC236}">
                <a16:creationId xmlns:a16="http://schemas.microsoft.com/office/drawing/2014/main" id="{77CB1068-F6D9-F021-7B7C-EFA31586A240}"/>
              </a:ext>
            </a:extLst>
          </p:cNvPr>
          <p:cNvSpPr>
            <a:spLocks noGrp="1"/>
          </p:cNvSpPr>
          <p:nvPr>
            <p:ph type="dt" sz="half" idx="6"/>
          </p:nvPr>
        </p:nvSpPr>
        <p:spPr/>
        <p:txBody>
          <a:bodyPr/>
          <a:lstStyle/>
          <a:p>
            <a:fld id="{2D6CF58C-61BD-354D-99DC-027FD9C2B862}" type="datetime1">
              <a:rPr lang="en-US" smtClean="0"/>
              <a:t>11/17/25</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28951" y="400050"/>
            <a:ext cx="5675471" cy="470802"/>
          </a:xfrm>
          <a:prstGeom prst="rect">
            <a:avLst/>
          </a:prstGeom>
        </p:spPr>
        <p:txBody>
          <a:bodyPr vert="horz" wrap="square" lIns="0" tIns="9049" rIns="0" bIns="0" rtlCol="0">
            <a:spAutoFit/>
          </a:bodyPr>
          <a:lstStyle/>
          <a:p>
            <a:pPr marL="9525">
              <a:spcBef>
                <a:spcPts val="71"/>
              </a:spcBef>
            </a:pPr>
            <a:r>
              <a:rPr sz="3000" b="1" spc="-49" dirty="0">
                <a:solidFill>
                  <a:srgbClr val="C00000"/>
                </a:solidFill>
              </a:rPr>
              <a:t>Types</a:t>
            </a:r>
            <a:r>
              <a:rPr sz="3000" b="1" spc="8" dirty="0">
                <a:solidFill>
                  <a:srgbClr val="C00000"/>
                </a:solidFill>
              </a:rPr>
              <a:t> </a:t>
            </a:r>
            <a:r>
              <a:rPr sz="3000" b="1" spc="4" dirty="0">
                <a:solidFill>
                  <a:srgbClr val="C00000"/>
                </a:solidFill>
              </a:rPr>
              <a:t>of</a:t>
            </a:r>
            <a:r>
              <a:rPr sz="3000" b="1" spc="-4" dirty="0">
                <a:solidFill>
                  <a:srgbClr val="C00000"/>
                </a:solidFill>
              </a:rPr>
              <a:t> Data</a:t>
            </a:r>
            <a:r>
              <a:rPr sz="3000" b="1" spc="11" dirty="0">
                <a:solidFill>
                  <a:srgbClr val="C00000"/>
                </a:solidFill>
              </a:rPr>
              <a:t> </a:t>
            </a:r>
            <a:r>
              <a:rPr sz="3000" b="1" spc="-4" dirty="0">
                <a:solidFill>
                  <a:srgbClr val="C00000"/>
                </a:solidFill>
              </a:rPr>
              <a:t>Mining</a:t>
            </a:r>
            <a:r>
              <a:rPr sz="3000" b="1" spc="-158" dirty="0">
                <a:solidFill>
                  <a:srgbClr val="C00000"/>
                </a:solidFill>
              </a:rPr>
              <a:t> </a:t>
            </a:r>
            <a:r>
              <a:rPr sz="3000" b="1" spc="-11" dirty="0">
                <a:solidFill>
                  <a:srgbClr val="C00000"/>
                </a:solidFill>
              </a:rPr>
              <a:t>Architecture</a:t>
            </a:r>
            <a:endParaRPr sz="3000" dirty="0"/>
          </a:p>
        </p:txBody>
      </p:sp>
      <p:sp>
        <p:nvSpPr>
          <p:cNvPr id="3" name="object 3"/>
          <p:cNvSpPr txBox="1"/>
          <p:nvPr/>
        </p:nvSpPr>
        <p:spPr>
          <a:xfrm>
            <a:off x="225425" y="876300"/>
            <a:ext cx="8176133" cy="3869489"/>
          </a:xfrm>
          <a:prstGeom prst="rect">
            <a:avLst/>
          </a:prstGeom>
        </p:spPr>
        <p:txBody>
          <a:bodyPr vert="horz" wrap="square" lIns="0" tIns="57626" rIns="0" bIns="0" rtlCol="0">
            <a:spAutoFit/>
          </a:bodyPr>
          <a:lstStyle/>
          <a:p>
            <a:pPr marL="352425" marR="9525" indent="-343376" algn="just">
              <a:spcBef>
                <a:spcPts val="454"/>
              </a:spcBef>
              <a:buFont typeface="Arial MT"/>
              <a:buChar char="•"/>
              <a:tabLst>
                <a:tab pos="352425" algn="l"/>
                <a:tab pos="352901" algn="l"/>
              </a:tabLst>
            </a:pPr>
            <a:r>
              <a:rPr sz="2700" b="1" spc="-53" dirty="0">
                <a:latin typeface="MS PGothic" panose="020B0600070205080204" pitchFamily="34" charset="-128"/>
                <a:ea typeface="MS PGothic" panose="020B0600070205080204" pitchFamily="34" charset="-128"/>
                <a:cs typeface="Trebuchet MS"/>
              </a:rPr>
              <a:t>Semi-Tight</a:t>
            </a:r>
            <a:r>
              <a:rPr sz="2700" b="1" spc="15" dirty="0">
                <a:latin typeface="MS PGothic" panose="020B0600070205080204" pitchFamily="34" charset="-128"/>
                <a:ea typeface="MS PGothic" panose="020B0600070205080204" pitchFamily="34" charset="-128"/>
                <a:cs typeface="Trebuchet MS"/>
              </a:rPr>
              <a:t> </a:t>
            </a:r>
            <a:r>
              <a:rPr sz="2700" b="1" spc="-94" dirty="0">
                <a:latin typeface="MS PGothic" panose="020B0600070205080204" pitchFamily="34" charset="-128"/>
                <a:ea typeface="MS PGothic" panose="020B0600070205080204" pitchFamily="34" charset="-128"/>
                <a:cs typeface="Trebuchet MS"/>
              </a:rPr>
              <a:t>Coupling</a:t>
            </a:r>
            <a:r>
              <a:rPr sz="2700" b="1" spc="19" dirty="0">
                <a:latin typeface="MS PGothic" panose="020B0600070205080204" pitchFamily="34" charset="-128"/>
                <a:ea typeface="MS PGothic" panose="020B0600070205080204" pitchFamily="34" charset="-128"/>
                <a:cs typeface="Trebuchet MS"/>
              </a:rPr>
              <a:t> </a:t>
            </a:r>
            <a:r>
              <a:rPr sz="2700" b="1" spc="-64" dirty="0">
                <a:latin typeface="MS PGothic" panose="020B0600070205080204" pitchFamily="34" charset="-128"/>
                <a:ea typeface="MS PGothic" panose="020B0600070205080204" pitchFamily="34" charset="-128"/>
                <a:cs typeface="Trebuchet MS"/>
              </a:rPr>
              <a:t>Data</a:t>
            </a:r>
            <a:r>
              <a:rPr sz="2700" b="1" spc="26" dirty="0">
                <a:latin typeface="MS PGothic" panose="020B0600070205080204" pitchFamily="34" charset="-128"/>
                <a:ea typeface="MS PGothic" panose="020B0600070205080204" pitchFamily="34" charset="-128"/>
                <a:cs typeface="Trebuchet MS"/>
              </a:rPr>
              <a:t> </a:t>
            </a:r>
            <a:r>
              <a:rPr sz="2700" b="1" spc="-127" dirty="0">
                <a:latin typeface="MS PGothic" panose="020B0600070205080204" pitchFamily="34" charset="-128"/>
                <a:ea typeface="MS PGothic" panose="020B0600070205080204" pitchFamily="34" charset="-128"/>
                <a:cs typeface="Trebuchet MS"/>
              </a:rPr>
              <a:t>Mining</a:t>
            </a:r>
            <a:r>
              <a:rPr sz="2400" b="1" spc="-127" dirty="0">
                <a:latin typeface="MS PGothic" panose="020B0600070205080204" pitchFamily="34" charset="-128"/>
                <a:ea typeface="MS PGothic" panose="020B0600070205080204" pitchFamily="34" charset="-128"/>
                <a:cs typeface="Trebuchet MS"/>
              </a:rPr>
              <a:t>:</a:t>
            </a:r>
            <a:r>
              <a:rPr sz="2400" b="1" spc="15" dirty="0">
                <a:latin typeface="MS PGothic" panose="020B0600070205080204" pitchFamily="34" charset="-128"/>
                <a:ea typeface="MS PGothic" panose="020B0600070205080204" pitchFamily="34" charset="-128"/>
                <a:cs typeface="Trebuchet MS"/>
              </a:rPr>
              <a:t> </a:t>
            </a:r>
            <a:r>
              <a:rPr sz="2400" spc="-4" dirty="0">
                <a:latin typeface="MS PGothic" panose="020B0600070205080204" pitchFamily="34" charset="-128"/>
                <a:ea typeface="MS PGothic" panose="020B0600070205080204" pitchFamily="34" charset="-128"/>
                <a:cs typeface="MS PGothic"/>
              </a:rPr>
              <a:t>In</a:t>
            </a:r>
            <a:r>
              <a:rPr sz="2400" spc="8" dirty="0">
                <a:latin typeface="MS PGothic" panose="020B0600070205080204" pitchFamily="34" charset="-128"/>
                <a:ea typeface="MS PGothic" panose="020B0600070205080204" pitchFamily="34" charset="-128"/>
                <a:cs typeface="MS PGothic"/>
              </a:rPr>
              <a:t> </a:t>
            </a:r>
            <a:r>
              <a:rPr sz="2400" spc="-4" dirty="0">
                <a:latin typeface="MS PGothic" panose="020B0600070205080204" pitchFamily="34" charset="-128"/>
                <a:ea typeface="MS PGothic" panose="020B0600070205080204" pitchFamily="34" charset="-128"/>
                <a:cs typeface="MS PGothic"/>
              </a:rPr>
              <a:t>semi-tight</a:t>
            </a:r>
            <a:r>
              <a:rPr sz="2400" spc="8" dirty="0">
                <a:latin typeface="MS PGothic" panose="020B0600070205080204" pitchFamily="34" charset="-128"/>
                <a:ea typeface="MS PGothic" panose="020B0600070205080204" pitchFamily="34" charset="-128"/>
                <a:cs typeface="MS PGothic"/>
              </a:rPr>
              <a:t> </a:t>
            </a:r>
            <a:r>
              <a:rPr sz="2400" spc="-4" dirty="0">
                <a:latin typeface="MS PGothic" panose="020B0600070205080204" pitchFamily="34" charset="-128"/>
                <a:ea typeface="MS PGothic" panose="020B0600070205080204" pitchFamily="34" charset="-128"/>
                <a:cs typeface="MS PGothic"/>
              </a:rPr>
              <a:t>coupling,</a:t>
            </a:r>
            <a:r>
              <a:rPr sz="2400" spc="-19" dirty="0">
                <a:latin typeface="MS PGothic" panose="020B0600070205080204" pitchFamily="34" charset="-128"/>
                <a:ea typeface="MS PGothic" panose="020B0600070205080204" pitchFamily="34" charset="-128"/>
                <a:cs typeface="MS PGothic"/>
              </a:rPr>
              <a:t> </a:t>
            </a:r>
            <a:r>
              <a:rPr sz="2400" spc="-8" dirty="0">
                <a:latin typeface="MS PGothic" panose="020B0600070205080204" pitchFamily="34" charset="-128"/>
                <a:ea typeface="MS PGothic" panose="020B0600070205080204" pitchFamily="34" charset="-128"/>
                <a:cs typeface="MS PGothic"/>
              </a:rPr>
              <a:t>data </a:t>
            </a:r>
            <a:r>
              <a:rPr sz="2400" spc="-4" dirty="0">
                <a:latin typeface="MS PGothic" panose="020B0600070205080204" pitchFamily="34" charset="-128"/>
                <a:ea typeface="MS PGothic" panose="020B0600070205080204" pitchFamily="34" charset="-128"/>
                <a:cs typeface="MS PGothic"/>
              </a:rPr>
              <a:t> mining</a:t>
            </a:r>
            <a:r>
              <a:rPr sz="2400" spc="-8" dirty="0">
                <a:latin typeface="MS PGothic" panose="020B0600070205080204" pitchFamily="34" charset="-128"/>
                <a:ea typeface="MS PGothic" panose="020B0600070205080204" pitchFamily="34" charset="-128"/>
                <a:cs typeface="MS PGothic"/>
              </a:rPr>
              <a:t> system</a:t>
            </a:r>
            <a:r>
              <a:rPr sz="2400" spc="30" dirty="0">
                <a:latin typeface="MS PGothic" panose="020B0600070205080204" pitchFamily="34" charset="-128"/>
                <a:ea typeface="MS PGothic" panose="020B0600070205080204" pitchFamily="34" charset="-128"/>
                <a:cs typeface="MS PGothic"/>
              </a:rPr>
              <a:t> </a:t>
            </a:r>
            <a:r>
              <a:rPr sz="2400" spc="-4" dirty="0">
                <a:latin typeface="MS PGothic" panose="020B0600070205080204" pitchFamily="34" charset="-128"/>
                <a:ea typeface="MS PGothic" panose="020B0600070205080204" pitchFamily="34" charset="-128"/>
                <a:cs typeface="MS PGothic"/>
              </a:rPr>
              <a:t>uses</a:t>
            </a:r>
            <a:r>
              <a:rPr sz="2400" spc="4" dirty="0">
                <a:latin typeface="MS PGothic" panose="020B0600070205080204" pitchFamily="34" charset="-128"/>
                <a:ea typeface="MS PGothic" panose="020B0600070205080204" pitchFamily="34" charset="-128"/>
                <a:cs typeface="MS PGothic"/>
              </a:rPr>
              <a:t> </a:t>
            </a:r>
            <a:r>
              <a:rPr sz="2400" spc="-4" dirty="0">
                <a:latin typeface="MS PGothic" panose="020B0600070205080204" pitchFamily="34" charset="-128"/>
                <a:ea typeface="MS PGothic" panose="020B0600070205080204" pitchFamily="34" charset="-128"/>
                <a:cs typeface="MS PGothic"/>
              </a:rPr>
              <a:t>several</a:t>
            </a:r>
            <a:r>
              <a:rPr sz="2400" spc="4" dirty="0">
                <a:latin typeface="MS PGothic" panose="020B0600070205080204" pitchFamily="34" charset="-128"/>
                <a:ea typeface="MS PGothic" panose="020B0600070205080204" pitchFamily="34" charset="-128"/>
                <a:cs typeface="MS PGothic"/>
              </a:rPr>
              <a:t> </a:t>
            </a:r>
            <a:r>
              <a:rPr sz="2400" spc="-4" dirty="0">
                <a:latin typeface="MS PGothic" panose="020B0600070205080204" pitchFamily="34" charset="-128"/>
                <a:ea typeface="MS PGothic" panose="020B0600070205080204" pitchFamily="34" charset="-128"/>
                <a:cs typeface="MS PGothic"/>
              </a:rPr>
              <a:t>features</a:t>
            </a:r>
            <a:r>
              <a:rPr sz="2400" spc="4" dirty="0">
                <a:latin typeface="MS PGothic" panose="020B0600070205080204" pitchFamily="34" charset="-128"/>
                <a:ea typeface="MS PGothic" panose="020B0600070205080204" pitchFamily="34" charset="-128"/>
                <a:cs typeface="MS PGothic"/>
              </a:rPr>
              <a:t> </a:t>
            </a:r>
            <a:r>
              <a:rPr sz="2400" spc="-4" dirty="0">
                <a:latin typeface="MS PGothic" panose="020B0600070205080204" pitchFamily="34" charset="-128"/>
                <a:ea typeface="MS PGothic" panose="020B0600070205080204" pitchFamily="34" charset="-128"/>
                <a:cs typeface="MS PGothic"/>
              </a:rPr>
              <a:t>of</a:t>
            </a:r>
            <a:r>
              <a:rPr sz="2400" spc="15" dirty="0">
                <a:latin typeface="MS PGothic" panose="020B0600070205080204" pitchFamily="34" charset="-128"/>
                <a:ea typeface="MS PGothic" panose="020B0600070205080204" pitchFamily="34" charset="-128"/>
                <a:cs typeface="MS PGothic"/>
              </a:rPr>
              <a:t> </a:t>
            </a:r>
            <a:r>
              <a:rPr sz="2400" spc="-8" dirty="0">
                <a:latin typeface="MS PGothic" panose="020B0600070205080204" pitchFamily="34" charset="-128"/>
                <a:ea typeface="MS PGothic" panose="020B0600070205080204" pitchFamily="34" charset="-128"/>
                <a:cs typeface="MS PGothic"/>
              </a:rPr>
              <a:t>data</a:t>
            </a:r>
            <a:r>
              <a:rPr sz="2400" spc="4" dirty="0">
                <a:latin typeface="MS PGothic" panose="020B0600070205080204" pitchFamily="34" charset="-128"/>
                <a:ea typeface="MS PGothic" panose="020B0600070205080204" pitchFamily="34" charset="-128"/>
                <a:cs typeface="MS PGothic"/>
              </a:rPr>
              <a:t> </a:t>
            </a:r>
            <a:r>
              <a:rPr sz="2400" spc="-4" dirty="0">
                <a:latin typeface="MS PGothic" panose="020B0600070205080204" pitchFamily="34" charset="-128"/>
                <a:ea typeface="MS PGothic" panose="020B0600070205080204" pitchFamily="34" charset="-128"/>
                <a:cs typeface="MS PGothic"/>
              </a:rPr>
              <a:t>warehouse</a:t>
            </a:r>
            <a:r>
              <a:rPr sz="2400" dirty="0">
                <a:latin typeface="MS PGothic" panose="020B0600070205080204" pitchFamily="34" charset="-128"/>
                <a:ea typeface="MS PGothic" panose="020B0600070205080204" pitchFamily="34" charset="-128"/>
                <a:cs typeface="MS PGothic"/>
              </a:rPr>
              <a:t> </a:t>
            </a:r>
            <a:r>
              <a:rPr sz="2400" spc="-4" dirty="0">
                <a:latin typeface="MS PGothic" panose="020B0600070205080204" pitchFamily="34" charset="-128"/>
                <a:ea typeface="MS PGothic" panose="020B0600070205080204" pitchFamily="34" charset="-128"/>
                <a:cs typeface="MS PGothic"/>
              </a:rPr>
              <a:t>systems </a:t>
            </a:r>
            <a:r>
              <a:rPr sz="2400" spc="-491" dirty="0">
                <a:latin typeface="MS PGothic" panose="020B0600070205080204" pitchFamily="34" charset="-128"/>
                <a:ea typeface="MS PGothic" panose="020B0600070205080204" pitchFamily="34" charset="-128"/>
                <a:cs typeface="MS PGothic"/>
              </a:rPr>
              <a:t> </a:t>
            </a:r>
            <a:r>
              <a:rPr sz="2400" spc="-4" dirty="0">
                <a:latin typeface="MS PGothic" panose="020B0600070205080204" pitchFamily="34" charset="-128"/>
                <a:ea typeface="MS PGothic" panose="020B0600070205080204" pitchFamily="34" charset="-128"/>
                <a:cs typeface="MS PGothic"/>
              </a:rPr>
              <a:t>to</a:t>
            </a:r>
            <a:r>
              <a:rPr sz="2400" spc="4" dirty="0">
                <a:latin typeface="MS PGothic" panose="020B0600070205080204" pitchFamily="34" charset="-128"/>
                <a:ea typeface="MS PGothic" panose="020B0600070205080204" pitchFamily="34" charset="-128"/>
                <a:cs typeface="MS PGothic"/>
              </a:rPr>
              <a:t> </a:t>
            </a:r>
            <a:r>
              <a:rPr sz="2400" spc="-4" dirty="0">
                <a:latin typeface="MS PGothic" panose="020B0600070205080204" pitchFamily="34" charset="-128"/>
                <a:ea typeface="MS PGothic" panose="020B0600070205080204" pitchFamily="34" charset="-128"/>
                <a:cs typeface="MS PGothic"/>
              </a:rPr>
              <a:t>perform</a:t>
            </a:r>
            <a:r>
              <a:rPr sz="2400" spc="-23" dirty="0">
                <a:latin typeface="MS PGothic" panose="020B0600070205080204" pitchFamily="34" charset="-128"/>
                <a:ea typeface="MS PGothic" panose="020B0600070205080204" pitchFamily="34" charset="-128"/>
                <a:cs typeface="MS PGothic"/>
              </a:rPr>
              <a:t> </a:t>
            </a:r>
            <a:r>
              <a:rPr sz="2400" spc="-4" dirty="0">
                <a:latin typeface="MS PGothic" panose="020B0600070205080204" pitchFamily="34" charset="-128"/>
                <a:ea typeface="MS PGothic" panose="020B0600070205080204" pitchFamily="34" charset="-128"/>
                <a:cs typeface="MS PGothic"/>
              </a:rPr>
              <a:t>some</a:t>
            </a:r>
            <a:r>
              <a:rPr sz="2400" spc="11" dirty="0">
                <a:latin typeface="MS PGothic" panose="020B0600070205080204" pitchFamily="34" charset="-128"/>
                <a:ea typeface="MS PGothic" panose="020B0600070205080204" pitchFamily="34" charset="-128"/>
                <a:cs typeface="MS PGothic"/>
              </a:rPr>
              <a:t> </a:t>
            </a:r>
            <a:r>
              <a:rPr sz="2400" spc="-8" dirty="0">
                <a:latin typeface="MS PGothic" panose="020B0600070205080204" pitchFamily="34" charset="-128"/>
                <a:ea typeface="MS PGothic" panose="020B0600070205080204" pitchFamily="34" charset="-128"/>
                <a:cs typeface="MS PGothic"/>
              </a:rPr>
              <a:t>data</a:t>
            </a:r>
            <a:r>
              <a:rPr sz="2400" spc="4" dirty="0">
                <a:latin typeface="MS PGothic" panose="020B0600070205080204" pitchFamily="34" charset="-128"/>
                <a:ea typeface="MS PGothic" panose="020B0600070205080204" pitchFamily="34" charset="-128"/>
                <a:cs typeface="MS PGothic"/>
              </a:rPr>
              <a:t> </a:t>
            </a:r>
            <a:r>
              <a:rPr sz="2400" spc="-4" dirty="0">
                <a:latin typeface="MS PGothic" panose="020B0600070205080204" pitchFamily="34" charset="-128"/>
                <a:ea typeface="MS PGothic" panose="020B0600070205080204" pitchFamily="34" charset="-128"/>
                <a:cs typeface="MS PGothic"/>
              </a:rPr>
              <a:t>mining </a:t>
            </a:r>
            <a:r>
              <a:rPr sz="2400" spc="-8" dirty="0">
                <a:latin typeface="MS PGothic" panose="020B0600070205080204" pitchFamily="34" charset="-128"/>
                <a:ea typeface="MS PGothic" panose="020B0600070205080204" pitchFamily="34" charset="-128"/>
                <a:cs typeface="MS PGothic"/>
              </a:rPr>
              <a:t>tasks</a:t>
            </a:r>
            <a:r>
              <a:rPr sz="2400" spc="11" dirty="0">
                <a:latin typeface="MS PGothic" panose="020B0600070205080204" pitchFamily="34" charset="-128"/>
                <a:ea typeface="MS PGothic" panose="020B0600070205080204" pitchFamily="34" charset="-128"/>
                <a:cs typeface="MS PGothic"/>
              </a:rPr>
              <a:t> </a:t>
            </a:r>
            <a:r>
              <a:rPr sz="2400" spc="-4" dirty="0">
                <a:latin typeface="MS PGothic" panose="020B0600070205080204" pitchFamily="34" charset="-128"/>
                <a:ea typeface="MS PGothic" panose="020B0600070205080204" pitchFamily="34" charset="-128"/>
                <a:cs typeface="MS PGothic"/>
              </a:rPr>
              <a:t>that</a:t>
            </a:r>
            <a:r>
              <a:rPr sz="2400" spc="15" dirty="0">
                <a:latin typeface="MS PGothic" panose="020B0600070205080204" pitchFamily="34" charset="-128"/>
                <a:ea typeface="MS PGothic" panose="020B0600070205080204" pitchFamily="34" charset="-128"/>
                <a:cs typeface="MS PGothic"/>
              </a:rPr>
              <a:t> </a:t>
            </a:r>
            <a:r>
              <a:rPr sz="2400" dirty="0">
                <a:latin typeface="MS PGothic" panose="020B0600070205080204" pitchFamily="34" charset="-128"/>
                <a:ea typeface="MS PGothic" panose="020B0600070205080204" pitchFamily="34" charset="-128"/>
                <a:cs typeface="MS PGothic"/>
              </a:rPr>
              <a:t>includes</a:t>
            </a:r>
            <a:r>
              <a:rPr sz="2400" spc="-19" dirty="0">
                <a:latin typeface="MS PGothic" panose="020B0600070205080204" pitchFamily="34" charset="-128"/>
                <a:ea typeface="MS PGothic" panose="020B0600070205080204" pitchFamily="34" charset="-128"/>
                <a:cs typeface="MS PGothic"/>
              </a:rPr>
              <a:t> </a:t>
            </a:r>
            <a:r>
              <a:rPr sz="2400" spc="-4" dirty="0">
                <a:latin typeface="MS PGothic" panose="020B0600070205080204" pitchFamily="34" charset="-128"/>
                <a:ea typeface="MS PGothic" panose="020B0600070205080204" pitchFamily="34" charset="-128"/>
                <a:cs typeface="MS PGothic"/>
              </a:rPr>
              <a:t>sorting, </a:t>
            </a:r>
            <a:r>
              <a:rPr sz="2400" dirty="0">
                <a:latin typeface="MS PGothic" panose="020B0600070205080204" pitchFamily="34" charset="-128"/>
                <a:ea typeface="MS PGothic" panose="020B0600070205080204" pitchFamily="34" charset="-128"/>
                <a:cs typeface="MS PGothic"/>
              </a:rPr>
              <a:t> </a:t>
            </a:r>
            <a:r>
              <a:rPr sz="2400" spc="-4" dirty="0">
                <a:latin typeface="MS PGothic" panose="020B0600070205080204" pitchFamily="34" charset="-128"/>
                <a:ea typeface="MS PGothic" panose="020B0600070205080204" pitchFamily="34" charset="-128"/>
                <a:cs typeface="MS PGothic"/>
              </a:rPr>
              <a:t>indexing, aggregation.</a:t>
            </a:r>
            <a:r>
              <a:rPr sz="2400" spc="19" dirty="0">
                <a:latin typeface="MS PGothic" panose="020B0600070205080204" pitchFamily="34" charset="-128"/>
                <a:ea typeface="MS PGothic" panose="020B0600070205080204" pitchFamily="34" charset="-128"/>
                <a:cs typeface="MS PGothic"/>
              </a:rPr>
              <a:t> </a:t>
            </a:r>
            <a:r>
              <a:rPr sz="2400" spc="-4" dirty="0">
                <a:latin typeface="MS PGothic" panose="020B0600070205080204" pitchFamily="34" charset="-128"/>
                <a:ea typeface="MS PGothic" panose="020B0600070205080204" pitchFamily="34" charset="-128"/>
                <a:cs typeface="MS PGothic"/>
              </a:rPr>
              <a:t>In</a:t>
            </a:r>
            <a:r>
              <a:rPr sz="2400" spc="8" dirty="0">
                <a:latin typeface="MS PGothic" panose="020B0600070205080204" pitchFamily="34" charset="-128"/>
                <a:ea typeface="MS PGothic" panose="020B0600070205080204" pitchFamily="34" charset="-128"/>
                <a:cs typeface="MS PGothic"/>
              </a:rPr>
              <a:t> </a:t>
            </a:r>
            <a:r>
              <a:rPr sz="2400" spc="-4" dirty="0">
                <a:latin typeface="MS PGothic" panose="020B0600070205080204" pitchFamily="34" charset="-128"/>
                <a:ea typeface="MS PGothic" panose="020B0600070205080204" pitchFamily="34" charset="-128"/>
                <a:cs typeface="MS PGothic"/>
              </a:rPr>
              <a:t>this,</a:t>
            </a:r>
            <a:r>
              <a:rPr sz="2400" spc="4" dirty="0">
                <a:latin typeface="MS PGothic" panose="020B0600070205080204" pitchFamily="34" charset="-128"/>
                <a:ea typeface="MS PGothic" panose="020B0600070205080204" pitchFamily="34" charset="-128"/>
                <a:cs typeface="MS PGothic"/>
              </a:rPr>
              <a:t> </a:t>
            </a:r>
            <a:r>
              <a:rPr sz="2400" spc="-4" dirty="0">
                <a:latin typeface="MS PGothic" panose="020B0600070205080204" pitchFamily="34" charset="-128"/>
                <a:ea typeface="MS PGothic" panose="020B0600070205080204" pitchFamily="34" charset="-128"/>
                <a:cs typeface="MS PGothic"/>
              </a:rPr>
              <a:t>some</a:t>
            </a:r>
            <a:r>
              <a:rPr sz="2400" spc="11" dirty="0">
                <a:latin typeface="MS PGothic" panose="020B0600070205080204" pitchFamily="34" charset="-128"/>
                <a:ea typeface="MS PGothic" panose="020B0600070205080204" pitchFamily="34" charset="-128"/>
                <a:cs typeface="MS PGothic"/>
              </a:rPr>
              <a:t> </a:t>
            </a:r>
            <a:r>
              <a:rPr sz="2400" spc="-4" dirty="0">
                <a:latin typeface="MS PGothic" panose="020B0600070205080204" pitchFamily="34" charset="-128"/>
                <a:ea typeface="MS PGothic" panose="020B0600070205080204" pitchFamily="34" charset="-128"/>
                <a:cs typeface="MS PGothic"/>
              </a:rPr>
              <a:t>intermediate</a:t>
            </a:r>
            <a:r>
              <a:rPr sz="2400" spc="4" dirty="0">
                <a:latin typeface="MS PGothic" panose="020B0600070205080204" pitchFamily="34" charset="-128"/>
                <a:ea typeface="MS PGothic" panose="020B0600070205080204" pitchFamily="34" charset="-128"/>
                <a:cs typeface="MS PGothic"/>
              </a:rPr>
              <a:t> </a:t>
            </a:r>
            <a:r>
              <a:rPr sz="2400" spc="-4" dirty="0">
                <a:latin typeface="MS PGothic" panose="020B0600070205080204" pitchFamily="34" charset="-128"/>
                <a:ea typeface="MS PGothic" panose="020B0600070205080204" pitchFamily="34" charset="-128"/>
                <a:cs typeface="MS PGothic"/>
              </a:rPr>
              <a:t>result</a:t>
            </a:r>
            <a:r>
              <a:rPr sz="2400" dirty="0">
                <a:latin typeface="MS PGothic" panose="020B0600070205080204" pitchFamily="34" charset="-128"/>
                <a:ea typeface="MS PGothic" panose="020B0600070205080204" pitchFamily="34" charset="-128"/>
                <a:cs typeface="MS PGothic"/>
              </a:rPr>
              <a:t> </a:t>
            </a:r>
            <a:r>
              <a:rPr sz="2400" spc="-4" dirty="0">
                <a:latin typeface="MS PGothic" panose="020B0600070205080204" pitchFamily="34" charset="-128"/>
                <a:ea typeface="MS PGothic" panose="020B0600070205080204" pitchFamily="34" charset="-128"/>
                <a:cs typeface="MS PGothic"/>
              </a:rPr>
              <a:t>can</a:t>
            </a:r>
            <a:r>
              <a:rPr sz="2400" spc="19" dirty="0">
                <a:latin typeface="MS PGothic" panose="020B0600070205080204" pitchFamily="34" charset="-128"/>
                <a:ea typeface="MS PGothic" panose="020B0600070205080204" pitchFamily="34" charset="-128"/>
                <a:cs typeface="MS PGothic"/>
              </a:rPr>
              <a:t> </a:t>
            </a:r>
            <a:r>
              <a:rPr sz="2400" spc="-8" dirty="0">
                <a:latin typeface="MS PGothic" panose="020B0600070205080204" pitchFamily="34" charset="-128"/>
                <a:ea typeface="MS PGothic" panose="020B0600070205080204" pitchFamily="34" charset="-128"/>
                <a:cs typeface="MS PGothic"/>
              </a:rPr>
              <a:t>be </a:t>
            </a:r>
            <a:r>
              <a:rPr sz="2400" spc="-4" dirty="0">
                <a:latin typeface="MS PGothic" panose="020B0600070205080204" pitchFamily="34" charset="-128"/>
                <a:ea typeface="MS PGothic" panose="020B0600070205080204" pitchFamily="34" charset="-128"/>
                <a:cs typeface="MS PGothic"/>
              </a:rPr>
              <a:t> stored</a:t>
            </a:r>
            <a:r>
              <a:rPr sz="2400" dirty="0">
                <a:latin typeface="MS PGothic" panose="020B0600070205080204" pitchFamily="34" charset="-128"/>
                <a:ea typeface="MS PGothic" panose="020B0600070205080204" pitchFamily="34" charset="-128"/>
                <a:cs typeface="MS PGothic"/>
              </a:rPr>
              <a:t> </a:t>
            </a:r>
            <a:r>
              <a:rPr sz="2400" spc="-4" dirty="0">
                <a:latin typeface="MS PGothic" panose="020B0600070205080204" pitchFamily="34" charset="-128"/>
                <a:ea typeface="MS PGothic" panose="020B0600070205080204" pitchFamily="34" charset="-128"/>
                <a:cs typeface="MS PGothic"/>
              </a:rPr>
              <a:t>in a</a:t>
            </a:r>
            <a:r>
              <a:rPr sz="2400" spc="4" dirty="0">
                <a:latin typeface="MS PGothic" panose="020B0600070205080204" pitchFamily="34" charset="-128"/>
                <a:ea typeface="MS PGothic" panose="020B0600070205080204" pitchFamily="34" charset="-128"/>
                <a:cs typeface="MS PGothic"/>
              </a:rPr>
              <a:t> </a:t>
            </a:r>
            <a:r>
              <a:rPr sz="2400" spc="-4" dirty="0">
                <a:latin typeface="MS PGothic" panose="020B0600070205080204" pitchFamily="34" charset="-128"/>
                <a:ea typeface="MS PGothic" panose="020B0600070205080204" pitchFamily="34" charset="-128"/>
                <a:cs typeface="MS PGothic"/>
              </a:rPr>
              <a:t>database</a:t>
            </a:r>
            <a:r>
              <a:rPr sz="2400" spc="15" dirty="0">
                <a:latin typeface="MS PGothic" panose="020B0600070205080204" pitchFamily="34" charset="-128"/>
                <a:ea typeface="MS PGothic" panose="020B0600070205080204" pitchFamily="34" charset="-128"/>
                <a:cs typeface="MS PGothic"/>
              </a:rPr>
              <a:t> </a:t>
            </a:r>
            <a:r>
              <a:rPr sz="2400" spc="-4" dirty="0">
                <a:latin typeface="MS PGothic" panose="020B0600070205080204" pitchFamily="34" charset="-128"/>
                <a:ea typeface="MS PGothic" panose="020B0600070205080204" pitchFamily="34" charset="-128"/>
                <a:cs typeface="MS PGothic"/>
              </a:rPr>
              <a:t>for better performance.</a:t>
            </a:r>
            <a:endParaRPr sz="2400" dirty="0">
              <a:latin typeface="MS PGothic" panose="020B0600070205080204" pitchFamily="34" charset="-128"/>
              <a:ea typeface="MS PGothic" panose="020B0600070205080204" pitchFamily="34" charset="-128"/>
              <a:cs typeface="MS PGothic"/>
            </a:endParaRPr>
          </a:p>
          <a:p>
            <a:pPr marL="352425" indent="-343376" algn="just">
              <a:spcBef>
                <a:spcPts val="23"/>
              </a:spcBef>
              <a:buFont typeface="Arial MT"/>
              <a:buChar char="•"/>
              <a:tabLst>
                <a:tab pos="352425" algn="l"/>
                <a:tab pos="352901" algn="l"/>
              </a:tabLst>
            </a:pPr>
            <a:r>
              <a:rPr sz="2700" b="1" spc="-94" dirty="0">
                <a:latin typeface="MS PGothic" panose="020B0600070205080204" pitchFamily="34" charset="-128"/>
                <a:ea typeface="MS PGothic" panose="020B0600070205080204" pitchFamily="34" charset="-128"/>
                <a:cs typeface="Trebuchet MS"/>
              </a:rPr>
              <a:t>Tight</a:t>
            </a:r>
            <a:r>
              <a:rPr sz="2700" b="1" spc="15" dirty="0">
                <a:latin typeface="MS PGothic" panose="020B0600070205080204" pitchFamily="34" charset="-128"/>
                <a:ea typeface="MS PGothic" panose="020B0600070205080204" pitchFamily="34" charset="-128"/>
                <a:cs typeface="Trebuchet MS"/>
              </a:rPr>
              <a:t> </a:t>
            </a:r>
            <a:r>
              <a:rPr sz="2700" b="1" spc="-94" dirty="0">
                <a:latin typeface="MS PGothic" panose="020B0600070205080204" pitchFamily="34" charset="-128"/>
                <a:ea typeface="MS PGothic" panose="020B0600070205080204" pitchFamily="34" charset="-128"/>
                <a:cs typeface="Trebuchet MS"/>
              </a:rPr>
              <a:t>Coupling</a:t>
            </a:r>
            <a:r>
              <a:rPr sz="2700" b="1" spc="4" dirty="0">
                <a:latin typeface="MS PGothic" panose="020B0600070205080204" pitchFamily="34" charset="-128"/>
                <a:ea typeface="MS PGothic" panose="020B0600070205080204" pitchFamily="34" charset="-128"/>
                <a:cs typeface="Trebuchet MS"/>
              </a:rPr>
              <a:t> </a:t>
            </a:r>
            <a:r>
              <a:rPr sz="2700" b="1" spc="-64" dirty="0">
                <a:latin typeface="MS PGothic" panose="020B0600070205080204" pitchFamily="34" charset="-128"/>
                <a:ea typeface="MS PGothic" panose="020B0600070205080204" pitchFamily="34" charset="-128"/>
                <a:cs typeface="Trebuchet MS"/>
              </a:rPr>
              <a:t>Data</a:t>
            </a:r>
            <a:r>
              <a:rPr sz="2700" b="1" spc="19" dirty="0">
                <a:latin typeface="MS PGothic" panose="020B0600070205080204" pitchFamily="34" charset="-128"/>
                <a:ea typeface="MS PGothic" panose="020B0600070205080204" pitchFamily="34" charset="-128"/>
                <a:cs typeface="Trebuchet MS"/>
              </a:rPr>
              <a:t> </a:t>
            </a:r>
            <a:r>
              <a:rPr sz="2700" b="1" spc="-127" dirty="0">
                <a:latin typeface="MS PGothic" panose="020B0600070205080204" pitchFamily="34" charset="-128"/>
                <a:ea typeface="MS PGothic" panose="020B0600070205080204" pitchFamily="34" charset="-128"/>
                <a:cs typeface="Trebuchet MS"/>
              </a:rPr>
              <a:t>Mining</a:t>
            </a:r>
            <a:r>
              <a:rPr sz="2400" b="1" spc="-127" dirty="0">
                <a:latin typeface="MS PGothic" panose="020B0600070205080204" pitchFamily="34" charset="-128"/>
                <a:ea typeface="MS PGothic" panose="020B0600070205080204" pitchFamily="34" charset="-128"/>
                <a:cs typeface="Trebuchet MS"/>
              </a:rPr>
              <a:t>:</a:t>
            </a:r>
            <a:r>
              <a:rPr sz="2400" b="1" spc="49" dirty="0">
                <a:latin typeface="MS PGothic" panose="020B0600070205080204" pitchFamily="34" charset="-128"/>
                <a:ea typeface="MS PGothic" panose="020B0600070205080204" pitchFamily="34" charset="-128"/>
                <a:cs typeface="Trebuchet MS"/>
              </a:rPr>
              <a:t> </a:t>
            </a:r>
            <a:r>
              <a:rPr sz="2400" spc="-4" dirty="0">
                <a:latin typeface="MS PGothic" panose="020B0600070205080204" pitchFamily="34" charset="-128"/>
                <a:ea typeface="MS PGothic" panose="020B0600070205080204" pitchFamily="34" charset="-128"/>
                <a:cs typeface="MS PGothic"/>
              </a:rPr>
              <a:t>In</a:t>
            </a:r>
            <a:r>
              <a:rPr sz="2400" dirty="0">
                <a:latin typeface="MS PGothic" panose="020B0600070205080204" pitchFamily="34" charset="-128"/>
                <a:ea typeface="MS PGothic" panose="020B0600070205080204" pitchFamily="34" charset="-128"/>
                <a:cs typeface="MS PGothic"/>
              </a:rPr>
              <a:t> </a:t>
            </a:r>
            <a:r>
              <a:rPr sz="2400" spc="-4" dirty="0">
                <a:latin typeface="MS PGothic" panose="020B0600070205080204" pitchFamily="34" charset="-128"/>
                <a:ea typeface="MS PGothic" panose="020B0600070205080204" pitchFamily="34" charset="-128"/>
                <a:cs typeface="MS PGothic"/>
              </a:rPr>
              <a:t>tight</a:t>
            </a:r>
            <a:r>
              <a:rPr sz="2400" spc="8" dirty="0">
                <a:latin typeface="MS PGothic" panose="020B0600070205080204" pitchFamily="34" charset="-128"/>
                <a:ea typeface="MS PGothic" panose="020B0600070205080204" pitchFamily="34" charset="-128"/>
                <a:cs typeface="MS PGothic"/>
              </a:rPr>
              <a:t> </a:t>
            </a:r>
            <a:r>
              <a:rPr sz="2400" spc="-4" dirty="0">
                <a:latin typeface="MS PGothic" panose="020B0600070205080204" pitchFamily="34" charset="-128"/>
                <a:ea typeface="MS PGothic" panose="020B0600070205080204" pitchFamily="34" charset="-128"/>
                <a:cs typeface="MS PGothic"/>
              </a:rPr>
              <a:t>coupling,</a:t>
            </a:r>
            <a:r>
              <a:rPr sz="2400" spc="-11" dirty="0">
                <a:latin typeface="MS PGothic" panose="020B0600070205080204" pitchFamily="34" charset="-128"/>
                <a:ea typeface="MS PGothic" panose="020B0600070205080204" pitchFamily="34" charset="-128"/>
                <a:cs typeface="MS PGothic"/>
              </a:rPr>
              <a:t> </a:t>
            </a:r>
            <a:r>
              <a:rPr sz="2400" spc="-4" dirty="0">
                <a:latin typeface="MS PGothic" panose="020B0600070205080204" pitchFamily="34" charset="-128"/>
                <a:ea typeface="MS PGothic" panose="020B0600070205080204" pitchFamily="34" charset="-128"/>
                <a:cs typeface="MS PGothic"/>
              </a:rPr>
              <a:t>a</a:t>
            </a:r>
            <a:r>
              <a:rPr sz="2400" spc="11" dirty="0">
                <a:latin typeface="MS PGothic" panose="020B0600070205080204" pitchFamily="34" charset="-128"/>
                <a:ea typeface="MS PGothic" panose="020B0600070205080204" pitchFamily="34" charset="-128"/>
                <a:cs typeface="MS PGothic"/>
              </a:rPr>
              <a:t> </a:t>
            </a:r>
            <a:r>
              <a:rPr sz="2400" spc="-8" dirty="0">
                <a:latin typeface="MS PGothic" panose="020B0600070205080204" pitchFamily="34" charset="-128"/>
                <a:ea typeface="MS PGothic" panose="020B0600070205080204" pitchFamily="34" charset="-128"/>
                <a:cs typeface="MS PGothic"/>
              </a:rPr>
              <a:t>data</a:t>
            </a:r>
            <a:endParaRPr sz="2400" dirty="0">
              <a:latin typeface="MS PGothic" panose="020B0600070205080204" pitchFamily="34" charset="-128"/>
              <a:ea typeface="MS PGothic" panose="020B0600070205080204" pitchFamily="34" charset="-128"/>
              <a:cs typeface="MS PGothic"/>
            </a:endParaRPr>
          </a:p>
          <a:p>
            <a:pPr marL="352425" marR="3810" algn="just">
              <a:spcBef>
                <a:spcPts val="199"/>
              </a:spcBef>
            </a:pPr>
            <a:r>
              <a:rPr sz="2400" spc="-4" dirty="0">
                <a:latin typeface="MS PGothic" panose="020B0600070205080204" pitchFamily="34" charset="-128"/>
                <a:ea typeface="MS PGothic" panose="020B0600070205080204" pitchFamily="34" charset="-128"/>
                <a:cs typeface="MS PGothic"/>
              </a:rPr>
              <a:t>warehouse</a:t>
            </a:r>
            <a:r>
              <a:rPr sz="2400" dirty="0">
                <a:latin typeface="MS PGothic" panose="020B0600070205080204" pitchFamily="34" charset="-128"/>
                <a:ea typeface="MS PGothic" panose="020B0600070205080204" pitchFamily="34" charset="-128"/>
                <a:cs typeface="MS PGothic"/>
              </a:rPr>
              <a:t> </a:t>
            </a:r>
            <a:r>
              <a:rPr sz="2400" spc="-4" dirty="0">
                <a:latin typeface="MS PGothic" panose="020B0600070205080204" pitchFamily="34" charset="-128"/>
                <a:ea typeface="MS PGothic" panose="020B0600070205080204" pitchFamily="34" charset="-128"/>
                <a:cs typeface="MS PGothic"/>
              </a:rPr>
              <a:t>is</a:t>
            </a:r>
            <a:r>
              <a:rPr sz="2400" spc="4" dirty="0">
                <a:latin typeface="MS PGothic" panose="020B0600070205080204" pitchFamily="34" charset="-128"/>
                <a:ea typeface="MS PGothic" panose="020B0600070205080204" pitchFamily="34" charset="-128"/>
                <a:cs typeface="MS PGothic"/>
              </a:rPr>
              <a:t> </a:t>
            </a:r>
            <a:r>
              <a:rPr sz="2400" spc="-4" dirty="0">
                <a:latin typeface="MS PGothic" panose="020B0600070205080204" pitchFamily="34" charset="-128"/>
                <a:ea typeface="MS PGothic" panose="020B0600070205080204" pitchFamily="34" charset="-128"/>
                <a:cs typeface="MS PGothic"/>
              </a:rPr>
              <a:t>treated</a:t>
            </a:r>
            <a:r>
              <a:rPr sz="2400" spc="19" dirty="0">
                <a:latin typeface="MS PGothic" panose="020B0600070205080204" pitchFamily="34" charset="-128"/>
                <a:ea typeface="MS PGothic" panose="020B0600070205080204" pitchFamily="34" charset="-128"/>
                <a:cs typeface="MS PGothic"/>
              </a:rPr>
              <a:t> </a:t>
            </a:r>
            <a:r>
              <a:rPr sz="2400" spc="-4" dirty="0">
                <a:latin typeface="MS PGothic" panose="020B0600070205080204" pitchFamily="34" charset="-128"/>
                <a:ea typeface="MS PGothic" panose="020B0600070205080204" pitchFamily="34" charset="-128"/>
                <a:cs typeface="MS PGothic"/>
              </a:rPr>
              <a:t>as</a:t>
            </a:r>
            <a:r>
              <a:rPr sz="2400" spc="19" dirty="0">
                <a:latin typeface="MS PGothic" panose="020B0600070205080204" pitchFamily="34" charset="-128"/>
                <a:ea typeface="MS PGothic" panose="020B0600070205080204" pitchFamily="34" charset="-128"/>
                <a:cs typeface="MS PGothic"/>
              </a:rPr>
              <a:t> </a:t>
            </a:r>
            <a:r>
              <a:rPr sz="2400" spc="-4" dirty="0">
                <a:latin typeface="MS PGothic" panose="020B0600070205080204" pitchFamily="34" charset="-128"/>
                <a:ea typeface="MS PGothic" panose="020B0600070205080204" pitchFamily="34" charset="-128"/>
                <a:cs typeface="MS PGothic"/>
              </a:rPr>
              <a:t>an</a:t>
            </a:r>
            <a:r>
              <a:rPr sz="2400" spc="4" dirty="0">
                <a:latin typeface="MS PGothic" panose="020B0600070205080204" pitchFamily="34" charset="-128"/>
                <a:ea typeface="MS PGothic" panose="020B0600070205080204" pitchFamily="34" charset="-128"/>
                <a:cs typeface="MS PGothic"/>
              </a:rPr>
              <a:t> </a:t>
            </a:r>
            <a:r>
              <a:rPr sz="2400" spc="-4" dirty="0">
                <a:latin typeface="MS PGothic" panose="020B0600070205080204" pitchFamily="34" charset="-128"/>
                <a:ea typeface="MS PGothic" panose="020B0600070205080204" pitchFamily="34" charset="-128"/>
                <a:cs typeface="MS PGothic"/>
              </a:rPr>
              <a:t>information</a:t>
            </a:r>
            <a:r>
              <a:rPr sz="2400" spc="4" dirty="0">
                <a:latin typeface="MS PGothic" panose="020B0600070205080204" pitchFamily="34" charset="-128"/>
                <a:ea typeface="MS PGothic" panose="020B0600070205080204" pitchFamily="34" charset="-128"/>
                <a:cs typeface="MS PGothic"/>
              </a:rPr>
              <a:t> </a:t>
            </a:r>
            <a:r>
              <a:rPr sz="2400" spc="-4" dirty="0">
                <a:latin typeface="MS PGothic" panose="020B0600070205080204" pitchFamily="34" charset="-128"/>
                <a:ea typeface="MS PGothic" panose="020B0600070205080204" pitchFamily="34" charset="-128"/>
                <a:cs typeface="MS PGothic"/>
              </a:rPr>
              <a:t>retrieval</a:t>
            </a:r>
            <a:r>
              <a:rPr sz="2400" spc="8" dirty="0">
                <a:latin typeface="MS PGothic" panose="020B0600070205080204" pitchFamily="34" charset="-128"/>
                <a:ea typeface="MS PGothic" panose="020B0600070205080204" pitchFamily="34" charset="-128"/>
                <a:cs typeface="MS PGothic"/>
              </a:rPr>
              <a:t> </a:t>
            </a:r>
            <a:r>
              <a:rPr sz="2400" spc="-4" dirty="0">
                <a:latin typeface="MS PGothic" panose="020B0600070205080204" pitchFamily="34" charset="-128"/>
                <a:ea typeface="MS PGothic" panose="020B0600070205080204" pitchFamily="34" charset="-128"/>
                <a:cs typeface="MS PGothic"/>
              </a:rPr>
              <a:t>component.</a:t>
            </a:r>
            <a:r>
              <a:rPr sz="2400" spc="-8" dirty="0">
                <a:latin typeface="MS PGothic" panose="020B0600070205080204" pitchFamily="34" charset="-128"/>
                <a:ea typeface="MS PGothic" panose="020B0600070205080204" pitchFamily="34" charset="-128"/>
                <a:cs typeface="MS PGothic"/>
              </a:rPr>
              <a:t> </a:t>
            </a:r>
            <a:r>
              <a:rPr sz="2400" spc="-4" dirty="0">
                <a:latin typeface="MS PGothic" panose="020B0600070205080204" pitchFamily="34" charset="-128"/>
                <a:ea typeface="MS PGothic" panose="020B0600070205080204" pitchFamily="34" charset="-128"/>
                <a:cs typeface="MS PGothic"/>
              </a:rPr>
              <a:t>All </a:t>
            </a:r>
            <a:r>
              <a:rPr sz="2400" dirty="0">
                <a:latin typeface="MS PGothic" panose="020B0600070205080204" pitchFamily="34" charset="-128"/>
                <a:ea typeface="MS PGothic" panose="020B0600070205080204" pitchFamily="34" charset="-128"/>
                <a:cs typeface="MS PGothic"/>
              </a:rPr>
              <a:t> </a:t>
            </a:r>
            <a:r>
              <a:rPr sz="2400" spc="-4" dirty="0">
                <a:latin typeface="MS PGothic" panose="020B0600070205080204" pitchFamily="34" charset="-128"/>
                <a:ea typeface="MS PGothic" panose="020B0600070205080204" pitchFamily="34" charset="-128"/>
                <a:cs typeface="MS PGothic"/>
              </a:rPr>
              <a:t>the</a:t>
            </a:r>
            <a:r>
              <a:rPr sz="2400" dirty="0">
                <a:latin typeface="MS PGothic" panose="020B0600070205080204" pitchFamily="34" charset="-128"/>
                <a:ea typeface="MS PGothic" panose="020B0600070205080204" pitchFamily="34" charset="-128"/>
                <a:cs typeface="MS PGothic"/>
              </a:rPr>
              <a:t> </a:t>
            </a:r>
            <a:r>
              <a:rPr sz="2400" spc="-4" dirty="0">
                <a:latin typeface="MS PGothic" panose="020B0600070205080204" pitchFamily="34" charset="-128"/>
                <a:ea typeface="MS PGothic" panose="020B0600070205080204" pitchFamily="34" charset="-128"/>
                <a:cs typeface="MS PGothic"/>
              </a:rPr>
              <a:t>features</a:t>
            </a:r>
            <a:r>
              <a:rPr sz="2400" spc="11" dirty="0">
                <a:latin typeface="MS PGothic" panose="020B0600070205080204" pitchFamily="34" charset="-128"/>
                <a:ea typeface="MS PGothic" panose="020B0600070205080204" pitchFamily="34" charset="-128"/>
                <a:cs typeface="MS PGothic"/>
              </a:rPr>
              <a:t> </a:t>
            </a:r>
            <a:r>
              <a:rPr sz="2400" spc="-4" dirty="0">
                <a:latin typeface="MS PGothic" panose="020B0600070205080204" pitchFamily="34" charset="-128"/>
                <a:ea typeface="MS PGothic" panose="020B0600070205080204" pitchFamily="34" charset="-128"/>
                <a:cs typeface="MS PGothic"/>
              </a:rPr>
              <a:t>of</a:t>
            </a:r>
            <a:r>
              <a:rPr sz="2400" spc="4" dirty="0">
                <a:latin typeface="MS PGothic" panose="020B0600070205080204" pitchFamily="34" charset="-128"/>
                <a:ea typeface="MS PGothic" panose="020B0600070205080204" pitchFamily="34" charset="-128"/>
                <a:cs typeface="MS PGothic"/>
              </a:rPr>
              <a:t> </a:t>
            </a:r>
            <a:r>
              <a:rPr sz="2400" spc="-4" dirty="0">
                <a:latin typeface="MS PGothic" panose="020B0600070205080204" pitchFamily="34" charset="-128"/>
                <a:ea typeface="MS PGothic" panose="020B0600070205080204" pitchFamily="34" charset="-128"/>
                <a:cs typeface="MS PGothic"/>
              </a:rPr>
              <a:t>database</a:t>
            </a:r>
            <a:r>
              <a:rPr sz="2400" spc="23" dirty="0">
                <a:latin typeface="MS PGothic" panose="020B0600070205080204" pitchFamily="34" charset="-128"/>
                <a:ea typeface="MS PGothic" panose="020B0600070205080204" pitchFamily="34" charset="-128"/>
                <a:cs typeface="MS PGothic"/>
              </a:rPr>
              <a:t> </a:t>
            </a:r>
            <a:r>
              <a:rPr sz="2400" spc="-4" dirty="0">
                <a:latin typeface="MS PGothic" panose="020B0600070205080204" pitchFamily="34" charset="-128"/>
                <a:ea typeface="MS PGothic" panose="020B0600070205080204" pitchFamily="34" charset="-128"/>
                <a:cs typeface="MS PGothic"/>
              </a:rPr>
              <a:t>or</a:t>
            </a:r>
            <a:r>
              <a:rPr sz="2400" spc="4" dirty="0">
                <a:latin typeface="MS PGothic" panose="020B0600070205080204" pitchFamily="34" charset="-128"/>
                <a:ea typeface="MS PGothic" panose="020B0600070205080204" pitchFamily="34" charset="-128"/>
                <a:cs typeface="MS PGothic"/>
              </a:rPr>
              <a:t> </a:t>
            </a:r>
            <a:r>
              <a:rPr sz="2400" spc="-8" dirty="0">
                <a:latin typeface="MS PGothic" panose="020B0600070205080204" pitchFamily="34" charset="-128"/>
                <a:ea typeface="MS PGothic" panose="020B0600070205080204" pitchFamily="34" charset="-128"/>
                <a:cs typeface="MS PGothic"/>
              </a:rPr>
              <a:t>data</a:t>
            </a:r>
            <a:r>
              <a:rPr sz="2400" spc="11" dirty="0">
                <a:latin typeface="MS PGothic" panose="020B0600070205080204" pitchFamily="34" charset="-128"/>
                <a:ea typeface="MS PGothic" panose="020B0600070205080204" pitchFamily="34" charset="-128"/>
                <a:cs typeface="MS PGothic"/>
              </a:rPr>
              <a:t> </a:t>
            </a:r>
            <a:r>
              <a:rPr sz="2400" spc="-4" dirty="0">
                <a:latin typeface="MS PGothic" panose="020B0600070205080204" pitchFamily="34" charset="-128"/>
                <a:ea typeface="MS PGothic" panose="020B0600070205080204" pitchFamily="34" charset="-128"/>
                <a:cs typeface="MS PGothic"/>
              </a:rPr>
              <a:t>warehouse</a:t>
            </a:r>
            <a:r>
              <a:rPr sz="2400" spc="11" dirty="0">
                <a:latin typeface="MS PGothic" panose="020B0600070205080204" pitchFamily="34" charset="-128"/>
                <a:ea typeface="MS PGothic" panose="020B0600070205080204" pitchFamily="34" charset="-128"/>
                <a:cs typeface="MS PGothic"/>
              </a:rPr>
              <a:t> </a:t>
            </a:r>
            <a:r>
              <a:rPr sz="2400" spc="-4" dirty="0">
                <a:latin typeface="MS PGothic" panose="020B0600070205080204" pitchFamily="34" charset="-128"/>
                <a:ea typeface="MS PGothic" panose="020B0600070205080204" pitchFamily="34" charset="-128"/>
                <a:cs typeface="MS PGothic"/>
              </a:rPr>
              <a:t>are</a:t>
            </a:r>
            <a:r>
              <a:rPr sz="2400" spc="8" dirty="0">
                <a:latin typeface="MS PGothic" panose="020B0600070205080204" pitchFamily="34" charset="-128"/>
                <a:ea typeface="MS PGothic" panose="020B0600070205080204" pitchFamily="34" charset="-128"/>
                <a:cs typeface="MS PGothic"/>
              </a:rPr>
              <a:t> </a:t>
            </a:r>
            <a:r>
              <a:rPr sz="2400" spc="-4" dirty="0">
                <a:latin typeface="MS PGothic" panose="020B0600070205080204" pitchFamily="34" charset="-128"/>
                <a:ea typeface="MS PGothic" panose="020B0600070205080204" pitchFamily="34" charset="-128"/>
                <a:cs typeface="MS PGothic"/>
              </a:rPr>
              <a:t>used</a:t>
            </a:r>
            <a:r>
              <a:rPr sz="2400" spc="8" dirty="0">
                <a:latin typeface="MS PGothic" panose="020B0600070205080204" pitchFamily="34" charset="-128"/>
                <a:ea typeface="MS PGothic" panose="020B0600070205080204" pitchFamily="34" charset="-128"/>
                <a:cs typeface="MS PGothic"/>
              </a:rPr>
              <a:t> </a:t>
            </a:r>
            <a:r>
              <a:rPr sz="2400" spc="-4" dirty="0">
                <a:latin typeface="MS PGothic" panose="020B0600070205080204" pitchFamily="34" charset="-128"/>
                <a:ea typeface="MS PGothic" panose="020B0600070205080204" pitchFamily="34" charset="-128"/>
                <a:cs typeface="MS PGothic"/>
              </a:rPr>
              <a:t>to</a:t>
            </a:r>
            <a:r>
              <a:rPr sz="2400" dirty="0">
                <a:latin typeface="MS PGothic" panose="020B0600070205080204" pitchFamily="34" charset="-128"/>
                <a:ea typeface="MS PGothic" panose="020B0600070205080204" pitchFamily="34" charset="-128"/>
                <a:cs typeface="MS PGothic"/>
              </a:rPr>
              <a:t> </a:t>
            </a:r>
            <a:r>
              <a:rPr sz="2400" spc="-4" dirty="0">
                <a:latin typeface="MS PGothic" panose="020B0600070205080204" pitchFamily="34" charset="-128"/>
                <a:ea typeface="MS PGothic" panose="020B0600070205080204" pitchFamily="34" charset="-128"/>
                <a:cs typeface="MS PGothic"/>
              </a:rPr>
              <a:t>perform </a:t>
            </a:r>
            <a:r>
              <a:rPr sz="2400" spc="-491" dirty="0">
                <a:latin typeface="MS PGothic" panose="020B0600070205080204" pitchFamily="34" charset="-128"/>
                <a:ea typeface="MS PGothic" panose="020B0600070205080204" pitchFamily="34" charset="-128"/>
                <a:cs typeface="MS PGothic"/>
              </a:rPr>
              <a:t> </a:t>
            </a:r>
            <a:r>
              <a:rPr sz="2400" spc="-8" dirty="0">
                <a:latin typeface="MS PGothic" panose="020B0600070205080204" pitchFamily="34" charset="-128"/>
                <a:ea typeface="MS PGothic" panose="020B0600070205080204" pitchFamily="34" charset="-128"/>
                <a:cs typeface="MS PGothic"/>
              </a:rPr>
              <a:t>data</a:t>
            </a:r>
            <a:r>
              <a:rPr sz="2400" spc="8" dirty="0">
                <a:latin typeface="MS PGothic" panose="020B0600070205080204" pitchFamily="34" charset="-128"/>
                <a:ea typeface="MS PGothic" panose="020B0600070205080204" pitchFamily="34" charset="-128"/>
                <a:cs typeface="MS PGothic"/>
              </a:rPr>
              <a:t> </a:t>
            </a:r>
            <a:r>
              <a:rPr sz="2400" spc="-4" dirty="0">
                <a:latin typeface="MS PGothic" panose="020B0600070205080204" pitchFamily="34" charset="-128"/>
                <a:ea typeface="MS PGothic" panose="020B0600070205080204" pitchFamily="34" charset="-128"/>
                <a:cs typeface="MS PGothic"/>
              </a:rPr>
              <a:t>mining</a:t>
            </a:r>
            <a:r>
              <a:rPr sz="2400" spc="8" dirty="0">
                <a:latin typeface="MS PGothic" panose="020B0600070205080204" pitchFamily="34" charset="-128"/>
                <a:ea typeface="MS PGothic" panose="020B0600070205080204" pitchFamily="34" charset="-128"/>
                <a:cs typeface="MS PGothic"/>
              </a:rPr>
              <a:t> </a:t>
            </a:r>
            <a:r>
              <a:rPr sz="2400" spc="-8" dirty="0">
                <a:latin typeface="MS PGothic" panose="020B0600070205080204" pitchFamily="34" charset="-128"/>
                <a:ea typeface="MS PGothic" panose="020B0600070205080204" pitchFamily="34" charset="-128"/>
                <a:cs typeface="MS PGothic"/>
              </a:rPr>
              <a:t>tasks.</a:t>
            </a:r>
            <a:r>
              <a:rPr sz="2400" spc="30" dirty="0">
                <a:latin typeface="MS PGothic" panose="020B0600070205080204" pitchFamily="34" charset="-128"/>
                <a:ea typeface="MS PGothic" panose="020B0600070205080204" pitchFamily="34" charset="-128"/>
                <a:cs typeface="MS PGothic"/>
              </a:rPr>
              <a:t> </a:t>
            </a:r>
            <a:r>
              <a:rPr sz="2400" spc="-4" dirty="0">
                <a:latin typeface="MS PGothic" panose="020B0600070205080204" pitchFamily="34" charset="-128"/>
                <a:ea typeface="MS PGothic" panose="020B0600070205080204" pitchFamily="34" charset="-128"/>
                <a:cs typeface="MS PGothic"/>
              </a:rPr>
              <a:t>This</a:t>
            </a:r>
            <a:r>
              <a:rPr sz="2400" spc="8" dirty="0">
                <a:latin typeface="MS PGothic" panose="020B0600070205080204" pitchFamily="34" charset="-128"/>
                <a:ea typeface="MS PGothic" panose="020B0600070205080204" pitchFamily="34" charset="-128"/>
                <a:cs typeface="MS PGothic"/>
              </a:rPr>
              <a:t> </a:t>
            </a:r>
            <a:r>
              <a:rPr sz="2400" spc="-4" dirty="0">
                <a:latin typeface="MS PGothic" panose="020B0600070205080204" pitchFamily="34" charset="-128"/>
                <a:ea typeface="MS PGothic" panose="020B0600070205080204" pitchFamily="34" charset="-128"/>
                <a:cs typeface="MS PGothic"/>
              </a:rPr>
              <a:t>architecture</a:t>
            </a:r>
            <a:r>
              <a:rPr sz="2400" spc="11" dirty="0">
                <a:latin typeface="MS PGothic" panose="020B0600070205080204" pitchFamily="34" charset="-128"/>
                <a:ea typeface="MS PGothic" panose="020B0600070205080204" pitchFamily="34" charset="-128"/>
                <a:cs typeface="MS PGothic"/>
              </a:rPr>
              <a:t> </a:t>
            </a:r>
            <a:r>
              <a:rPr sz="2400" spc="-4" dirty="0">
                <a:latin typeface="MS PGothic" panose="020B0600070205080204" pitchFamily="34" charset="-128"/>
                <a:ea typeface="MS PGothic" panose="020B0600070205080204" pitchFamily="34" charset="-128"/>
                <a:cs typeface="MS PGothic"/>
              </a:rPr>
              <a:t>provides</a:t>
            </a:r>
            <a:r>
              <a:rPr sz="2400" spc="-15" dirty="0">
                <a:latin typeface="MS PGothic" panose="020B0600070205080204" pitchFamily="34" charset="-128"/>
                <a:ea typeface="MS PGothic" panose="020B0600070205080204" pitchFamily="34" charset="-128"/>
                <a:cs typeface="MS PGothic"/>
              </a:rPr>
              <a:t> </a:t>
            </a:r>
            <a:r>
              <a:rPr sz="2400" spc="-8" dirty="0">
                <a:latin typeface="MS PGothic" panose="020B0600070205080204" pitchFamily="34" charset="-128"/>
                <a:ea typeface="MS PGothic" panose="020B0600070205080204" pitchFamily="34" charset="-128"/>
                <a:cs typeface="MS PGothic"/>
              </a:rPr>
              <a:t>system</a:t>
            </a:r>
            <a:r>
              <a:rPr sz="2400" spc="38" dirty="0">
                <a:latin typeface="MS PGothic" panose="020B0600070205080204" pitchFamily="34" charset="-128"/>
                <a:ea typeface="MS PGothic" panose="020B0600070205080204" pitchFamily="34" charset="-128"/>
                <a:cs typeface="MS PGothic"/>
              </a:rPr>
              <a:t> </a:t>
            </a:r>
            <a:r>
              <a:rPr sz="2400" spc="-4" dirty="0">
                <a:latin typeface="MS PGothic" panose="020B0600070205080204" pitchFamily="34" charset="-128"/>
                <a:ea typeface="MS PGothic" panose="020B0600070205080204" pitchFamily="34" charset="-128"/>
                <a:cs typeface="MS PGothic"/>
              </a:rPr>
              <a:t>scalability, </a:t>
            </a:r>
            <a:r>
              <a:rPr sz="2400" dirty="0">
                <a:latin typeface="MS PGothic" panose="020B0600070205080204" pitchFamily="34" charset="-128"/>
                <a:ea typeface="MS PGothic" panose="020B0600070205080204" pitchFamily="34" charset="-128"/>
                <a:cs typeface="MS PGothic"/>
              </a:rPr>
              <a:t> high</a:t>
            </a:r>
            <a:r>
              <a:rPr sz="2400" spc="-11" dirty="0">
                <a:latin typeface="MS PGothic" panose="020B0600070205080204" pitchFamily="34" charset="-128"/>
                <a:ea typeface="MS PGothic" panose="020B0600070205080204" pitchFamily="34" charset="-128"/>
                <a:cs typeface="MS PGothic"/>
              </a:rPr>
              <a:t> </a:t>
            </a:r>
            <a:r>
              <a:rPr sz="2400" spc="-4" dirty="0">
                <a:latin typeface="MS PGothic" panose="020B0600070205080204" pitchFamily="34" charset="-128"/>
                <a:ea typeface="MS PGothic" panose="020B0600070205080204" pitchFamily="34" charset="-128"/>
                <a:cs typeface="MS PGothic"/>
              </a:rPr>
              <a:t>performance,</a:t>
            </a:r>
            <a:r>
              <a:rPr sz="2400" spc="-8" dirty="0">
                <a:latin typeface="MS PGothic" panose="020B0600070205080204" pitchFamily="34" charset="-128"/>
                <a:ea typeface="MS PGothic" panose="020B0600070205080204" pitchFamily="34" charset="-128"/>
                <a:cs typeface="MS PGothic"/>
              </a:rPr>
              <a:t> </a:t>
            </a:r>
            <a:r>
              <a:rPr sz="2400" spc="-4" dirty="0">
                <a:latin typeface="MS PGothic" panose="020B0600070205080204" pitchFamily="34" charset="-128"/>
                <a:ea typeface="MS PGothic" panose="020B0600070205080204" pitchFamily="34" charset="-128"/>
                <a:cs typeface="MS PGothic"/>
              </a:rPr>
              <a:t>and</a:t>
            </a:r>
            <a:r>
              <a:rPr sz="2400" spc="11" dirty="0">
                <a:latin typeface="MS PGothic" panose="020B0600070205080204" pitchFamily="34" charset="-128"/>
                <a:ea typeface="MS PGothic" panose="020B0600070205080204" pitchFamily="34" charset="-128"/>
                <a:cs typeface="MS PGothic"/>
              </a:rPr>
              <a:t> </a:t>
            </a:r>
            <a:r>
              <a:rPr sz="2400" spc="-4" dirty="0">
                <a:latin typeface="MS PGothic" panose="020B0600070205080204" pitchFamily="34" charset="-128"/>
                <a:ea typeface="MS PGothic" panose="020B0600070205080204" pitchFamily="34" charset="-128"/>
                <a:cs typeface="MS PGothic"/>
              </a:rPr>
              <a:t>integrated</a:t>
            </a:r>
            <a:r>
              <a:rPr sz="2400" spc="4" dirty="0">
                <a:latin typeface="MS PGothic" panose="020B0600070205080204" pitchFamily="34" charset="-128"/>
                <a:ea typeface="MS PGothic" panose="020B0600070205080204" pitchFamily="34" charset="-128"/>
                <a:cs typeface="MS PGothic"/>
              </a:rPr>
              <a:t> </a:t>
            </a:r>
            <a:r>
              <a:rPr sz="2400" spc="-4" dirty="0">
                <a:latin typeface="MS PGothic" panose="020B0600070205080204" pitchFamily="34" charset="-128"/>
                <a:ea typeface="MS PGothic" panose="020B0600070205080204" pitchFamily="34" charset="-128"/>
                <a:cs typeface="MS PGothic"/>
              </a:rPr>
              <a:t>information.</a:t>
            </a:r>
            <a:endParaRPr sz="2400" dirty="0">
              <a:latin typeface="MS PGothic" panose="020B0600070205080204" pitchFamily="34" charset="-128"/>
              <a:ea typeface="MS PGothic" panose="020B0600070205080204" pitchFamily="34" charset="-128"/>
              <a:cs typeface="MS PGothic"/>
            </a:endParaRPr>
          </a:p>
        </p:txBody>
      </p:sp>
      <p:sp>
        <p:nvSpPr>
          <p:cNvPr id="6" name="Date Placeholder 5">
            <a:extLst>
              <a:ext uri="{FF2B5EF4-FFF2-40B4-BE49-F238E27FC236}">
                <a16:creationId xmlns:a16="http://schemas.microsoft.com/office/drawing/2014/main" id="{02E6A5EB-E61A-CE7D-A083-4034F8938048}"/>
              </a:ext>
            </a:extLst>
          </p:cNvPr>
          <p:cNvSpPr>
            <a:spLocks noGrp="1"/>
          </p:cNvSpPr>
          <p:nvPr>
            <p:ph type="dt" sz="half" idx="6"/>
          </p:nvPr>
        </p:nvSpPr>
        <p:spPr/>
        <p:txBody>
          <a:bodyPr/>
          <a:lstStyle/>
          <a:p>
            <a:fld id="{1E072A1C-E34E-2144-B5FC-7E6ACFF86E1D}" type="datetime1">
              <a:rPr lang="en-US" smtClean="0"/>
              <a:t>11/17/25</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 y="0"/>
            <a:ext cx="9143999" cy="5143497"/>
          </a:xfrm>
          <a:prstGeom prst="rect">
            <a:avLst/>
          </a:prstGeom>
        </p:spPr>
      </p:pic>
      <p:sp>
        <p:nvSpPr>
          <p:cNvPr id="3" name="object 3"/>
          <p:cNvSpPr txBox="1">
            <a:spLocks noGrp="1"/>
          </p:cNvSpPr>
          <p:nvPr>
            <p:ph type="title"/>
          </p:nvPr>
        </p:nvSpPr>
        <p:spPr>
          <a:xfrm>
            <a:off x="2392872" y="1396860"/>
            <a:ext cx="2072258" cy="587180"/>
          </a:xfrm>
          <a:prstGeom prst="rect">
            <a:avLst/>
          </a:prstGeom>
        </p:spPr>
        <p:txBody>
          <a:bodyPr vert="horz" wrap="square" lIns="0" tIns="10001" rIns="0" bIns="0" rtlCol="0">
            <a:spAutoFit/>
          </a:bodyPr>
          <a:lstStyle/>
          <a:p>
            <a:pPr marL="9525">
              <a:spcBef>
                <a:spcPts val="79"/>
              </a:spcBef>
            </a:pPr>
            <a:r>
              <a:rPr dirty="0"/>
              <a:t>Thank</a:t>
            </a:r>
            <a:r>
              <a:rPr spc="-53" dirty="0"/>
              <a:t> </a:t>
            </a:r>
            <a:r>
              <a:rPr dirty="0"/>
              <a:t>you</a:t>
            </a:r>
          </a:p>
        </p:txBody>
      </p:sp>
      <p:sp>
        <p:nvSpPr>
          <p:cNvPr id="4" name="Date Placeholder 3">
            <a:extLst>
              <a:ext uri="{FF2B5EF4-FFF2-40B4-BE49-F238E27FC236}">
                <a16:creationId xmlns:a16="http://schemas.microsoft.com/office/drawing/2014/main" id="{F5FEEDE1-D4A0-BC8A-BD85-51E1A23CC15A}"/>
              </a:ext>
            </a:extLst>
          </p:cNvPr>
          <p:cNvSpPr>
            <a:spLocks noGrp="1"/>
          </p:cNvSpPr>
          <p:nvPr>
            <p:ph type="dt" sz="half" idx="6"/>
          </p:nvPr>
        </p:nvSpPr>
        <p:spPr/>
        <p:txBody>
          <a:bodyPr/>
          <a:lstStyle/>
          <a:p>
            <a:fld id="{D232019E-AB8C-A84E-947D-6E2FD2594637}" type="datetime1">
              <a:rPr lang="en-US" smtClean="0"/>
              <a:t>11/17/25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8817</TotalTime>
  <Words>3688</Words>
  <Application>Microsoft Macintosh PowerPoint</Application>
  <PresentationFormat>On-screen Show (16:9)</PresentationFormat>
  <Paragraphs>246</Paragraphs>
  <Slides>42</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42</vt:i4>
      </vt:variant>
    </vt:vector>
  </HeadingPairs>
  <TitlesOfParts>
    <vt:vector size="51" baseType="lpstr">
      <vt:lpstr>MS PGothic</vt:lpstr>
      <vt:lpstr>__Source_Sans_Pro_fa6df0</vt:lpstr>
      <vt:lpstr>Arial</vt:lpstr>
      <vt:lpstr>Arial MT</vt:lpstr>
      <vt:lpstr>Calibri</vt:lpstr>
      <vt:lpstr>Times New Roman</vt:lpstr>
      <vt:lpstr>Trebuchet MS</vt:lpstr>
      <vt:lpstr>Wingdings</vt:lpstr>
      <vt:lpstr>Office Theme</vt:lpstr>
      <vt:lpstr>Data mining and Warehousing Unit 2: Data mining Description</vt:lpstr>
      <vt:lpstr>Steps involved in a data mining process</vt:lpstr>
      <vt:lpstr>Steps involved in a data mining process</vt:lpstr>
      <vt:lpstr>provide an overview of the eight steps in the data mining  process. identify the issues involved in defining a data mining problem. determine when to use and not to use data mining explain how to conduct and experiment to determine whether more data is needed</vt:lpstr>
      <vt:lpstr>8 STEP DATA MINING PROCESS</vt:lpstr>
      <vt:lpstr>8 STEP DATA MINING PROCESS</vt:lpstr>
      <vt:lpstr>8 STEP DATA MINING PROCESS  CONTINUED…</vt:lpstr>
      <vt:lpstr>8 STEP DATA MINING PROCESS  CONTINUED…</vt:lpstr>
      <vt:lpstr>CLASSIFICATION VERSUS ESTIMATION</vt:lpstr>
      <vt:lpstr>WHAT ARE THE INPUTS AND OUTPUTS?</vt:lpstr>
      <vt:lpstr>IMPORTANT ISSUES</vt:lpstr>
      <vt:lpstr>HOW MUCH DATA IS ENOUGH</vt:lpstr>
      <vt:lpstr>WHAT WE HAVE LEARNED:</vt:lpstr>
      <vt:lpstr>REVIEW QUESTIONS</vt:lpstr>
      <vt:lpstr>PowerPoint Presentation</vt:lpstr>
      <vt:lpstr>PowerPoint Presentation</vt:lpstr>
      <vt:lpstr>3. Let say you are given a set of training data with 50% class “positive” and 50% class  “negative”, and you have explored several models and selected the best model. You can  now use the best model to do future prediction. Now, you are informed that the future data  you are going to get is likely to have the following class distribution: 90% class “positive”  and 10% class “negative”.</vt:lpstr>
      <vt:lpstr>PowerPoint Presentation</vt:lpstr>
      <vt:lpstr>Representation for visualizing the  discovered patterns(Data)</vt:lpstr>
      <vt:lpstr>Data Mining System Classification</vt:lpstr>
      <vt:lpstr>Data Extraction Process</vt:lpstr>
      <vt:lpstr>Data mining Implementation Process</vt:lpstr>
      <vt:lpstr>Data transformation:</vt:lpstr>
      <vt:lpstr>Data Mining Techniques</vt:lpstr>
      <vt:lpstr>Data Mining Techniques(cont..)</vt:lpstr>
      <vt:lpstr>PowerPoint Presentation</vt:lpstr>
      <vt:lpstr>PowerPoint Presentation</vt:lpstr>
      <vt:lpstr>PowerPoint Presentation</vt:lpstr>
      <vt:lpstr>Data Mining Techniques(cont..)</vt:lpstr>
      <vt:lpstr>Association Rules:</vt:lpstr>
      <vt:lpstr>Data Mining Techniques(cont..)</vt:lpstr>
      <vt:lpstr>What Are The Different Types of Outliers? </vt:lpstr>
      <vt:lpstr>PowerPoint Presentation</vt:lpstr>
      <vt:lpstr>Data Mining Techniques(cont..)</vt:lpstr>
      <vt:lpstr>Data Mining Architecture</vt:lpstr>
      <vt:lpstr>Data Mining Architecture</vt:lpstr>
      <vt:lpstr>Data Mining Architecture (cont.….)</vt:lpstr>
      <vt:lpstr>Data Mining Architecture(cont…)</vt:lpstr>
      <vt:lpstr>Data Mining Architecture(cont…)</vt:lpstr>
      <vt:lpstr>Types of Data Mining Architecture</vt:lpstr>
      <vt:lpstr>Types of Data Mining Architecture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Prince</dc:creator>
  <cp:lastModifiedBy>kevin olivier angel ISHIMWE</cp:lastModifiedBy>
  <cp:revision>48</cp:revision>
  <dcterms:created xsi:type="dcterms:W3CDTF">2021-07-15T09:29:46Z</dcterms:created>
  <dcterms:modified xsi:type="dcterms:W3CDTF">2025-11-17T09:17:22Z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2021-07-13T00:00:00Z</vt:filetime>
  </property>
  <property fmtid="{D5CDD505-2E9C-101B-9397-08002B2CF9AE}" pid="3" name="Creator">
    <vt:lpwstr>Microsoft® PowerPoint® 2016</vt:lpwstr>
  </property>
  <property fmtid="{D5CDD505-2E9C-101B-9397-08002B2CF9AE}" pid="4" name="LastSaved">
    <vt:filetime>2021-07-15T00:00:00Z</vt:filetime>
  </property>
</Properties>
</file>