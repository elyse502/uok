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1"/>
  </p:notesMasterIdLst>
  <p:handoutMasterIdLst>
    <p:handoutMasterId r:id="rId172"/>
  </p:handoutMasterIdLst>
  <p:sldIdLst>
    <p:sldId id="256" r:id="rId2"/>
    <p:sldId id="316" r:id="rId3"/>
    <p:sldId id="345" r:id="rId4"/>
    <p:sldId id="346" r:id="rId5"/>
    <p:sldId id="347" r:id="rId6"/>
    <p:sldId id="389" r:id="rId7"/>
    <p:sldId id="315" r:id="rId8"/>
    <p:sldId id="309" r:id="rId9"/>
    <p:sldId id="358" r:id="rId10"/>
    <p:sldId id="359" r:id="rId11"/>
    <p:sldId id="361" r:id="rId12"/>
    <p:sldId id="388" r:id="rId13"/>
    <p:sldId id="337" r:id="rId14"/>
    <p:sldId id="387" r:id="rId15"/>
    <p:sldId id="367" r:id="rId16"/>
    <p:sldId id="365" r:id="rId17"/>
    <p:sldId id="366" r:id="rId18"/>
    <p:sldId id="368" r:id="rId19"/>
    <p:sldId id="371" r:id="rId20"/>
    <p:sldId id="372" r:id="rId21"/>
    <p:sldId id="373" r:id="rId22"/>
    <p:sldId id="391" r:id="rId23"/>
    <p:sldId id="392" r:id="rId24"/>
    <p:sldId id="375" r:id="rId25"/>
    <p:sldId id="369" r:id="rId26"/>
    <p:sldId id="370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83" r:id="rId35"/>
    <p:sldId id="384" r:id="rId36"/>
    <p:sldId id="385" r:id="rId37"/>
    <p:sldId id="386" r:id="rId38"/>
    <p:sldId id="390" r:id="rId39"/>
    <p:sldId id="393" r:id="rId40"/>
    <p:sldId id="394" r:id="rId41"/>
    <p:sldId id="400" r:id="rId42"/>
    <p:sldId id="401" r:id="rId43"/>
    <p:sldId id="402" r:id="rId44"/>
    <p:sldId id="403" r:id="rId45"/>
    <p:sldId id="395" r:id="rId46"/>
    <p:sldId id="396" r:id="rId47"/>
    <p:sldId id="398" r:id="rId48"/>
    <p:sldId id="399" r:id="rId49"/>
    <p:sldId id="404" r:id="rId50"/>
    <p:sldId id="405" r:id="rId51"/>
    <p:sldId id="406" r:id="rId52"/>
    <p:sldId id="407" r:id="rId53"/>
    <p:sldId id="408" r:id="rId54"/>
    <p:sldId id="409" r:id="rId55"/>
    <p:sldId id="410" r:id="rId56"/>
    <p:sldId id="411" r:id="rId57"/>
    <p:sldId id="412" r:id="rId58"/>
    <p:sldId id="413" r:id="rId59"/>
    <p:sldId id="414" r:id="rId60"/>
    <p:sldId id="415" r:id="rId61"/>
    <p:sldId id="416" r:id="rId62"/>
    <p:sldId id="423" r:id="rId63"/>
    <p:sldId id="422" r:id="rId64"/>
    <p:sldId id="417" r:id="rId65"/>
    <p:sldId id="418" r:id="rId66"/>
    <p:sldId id="419" r:id="rId67"/>
    <p:sldId id="420" r:id="rId68"/>
    <p:sldId id="421" r:id="rId69"/>
    <p:sldId id="435" r:id="rId70"/>
    <p:sldId id="436" r:id="rId71"/>
    <p:sldId id="437" r:id="rId72"/>
    <p:sldId id="424" r:id="rId73"/>
    <p:sldId id="426" r:id="rId74"/>
    <p:sldId id="430" r:id="rId75"/>
    <p:sldId id="427" r:id="rId76"/>
    <p:sldId id="428" r:id="rId77"/>
    <p:sldId id="429" r:id="rId78"/>
    <p:sldId id="432" r:id="rId79"/>
    <p:sldId id="433" r:id="rId80"/>
    <p:sldId id="434" r:id="rId81"/>
    <p:sldId id="438" r:id="rId82"/>
    <p:sldId id="440" r:id="rId83"/>
    <p:sldId id="441" r:id="rId84"/>
    <p:sldId id="442" r:id="rId85"/>
    <p:sldId id="443" r:id="rId86"/>
    <p:sldId id="444" r:id="rId87"/>
    <p:sldId id="445" r:id="rId88"/>
    <p:sldId id="446" r:id="rId89"/>
    <p:sldId id="447" r:id="rId90"/>
    <p:sldId id="439" r:id="rId91"/>
    <p:sldId id="469" r:id="rId92"/>
    <p:sldId id="470" r:id="rId93"/>
    <p:sldId id="471" r:id="rId94"/>
    <p:sldId id="472" r:id="rId95"/>
    <p:sldId id="533" r:id="rId96"/>
    <p:sldId id="534" r:id="rId97"/>
    <p:sldId id="527" r:id="rId98"/>
    <p:sldId id="528" r:id="rId99"/>
    <p:sldId id="529" r:id="rId100"/>
    <p:sldId id="530" r:id="rId101"/>
    <p:sldId id="431" r:id="rId102"/>
    <p:sldId id="448" r:id="rId103"/>
    <p:sldId id="449" r:id="rId104"/>
    <p:sldId id="450" r:id="rId105"/>
    <p:sldId id="451" r:id="rId106"/>
    <p:sldId id="475" r:id="rId107"/>
    <p:sldId id="460" r:id="rId108"/>
    <p:sldId id="461" r:id="rId109"/>
    <p:sldId id="462" r:id="rId110"/>
    <p:sldId id="463" r:id="rId111"/>
    <p:sldId id="464" r:id="rId112"/>
    <p:sldId id="465" r:id="rId113"/>
    <p:sldId id="466" r:id="rId114"/>
    <p:sldId id="467" r:id="rId115"/>
    <p:sldId id="468" r:id="rId116"/>
    <p:sldId id="524" r:id="rId117"/>
    <p:sldId id="525" r:id="rId118"/>
    <p:sldId id="526" r:id="rId119"/>
    <p:sldId id="452" r:id="rId120"/>
    <p:sldId id="473" r:id="rId121"/>
    <p:sldId id="474" r:id="rId122"/>
    <p:sldId id="455" r:id="rId123"/>
    <p:sldId id="507" r:id="rId124"/>
    <p:sldId id="454" r:id="rId125"/>
    <p:sldId id="508" r:id="rId126"/>
    <p:sldId id="453" r:id="rId127"/>
    <p:sldId id="505" r:id="rId128"/>
    <p:sldId id="506" r:id="rId129"/>
    <p:sldId id="494" r:id="rId130"/>
    <p:sldId id="495" r:id="rId131"/>
    <p:sldId id="496" r:id="rId132"/>
    <p:sldId id="457" r:id="rId133"/>
    <p:sldId id="456" r:id="rId134"/>
    <p:sldId id="482" r:id="rId135"/>
    <p:sldId id="483" r:id="rId136"/>
    <p:sldId id="484" r:id="rId137"/>
    <p:sldId id="485" r:id="rId138"/>
    <p:sldId id="489" r:id="rId139"/>
    <p:sldId id="490" r:id="rId140"/>
    <p:sldId id="486" r:id="rId141"/>
    <p:sldId id="492" r:id="rId142"/>
    <p:sldId id="497" r:id="rId143"/>
    <p:sldId id="459" r:id="rId144"/>
    <p:sldId id="498" r:id="rId145"/>
    <p:sldId id="504" r:id="rId146"/>
    <p:sldId id="499" r:id="rId147"/>
    <p:sldId id="509" r:id="rId148"/>
    <p:sldId id="500" r:id="rId149"/>
    <p:sldId id="502" r:id="rId150"/>
    <p:sldId id="511" r:id="rId151"/>
    <p:sldId id="510" r:id="rId152"/>
    <p:sldId id="512" r:id="rId153"/>
    <p:sldId id="491" r:id="rId154"/>
    <p:sldId id="493" r:id="rId155"/>
    <p:sldId id="513" r:id="rId156"/>
    <p:sldId id="514" r:id="rId157"/>
    <p:sldId id="519" r:id="rId158"/>
    <p:sldId id="517" r:id="rId159"/>
    <p:sldId id="518" r:id="rId160"/>
    <p:sldId id="532" r:id="rId161"/>
    <p:sldId id="501" r:id="rId162"/>
    <p:sldId id="503" r:id="rId163"/>
    <p:sldId id="487" r:id="rId164"/>
    <p:sldId id="488" r:id="rId165"/>
    <p:sldId id="520" r:id="rId166"/>
    <p:sldId id="521" r:id="rId167"/>
    <p:sldId id="522" r:id="rId168"/>
    <p:sldId id="523" r:id="rId169"/>
    <p:sldId id="531" r:id="rId17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28"/>
    <p:restoredTop sz="93842" autoAdjust="0"/>
  </p:normalViewPr>
  <p:slideViewPr>
    <p:cSldViewPr>
      <p:cViewPr varScale="1">
        <p:scale>
          <a:sx n="64" d="100"/>
          <a:sy n="64" d="100"/>
        </p:scale>
        <p:origin x="704" y="3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ableStyles" Target="tableStyles.xml"/><Relationship Id="rId172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4T03:12:22.733" idx="2">
    <p:pos x="1872" y="2072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D590B5-3698-1313-01B0-FF7A8D0451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2B5BB-5A60-4BB3-B3B0-82E1BD61AC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E043A-575B-404A-AF16-E1B002A1C5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F3466-3914-7997-DD11-2F3AEF0E71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57574-561C-94BC-827B-A093E6A2D8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BD18B-D895-40D2-8E13-F8A1C5375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634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93460-4FE2-4BFA-B61E-E766871C41D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AC896-9C5D-41ED-9FA9-751D871D5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761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AC896-9C5D-41ED-9FA9-751D871D5EB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0B3E-8783-6BDF-8EF3-8694781D68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52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4245e34852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6" name="Google Shape;1076;g34245e34852_2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38840" y="1049274"/>
            <a:ext cx="571432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3993" y="2483307"/>
            <a:ext cx="3684015" cy="788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85" y="2157441"/>
            <a:ext cx="11260667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javascript/javascript-tutorial/" TargetMode="External"/><Relationship Id="rId2" Type="http://schemas.openxmlformats.org/officeDocument/2006/relationships/hyperlink" Target="https://www.geeksforgeeks.org/websites-apps/web-page-a-complete-overview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1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html/html-title-tag/" TargetMode="External"/><Relationship Id="rId2" Type="http://schemas.openxmlformats.org/officeDocument/2006/relationships/hyperlink" Target="https://www.geeksforgeeks.org/html/html-body-tag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html/html-li-type-attribute/" TargetMode="External"/><Relationship Id="rId5" Type="http://schemas.openxmlformats.org/officeDocument/2006/relationships/hyperlink" Target="https://www.geeksforgeeks.org/html/html-ul-tag/" TargetMode="External"/><Relationship Id="rId4" Type="http://schemas.openxmlformats.org/officeDocument/2006/relationships/hyperlink" Target="https://www.geeksforgeeks.org/html/div-tag-html/" TargetMode="Externa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28600" y="-76200"/>
            <a:ext cx="12420600" cy="685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239086"/>
            <a:ext cx="11353800" cy="566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200" b="1" dirty="0">
                <a:solidFill>
                  <a:schemeClr val="tx1"/>
                </a:solidFill>
              </a:rPr>
              <a:t>CIT83104: </a:t>
            </a:r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ADVANCED WEB DESIGN AND </a:t>
            </a: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9400" y="1219200"/>
            <a:ext cx="6807326" cy="15899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5"/>
              </a:spcBef>
              <a:tabLst>
                <a:tab pos="3187700" algn="l"/>
              </a:tabLst>
            </a:pPr>
            <a:r>
              <a:rPr lang="en-US" sz="40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By:</a:t>
            </a:r>
            <a:endParaRPr sz="58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cs typeface="Times New Roman"/>
            </a:endParaRPr>
          </a:p>
          <a:p>
            <a:pPr marL="307340" algn="ctr">
              <a:lnSpc>
                <a:spcPct val="150000"/>
              </a:lnSpc>
            </a:pPr>
            <a:r>
              <a:rPr lang="en-US" altLang="x-none" sz="32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Mr. MANIRARORA Jean Marie Vianney</a:t>
            </a:r>
            <a:endParaRPr sz="30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9200" y="6323444"/>
            <a:ext cx="1028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chemeClr val="bg1"/>
                </a:solidFill>
                <a:cs typeface="Calibri"/>
              </a:rPr>
              <a:t>Course</a:t>
            </a:r>
            <a:r>
              <a:rPr sz="2400" spc="240" dirty="0">
                <a:solidFill>
                  <a:schemeClr val="bg1"/>
                </a:solidFill>
                <a:cs typeface="Calibri"/>
              </a:rPr>
              <a:t> </a:t>
            </a:r>
            <a:r>
              <a:rPr sz="2400" spc="-5" dirty="0">
                <a:solidFill>
                  <a:schemeClr val="bg1"/>
                </a:solidFill>
                <a:cs typeface="Calibri"/>
              </a:rPr>
              <a:t>Code</a:t>
            </a:r>
            <a:r>
              <a:rPr lang="en-US" sz="2400" spc="-5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CIT83104  </a:t>
            </a:r>
            <a:r>
              <a:rPr sz="2400" dirty="0">
                <a:solidFill>
                  <a:schemeClr val="bg1"/>
                </a:solidFill>
                <a:cs typeface="Calibri"/>
              </a:rPr>
              <a:t>&amp;</a:t>
            </a:r>
            <a:r>
              <a:rPr sz="2400" spc="-25" dirty="0">
                <a:solidFill>
                  <a:schemeClr val="bg1"/>
                </a:solidFill>
                <a:cs typeface="Calibri"/>
              </a:rPr>
              <a:t> </a:t>
            </a:r>
            <a:r>
              <a:rPr sz="2400" dirty="0">
                <a:solidFill>
                  <a:schemeClr val="bg1"/>
                </a:solidFill>
                <a:cs typeface="Calibri"/>
              </a:rPr>
              <a:t>Name</a:t>
            </a:r>
            <a:r>
              <a:rPr lang="en-US" sz="24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ADVANCED WEB DESIGN AND DEVELOPMENT</a:t>
            </a:r>
            <a:endParaRPr sz="24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8681" y="6426504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0" y="412898"/>
            <a:ext cx="51431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  <a:sym typeface="Times New Roman"/>
              </a:rPr>
              <a:t>CLASS INSTRUCTIONS 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676400" y="1295400"/>
            <a:ext cx="9829800" cy="5181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Please keep your phones aside during class sessions.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100% attendance is required for all classes.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Students are expected to practice effective time management.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Participation in all academic activities is mandatory, including: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Quizzes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In-class activities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Individual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Group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Presentations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+mn-lt"/>
              </a:rPr>
              <a:t>Note: </a:t>
            </a:r>
            <a:r>
              <a:rPr lang="en-US" sz="2400" dirty="0">
                <a:latin typeface="+mn-lt"/>
              </a:rPr>
              <a:t>Failure to attend or participate in these activities may affect your overall performance.</a:t>
            </a:r>
          </a:p>
          <a:p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472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4EB-1913-994F-04DA-C811BC9D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039" y="609601"/>
            <a:ext cx="4914561" cy="6857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OVERVIEW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9345C-494B-AF39-875C-8A20D5953A2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447800"/>
            <a:ext cx="11506200" cy="513313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Module Code:</a:t>
            </a:r>
            <a:r>
              <a:rPr lang="en-US" sz="3200" b="1" dirty="0">
                <a:solidFill>
                  <a:schemeClr val="tx1"/>
                </a:solidFill>
              </a:rPr>
              <a:t> CIT83104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Title</a:t>
            </a:r>
            <a:r>
              <a:rPr lang="en-US" sz="3200" dirty="0"/>
              <a:t>: Advanced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Credits</a:t>
            </a:r>
            <a:r>
              <a:rPr lang="en-US" sz="3200" dirty="0"/>
              <a:t>: 15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Year</a:t>
            </a:r>
            <a:r>
              <a:rPr lang="en-US" sz="3200" dirty="0"/>
              <a:t>: 3rd Year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Prerequisite</a:t>
            </a:r>
            <a:r>
              <a:rPr lang="en-US" sz="3200" dirty="0"/>
              <a:t>: Introduction to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Total Study Hours</a:t>
            </a:r>
            <a:r>
              <a:rPr lang="en-US" sz="3200" dirty="0"/>
              <a:t>: 150 (</a:t>
            </a:r>
            <a:r>
              <a:rPr lang="en-US" sz="2800" dirty="0"/>
              <a:t>Lectures, Labs, Assignments, Self-study, etc.)</a:t>
            </a: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1451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26DB-3370-94A0-A966-68EA3FB49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1120" y="762000"/>
            <a:ext cx="3524080" cy="64461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AIMS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CBB57-C682-DC72-CF28-BD75F0432F5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981200"/>
            <a:ext cx="11353800" cy="347018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Prepare students for professional web development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Blend theoretical knowledge with practical implementation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Focus on interactive, database-backed, and maintainable web applications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7E5ED-4ED2-6864-9AE2-BA6BB8F8D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457200"/>
            <a:ext cx="5562600" cy="6096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KEY TECHNOLOGIES &amp; TOOLS</a:t>
            </a:r>
            <a:br>
              <a:rPr lang="en-US" sz="3600" dirty="0">
                <a:solidFill>
                  <a:srgbClr val="FF0000"/>
                </a:solidFill>
                <a:latin typeface="+mj-lt"/>
              </a:rPr>
            </a:br>
            <a:endParaRPr lang="en-US"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DAF4E8-0ED0-D96D-CC2B-5B55396E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1" y="1066800"/>
            <a:ext cx="10058400" cy="5813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527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20E190-9BF9-BEA9-63EB-6CF403277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729733"/>
            <a:ext cx="9251327" cy="612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0519" y="762000"/>
            <a:ext cx="5962481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	MODULE CONTENTS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495298" y="1752600"/>
            <a:ext cx="11391901" cy="495520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HTML, CSS, JavaScript, layout techniques, and other industry-standard practices.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S</a:t>
            </a:r>
            <a:r>
              <a:rPr lang="en-US" sz="2800" dirty="0">
                <a:latin typeface="+mn-lt"/>
              </a:rPr>
              <a:t>cripting technologies to create dynamic and interactive websites.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Professional quality portfolio of web design work.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Back-end interactivity with front-end to build web applications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B</a:t>
            </a:r>
            <a:r>
              <a:rPr lang="en-US" sz="2800" dirty="0">
                <a:latin typeface="+mn-lt"/>
              </a:rPr>
              <a:t>uild Dynamic websites utilizing the most current versions of industry-standard applications and tools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103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1828800"/>
            <a:ext cx="10591800" cy="358835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50000"/>
              </a:lnSpc>
            </a:pPr>
            <a:br>
              <a:rPr lang="en-US" dirty="0">
                <a:solidFill>
                  <a:srgbClr val="FF0000"/>
                </a:solidFill>
                <a:latin typeface="+mj-lt"/>
              </a:rPr>
            </a:br>
            <a:r>
              <a:rPr lang="en-US" sz="3600" dirty="0">
                <a:solidFill>
                  <a:srgbClr val="FF0000"/>
                </a:solidFill>
                <a:latin typeface="+mj-lt"/>
              </a:rPr>
              <a:t>CHAP 1: APPLY HTML, CSS, JAVASCRIPT, AND LAYOUT TECHNIQUES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640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301A8-D2D9-CFD3-2DF6-EC64BBE0C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0220" y="704603"/>
            <a:ext cx="3790780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D453970-D7B4-CEAF-099C-19C1A6A46811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381000" y="1600200"/>
            <a:ext cx="5410200" cy="510909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DEFINITION OF KEY CONCEPTS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1. A website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is a collection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interlinked web pages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(like HTML, CSS, images, etc.) that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hosted on a web server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and accessed through a browser using a URL like https://example.com.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+mn-lt"/>
            </a:endParaRP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+mn-lt"/>
              </a:rPr>
              <a:t>Key Features:</a:t>
            </a:r>
          </a:p>
          <a:p>
            <a:pPr marL="7429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+mn-lt"/>
              </a:rPr>
              <a:t>Mainly static (HTML/CSS only)</a:t>
            </a:r>
          </a:p>
          <a:p>
            <a:pPr marL="7429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+mn-lt"/>
              </a:rPr>
              <a:t>Includes content like text, images, and links</a:t>
            </a:r>
          </a:p>
          <a:p>
            <a:pPr marL="7429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+mn-lt"/>
              </a:rPr>
              <a:t>Often used for displaying information (blogs, news, company profiles)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+mn-lt"/>
            </a:endParaRP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+mn-lt"/>
              </a:rPr>
              <a:t>Examples:</a:t>
            </a:r>
          </a:p>
          <a:p>
            <a:pPr marL="7429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+mn-lt"/>
              </a:rPr>
              <a:t>A personal portfolio site</a:t>
            </a:r>
          </a:p>
          <a:p>
            <a:pPr marL="7429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+mn-lt"/>
              </a:rPr>
              <a:t>An online school homepage</a:t>
            </a:r>
          </a:p>
          <a:p>
            <a:pPr marL="7429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+mn-lt"/>
              </a:rPr>
              <a:t>A news site like https://www.bbc.com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619B4-E2C5-1F06-BC53-B67F77108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600200"/>
            <a:ext cx="6136868" cy="513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02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D34273-557C-1E05-804F-B0127C33944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04800" y="1219200"/>
            <a:ext cx="6858000" cy="4431983"/>
          </a:xfrm>
        </p:spPr>
        <p:txBody>
          <a:bodyPr/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+mj-lt"/>
              </a:rPr>
              <a:t>2. A web application: </a:t>
            </a:r>
            <a:r>
              <a:rPr lang="en-US" sz="2000" dirty="0">
                <a:latin typeface="+mj-lt"/>
              </a:rPr>
              <a:t>is an interactive website that performs functions based on user input, processes data using server-side scripts, and often interacts with databases.</a:t>
            </a:r>
          </a:p>
          <a:p>
            <a:pPr algn="just"/>
            <a:endParaRPr lang="en-US" sz="2000" dirty="0">
              <a:latin typeface="+mj-lt"/>
            </a:endParaRPr>
          </a:p>
          <a:p>
            <a:pPr algn="just"/>
            <a:r>
              <a:rPr lang="en-US" sz="2000" b="1" dirty="0">
                <a:latin typeface="+mj-lt"/>
              </a:rPr>
              <a:t>Key Features:</a:t>
            </a:r>
          </a:p>
          <a:p>
            <a:pPr algn="just"/>
            <a:endParaRPr lang="en-US" sz="2000" b="1" dirty="0">
              <a:latin typeface="+mj-lt"/>
            </a:endParaRP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Dynamic and data-driven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Users can log in, input data, and get customized output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Built using both front-end and back-end technologies</a:t>
            </a:r>
          </a:p>
          <a:p>
            <a:pPr algn="just"/>
            <a:endParaRPr lang="en-US" sz="2000" dirty="0">
              <a:latin typeface="+mj-lt"/>
            </a:endParaRPr>
          </a:p>
          <a:p>
            <a:pPr algn="just"/>
            <a:r>
              <a:rPr lang="en-US" sz="2000" b="1" dirty="0">
                <a:latin typeface="+mj-lt"/>
              </a:rPr>
              <a:t>Examples: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Gmail (sending and receiving emails)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Facebook (social networking)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Online banking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F1E6B1-D2D9-CAFE-AC61-5EA421CA0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447800"/>
            <a:ext cx="4800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05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BA4766-324D-06CA-2EF9-D36F7C9B010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42925" y="1115068"/>
            <a:ext cx="6210300" cy="4862870"/>
          </a:xfrm>
        </p:spPr>
        <p:txBody>
          <a:bodyPr/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+mj-lt"/>
              </a:rPr>
              <a:t>3. A Web Server</a:t>
            </a:r>
          </a:p>
          <a:p>
            <a:pPr algn="just"/>
            <a:endParaRPr lang="en-US" sz="1800" b="1" dirty="0">
              <a:latin typeface="+mj-lt"/>
            </a:endParaRPr>
          </a:p>
          <a:p>
            <a:pPr algn="just"/>
            <a:r>
              <a:rPr lang="en-US" sz="1800" dirty="0">
                <a:latin typeface="+mj-lt"/>
              </a:rPr>
              <a:t>A </a:t>
            </a:r>
            <a:r>
              <a:rPr lang="en-US" sz="1800" b="1" dirty="0">
                <a:latin typeface="+mj-lt"/>
              </a:rPr>
              <a:t>web server</a:t>
            </a:r>
            <a:r>
              <a:rPr lang="en-US" sz="1800" dirty="0">
                <a:latin typeface="+mj-lt"/>
              </a:rPr>
              <a:t> is software (and/or hardware) that: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+mj-lt"/>
              </a:rPr>
              <a:t>Receives and processes HTTP requests</a:t>
            </a:r>
            <a:r>
              <a:rPr lang="en-US" dirty="0">
                <a:latin typeface="+mj-lt"/>
              </a:rPr>
              <a:t> from browsers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+mj-lt"/>
              </a:rPr>
              <a:t>Delivers web pages and web applications</a:t>
            </a:r>
            <a:r>
              <a:rPr lang="en-US" dirty="0">
                <a:latin typeface="+mj-lt"/>
              </a:rPr>
              <a:t> back to the browser</a:t>
            </a:r>
          </a:p>
          <a:p>
            <a:pPr algn="just"/>
            <a:endParaRPr lang="en-US" sz="1800" dirty="0">
              <a:latin typeface="+mj-lt"/>
            </a:endParaRPr>
          </a:p>
          <a:p>
            <a:pPr algn="just"/>
            <a:r>
              <a:rPr lang="en-US" sz="1800" b="1" dirty="0">
                <a:latin typeface="+mj-lt"/>
              </a:rPr>
              <a:t>Functions: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+mj-lt"/>
              </a:rPr>
              <a:t>Hosts website files (HTML, CSS, JS, images, etc.)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+mj-lt"/>
              </a:rPr>
              <a:t>Executes backend codes (like PHP, Python, Node.js)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+mj-lt"/>
              </a:rPr>
              <a:t>Handles requests for dynamic content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+mj-lt"/>
              </a:rPr>
              <a:t>Sends HTTP responses to browsers</a:t>
            </a:r>
          </a:p>
          <a:p>
            <a:pPr algn="just"/>
            <a:endParaRPr lang="en-US" sz="1800" dirty="0">
              <a:latin typeface="+mj-lt"/>
            </a:endParaRPr>
          </a:p>
          <a:p>
            <a:pPr algn="just"/>
            <a:r>
              <a:rPr lang="en-US" sz="1800" b="1" dirty="0">
                <a:latin typeface="+mj-lt"/>
              </a:rPr>
              <a:t>Examples: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+mj-lt"/>
              </a:rPr>
              <a:t>Apache HTTP Server</a:t>
            </a:r>
            <a:endParaRPr lang="en-US" dirty="0">
              <a:latin typeface="+mj-lt"/>
            </a:endParaRP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+mj-lt"/>
              </a:rPr>
              <a:t>Nginx</a:t>
            </a:r>
            <a:endParaRPr lang="en-US" dirty="0">
              <a:latin typeface="+mj-lt"/>
            </a:endParaRP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+mj-lt"/>
              </a:rPr>
              <a:t>Microsoft IIS(</a:t>
            </a:r>
            <a:r>
              <a:rPr lang="en-US" dirty="0"/>
              <a:t>Internet Information Services)</a:t>
            </a:r>
            <a:endParaRPr lang="en-US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0419B-5A21-E942-5F81-285B896C9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728" y="2743200"/>
            <a:ext cx="4499272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0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CC96E7A7-E7EC-F40D-C93F-6DC10F71D1EB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990600" y="1143000"/>
            <a:ext cx="10363200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URL (Uniform Resource Locator)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is the address of a web resource that tells the browser which server to contact and which content to request.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When a user enters a URL:</a:t>
            </a:r>
          </a:p>
          <a:p>
            <a:pPr marL="800100" lvl="1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lphaU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Browser sends an HTTP request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web server specified by the URL’s domain.</a:t>
            </a:r>
          </a:p>
          <a:p>
            <a:pPr marL="800100" lvl="1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lphaU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 server receives the request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uses the URL’s path to identify the resource.</a:t>
            </a:r>
          </a:p>
          <a:p>
            <a:pPr marL="800100" lvl="1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lphaU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Static content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(HTML, CSS, images) is delivered directly;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dynamic content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(PHP, ASP.NET) is processed on the server using any query strings in the URL.</a:t>
            </a:r>
          </a:p>
          <a:p>
            <a:pPr marL="800100" lvl="1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lphaU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Server generates an HTTP response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the content and status code (200 OK, 404 Not Found, etc.).</a:t>
            </a:r>
          </a:p>
          <a:p>
            <a:pPr marL="800100" lvl="1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lphaU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Browser renders the webpage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corresponding to the URL.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Key Idea: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URL defines “what” and “where” the browser wants, and the web server acts as the middleman delivering the requested content efficiently.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B5F475-B641-B7ED-4759-3022D9229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650557"/>
            <a:ext cx="5181600" cy="416243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+mn-lt"/>
              </a:rPr>
              <a:t>== How Web Servers Work ==</a:t>
            </a:r>
          </a:p>
        </p:txBody>
      </p:sp>
    </p:spTree>
    <p:extLst>
      <p:ext uri="{BB962C8B-B14F-4D97-AF65-F5344CB8AC3E}">
        <p14:creationId xmlns:p14="http://schemas.microsoft.com/office/powerpoint/2010/main" val="419088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48"/>
          <p:cNvSpPr txBox="1"/>
          <p:nvPr/>
        </p:nvSpPr>
        <p:spPr>
          <a:xfrm>
            <a:off x="266700" y="3456516"/>
            <a:ext cx="11658600" cy="29718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FF"/>
              </a:buClr>
              <a:buSzPts val="3000"/>
            </a:pPr>
            <a:r>
              <a:rPr lang="en" sz="4000" dirty="0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Browser</a:t>
            </a:r>
            <a:endParaRPr sz="2400" dirty="0"/>
          </a:p>
        </p:txBody>
      </p:sp>
      <p:pic>
        <p:nvPicPr>
          <p:cNvPr id="1079" name="Google Shape;1079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6700" y="2139950"/>
            <a:ext cx="1234016" cy="93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248"/>
          <p:cNvSpPr txBox="1"/>
          <p:nvPr/>
        </p:nvSpPr>
        <p:spPr>
          <a:xfrm>
            <a:off x="4743449" y="532025"/>
            <a:ext cx="3352799" cy="11901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rgbClr val="0000FF"/>
              </a:buClr>
              <a:buSzPts val="2900"/>
            </a:pPr>
            <a:r>
              <a:rPr lang="en" sz="3867" dirty="0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A Web Server</a:t>
            </a:r>
            <a:endParaRPr sz="2400" dirty="0"/>
          </a:p>
          <a:p>
            <a:endParaRPr sz="3867" dirty="0">
              <a:solidFill>
                <a:srgbClr val="00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81" name="Google Shape;1081;p248"/>
          <p:cNvCxnSpPr/>
          <p:nvPr/>
        </p:nvCxnSpPr>
        <p:spPr>
          <a:xfrm flipH="1">
            <a:off x="5670550" y="1803400"/>
            <a:ext cx="16933" cy="1549400"/>
          </a:xfrm>
          <a:prstGeom prst="straightConnector1">
            <a:avLst/>
          </a:prstGeom>
          <a:noFill/>
          <a:ln w="114300" cap="flat" cmpd="sng">
            <a:solidFill>
              <a:srgbClr val="FFFF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1082" name="Google Shape;1082;p248"/>
          <p:cNvCxnSpPr/>
          <p:nvPr/>
        </p:nvCxnSpPr>
        <p:spPr>
          <a:xfrm rot="10800000" flipH="1">
            <a:off x="6231467" y="1820334"/>
            <a:ext cx="16933" cy="1581149"/>
          </a:xfrm>
          <a:prstGeom prst="straightConnector1">
            <a:avLst/>
          </a:prstGeom>
          <a:noFill/>
          <a:ln w="114300" cap="flat" cmpd="sng">
            <a:solidFill>
              <a:srgbClr val="00FF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pic>
        <p:nvPicPr>
          <p:cNvPr id="1083" name="Google Shape;1083;p2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516" y="3932767"/>
            <a:ext cx="3733800" cy="22098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084" name="Google Shape;1084;p2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49" y="3856567"/>
            <a:ext cx="3733800" cy="22098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cxnSp>
        <p:nvCxnSpPr>
          <p:cNvPr id="1085" name="Google Shape;1085;p248"/>
          <p:cNvCxnSpPr/>
          <p:nvPr/>
        </p:nvCxnSpPr>
        <p:spPr>
          <a:xfrm flipH="1">
            <a:off x="3272367" y="3970867"/>
            <a:ext cx="1794933" cy="1011767"/>
          </a:xfrm>
          <a:prstGeom prst="straightConnector1">
            <a:avLst/>
          </a:prstGeom>
          <a:noFill/>
          <a:ln w="114300" cap="flat" cmpd="sng">
            <a:solidFill>
              <a:srgbClr val="7F7F7F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1086" name="Google Shape;1086;p248"/>
          <p:cNvCxnSpPr/>
          <p:nvPr/>
        </p:nvCxnSpPr>
        <p:spPr>
          <a:xfrm rot="10800000">
            <a:off x="6896100" y="4085167"/>
            <a:ext cx="1200149" cy="742949"/>
          </a:xfrm>
          <a:prstGeom prst="straightConnector1">
            <a:avLst/>
          </a:prstGeom>
          <a:noFill/>
          <a:ln w="114300" cap="flat" cmpd="sng">
            <a:solidFill>
              <a:schemeClr val="dk2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sp>
        <p:nvSpPr>
          <p:cNvPr id="1087" name="Google Shape;1087;p248"/>
          <p:cNvSpPr txBox="1"/>
          <p:nvPr/>
        </p:nvSpPr>
        <p:spPr>
          <a:xfrm>
            <a:off x="8240183" y="1401233"/>
            <a:ext cx="3725333" cy="240876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FF00"/>
              </a:buClr>
              <a:buSzPts val="1700"/>
            </a:pPr>
            <a:r>
              <a:rPr lang="en" sz="2267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&lt;h1&gt;The Second Page&lt;/h1&gt;&lt;p&gt;If you like, you can switch back to the &lt;a href="page1.htm"&gt;First Page&lt;/a&gt;.&lt;/p&gt;</a:t>
            </a:r>
            <a:endParaRPr sz="2400" dirty="0"/>
          </a:p>
        </p:txBody>
      </p:sp>
      <p:sp>
        <p:nvSpPr>
          <p:cNvPr id="1088" name="Google Shape;1088;p248"/>
          <p:cNvSpPr txBox="1"/>
          <p:nvPr/>
        </p:nvSpPr>
        <p:spPr>
          <a:xfrm>
            <a:off x="5486401" y="1322917"/>
            <a:ext cx="952500" cy="4085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" sz="1867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80</a:t>
            </a:r>
            <a:endParaRPr sz="2400"/>
          </a:p>
        </p:txBody>
      </p:sp>
      <p:sp>
        <p:nvSpPr>
          <p:cNvPr id="1089" name="Google Shape;1089;p248"/>
          <p:cNvSpPr txBox="1"/>
          <p:nvPr/>
        </p:nvSpPr>
        <p:spPr>
          <a:xfrm>
            <a:off x="1439335" y="1269911"/>
            <a:ext cx="2055283" cy="53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FFFF00"/>
              </a:buClr>
              <a:buSzPts val="2000"/>
            </a:pPr>
            <a:r>
              <a:rPr lang="en" sz="2667" dirty="0">
                <a:solidFill>
                  <a:schemeClr val="accent5">
                    <a:lumMod val="75000"/>
                  </a:schemeClr>
                </a:solidFill>
                <a:latin typeface="Gill Sans"/>
                <a:ea typeface="Gill Sans"/>
                <a:cs typeface="Gill Sans"/>
                <a:sym typeface="Gill Sans"/>
              </a:rPr>
              <a:t>Request</a:t>
            </a:r>
            <a:endParaRPr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90" name="Google Shape;1090;p248"/>
          <p:cNvSpPr txBox="1"/>
          <p:nvPr/>
        </p:nvSpPr>
        <p:spPr>
          <a:xfrm>
            <a:off x="9129182" y="514349"/>
            <a:ext cx="1919817" cy="53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FF00"/>
              </a:buClr>
              <a:buSzPts val="2000"/>
            </a:pPr>
            <a:r>
              <a:rPr lang="en" sz="2667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Response</a:t>
            </a:r>
            <a:endParaRPr sz="2400" dirty="0"/>
          </a:p>
        </p:txBody>
      </p:sp>
      <p:sp>
        <p:nvSpPr>
          <p:cNvPr id="1091" name="Google Shape;1091;p248"/>
          <p:cNvSpPr txBox="1"/>
          <p:nvPr/>
        </p:nvSpPr>
        <p:spPr>
          <a:xfrm>
            <a:off x="6269567" y="4370916"/>
            <a:ext cx="1426633" cy="94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chemeClr val="dk2"/>
              </a:buClr>
              <a:buSzPts val="2000"/>
            </a:pPr>
            <a:r>
              <a:rPr lang="en" sz="2667" dirty="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Parse/</a:t>
            </a:r>
            <a:endParaRPr sz="2400" dirty="0"/>
          </a:p>
          <a:p>
            <a:pPr algn="ctr">
              <a:buClr>
                <a:schemeClr val="dk2"/>
              </a:buClr>
              <a:buSzPts val="2000"/>
            </a:pPr>
            <a:r>
              <a:rPr lang="en" sz="2667" dirty="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Render</a:t>
            </a:r>
            <a:endParaRPr sz="2400" dirty="0"/>
          </a:p>
        </p:txBody>
      </p:sp>
      <p:sp>
        <p:nvSpPr>
          <p:cNvPr id="1092" name="Google Shape;1092;p248"/>
          <p:cNvSpPr txBox="1"/>
          <p:nvPr/>
        </p:nvSpPr>
        <p:spPr>
          <a:xfrm>
            <a:off x="400051" y="2375136"/>
            <a:ext cx="4597402" cy="93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ts val="1700"/>
            </a:pPr>
            <a:r>
              <a:rPr lang="en" sz="2267" dirty="0">
                <a:solidFill>
                  <a:schemeClr val="accent5">
                    <a:lumMod val="75000"/>
                  </a:schemeClr>
                </a:solidFill>
                <a:latin typeface="Gill Sans"/>
                <a:ea typeface="Gill Sans"/>
                <a:cs typeface="Gill Sans"/>
                <a:sym typeface="Gill Sans"/>
              </a:rPr>
              <a:t>GET http://www.dr-chuck.com/page2.htm</a:t>
            </a:r>
            <a:endParaRPr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93" name="Google Shape;1093;p248"/>
          <p:cNvSpPr txBox="1"/>
          <p:nvPr/>
        </p:nvSpPr>
        <p:spPr>
          <a:xfrm>
            <a:off x="4197350" y="4485216"/>
            <a:ext cx="98425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chemeClr val="dk2"/>
              </a:buClr>
              <a:buSzPts val="1800"/>
            </a:pPr>
            <a:r>
              <a:rPr lang="en" sz="2400" dirty="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Click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very part of a URL explained">
            <a:extLst>
              <a:ext uri="{FF2B5EF4-FFF2-40B4-BE49-F238E27FC236}">
                <a16:creationId xmlns:a16="http://schemas.microsoft.com/office/drawing/2014/main" id="{7AEE2CE6-0A0A-5463-BF4B-207725B23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939" y="2514600"/>
            <a:ext cx="9019772" cy="29465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F67907-6C4F-0D6D-482C-B2BFF2FE9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295400"/>
            <a:ext cx="9391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81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669996-4880-37AC-DED2-B1F593120413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045AC-4505-1274-8897-3BF4C1E9D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5962"/>
            <a:ext cx="11734800" cy="554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97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07A1-00FC-EE0E-D296-8207AF4E0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447800"/>
            <a:ext cx="3429000" cy="2769989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4. Frontend </a:t>
            </a:r>
            <a:br>
              <a:rPr lang="en-US" sz="3600" dirty="0">
                <a:solidFill>
                  <a:srgbClr val="FF0000"/>
                </a:solidFill>
                <a:latin typeface="+mj-lt"/>
              </a:rPr>
            </a:br>
            <a:r>
              <a:rPr lang="en-US" sz="3600" dirty="0">
                <a:solidFill>
                  <a:srgbClr val="FF0000"/>
                </a:solidFill>
                <a:latin typeface="+mj-lt"/>
              </a:rPr>
              <a:t>	vs </a:t>
            </a:r>
            <a:br>
              <a:rPr lang="en-US" sz="3600" dirty="0">
                <a:solidFill>
                  <a:srgbClr val="FF0000"/>
                </a:solidFill>
                <a:latin typeface="+mj-lt"/>
              </a:rPr>
            </a:br>
            <a:r>
              <a:rPr lang="en-US" sz="3600" dirty="0">
                <a:solidFill>
                  <a:srgbClr val="FF0000"/>
                </a:solidFill>
                <a:latin typeface="+mj-lt"/>
              </a:rPr>
              <a:t>Backend Development</a:t>
            </a:r>
            <a:br>
              <a:rPr lang="en-US" sz="3600" dirty="0">
                <a:solidFill>
                  <a:srgbClr val="FF0000"/>
                </a:solidFill>
              </a:rPr>
            </a:b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95B60F-7F8E-626D-0D3B-5B351BD63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208" y="-76200"/>
            <a:ext cx="8333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51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9582-80F0-BB8A-AAB1-28262FC7A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552" y="1066800"/>
            <a:ext cx="7494474" cy="7970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Note: Full-stack Development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6CF15-5630-9068-9046-97C8E1C73A0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90600" y="1905000"/>
            <a:ext cx="10515600" cy="3617016"/>
          </a:xfrm>
        </p:spPr>
        <p:txBody>
          <a:bodyPr/>
          <a:lstStyle/>
          <a:p>
            <a:pPr marL="571500" indent="-571500" algn="just" rtl="0"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latin typeface="+mj-lt"/>
              </a:rPr>
              <a:t>Full-stack development </a:t>
            </a:r>
            <a:r>
              <a:rPr lang="en-US" sz="3200" dirty="0">
                <a:latin typeface="+mj-lt"/>
              </a:rPr>
              <a:t>refers to the development of both the frontend (client-side) and backend (server-side) parts of a web application. A full-stack developer is skilled in both areas and can build a complete web application from start to finish.</a:t>
            </a:r>
          </a:p>
        </p:txBody>
      </p:sp>
    </p:spTree>
    <p:extLst>
      <p:ext uri="{BB962C8B-B14F-4D97-AF65-F5344CB8AC3E}">
        <p14:creationId xmlns:p14="http://schemas.microsoft.com/office/powerpoint/2010/main" val="1034255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CC0F-CD10-A8F6-E4E2-E1D1611B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0" y="838200"/>
            <a:ext cx="480060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HTML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442E3-B2CE-37C8-99E6-C5DE1C57FFF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286000" y="2133600"/>
            <a:ext cx="9067800" cy="2743200"/>
          </a:xfrm>
        </p:spPr>
        <p:txBody>
          <a:bodyPr/>
          <a:lstStyle/>
          <a:p>
            <a:r>
              <a:rPr lang="en-US" sz="2000" b="1" dirty="0">
                <a:latin typeface="+mn-lt"/>
              </a:rPr>
              <a:t>HTML</a:t>
            </a:r>
            <a:r>
              <a:rPr lang="en-US" sz="2000" dirty="0">
                <a:latin typeface="+mn-lt"/>
              </a:rPr>
              <a:t> stands for </a:t>
            </a:r>
            <a:r>
              <a:rPr lang="en-US" sz="2000" b="1" dirty="0">
                <a:latin typeface="+mn-lt"/>
              </a:rPr>
              <a:t>HyperText Markup Language</a:t>
            </a:r>
            <a:r>
              <a:rPr lang="en-US" sz="2000" dirty="0">
                <a:latin typeface="+mn-lt"/>
              </a:rPr>
              <a:t>.</a:t>
            </a:r>
          </a:p>
          <a:p>
            <a:endParaRPr lang="en-US" sz="2000" dirty="0">
              <a:latin typeface="+mn-lt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/>
              <a:t>It is the </a:t>
            </a:r>
            <a:r>
              <a:rPr lang="en-US" sz="2000" b="1" dirty="0"/>
              <a:t>standard language</a:t>
            </a:r>
            <a:r>
              <a:rPr lang="en-US" sz="2000" dirty="0"/>
              <a:t> used to </a:t>
            </a:r>
            <a:r>
              <a:rPr lang="en-US" sz="2000" b="1" dirty="0"/>
              <a:t>create and structure content</a:t>
            </a:r>
            <a:r>
              <a:rPr lang="en-US" sz="2000" dirty="0"/>
              <a:t> on the </a:t>
            </a:r>
            <a:r>
              <a:rPr lang="en-US" sz="2000" b="1" dirty="0"/>
              <a:t>web</a:t>
            </a:r>
            <a:r>
              <a:rPr lang="en-US" sz="2000" dirty="0"/>
              <a:t>.</a:t>
            </a:r>
          </a:p>
          <a:p>
            <a:pPr lvl="1"/>
            <a:endParaRPr lang="en-US" sz="2000" dirty="0"/>
          </a:p>
          <a:p>
            <a:r>
              <a:rPr lang="en-US" sz="2000" b="1" dirty="0">
                <a:latin typeface="+mn-lt"/>
              </a:rPr>
              <a:t>What Does HTML Do?</a:t>
            </a:r>
          </a:p>
          <a:p>
            <a:endParaRPr lang="en-US" sz="2000" b="1" dirty="0">
              <a:latin typeface="+mn-lt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/>
              <a:t>It builds the </a:t>
            </a:r>
            <a:r>
              <a:rPr lang="en-US" sz="2000" b="1" dirty="0"/>
              <a:t>skeleton</a:t>
            </a:r>
            <a:r>
              <a:rPr lang="en-US" sz="2000" dirty="0"/>
              <a:t> of a web page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/>
              <a:t>Tells the browser </a:t>
            </a:r>
            <a:r>
              <a:rPr lang="en-US" sz="2000" b="1" dirty="0"/>
              <a:t>what to display</a:t>
            </a:r>
            <a:r>
              <a:rPr lang="en-US" sz="2000" dirty="0"/>
              <a:t> and </a:t>
            </a:r>
            <a:r>
              <a:rPr lang="en-US" sz="2000" b="1" dirty="0"/>
              <a:t>how content is organized</a:t>
            </a:r>
            <a:endParaRPr lang="en-US" sz="2000" dirty="0"/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C633E-E727-E379-8D13-B499659E9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" y="9144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16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28B9-70B0-310C-E451-DB2FFA9B8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320" y="990600"/>
            <a:ext cx="67433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Description of HTML tag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D2342D-2E70-347B-BF6A-AB2C6C99E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33600"/>
            <a:ext cx="10967514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63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ML Tags">
            <a:extLst>
              <a:ext uri="{FF2B5EF4-FFF2-40B4-BE49-F238E27FC236}">
                <a16:creationId xmlns:a16="http://schemas.microsoft.com/office/drawing/2014/main" id="{F9812205-7183-CF35-5EAB-5672B06A2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066800"/>
            <a:ext cx="9677400" cy="51264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5156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1D43C6-32F2-0A71-3AEA-BDF2D4A1C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4312"/>
            <a:ext cx="8582025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44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B8CE-414B-CEF6-FED3-4C19B5C82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049275"/>
            <a:ext cx="4267200" cy="47472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</a:rPr>
              <a:t>HTML Attributes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7A236-3660-5110-A901-52155482390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80761" y="1951926"/>
            <a:ext cx="8534400" cy="2239074"/>
          </a:xfrm>
        </p:spPr>
        <p:txBody>
          <a:bodyPr/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+mj-lt"/>
              </a:rPr>
              <a:t>HTML attributes</a:t>
            </a:r>
            <a:r>
              <a:rPr lang="en-US" sz="2800" dirty="0">
                <a:latin typeface="+mj-lt"/>
              </a:rPr>
              <a:t> are special properties added to HTML elements to provide </a:t>
            </a:r>
            <a:r>
              <a:rPr lang="en-US" sz="2800" b="1" dirty="0">
                <a:latin typeface="+mj-lt"/>
              </a:rPr>
              <a:t>extra information</a:t>
            </a:r>
            <a:r>
              <a:rPr lang="en-US" sz="2800" dirty="0">
                <a:latin typeface="+mj-lt"/>
              </a:rPr>
              <a:t> about them.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Basic Syntax: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/>
            <a:endParaRPr lang="en-US" sz="2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CF60B-E3B9-61D6-2E55-32B1D8EDE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895599"/>
            <a:ext cx="6166368" cy="3048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AC23AC-3DCF-B975-6EBA-40A3BC8A4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461" y="3400425"/>
            <a:ext cx="4019550" cy="800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DA8902-33B5-335C-ED29-BBB96918252A}"/>
              </a:ext>
            </a:extLst>
          </p:cNvPr>
          <p:cNvSpPr txBox="1"/>
          <p:nvPr/>
        </p:nvSpPr>
        <p:spPr>
          <a:xfrm>
            <a:off x="1142661" y="45134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 1: </a:t>
            </a:r>
            <a:r>
              <a:rPr lang="en-US" dirty="0">
                <a:solidFill>
                  <a:srgbClr val="FF0000"/>
                </a:solidFill>
              </a:rPr>
              <a:t>Link Attribute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707D6B-819D-BB1F-74D7-96E932B0D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761" y="4876800"/>
            <a:ext cx="7564217" cy="6335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3DA704-9FB7-1B27-62FB-2230F08FB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461" y="5562600"/>
            <a:ext cx="4391025" cy="12382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57C43E-5E6B-54A5-9DE9-63911057E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900" y="6372225"/>
            <a:ext cx="64674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8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2AE-47F2-5E4E-0460-21FA91672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5714321" cy="276999"/>
          </a:xfrm>
        </p:spPr>
        <p:txBody>
          <a:bodyPr/>
          <a:lstStyle/>
          <a:p>
            <a:r>
              <a:rPr lang="en-US" sz="1800" dirty="0">
                <a:solidFill>
                  <a:srgbClr val="FF0000"/>
                </a:solidFill>
                <a:latin typeface="+mj-lt"/>
              </a:rPr>
              <a:t>Example 2: Image Attributes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90004-CD1E-4D92-6501-DFAD6B7EFBD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39804" y="1581392"/>
            <a:ext cx="8534400" cy="4648200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B209A-5E2D-C777-A273-36CA4E4F6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4" y="1781036"/>
            <a:ext cx="7825051" cy="428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49035-E0C0-C5D6-4CBD-3C77CA50A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52" y="2356028"/>
            <a:ext cx="2447925" cy="12287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A344B3-4688-DF4A-8FB0-68CED3FCCEAA}"/>
              </a:ext>
            </a:extLst>
          </p:cNvPr>
          <p:cNvSpPr txBox="1"/>
          <p:nvPr/>
        </p:nvSpPr>
        <p:spPr>
          <a:xfrm>
            <a:off x="839804" y="383038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Important Points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47F06A-E375-A7F2-8FF8-295318B41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199714"/>
            <a:ext cx="5638800" cy="25321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AE8C58-BEF9-68C3-83BD-5957E5F79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292" y="5725426"/>
            <a:ext cx="6746708" cy="112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62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AE8CF-FD28-4075-65BD-28B22B996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44" y="1143000"/>
            <a:ext cx="10040112" cy="5486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ACF963-D891-CC1E-B284-B8BE29E60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5257800"/>
            <a:ext cx="3962400" cy="8063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712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7AD1F7-60E5-15E6-54A9-0B1233452E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581400" y="725269"/>
            <a:ext cx="5257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DEVELOPING A WEBPAGE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62CEC6-237E-7CC7-B693-8583D7FC2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76400"/>
            <a:ext cx="9220200" cy="51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162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CD94FD-1696-7BC1-28A0-4E77D443A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5026778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72F314-ADBE-B021-8C75-FD4C60C1C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914400"/>
            <a:ext cx="6248400" cy="30095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0998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395E-13A4-1FF4-409C-B5045A53B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4220" y="1025604"/>
            <a:ext cx="9658180" cy="1107996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Developing webpage using HTML tag categories</a:t>
            </a:r>
            <a:br>
              <a:rPr lang="en-US" sz="3600" dirty="0">
                <a:solidFill>
                  <a:srgbClr val="FF0000"/>
                </a:solidFill>
                <a:latin typeface="+mj-lt"/>
              </a:rPr>
            </a:br>
            <a:endParaRPr lang="en-US" sz="36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72C1E-9C44-C1F7-A44D-E48D3756D00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33400" y="2218015"/>
            <a:ext cx="4876800" cy="4308872"/>
          </a:xfrm>
        </p:spPr>
        <p:txBody>
          <a:bodyPr/>
          <a:lstStyle/>
          <a:p>
            <a:pPr marL="514350" lvl="0" indent="-514350">
              <a:buAutoNum type="arabicPeriod"/>
            </a:pP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Formatting tags </a:t>
            </a:r>
          </a:p>
          <a:p>
            <a:pPr lvl="0"/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</a:endParaRPr>
          </a:p>
          <a:p>
            <a:r>
              <a:rPr lang="en-US" sz="2800" b="1" dirty="0">
                <a:latin typeface="+mj-lt"/>
              </a:rPr>
              <a:t>Formatting tags</a:t>
            </a:r>
            <a:r>
              <a:rPr lang="en-US" sz="2800" dirty="0">
                <a:latin typeface="+mj-lt"/>
              </a:rPr>
              <a:t> in HTML are used to enhance the appearance of text and provide emphasis, structure, or meaning. These tags can make text bold, italic, underlined, or styled in other ways.</a:t>
            </a:r>
          </a:p>
          <a:p>
            <a:endParaRPr lang="en-US" sz="2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DCE5D-447C-E6DB-29A3-342475FE0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90738"/>
            <a:ext cx="6028245" cy="41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45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042C-2E84-C154-76C6-9FFC47C50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43000"/>
            <a:ext cx="3200400" cy="609600"/>
          </a:xfrm>
        </p:spPr>
        <p:txBody>
          <a:bodyPr/>
          <a:lstStyle/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2. Table tags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435486-3D96-4B24-4C3E-E43E5276724C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381000" y="1905506"/>
            <a:ext cx="4191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HTML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table tags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are used to create tables that display data in rows and columns. An HTML table is created using the &lt;table&gt; tag along with &lt;tr&gt; for table rows, 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&gt; for table headers, and &lt;td&gt; for table data cells. Here's a simple 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728E5-1737-1CCA-E937-F524B4A03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75000"/>
            <a:ext cx="6553200" cy="49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71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C93F-5E17-FB4C-5086-112F6DEC7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7955" y="685800"/>
            <a:ext cx="5219360" cy="861774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Example1: Sample HTML table</a:t>
            </a:r>
            <a:br>
              <a:rPr lang="en-US" sz="2800" dirty="0">
                <a:solidFill>
                  <a:srgbClr val="FF0000"/>
                </a:solidFill>
                <a:latin typeface="+mj-lt"/>
              </a:rPr>
            </a:br>
            <a:endParaRPr lang="en-US" sz="28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B092C-56B5-54E1-848C-0F8FC9F7E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95400"/>
            <a:ext cx="3287187" cy="502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C7CC9B-A45F-C7DB-8737-3BE95A8A3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362200"/>
            <a:ext cx="2554605" cy="1257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822601-AA28-4BE5-AE97-1B2F5D95D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699467"/>
            <a:ext cx="866775" cy="219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7DC489-0986-F2DE-17BE-9C3BCE116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98" y="6248400"/>
            <a:ext cx="96393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64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78A4-4EBF-16CF-3865-AFFFB510C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0" y="797738"/>
            <a:ext cx="457200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Table attributes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15158-3F9C-20D9-EA1F-799D3C5CE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28625"/>
            <a:ext cx="82010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67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EF09C3-ECAA-0106-067A-EEAF2A000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43000"/>
            <a:ext cx="9220200" cy="48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70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802B-499E-7F83-4F23-118B4FD4D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1" y="838201"/>
            <a:ext cx="3200400" cy="609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Example: 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788D9-4223-F90D-A401-96F7E8055E5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90600" y="1600200"/>
            <a:ext cx="8534400" cy="4924425"/>
          </a:xfrm>
        </p:spPr>
        <p:txBody>
          <a:bodyPr/>
          <a:lstStyle/>
          <a:p>
            <a:r>
              <a:rPr lang="en-US" sz="2000" b="1" dirty="0">
                <a:latin typeface="+mj-lt"/>
              </a:rPr>
              <a:t>&lt;table border="1" cellpadding="5" cellspacing="0" width="50%" align="center"&gt;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&lt;tr&gt;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    &lt;</a:t>
            </a:r>
            <a:r>
              <a:rPr lang="en-US" sz="2000" b="1" dirty="0" err="1">
                <a:latin typeface="+mj-lt"/>
              </a:rPr>
              <a:t>th</a:t>
            </a:r>
            <a:r>
              <a:rPr lang="en-US" sz="2000" b="1" dirty="0">
                <a:latin typeface="+mj-lt"/>
              </a:rPr>
              <a:t>&gt;Name&lt;/</a:t>
            </a:r>
            <a:r>
              <a:rPr lang="en-US" sz="2000" b="1" dirty="0" err="1">
                <a:latin typeface="+mj-lt"/>
              </a:rPr>
              <a:t>th</a:t>
            </a:r>
            <a:r>
              <a:rPr lang="en-US" sz="2000" b="1" dirty="0">
                <a:latin typeface="+mj-lt"/>
              </a:rPr>
              <a:t>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    &lt;</a:t>
            </a:r>
            <a:r>
              <a:rPr lang="en-US" sz="2000" b="1" dirty="0" err="1">
                <a:latin typeface="+mj-lt"/>
              </a:rPr>
              <a:t>th</a:t>
            </a:r>
            <a:r>
              <a:rPr lang="en-US" sz="2000" b="1" dirty="0">
                <a:latin typeface="+mj-lt"/>
              </a:rPr>
              <a:t> colspan="2"&gt;Details&lt;/</a:t>
            </a:r>
            <a:r>
              <a:rPr lang="en-US" sz="2000" b="1" dirty="0" err="1">
                <a:latin typeface="+mj-lt"/>
              </a:rPr>
              <a:t>th</a:t>
            </a:r>
            <a:r>
              <a:rPr lang="en-US" sz="2000" b="1" dirty="0">
                <a:latin typeface="+mj-lt"/>
              </a:rPr>
              <a:t>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&lt;/tr&gt;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&lt;tr&gt;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    &lt;td rowspan="2"&gt;John&lt;/td&gt;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    &lt;td&gt;Age&lt;/td&gt;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    &lt;td&gt;25&lt;/td&gt;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&lt;/tr&gt;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&lt;tr&gt;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    &lt;td&gt;City&lt;/td&gt;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    &lt;td&gt;New York&lt;/td&gt;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&lt;/tr&gt;</a:t>
            </a: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&lt;/table&gt;</a:t>
            </a:r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81867C-ADC5-EBA7-CF88-9D679A002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4339890"/>
            <a:ext cx="69342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52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DBC7-3477-CF11-43DB-0B4616C65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832" y="1014097"/>
            <a:ext cx="3706368" cy="1107996"/>
          </a:xfrm>
        </p:spPr>
        <p:txBody>
          <a:bodyPr/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</a:rPr>
              <a:t>3. Form tags 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EF59BA-FF4C-BED6-2E4D-2174C75C6232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381000" y="1824127"/>
            <a:ext cx="2667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The HTML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&lt;form&gt;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tag is used to create an HTML form for collecting user input. Forms are essential for creating interactive web applications and collecting data such as text input, selections, and buttons.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5B801-D28F-09A6-4808-034E74D4C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399" y="2133600"/>
            <a:ext cx="1676400" cy="1602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1B25BF-89BD-08F6-1701-CD0630736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2" y="1750950"/>
            <a:ext cx="3855520" cy="27103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31356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D2BB-8FF5-BAD5-01FD-9DBB5968B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839" y="838201"/>
            <a:ext cx="5714321" cy="984885"/>
          </a:xfrm>
        </p:spPr>
        <p:txBody>
          <a:bodyPr/>
          <a:lstStyle/>
          <a:p>
            <a:pPr rtl="0"/>
            <a:r>
              <a:rPr lang="en-US" altLang="en-US" sz="3200" dirty="0">
                <a:solidFill>
                  <a:srgbClr val="FF0000"/>
                </a:solidFill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Common Form Elements</a:t>
            </a:r>
            <a:br>
              <a:rPr lang="en-US" altLang="en-US" sz="3200" b="0" dirty="0">
                <a:solidFill>
                  <a:srgbClr val="FF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E36BDD-D10B-3DCB-D36E-A38EB845A473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295400" y="1752600"/>
            <a:ext cx="7391400" cy="3718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Common Form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62A3C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1. &lt;input&gt;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: Creates various types of input fields.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Text field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: &lt;input type="text" name="username"&gt;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Password field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: &lt;input type="password" name="password"&gt;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Checkbox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: &lt;input type="checkbox" name="subscribe" value="newsletter"&gt;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Radio button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: &lt;input type="radio" name="gender" value="male"&gt;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Submit button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: &lt;input type="submit" value="Submit"&gt;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File upload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: &lt;input type="file" name="upload"&gt;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72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35C903F-54FA-FBCB-C107-842C141F0B8F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143000" y="1217712"/>
            <a:ext cx="84582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056" tIns="0" rIns="0" bIns="0" numCol="1" anchor="ctr" anchorCtr="0" compatLnSpc="1">
            <a:prstTxWarp prst="textNoShape">
              <a:avLst/>
            </a:prstTxWarp>
            <a:spAutoFit/>
          </a:bodyPr>
          <a:lstStyle>
            <a:lvl1pPr indent="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2. &lt;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textarea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: Defines a multi-line text input.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Example: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textarea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 name="comments" rows="4" cols="50"&gt;&lt;/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textarea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lang="en-US" altLang="en-US" sz="20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3. &lt;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select&gt;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: Creates a dropdown list.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&lt;select name="cars"&gt;    &lt;option value="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volvo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"&gt;Volvo&lt;/option&gt;    &lt;option value="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bmw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"&gt;BMW&lt;/option&gt;&lt;/select&gt;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4. &lt;label&gt;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: Provides labels for input elements, improving accessibility.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Example: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&lt;label for="username"&gt;Username:&lt;/label&gt;&lt;input type="text" id="username" name="username"&gt;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5. &lt;button&gt;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: Defines a clickable button. It can contain text, images, or other content.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Example: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Calibri" panose="020F0502020204030204" pitchFamily="34" charset="0"/>
              </a:rPr>
              <a:t>&lt;button type="submit"&gt;Submit&lt;/button&gt;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4996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40D2-1E79-781C-3BED-A95FCF999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5200" y="454963"/>
            <a:ext cx="2780960" cy="76423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Example1: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F113C-B3C5-048D-F44F-8728D503E9C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38200" y="1066800"/>
            <a:ext cx="7543800" cy="5847755"/>
          </a:xfrm>
        </p:spPr>
        <p:txBody>
          <a:bodyPr/>
          <a:lstStyle/>
          <a:p>
            <a:r>
              <a:rPr lang="en-US" sz="2000" dirty="0">
                <a:latin typeface="+mj-lt"/>
              </a:rPr>
              <a:t>  &lt;!DOCTYPE html&gt;</a:t>
            </a:r>
          </a:p>
          <a:p>
            <a:r>
              <a:rPr lang="en-US" sz="2000" dirty="0">
                <a:latin typeface="+mj-lt"/>
              </a:rPr>
              <a:t>&lt;html&gt;</a:t>
            </a:r>
          </a:p>
          <a:p>
            <a:r>
              <a:rPr lang="en-US" sz="2000" dirty="0">
                <a:latin typeface="+mj-lt"/>
              </a:rPr>
              <a:t>&lt;head&gt;</a:t>
            </a:r>
          </a:p>
          <a:p>
            <a:r>
              <a:rPr lang="en-US" sz="2000" dirty="0">
                <a:latin typeface="+mj-lt"/>
              </a:rPr>
              <a:t>    &lt;title&gt;Basic HTML Form&lt;/title&gt;</a:t>
            </a:r>
          </a:p>
          <a:p>
            <a:r>
              <a:rPr lang="en-US" sz="2000" dirty="0">
                <a:latin typeface="+mj-lt"/>
              </a:rPr>
              <a:t>&lt;/head&gt;</a:t>
            </a:r>
          </a:p>
          <a:p>
            <a:r>
              <a:rPr lang="en-US" sz="2000" dirty="0">
                <a:latin typeface="+mj-lt"/>
              </a:rPr>
              <a:t>&lt;body&gt;</a:t>
            </a:r>
          </a:p>
          <a:p>
            <a:r>
              <a:rPr lang="en-US" sz="2000" dirty="0">
                <a:latin typeface="+mj-lt"/>
              </a:rPr>
              <a:t>&lt;h2&gt;Registration Form&lt;/h2&gt;</a:t>
            </a:r>
          </a:p>
          <a:p>
            <a:r>
              <a:rPr lang="en-US" sz="2000" dirty="0">
                <a:latin typeface="+mj-lt"/>
              </a:rPr>
              <a:t>&lt;form&gt;</a:t>
            </a:r>
          </a:p>
          <a:p>
            <a:r>
              <a:rPr lang="en-US" sz="2000" dirty="0">
                <a:latin typeface="+mj-lt"/>
              </a:rPr>
              <a:t>    &lt;label for="username"&gt;Username:&lt;/label&gt;</a:t>
            </a:r>
          </a:p>
          <a:p>
            <a:r>
              <a:rPr lang="en-US" sz="2000" dirty="0">
                <a:latin typeface="+mj-lt"/>
              </a:rPr>
              <a:t>    &lt;input type="text" id="username" name="username"&gt;&lt;</a:t>
            </a:r>
            <a:r>
              <a:rPr lang="en-US" sz="2000" dirty="0" err="1">
                <a:latin typeface="+mj-lt"/>
              </a:rPr>
              <a:t>br</a:t>
            </a:r>
            <a:r>
              <a:rPr lang="en-US" sz="2000" dirty="0">
                <a:latin typeface="+mj-lt"/>
              </a:rPr>
              <a:t>&gt;&lt;</a:t>
            </a:r>
            <a:r>
              <a:rPr lang="en-US" sz="2000" dirty="0" err="1">
                <a:latin typeface="+mj-lt"/>
              </a:rPr>
              <a:t>br</a:t>
            </a:r>
            <a:r>
              <a:rPr lang="en-US" sz="2000" dirty="0">
                <a:latin typeface="+mj-lt"/>
              </a:rPr>
              <a:t>&gt;    </a:t>
            </a:r>
          </a:p>
          <a:p>
            <a:r>
              <a:rPr lang="en-US" sz="2000" dirty="0">
                <a:latin typeface="+mj-lt"/>
              </a:rPr>
              <a:t>    &lt;label for="password"&gt;Password:&lt;/label&gt;</a:t>
            </a:r>
          </a:p>
          <a:p>
            <a:r>
              <a:rPr lang="en-US" sz="2000" dirty="0">
                <a:latin typeface="+mj-lt"/>
              </a:rPr>
              <a:t>    &lt;input type="password" id="password" name="password"&gt;&lt;</a:t>
            </a:r>
            <a:r>
              <a:rPr lang="en-US" sz="2000" dirty="0" err="1">
                <a:latin typeface="+mj-lt"/>
              </a:rPr>
              <a:t>br</a:t>
            </a:r>
            <a:r>
              <a:rPr lang="en-US" sz="2000" dirty="0">
                <a:latin typeface="+mj-lt"/>
              </a:rPr>
              <a:t>&gt;&lt;</a:t>
            </a:r>
            <a:r>
              <a:rPr lang="en-US" sz="2000" dirty="0" err="1">
                <a:latin typeface="+mj-lt"/>
              </a:rPr>
              <a:t>br</a:t>
            </a:r>
            <a:r>
              <a:rPr lang="en-US" sz="2000" dirty="0">
                <a:latin typeface="+mj-lt"/>
              </a:rPr>
              <a:t>&gt;</a:t>
            </a:r>
          </a:p>
          <a:p>
            <a:r>
              <a:rPr lang="en-US" sz="2000" dirty="0">
                <a:latin typeface="+mj-lt"/>
              </a:rPr>
              <a:t>    </a:t>
            </a:r>
          </a:p>
          <a:p>
            <a:r>
              <a:rPr lang="en-US" sz="2000" dirty="0">
                <a:latin typeface="+mj-lt"/>
              </a:rPr>
              <a:t>    &lt;label for="gender"&gt;Gender:&lt;/label&gt;</a:t>
            </a:r>
          </a:p>
          <a:p>
            <a:r>
              <a:rPr lang="en-US" sz="2000" dirty="0">
                <a:latin typeface="+mj-lt"/>
              </a:rPr>
              <a:t>    &lt;input type="radio" id="male" name="gender" value="male"&gt;</a:t>
            </a:r>
          </a:p>
          <a:p>
            <a:r>
              <a:rPr lang="en-US" sz="2000" dirty="0">
                <a:latin typeface="+mj-lt"/>
              </a:rPr>
              <a:t>    &lt;label for="male"&gt;Male&lt;/label&gt;</a:t>
            </a:r>
          </a:p>
          <a:p>
            <a:r>
              <a:rPr lang="en-US" sz="2000" dirty="0">
                <a:latin typeface="+mj-lt"/>
              </a:rPr>
              <a:t>    &lt;input type="radio" id="female" name="gender" value="female"&gt;</a:t>
            </a:r>
          </a:p>
          <a:p>
            <a:r>
              <a:rPr lang="en-US" sz="2000" dirty="0">
                <a:latin typeface="+mj-lt"/>
              </a:rPr>
              <a:t>    &lt;label for="female"&gt;Female&lt;/label&gt;&lt;</a:t>
            </a:r>
            <a:r>
              <a:rPr lang="en-US" sz="2000" dirty="0" err="1">
                <a:latin typeface="+mj-lt"/>
              </a:rPr>
              <a:t>br</a:t>
            </a:r>
            <a:r>
              <a:rPr lang="en-US" sz="2000" dirty="0">
                <a:latin typeface="+mj-lt"/>
              </a:rPr>
              <a:t>&gt;&lt;</a:t>
            </a:r>
            <a:r>
              <a:rPr lang="en-US" sz="2000" dirty="0" err="1">
                <a:latin typeface="+mj-lt"/>
              </a:rPr>
              <a:t>br</a:t>
            </a:r>
            <a:r>
              <a:rPr lang="en-US" sz="2000" dirty="0">
                <a:latin typeface="+mj-lt"/>
              </a:rPr>
              <a:t>&gt;    </a:t>
            </a:r>
          </a:p>
          <a:p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2219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05CA-6AB1-056E-B22F-01EF7A387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0" y="294006"/>
            <a:ext cx="1752600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891F5-2FBD-402E-15B2-4902DCF89CE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28600" y="1143000"/>
            <a:ext cx="7848600" cy="5501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&lt;label for="newsletter"&gt;Subscribe to Newsletter:&lt;/label&gt;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&lt;input type="checkbox" id="newsletter" name="subscribe" value="yes"&gt;&lt;</a:t>
            </a:r>
            <a:r>
              <a:rPr lang="en-US" sz="1600" dirty="0" err="1">
                <a:latin typeface="+mj-lt"/>
              </a:rPr>
              <a:t>br</a:t>
            </a:r>
            <a:r>
              <a:rPr lang="en-US" sz="1600" dirty="0">
                <a:latin typeface="+mj-lt"/>
              </a:rPr>
              <a:t>&gt;&lt;</a:t>
            </a:r>
            <a:r>
              <a:rPr lang="en-US" sz="1600" dirty="0" err="1">
                <a:latin typeface="+mj-lt"/>
              </a:rPr>
              <a:t>br</a:t>
            </a:r>
            <a:r>
              <a:rPr lang="en-US" sz="1600" dirty="0">
                <a:latin typeface="+mj-lt"/>
              </a:rPr>
              <a:t>&gt;   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&lt;label for="country"&gt;Choose a country:&lt;/label&gt;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&lt;select id="country" name="country"&gt;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    &lt;option value="</a:t>
            </a:r>
            <a:r>
              <a:rPr lang="en-US" sz="1600" dirty="0" err="1">
                <a:latin typeface="+mj-lt"/>
              </a:rPr>
              <a:t>usa</a:t>
            </a:r>
            <a:r>
              <a:rPr lang="en-US" sz="1600" dirty="0">
                <a:latin typeface="+mj-lt"/>
              </a:rPr>
              <a:t>"&gt;USA&lt;/option&gt;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    &lt;option value="</a:t>
            </a:r>
            <a:r>
              <a:rPr lang="en-US" sz="1600" dirty="0" err="1">
                <a:latin typeface="+mj-lt"/>
              </a:rPr>
              <a:t>uk</a:t>
            </a:r>
            <a:r>
              <a:rPr lang="en-US" sz="1600" dirty="0">
                <a:latin typeface="+mj-lt"/>
              </a:rPr>
              <a:t>"&gt;UK&lt;/option&gt;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    &lt;option value="</a:t>
            </a:r>
            <a:r>
              <a:rPr lang="en-US" sz="1600" dirty="0" err="1">
                <a:latin typeface="+mj-lt"/>
              </a:rPr>
              <a:t>canada</a:t>
            </a:r>
            <a:r>
              <a:rPr lang="en-US" sz="1600" dirty="0">
                <a:latin typeface="+mj-lt"/>
              </a:rPr>
              <a:t>"&gt;Canada&lt;/option&gt;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&lt;/select&gt;&lt;</a:t>
            </a:r>
            <a:r>
              <a:rPr lang="en-US" sz="1600" dirty="0" err="1">
                <a:latin typeface="+mj-lt"/>
              </a:rPr>
              <a:t>br</a:t>
            </a:r>
            <a:r>
              <a:rPr lang="en-US" sz="1600" dirty="0">
                <a:latin typeface="+mj-lt"/>
              </a:rPr>
              <a:t>&gt;&lt;</a:t>
            </a:r>
            <a:r>
              <a:rPr lang="en-US" sz="1600" dirty="0" err="1">
                <a:latin typeface="+mj-lt"/>
              </a:rPr>
              <a:t>br</a:t>
            </a:r>
            <a:r>
              <a:rPr lang="en-US" sz="1600" dirty="0">
                <a:latin typeface="+mj-lt"/>
              </a:rPr>
              <a:t>&gt;   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&lt;label for="comments"&gt;Comments:&lt;/label&gt;&lt;</a:t>
            </a:r>
            <a:r>
              <a:rPr lang="en-US" sz="1600" dirty="0" err="1">
                <a:latin typeface="+mj-lt"/>
              </a:rPr>
              <a:t>br</a:t>
            </a:r>
            <a:r>
              <a:rPr lang="en-US" sz="1600" dirty="0">
                <a:latin typeface="+mj-lt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&lt;</a:t>
            </a:r>
            <a:r>
              <a:rPr lang="en-US" sz="1600" dirty="0" err="1">
                <a:latin typeface="+mj-lt"/>
              </a:rPr>
              <a:t>textarea</a:t>
            </a:r>
            <a:r>
              <a:rPr lang="en-US" sz="1600" dirty="0">
                <a:latin typeface="+mj-lt"/>
              </a:rPr>
              <a:t> id="comments" name="comments" rows="4" cols="50"&gt;&lt;/</a:t>
            </a:r>
            <a:r>
              <a:rPr lang="en-US" sz="1600" dirty="0" err="1">
                <a:latin typeface="+mj-lt"/>
              </a:rPr>
              <a:t>textarea</a:t>
            </a:r>
            <a:r>
              <a:rPr lang="en-US" sz="1600" dirty="0">
                <a:latin typeface="+mj-lt"/>
              </a:rPr>
              <a:t>&gt;&lt;</a:t>
            </a:r>
            <a:r>
              <a:rPr lang="en-US" sz="1600" dirty="0" err="1">
                <a:latin typeface="+mj-lt"/>
              </a:rPr>
              <a:t>br</a:t>
            </a:r>
            <a:r>
              <a:rPr lang="en-US" sz="1600" dirty="0">
                <a:latin typeface="+mj-lt"/>
              </a:rPr>
              <a:t>&gt;&lt;</a:t>
            </a:r>
            <a:r>
              <a:rPr lang="en-US" sz="1600" dirty="0" err="1">
                <a:latin typeface="+mj-lt"/>
              </a:rPr>
              <a:t>br</a:t>
            </a:r>
            <a:r>
              <a:rPr lang="en-US" sz="1600" dirty="0">
                <a:latin typeface="+mj-lt"/>
              </a:rPr>
              <a:t>&gt;   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&lt;input type="submit" value="Register"&gt;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&lt;input type="reset" value="Reset"&gt;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    &lt;/form&gt;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&lt;/body&gt;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&lt;/html&gt;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9A9D6-1525-A93D-4B34-5DB2748C3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975" y="762000"/>
            <a:ext cx="378142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388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B5619-2B90-18FF-DDDD-D2160AB8B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839" y="533400"/>
            <a:ext cx="5714321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Example2:</a:t>
            </a:r>
            <a:endParaRPr lang="en-US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8601B-E230-4E32-79FA-C619077D6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5092961" cy="5111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202CAA-A188-5CC2-676B-AD0034705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642" y="1752600"/>
            <a:ext cx="5540260" cy="488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357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76968-CD66-4915-5897-0D33B6401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825" y="1066800"/>
            <a:ext cx="2628560" cy="77952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Cont’d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F1286-6F04-C5D0-C423-D3EEEACE8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81200"/>
            <a:ext cx="6000186" cy="412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637DC5-EFC2-B048-2DB2-1BC3EB10B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186" y="381000"/>
            <a:ext cx="5186685" cy="49349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7D1392-DE92-6300-5AF5-AF43A99AD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5419691"/>
            <a:ext cx="3733800" cy="139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319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4F9B4-46F8-FA05-7366-2048F4B85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143000"/>
            <a:ext cx="251460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Generated form: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DBB13-75FD-9862-7033-6F4A3B602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0"/>
            <a:ext cx="4435765" cy="698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92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F90D-DDEF-5620-2AEE-313C91E3F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76516"/>
            <a:ext cx="11049000" cy="880884"/>
          </a:xfrm>
        </p:spPr>
        <p:txBody>
          <a:bodyPr/>
          <a:lstStyle/>
          <a:p>
            <a:r>
              <a:rPr lang="en-US" sz="2800" dirty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rPr>
              <a:t>5. Html List Tags: </a:t>
            </a:r>
            <a:r>
              <a:rPr lang="en-US" sz="2000" b="0" dirty="0">
                <a:solidFill>
                  <a:schemeClr val="tx1"/>
                </a:solidFill>
                <a:latin typeface="+mj-lt"/>
              </a:rPr>
              <a:t>HTML provides several list tags for creating ordered and unordered lists. These tags help organize content into a structured format, making it easier to read and understand.</a:t>
            </a:r>
            <a:br>
              <a:rPr lang="en-US" sz="1400" dirty="0">
                <a:latin typeface="+mj-lt"/>
              </a:rPr>
            </a:br>
            <a:endParaRPr lang="en-US" sz="14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625AF-E399-CC13-3314-0F484AA7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09825"/>
            <a:ext cx="5400675" cy="2085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081F6B-8560-86EE-3753-0F86249E8CB6}"/>
              </a:ext>
            </a:extLst>
          </p:cNvPr>
          <p:cNvSpPr txBox="1"/>
          <p:nvPr/>
        </p:nvSpPr>
        <p:spPr>
          <a:xfrm>
            <a:off x="742749" y="4724400"/>
            <a:ext cx="466745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Unordered List (&lt;ul&gt;)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Used when </a:t>
            </a:r>
            <a:r>
              <a:rPr lang="en-US" b="1" dirty="0"/>
              <a:t>order does NOT matter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items with bullet points.</a:t>
            </a:r>
          </a:p>
          <a:p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C57963-4342-388B-BCC2-09839570B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4716379"/>
            <a:ext cx="2733675" cy="1952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24AA17-4DD8-011E-02F1-26597B6AD9A9}"/>
              </a:ext>
            </a:extLst>
          </p:cNvPr>
          <p:cNvSpPr txBox="1"/>
          <p:nvPr/>
        </p:nvSpPr>
        <p:spPr>
          <a:xfrm>
            <a:off x="9563100" y="4304184"/>
            <a:ext cx="1714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Output: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76BE1D-A69F-9734-F330-568C0D91A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953000"/>
            <a:ext cx="15049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83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8472-16B2-D764-ED12-2A01EC169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295401"/>
            <a:ext cx="10972800" cy="152195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Ordered List (&lt;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ol</a:t>
            </a: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&gt;)</a:t>
            </a:r>
            <a:br>
              <a:rPr lang="en-US" sz="2800" dirty="0"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Used when order matters (steps, ranking, instructions) =</a:t>
            </a:r>
            <a:r>
              <a:rPr lang="en-US" sz="2000" dirty="0">
                <a:latin typeface="+mj-lt"/>
              </a:rPr>
              <a:t> Displays items in a numbered sequence.</a:t>
            </a:r>
            <a:br>
              <a:rPr lang="en-US" dirty="0"/>
            </a:br>
            <a:endParaRPr lang="en-US" sz="2000" b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722068-E8CB-15F1-BAE7-2E68F12A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435" y="3200400"/>
            <a:ext cx="3295650" cy="1981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A3B9FC-CE9F-2F12-D2C3-0678FD41B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429000"/>
            <a:ext cx="2114550" cy="129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338978-50BB-3F2D-F415-DF1EA630021B}"/>
              </a:ext>
            </a:extLst>
          </p:cNvPr>
          <p:cNvSpPr txBox="1"/>
          <p:nvPr/>
        </p:nvSpPr>
        <p:spPr>
          <a:xfrm>
            <a:off x="7010400" y="2819400"/>
            <a:ext cx="1714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29597838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FC8C-E76F-8555-EB31-B74AEDD7D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804" y="1219200"/>
            <a:ext cx="10505396" cy="116205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Description List (&lt;dl&gt;)</a:t>
            </a:r>
            <a:br>
              <a:rPr lang="en-US" sz="2400" dirty="0">
                <a:solidFill>
                  <a:schemeClr val="tx1"/>
                </a:solidFill>
                <a:latin typeface="+mj-lt"/>
              </a:rPr>
            </a:br>
            <a:br>
              <a:rPr lang="en-US" sz="24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Used for definitions or explanations(</a:t>
            </a:r>
            <a:r>
              <a:rPr lang="en-US" sz="2000" dirty="0">
                <a:latin typeface="+mj-lt"/>
              </a:rPr>
              <a:t>Used to create a list of terms and their descriptions).</a:t>
            </a:r>
            <a:br>
              <a:rPr lang="en-US" dirty="0"/>
            </a:br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A6D4F1-1AC0-1B5F-B86D-13464A89C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6" y="2671335"/>
            <a:ext cx="4657723" cy="39580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105C20-8A11-6E22-EE81-C0F1309DA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9" y="4627626"/>
            <a:ext cx="3400425" cy="1162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C1AD3F-A502-5D39-7515-8D46D59F5928}"/>
              </a:ext>
            </a:extLst>
          </p:cNvPr>
          <p:cNvSpPr txBox="1"/>
          <p:nvPr/>
        </p:nvSpPr>
        <p:spPr>
          <a:xfrm>
            <a:off x="8343900" y="3786927"/>
            <a:ext cx="1714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25998405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0F7DE-1E0B-DA15-05CB-3ADCAA965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0275" y="1219200"/>
            <a:ext cx="5714321" cy="55399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Common Attributes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FC461F-09D2-1BD0-7706-C7D6E853A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191000"/>
            <a:ext cx="3238500" cy="2505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C2F612-DB04-24C5-01DC-13D00364F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62212"/>
            <a:ext cx="2352675" cy="1457325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63EDC451-085D-3516-20D2-A38CEE4D2F8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896102" y="3048000"/>
            <a:ext cx="5181600" cy="330859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Important Advice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Many students misuse lists.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Use &lt;ul&gt; for navigation menus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Use &lt;</a:t>
            </a:r>
            <a:r>
              <a:rPr lang="en-US" dirty="0" err="1"/>
              <a:t>ol</a:t>
            </a:r>
            <a:r>
              <a:rPr lang="en-US" dirty="0"/>
              <a:t>&gt; for instructions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Use &lt;dl&gt; for definitions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816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D010-517F-0F5D-4A3D-30A1F80C1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079" y="1066800"/>
            <a:ext cx="5714321" cy="492443"/>
          </a:xfrm>
        </p:spPr>
        <p:txBody>
          <a:bodyPr/>
          <a:lstStyle/>
          <a:p>
            <a:r>
              <a:rPr lang="en-US" sz="3200" dirty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rPr>
              <a:t>5. Html Semantic Tags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D999C-24E6-10BA-CA67-A13A5CBAB47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33400" y="1905000"/>
            <a:ext cx="5431055" cy="2616101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</a:rPr>
              <a:t>Semantic tags</a:t>
            </a:r>
            <a:r>
              <a:rPr lang="en-US" sz="2000" dirty="0">
                <a:latin typeface="+mj-lt"/>
              </a:rPr>
              <a:t> clearly describe the meaning of the content inside them.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Instead of using &lt;div&gt; everywhere, semantic tags tell the browser (and developers, and search engines) what the content represents.</a:t>
            </a:r>
          </a:p>
          <a:p>
            <a:pPr algn="just"/>
            <a:endParaRPr lang="en-US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CEFF44-5E90-3849-077C-FBA359C08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034" y="1219200"/>
            <a:ext cx="5334000" cy="548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168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3696-3AFB-5550-FAFC-569A4E21E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841" y="1049274"/>
            <a:ext cx="4381160" cy="474726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Example 1: Basic Page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EA3611-5CEC-0417-6D31-D6737014A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3999"/>
            <a:ext cx="3962400" cy="5308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73B2D9-8BB7-A3D0-BDAB-EB38B78ED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447800"/>
            <a:ext cx="3930693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6BC90E-DBAB-9B13-A765-CD1D3A547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1369483"/>
            <a:ext cx="1981200" cy="28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151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8F98-E010-FE42-35BC-A41EA1DD1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0101" y="1158597"/>
            <a:ext cx="5714321" cy="369332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Example 2: Using &lt;figure&gt; and &lt;figcaption&gt;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7DE99-66F3-79E5-52EA-839308403C3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6248400" cy="1546577"/>
          </a:xfrm>
        </p:spPr>
        <p:txBody>
          <a:bodyPr/>
          <a:lstStyle/>
          <a:p>
            <a:r>
              <a:rPr lang="en-US" dirty="0">
                <a:latin typeface="+mj-lt"/>
              </a:rPr>
              <a:t>Why Semantic Tags Matter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529F4-7BEE-7C0E-63AD-3AA03E42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09140"/>
            <a:ext cx="5876925" cy="123825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219DF18-1FED-6BC6-9CBB-29A61CE95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452671"/>
            <a:ext cx="52578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Improve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Improve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accessibility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Make code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clean and readable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Help screen readers understand structure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Follow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modern HTML5 standards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33094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A870-3B42-5ABE-B2A8-991263710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804" y="972800"/>
            <a:ext cx="5714321" cy="49244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+mj-lt"/>
              </a:rPr>
              <a:t>Style web elements using 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5AB28-A1A5-2B65-A82C-C3167916ACE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638424" y="1828800"/>
            <a:ext cx="9096376" cy="3508653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FF0000"/>
                </a:solidFill>
                <a:latin typeface="+mn-lt"/>
              </a:rPr>
              <a:t>CSS, </a:t>
            </a:r>
            <a:r>
              <a:rPr lang="en-US" sz="2000" dirty="0">
                <a:latin typeface="+mn-lt"/>
              </a:rPr>
              <a:t>stands for </a:t>
            </a:r>
            <a:r>
              <a:rPr lang="en-US" sz="2000" b="1" dirty="0">
                <a:latin typeface="+mn-lt"/>
              </a:rPr>
              <a:t>Cascading Style Sheets</a:t>
            </a:r>
            <a:r>
              <a:rPr lang="en-US" sz="2000" dirty="0">
                <a:latin typeface="+mn-lt"/>
              </a:rPr>
              <a:t>,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is a style sheet language used to describe the presentation of a document written in HTML or XML. It allows developers to control the layout, colors, fonts, spacing, and overall visual appearance of web pages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FF0000"/>
                </a:solidFill>
              </a:rPr>
              <a:t>CSS Syntax:  </a:t>
            </a:r>
            <a:r>
              <a:rPr lang="en-US" sz="2000" b="1" dirty="0">
                <a:latin typeface="+mj-lt"/>
              </a:rPr>
              <a:t>CSS syntax consists of two main parts: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selectors and declarations.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000" b="1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2000" b="1" dirty="0">
              <a:solidFill>
                <a:srgbClr val="FF0000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+mn-lt"/>
            </a:endParaRPr>
          </a:p>
          <a:p>
            <a:pPr algn="just"/>
            <a:endParaRPr lang="en-US" sz="18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F1AE6-8D52-AF1D-DAEC-6025D8394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" y="914400"/>
            <a:ext cx="2143125" cy="2143125"/>
          </a:xfrm>
          <a:prstGeom prst="rect">
            <a:avLst/>
          </a:prstGeom>
        </p:spPr>
      </p:pic>
      <p:pic>
        <p:nvPicPr>
          <p:cNvPr id="6" name="Picture 5" descr="CSS selector">
            <a:extLst>
              <a:ext uri="{FF2B5EF4-FFF2-40B4-BE49-F238E27FC236}">
                <a16:creationId xmlns:a16="http://schemas.microsoft.com/office/drawing/2014/main" id="{8FE1B8D2-618D-8BAB-C3F3-701A972F478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3" y="4451479"/>
            <a:ext cx="7887970" cy="16284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8F340D-2655-8790-025E-AD1561B8E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4451479"/>
            <a:ext cx="3150775" cy="15016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03656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4293-C2DC-D4DF-8BED-4A84ECB33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049275"/>
            <a:ext cx="10782640" cy="36806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0000"/>
                </a:solidFill>
                <a:latin typeface="+mj-lt"/>
              </a:rPr>
              <a:t>CSS Selectors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The selector determines which HTML elements the style will apply to </a:t>
            </a:r>
            <a:r>
              <a:rPr lang="en-US" sz="2000" dirty="0">
                <a:latin typeface="+mj-lt"/>
              </a:rPr>
              <a:t>= CSS selectors are used to "find" (or select) the HTML elements you want to style.</a:t>
            </a:r>
            <a:br>
              <a:rPr lang="en-US" sz="1800" dirty="0">
                <a:latin typeface="+mj-lt"/>
              </a:rPr>
            </a:b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For example:</a:t>
            </a: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8C30C-2B5A-67CC-1104-9A3DF304C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895600"/>
            <a:ext cx="89344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365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245658-B34C-7A9D-56BC-A92AA7592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5400"/>
            <a:ext cx="1074917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768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44AC67-2010-6161-1DBC-6FDEE83E8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825"/>
            <a:ext cx="8763000" cy="663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253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3128D5-80E7-1B02-7EB3-727F41461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15874"/>
            <a:ext cx="7848600" cy="30179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D3F61-6E01-2167-C80F-5559E0EC5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48100"/>
            <a:ext cx="9201150" cy="1181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5B0421-3C19-F29D-679A-F620A1E15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5124450"/>
            <a:ext cx="227647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803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8018-BDB9-6759-386C-2A1E30917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5714321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</a:rPr>
              <a:t>6. The CSS Descendant Selector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37606-42F0-4B91-7095-F55DF74B4B0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14400" y="1752600"/>
            <a:ext cx="8534400" cy="738664"/>
          </a:xfrm>
        </p:spPr>
        <p:txBody>
          <a:bodyPr/>
          <a:lstStyle/>
          <a:p>
            <a:r>
              <a:rPr lang="en-US" sz="2400" dirty="0">
                <a:latin typeface="+mj-lt"/>
              </a:rPr>
              <a:t>The descendant selector selects all elements that are inside a specified element, at any level of nesting.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A066A1-1145-0C85-65B1-7946D4440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922631"/>
            <a:ext cx="5867401" cy="38060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30D048-EB55-3E1F-63E0-F6782D2CF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922630"/>
            <a:ext cx="5179899" cy="309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49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21CED7A-6089-7BED-4CFE-77FF8919A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5714321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</a:rPr>
              <a:t>7. The CSS Child Selector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6EC157-C57F-DCD0-97EA-B715468D04AF}"/>
              </a:ext>
            </a:extLst>
          </p:cNvPr>
          <p:cNvSpPr txBox="1"/>
          <p:nvPr/>
        </p:nvSpPr>
        <p:spPr>
          <a:xfrm>
            <a:off x="762000" y="16764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child selector (</a:t>
            </a:r>
            <a:r>
              <a:rPr lang="en-US" dirty="0">
                <a:latin typeface="Courier New" panose="02070309020205020404" pitchFamily="49" charset="0"/>
              </a:rPr>
              <a:t>&gt;</a:t>
            </a:r>
            <a:r>
              <a:rPr lang="en-US" dirty="0"/>
              <a:t>) selects only elements that are direct children of a specified element.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3C09EE-7258-8CD6-AE6E-6AE1F3A34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9770"/>
            <a:ext cx="2133600" cy="2095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521E93-BA28-6867-3ABF-8EFEE67A796C}"/>
              </a:ext>
            </a:extLst>
          </p:cNvPr>
          <p:cNvSpPr txBox="1"/>
          <p:nvPr/>
        </p:nvSpPr>
        <p:spPr>
          <a:xfrm>
            <a:off x="762000" y="4800600"/>
            <a:ext cx="6400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The rule above selects only </a:t>
            </a:r>
            <a:r>
              <a:rPr lang="en-US" dirty="0">
                <a:latin typeface="Courier New" panose="02070309020205020404" pitchFamily="49" charset="0"/>
              </a:rPr>
              <a:t>&lt;p&gt;</a:t>
            </a:r>
            <a:r>
              <a:rPr lang="en-US" dirty="0"/>
              <a:t> elements that are immediate (direct) children of a </a:t>
            </a:r>
            <a:r>
              <a:rPr lang="en-US" dirty="0">
                <a:latin typeface="Courier New" panose="02070309020205020404" pitchFamily="49" charset="0"/>
              </a:rPr>
              <a:t>&lt;div&gt;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the </a:t>
            </a:r>
            <a:r>
              <a:rPr lang="en-US" dirty="0">
                <a:latin typeface="Courier New" panose="02070309020205020404" pitchFamily="49" charset="0"/>
              </a:rPr>
              <a:t>&lt;p&gt;</a:t>
            </a:r>
            <a:r>
              <a:rPr lang="en-US" dirty="0"/>
              <a:t> is nested inside another element, it will NOT be selected.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C873BF-0BB2-4E1F-0911-37CE3939A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401253"/>
            <a:ext cx="451485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310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56EC51-9CF9-9BD4-092B-27B498DEC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5714321" cy="36933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</a:rPr>
              <a:t>8. The CSS Attribute Selector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052D1-3FDD-9CF0-024A-2E372898BC63}"/>
              </a:ext>
            </a:extLst>
          </p:cNvPr>
          <p:cNvSpPr txBox="1"/>
          <p:nvPr/>
        </p:nvSpPr>
        <p:spPr>
          <a:xfrm>
            <a:off x="762000" y="17450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attribute selector selects elements based on the presence or value of an attribute.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D4CEA5-9A14-9B90-1E6F-6210B3D8D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14600"/>
            <a:ext cx="7266213" cy="35095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F07BFE-B2D5-0783-E01E-6F8926FC3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27" y="2514600"/>
            <a:ext cx="387927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731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92B36-2528-6FF7-3880-A558AC273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219201"/>
            <a:ext cx="8724560" cy="49244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0000"/>
                </a:solidFill>
                <a:latin typeface="+mj-lt"/>
              </a:rPr>
              <a:t>The CSS Box Model (Core Concept)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DCC09-D86E-55F3-AFAA-491A6D36A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885" y="838200"/>
            <a:ext cx="4739715" cy="2744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FEB55B-B4A3-5C5F-55C8-E8FA8EA85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715295"/>
            <a:ext cx="4572000" cy="3085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C45E6-F5F2-9B2B-E362-5FB76BE30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286000"/>
            <a:ext cx="6527886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603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142F6A-78E7-3433-1BCD-726955DC8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6172200" cy="3521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72F5A0-E88A-1ADE-02AC-0C8A5783C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4452937"/>
            <a:ext cx="2133600" cy="221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878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DE7CFD-672B-74DF-31E1-284060B8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2999"/>
            <a:ext cx="7620000" cy="539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353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7DBB72-445A-328E-74F9-82848C05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5769328" cy="39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6A4CC4-D8AC-E0D0-73D7-DE5D8D5B6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4" y="1066800"/>
            <a:ext cx="43529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888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FBFA5-2AB2-7303-D27D-2B7F51BF2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4600" y="152400"/>
            <a:ext cx="5714321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Complete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70253-F3DB-7256-76DE-F703F7D65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44" y="862647"/>
            <a:ext cx="4784532" cy="60829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772CB4-1FA1-0A53-484A-87A62957A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057400"/>
            <a:ext cx="49911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089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E09126-54BA-18C0-E79F-0FE61FD25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914400"/>
            <a:ext cx="4838700" cy="58959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EAC449-2526-1D93-A163-E516A2AFD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2133600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1632325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2DF3F5-D022-1A44-1C20-5C2A7EF66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201" y="9525"/>
            <a:ext cx="623379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1A4D79-A1CA-95EC-07E6-CF75A3169C14}"/>
              </a:ext>
            </a:extLst>
          </p:cNvPr>
          <p:cNvSpPr txBox="1"/>
          <p:nvPr/>
        </p:nvSpPr>
        <p:spPr>
          <a:xfrm>
            <a:off x="381000" y="1219200"/>
            <a:ext cx="464820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+mj-lt"/>
              </a:rPr>
              <a:t>Note ! That’s a </a:t>
            </a:r>
            <a:r>
              <a:rPr lang="en-US" sz="2000" b="1" dirty="0">
                <a:latin typeface="+mj-lt"/>
              </a:rPr>
              <a:t>very common and modern practice</a:t>
            </a:r>
            <a:r>
              <a:rPr lang="en-US" sz="2000" dirty="0">
                <a:latin typeface="+mj-lt"/>
              </a:rPr>
              <a:t> in CSS. Using the universal selector (*) to apply box-sizing: border-box; ensures </a:t>
            </a:r>
            <a:r>
              <a:rPr lang="en-US" sz="2000" b="1" dirty="0">
                <a:latin typeface="+mj-lt"/>
              </a:rPr>
              <a:t>every element</a:t>
            </a:r>
            <a:r>
              <a:rPr lang="en-US" sz="2000" dirty="0">
                <a:latin typeface="+mj-lt"/>
              </a:rPr>
              <a:t> calculates width and height in the predictable way.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+mj-lt"/>
              </a:rPr>
              <a:t>Here’s how it works with your example: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B543DE-57FD-7043-6DD7-484491AE5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71" y="4724400"/>
            <a:ext cx="480422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849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A783-CD32-E562-577D-9E269E410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600" y="699962"/>
            <a:ext cx="5714321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Notes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ABBB00-21E5-C27A-4E78-4738F0632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486025"/>
            <a:ext cx="9677400" cy="414337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C7CF0B7-E7F8-F8EA-B76A-E1A1C9F54642}"/>
              </a:ext>
            </a:extLst>
          </p:cNvPr>
          <p:cNvSpPr txBox="1">
            <a:spLocks/>
          </p:cNvSpPr>
          <p:nvPr/>
        </p:nvSpPr>
        <p:spPr>
          <a:xfrm>
            <a:off x="1219201" y="1743837"/>
            <a:ext cx="4572000" cy="694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kern="0" dirty="0">
                <a:solidFill>
                  <a:srgbClr val="FF0000"/>
                </a:solidFill>
                <a:latin typeface="+mj-lt"/>
              </a:rPr>
              <a:t>Auto  </a:t>
            </a:r>
          </a:p>
        </p:txBody>
      </p:sp>
    </p:spTree>
    <p:extLst>
      <p:ext uri="{BB962C8B-B14F-4D97-AF65-F5344CB8AC3E}">
        <p14:creationId xmlns:p14="http://schemas.microsoft.com/office/powerpoint/2010/main" val="1050065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9C6C4-DDBC-812A-F31C-569EEBC7A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254" y="1143001"/>
            <a:ext cx="5714321" cy="6858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Use CSS Visual rules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D9E29-303D-45B1-B3AA-C120FC7769D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85800" y="2057400"/>
            <a:ext cx="11125200" cy="1231106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CSS visual rules allow you to control the appearance of HTML elements, including fonts, text, colors, backgrounds, opacity, and background images. Here’s a breakdown of how to use these visual properties:</a:t>
            </a:r>
          </a:p>
          <a:p>
            <a:pPr algn="just"/>
            <a:endParaRPr lang="en-US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A4F4C-1D65-CAE5-40CC-A37F30E52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3117669"/>
            <a:ext cx="7620000" cy="35879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46530E-620E-713C-8379-32619C82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051" y="3117669"/>
            <a:ext cx="3028949" cy="360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146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DEF312-78A5-BA94-21E8-0EF620D58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6800"/>
            <a:ext cx="7800975" cy="4229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C4545-2B30-7BE0-3B38-F03E1FDA3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5" y="1457325"/>
            <a:ext cx="275272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2624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504FD4-DA03-5A6B-47DA-54F7F223A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7915275" cy="4686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E8345D-306D-E497-EF96-F41D5B90B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1295400"/>
            <a:ext cx="344805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461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665E6C-CB01-FEEA-608F-075FFF3C6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04887"/>
            <a:ext cx="6524625" cy="4848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AAB7BF-AE32-0611-AFBB-D1F952FE5551}"/>
              </a:ext>
            </a:extLst>
          </p:cNvPr>
          <p:cNvSpPr txBox="1"/>
          <p:nvPr/>
        </p:nvSpPr>
        <p:spPr>
          <a:xfrm>
            <a:off x="333375" y="5872162"/>
            <a:ext cx="609600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 this example, the </a:t>
            </a: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div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will appear semi-transparent.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6225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C79A7A-E4BB-3EA1-531D-91C5F0E62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-1"/>
            <a:ext cx="7391400" cy="3993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D08E5E-64A2-39BC-D030-09D2D7C0E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063979"/>
            <a:ext cx="6324600" cy="276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597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1F2C-46D3-DB38-686C-62AC75DC5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23092"/>
            <a:ext cx="87245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CSS style types =Ways to Apply 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580CA-61E9-CBFE-7784-05792011C4D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09600" y="1947691"/>
            <a:ext cx="8534400" cy="515526"/>
          </a:xfrm>
        </p:spPr>
        <p:txBody>
          <a:bodyPr/>
          <a:lstStyle/>
          <a:p>
            <a:r>
              <a:rPr lang="en-US" dirty="0">
                <a:latin typeface="+mj-lt"/>
              </a:rPr>
              <a:t>There are </a:t>
            </a:r>
            <a:r>
              <a:rPr lang="en-US" b="1" dirty="0">
                <a:latin typeface="+mj-lt"/>
              </a:rPr>
              <a:t>three ways</a:t>
            </a:r>
            <a:r>
              <a:rPr lang="en-US" dirty="0">
                <a:latin typeface="+mj-lt"/>
              </a:rPr>
              <a:t> to apply CSS in HTML: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0BD708-BCD4-E82E-DBEB-A1E70725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95600"/>
            <a:ext cx="6934200" cy="341947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320D88A-343D-4F02-4F03-A8DD507D8BFA}"/>
              </a:ext>
            </a:extLst>
          </p:cNvPr>
          <p:cNvSpPr txBox="1">
            <a:spLocks/>
          </p:cNvSpPr>
          <p:nvPr/>
        </p:nvSpPr>
        <p:spPr>
          <a:xfrm>
            <a:off x="8001000" y="2953702"/>
            <a:ext cx="4343400" cy="3447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CHARACTERISTICS:</a:t>
            </a:r>
          </a:p>
          <a:p>
            <a:endParaRPr lang="en-US" sz="2000" dirty="0">
              <a:solidFill>
                <a:srgbClr val="FF0000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0" dirty="0">
                <a:solidFill>
                  <a:srgbClr val="FF0000"/>
                </a:solidFill>
                <a:latin typeface="+mj-lt"/>
              </a:rPr>
              <a:t>Affects only one element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0" dirty="0">
                <a:solidFill>
                  <a:srgbClr val="FF0000"/>
                </a:solidFill>
                <a:latin typeface="+mj-lt"/>
              </a:rPr>
              <a:t>Written inside the HTML tag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0" dirty="0">
                <a:solidFill>
                  <a:srgbClr val="FF0000"/>
                </a:solidFill>
                <a:latin typeface="+mj-lt"/>
              </a:rPr>
              <a:t>Not reusable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0" dirty="0">
                <a:solidFill>
                  <a:srgbClr val="FF0000"/>
                </a:solidFill>
                <a:latin typeface="+mj-lt"/>
              </a:rPr>
              <a:t>Hard to maintain</a:t>
            </a:r>
          </a:p>
          <a:p>
            <a:endParaRPr lang="en-US" sz="2000" b="0" dirty="0">
              <a:solidFill>
                <a:srgbClr val="FF0000"/>
              </a:solidFill>
              <a:latin typeface="+mj-lt"/>
            </a:endParaRPr>
          </a:p>
          <a:p>
            <a:r>
              <a:rPr lang="en-US" sz="2000" b="0" dirty="0">
                <a:solidFill>
                  <a:srgbClr val="FF0000"/>
                </a:solidFill>
                <a:latin typeface="+mj-lt"/>
              </a:rPr>
              <a:t>❌ Not recommended for large projects</a:t>
            </a:r>
          </a:p>
          <a:p>
            <a:endParaRPr lang="en-US" sz="2000" b="0" dirty="0">
              <a:solidFill>
                <a:srgbClr val="FF0000"/>
              </a:solidFill>
              <a:latin typeface="+mj-lt"/>
            </a:endParaRPr>
          </a:p>
          <a:p>
            <a:r>
              <a:rPr lang="en-US" sz="2000" b="0" dirty="0">
                <a:solidFill>
                  <a:srgbClr val="FF0000"/>
                </a:solidFill>
                <a:latin typeface="+mj-lt"/>
              </a:rPr>
              <a:t>✅ Useful for quick testing</a:t>
            </a:r>
          </a:p>
          <a:p>
            <a:endParaRPr lang="en-US" sz="20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04794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2D3D8F-37B0-9C1E-8EF0-5FDBCEF94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20"/>
            <a:ext cx="6096000" cy="6838604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B2C74A4B-0922-E8D5-81F1-A75E832A5641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7467600" y="685800"/>
            <a:ext cx="4343400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CHARACTERISTICS:</a:t>
            </a:r>
            <a:endParaRPr lang="en-US" altLang="en-US" sz="2400" b="1" dirty="0">
              <a:solidFill>
                <a:srgbClr val="FF0000"/>
              </a:solidFill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Applies to one page only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Good for small projects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Better organization than inline</a:t>
            </a:r>
          </a:p>
        </p:txBody>
      </p:sp>
    </p:spTree>
    <p:extLst>
      <p:ext uri="{BB962C8B-B14F-4D97-AF65-F5344CB8AC3E}">
        <p14:creationId xmlns:p14="http://schemas.microsoft.com/office/powerpoint/2010/main" val="10102578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194F-5E14-EDA0-3B8A-64F624225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990600"/>
            <a:ext cx="8038760" cy="70332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3. External CSS (Recommended)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1873D-9762-EA27-8CBA-9BE281D85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0286"/>
            <a:ext cx="6429375" cy="4829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4F7163-D9AA-0890-0360-94A286F4DE36}"/>
              </a:ext>
            </a:extLst>
          </p:cNvPr>
          <p:cNvSpPr txBox="1"/>
          <p:nvPr/>
        </p:nvSpPr>
        <p:spPr>
          <a:xfrm>
            <a:off x="7543800" y="1828800"/>
            <a:ext cx="4572000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0000"/>
                </a:solidFill>
              </a:rPr>
              <a:t>CHARACTERISTICS:</a:t>
            </a:r>
          </a:p>
          <a:p>
            <a:pPr>
              <a:lnSpc>
                <a:spcPct val="150000"/>
              </a:lnSpc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Best practice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Reusable across multiple pages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Cleaner structure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Easier maintenance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Faster development for large projects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0000"/>
                </a:solidFill>
              </a:rPr>
              <a:t>✅ Used in professional web development</a:t>
            </a:r>
          </a:p>
        </p:txBody>
      </p:sp>
    </p:spTree>
    <p:extLst>
      <p:ext uri="{BB962C8B-B14F-4D97-AF65-F5344CB8AC3E}">
        <p14:creationId xmlns:p14="http://schemas.microsoft.com/office/powerpoint/2010/main" val="2476783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143919-B91E-FD9B-DA44-21F9795FF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25" y="1447800"/>
            <a:ext cx="11495750" cy="4267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C7184DC-3C29-6BC3-3309-E1CB36D62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0" y="381000"/>
            <a:ext cx="3352800" cy="762000"/>
          </a:xfrm>
        </p:spPr>
        <p:txBody>
          <a:bodyPr/>
          <a:lstStyle/>
          <a:p>
            <a: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  <a:t>Let’s design </a:t>
            </a:r>
            <a:b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</a:br>
            <a:endParaRPr lang="en-US" sz="4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09196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92EDC6-A73D-CDE2-4DCB-827F1B4DD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08" y="1152523"/>
            <a:ext cx="4056792" cy="5210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73693E-0F2D-432F-91C2-712A1D6B1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152523"/>
            <a:ext cx="7209567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9866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16C2C8-9472-D66F-0C76-4621BD3F1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58072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143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956A-F1A3-BF00-8128-C23A62718B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codes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60169E-6332-4CE6-01BA-A14B437A1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90500"/>
            <a:ext cx="7797401" cy="6477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E1C83AF-C97C-45AD-F2A0-F2C26B07271B}"/>
              </a:ext>
            </a:extLst>
          </p:cNvPr>
          <p:cNvSpPr txBox="1">
            <a:spLocks/>
          </p:cNvSpPr>
          <p:nvPr/>
        </p:nvSpPr>
        <p:spPr>
          <a:xfrm>
            <a:off x="203599" y="1905000"/>
            <a:ext cx="1930001" cy="22159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4800" kern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  <a:t>Table codes:</a:t>
            </a:r>
            <a:br>
              <a:rPr lang="en-US" sz="4800" kern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</a:br>
            <a:endParaRPr lang="en-US" sz="4800" kern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36819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6C2A22-A8C5-1B53-199B-AAE679E2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52400"/>
            <a:ext cx="6734175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904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C0F6D1-1EE4-5694-B5A1-68108C2FB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4095750" cy="521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ECAA72-2363-D0E9-5888-C6BAC0DC4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3152775"/>
            <a:ext cx="46672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157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9872AF-451D-04AF-091A-7ED930ECBF72}"/>
              </a:ext>
            </a:extLst>
          </p:cNvPr>
          <p:cNvSpPr txBox="1">
            <a:spLocks/>
          </p:cNvSpPr>
          <p:nvPr/>
        </p:nvSpPr>
        <p:spPr>
          <a:xfrm>
            <a:off x="203599" y="1905000"/>
            <a:ext cx="1930001" cy="22159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4800" kern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  <a:t>Form codes:</a:t>
            </a:r>
            <a:br>
              <a:rPr lang="en-US" sz="4800" kern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</a:br>
            <a:endParaRPr lang="en-US" sz="4800" kern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71BFA-6599-6E76-FDC9-1B57326DF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043" y="0"/>
            <a:ext cx="684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767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78D3D0-6060-B797-8805-80CB4A7B6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15240"/>
            <a:ext cx="4133850" cy="6362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889AFF-D04D-C629-1605-5727111B1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090" y="28575"/>
            <a:ext cx="533400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999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9319C3-6C5A-8CC8-9005-273BDE6DC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0"/>
            <a:ext cx="9144000" cy="664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563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18172-CB44-5B00-403A-3EAE3C008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9279" y="609600"/>
            <a:ext cx="5714321" cy="7033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3. Layout Techniques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0CD7E-0E9C-B426-D2CE-B29CAA9BFCA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38200" y="1295400"/>
            <a:ext cx="8610600" cy="53860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highlight>
                  <a:srgbClr val="FFFF00"/>
                </a:highlight>
                <a:latin typeface="+mj-lt"/>
              </a:rPr>
              <a:t>a) Flexbox</a:t>
            </a:r>
            <a:endParaRPr lang="en-US" sz="2800" dirty="0">
              <a:highlight>
                <a:srgbClr val="FFFF00"/>
              </a:highlight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+mj-lt"/>
              </a:rPr>
              <a:t>Flexbox</a:t>
            </a:r>
            <a:r>
              <a:rPr lang="en-US" sz="1600" dirty="0">
                <a:latin typeface="+mj-lt"/>
              </a:rPr>
              <a:t> means </a:t>
            </a:r>
            <a:r>
              <a:rPr lang="en-US" sz="1600" b="1" dirty="0">
                <a:latin typeface="+mj-lt"/>
              </a:rPr>
              <a:t>Flexible Box Layout</a:t>
            </a:r>
            <a:r>
              <a:rPr lang="en-US" sz="1600" dirty="0">
                <a:latin typeface="+mj-l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</a:rPr>
              <a:t>It is a CSS layout system used to arrange elements in </a:t>
            </a:r>
            <a:r>
              <a:rPr lang="en-US" sz="1600" b="1" dirty="0">
                <a:latin typeface="+mj-lt"/>
              </a:rPr>
              <a:t>one direction only</a:t>
            </a:r>
            <a:r>
              <a:rPr lang="en-US" sz="1600" dirty="0">
                <a:latin typeface="+mj-lt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latin typeface="+mj-lt"/>
              </a:rPr>
              <a:t>	</a:t>
            </a:r>
            <a:r>
              <a:rPr lang="en-US" sz="1600" dirty="0"/>
              <a:t>Either in a </a:t>
            </a:r>
            <a:r>
              <a:rPr lang="en-US" sz="1600" b="1" dirty="0"/>
              <a:t>row (horizontal)</a:t>
            </a:r>
            <a:endParaRPr lang="en-US" sz="16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Or in a </a:t>
            </a:r>
            <a:r>
              <a:rPr lang="en-US" sz="1600" b="1" dirty="0"/>
              <a:t>column (vertical)</a:t>
            </a:r>
            <a:endParaRPr lang="en-US" sz="16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Flexbox is a one-dimensional CSS layout model used to arrange, align, and distribute space among items inside a container.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Example: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+mj-lt"/>
              </a:rPr>
              <a:t>.container {</a:t>
            </a:r>
            <a:br>
              <a:rPr lang="en-US" sz="1600" dirty="0">
                <a:solidFill>
                  <a:srgbClr val="FF0000"/>
                </a:solidFill>
                <a:latin typeface="+mj-lt"/>
              </a:rPr>
            </a:br>
            <a:r>
              <a:rPr lang="en-US" sz="1600" dirty="0">
                <a:solidFill>
                  <a:srgbClr val="FF0000"/>
                </a:solidFill>
                <a:latin typeface="+mj-lt"/>
              </a:rPr>
              <a:t>  display: flex;</a:t>
            </a:r>
            <a:br>
              <a:rPr lang="en-US" sz="1600" dirty="0">
                <a:solidFill>
                  <a:srgbClr val="FF0000"/>
                </a:solidFill>
                <a:latin typeface="+mj-lt"/>
              </a:rPr>
            </a:br>
            <a:r>
              <a:rPr lang="en-US" sz="1600" dirty="0">
                <a:solidFill>
                  <a:srgbClr val="FF0000"/>
                </a:solidFill>
                <a:latin typeface="+mj-lt"/>
              </a:rPr>
              <a:t>  justify-content: space-between;</a:t>
            </a:r>
            <a:br>
              <a:rPr lang="en-US" sz="1600" dirty="0">
                <a:solidFill>
                  <a:srgbClr val="FF0000"/>
                </a:solidFill>
                <a:latin typeface="+mj-lt"/>
              </a:rPr>
            </a:br>
            <a:r>
              <a:rPr lang="en-US" sz="1600" dirty="0">
                <a:solidFill>
                  <a:srgbClr val="FF0000"/>
                </a:solidFill>
                <a:latin typeface="+mj-lt"/>
              </a:rPr>
              <a:t>  align-items: center;</a:t>
            </a:r>
            <a:br>
              <a:rPr lang="en-US" sz="1600" dirty="0">
                <a:solidFill>
                  <a:srgbClr val="FF0000"/>
                </a:solidFill>
                <a:latin typeface="+mj-lt"/>
              </a:rPr>
            </a:br>
            <a:r>
              <a:rPr lang="en-US" sz="1600" dirty="0">
                <a:solidFill>
                  <a:srgbClr val="FF0000"/>
                </a:solidFill>
                <a:latin typeface="+mj-lt"/>
              </a:rPr>
              <a:t>}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A23DB-D2B8-142B-E1D5-82A4DFD839D8}"/>
              </a:ext>
            </a:extLst>
          </p:cNvPr>
          <p:cNvSpPr txBox="1"/>
          <p:nvPr/>
        </p:nvSpPr>
        <p:spPr>
          <a:xfrm>
            <a:off x="7467600" y="4495800"/>
            <a:ext cx="4114800" cy="12958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+mj-lt"/>
              </a:rPr>
              <a:t>Use cases: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+mj-lt"/>
              </a:rPr>
              <a:t>Navigation bars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+mj-lt"/>
              </a:rPr>
              <a:t>Centering elements</a:t>
            </a:r>
          </a:p>
        </p:txBody>
      </p:sp>
    </p:spTree>
    <p:extLst>
      <p:ext uri="{BB962C8B-B14F-4D97-AF65-F5344CB8AC3E}">
        <p14:creationId xmlns:p14="http://schemas.microsoft.com/office/powerpoint/2010/main" val="7180955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191BE-EB29-138E-E7BD-F2055427D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066800"/>
            <a:ext cx="541020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Example1: Row (Horizontal Layout)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6A516-5C8D-E248-DFB8-78E27A7EB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4086225" cy="300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B8EB87-9AAC-4513-F19A-1E397E56A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63267"/>
            <a:ext cx="4343400" cy="540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471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6C17-6D20-94E1-BCD7-1C547FBE0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066800"/>
            <a:ext cx="590516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Example2: Column (Vertical Layout)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1ADFB-8903-C4F3-17E8-930132EF3E9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70186" y="1676400"/>
            <a:ext cx="5181600" cy="369332"/>
          </a:xfrm>
        </p:spPr>
        <p:txBody>
          <a:bodyPr/>
          <a:lstStyle/>
          <a:p>
            <a:r>
              <a:rPr lang="en-US" sz="2400" dirty="0">
                <a:latin typeface="+mj-lt"/>
              </a:rPr>
              <a:t>Now we change the direction.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46AC1-45B1-229C-EA72-661C89442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838200"/>
            <a:ext cx="393382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966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20B2B5-81BB-FD93-694B-214EDDDFC39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5774" y="3124200"/>
            <a:ext cx="3171826" cy="3200400"/>
          </a:xfrm>
        </p:spPr>
        <p:txBody>
          <a:bodyPr/>
          <a:lstStyle/>
          <a:p>
            <a:r>
              <a:rPr lang="en-US" sz="1800" b="1" dirty="0">
                <a:highlight>
                  <a:srgbClr val="FFFF00"/>
                </a:highlight>
                <a:latin typeface="+mj-lt"/>
              </a:rPr>
              <a:t>Real-Life Examples</a:t>
            </a:r>
          </a:p>
          <a:p>
            <a:endParaRPr lang="en-US" sz="1800" b="1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>
                <a:latin typeface="+mj-lt"/>
              </a:rPr>
              <a:t>Row Layout (Horizontal)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</a:rPr>
              <a:t>Navigation bar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</a:rPr>
              <a:t>Menu items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</a:rPr>
              <a:t>Buttons in a line</a:t>
            </a:r>
          </a:p>
          <a:p>
            <a:endParaRPr lang="en-US" sz="18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>
                <a:latin typeface="+mj-lt"/>
              </a:rPr>
              <a:t>Column Layout (Vertical)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</a:rPr>
              <a:t>Sidebar menu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</a:rPr>
              <a:t>Stacked cards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</a:rPr>
              <a:t>Form fields</a:t>
            </a:r>
          </a:p>
          <a:p>
            <a:endParaRPr lang="en-US" sz="1800" dirty="0">
              <a:latin typeface="+mj-lt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54DCB32-DFCF-CAFF-7AFD-94128F0376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38500" y="838200"/>
            <a:ext cx="4305300" cy="696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Clear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0C77D-8E8A-FBE9-56A5-3B4BD5D0B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35112"/>
            <a:ext cx="44862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887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C5722B-B852-BD40-4C0D-AFC1209918C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447800" y="1564243"/>
            <a:ext cx="8534400" cy="5293757"/>
          </a:xfrm>
        </p:spPr>
        <p:txBody>
          <a:bodyPr/>
          <a:lstStyle/>
          <a:p>
            <a:r>
              <a:rPr lang="en-US" sz="1600" b="1" dirty="0">
                <a:latin typeface="+mj-lt"/>
              </a:rPr>
              <a:t>Case 1: flex-direction: row; (Default)</a:t>
            </a:r>
          </a:p>
          <a:p>
            <a:r>
              <a:rPr lang="en-US" sz="1600" dirty="0">
                <a:latin typeface="+mj-lt"/>
              </a:rPr>
              <a:t>Main axis → Horizontal (left ↔ right)</a:t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Cross axis → Vertical (top ↕ bottom)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So:</a:t>
            </a:r>
          </a:p>
          <a:p>
            <a:r>
              <a:rPr lang="en-US" sz="1600" dirty="0">
                <a:latin typeface="+mj-lt"/>
              </a:rPr>
              <a:t>justify-content → moves items left, right, center</a:t>
            </a:r>
          </a:p>
          <a:p>
            <a:r>
              <a:rPr lang="en-US" sz="1600" dirty="0">
                <a:latin typeface="+mj-lt"/>
              </a:rPr>
              <a:t>align-items → moves items up, down, center vertically</a:t>
            </a:r>
          </a:p>
          <a:p>
            <a:br>
              <a:rPr lang="en-US" sz="1600" dirty="0">
                <a:latin typeface="+mj-lt"/>
              </a:rPr>
            </a:br>
            <a:endParaRPr lang="en-US" sz="1600" dirty="0">
              <a:latin typeface="+mj-lt"/>
            </a:endParaRPr>
          </a:p>
          <a:p>
            <a:r>
              <a:rPr lang="en-US" sz="1600" b="1" dirty="0">
                <a:latin typeface="+mj-lt"/>
              </a:rPr>
              <a:t>Example (Row Direction)</a:t>
            </a:r>
          </a:p>
          <a:p>
            <a:pPr lvl="1" rtl="0"/>
            <a:r>
              <a:rPr lang="en-US" sz="2000" dirty="0">
                <a:solidFill>
                  <a:srgbClr val="FF0000"/>
                </a:solidFill>
                <a:latin typeface="+mj-lt"/>
              </a:rPr>
              <a:t>.container {</a:t>
            </a:r>
            <a:br>
              <a:rPr lang="en-US" sz="2000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solidFill>
                  <a:srgbClr val="FF0000"/>
                </a:solidFill>
                <a:latin typeface="+mj-lt"/>
              </a:rPr>
              <a:t>  display: flex;</a:t>
            </a:r>
            <a:br>
              <a:rPr lang="en-US" sz="2000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solidFill>
                  <a:srgbClr val="FF0000"/>
                </a:solidFill>
                <a:latin typeface="+mj-lt"/>
              </a:rPr>
              <a:t>  justify-content: center;</a:t>
            </a:r>
            <a:br>
              <a:rPr lang="en-US" sz="2000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solidFill>
                  <a:srgbClr val="FF0000"/>
                </a:solidFill>
                <a:latin typeface="+mj-lt"/>
              </a:rPr>
              <a:t>  align-items: center;</a:t>
            </a:r>
            <a:br>
              <a:rPr lang="en-US" sz="2000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solidFill>
                  <a:srgbClr val="FF0000"/>
                </a:solidFill>
                <a:latin typeface="+mj-lt"/>
              </a:rPr>
              <a:t>  height: 200px;</a:t>
            </a:r>
            <a:br>
              <a:rPr lang="en-US" sz="2000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solidFill>
                  <a:srgbClr val="FF0000"/>
                </a:solidFill>
                <a:latin typeface="+mj-lt"/>
              </a:rPr>
              <a:t>}</a:t>
            </a:r>
          </a:p>
          <a:p>
            <a:r>
              <a:rPr lang="en-US" sz="1600" dirty="0">
                <a:latin typeface="+mj-lt"/>
              </a:rPr>
              <a:t>Result:</a:t>
            </a:r>
          </a:p>
          <a:p>
            <a:r>
              <a:rPr lang="en-US" sz="1600" dirty="0">
                <a:latin typeface="+mj-lt"/>
              </a:rPr>
              <a:t>justify-content: center; → centers horizontally</a:t>
            </a:r>
          </a:p>
          <a:p>
            <a:r>
              <a:rPr lang="en-US" sz="1600" dirty="0">
                <a:latin typeface="+mj-lt"/>
              </a:rPr>
              <a:t>align-items: center; → centers vertically</a:t>
            </a:r>
          </a:p>
          <a:p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64545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A890-3EC4-535F-7824-1E70E89C0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1938"/>
            <a:ext cx="5867400" cy="106486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1400" dirty="0">
                <a:highlight>
                  <a:srgbClr val="FFFF00"/>
                </a:highlight>
                <a:latin typeface="+mj-lt"/>
              </a:rPr>
              <a:t>A complete HTML + CSS example that demonstrates flexbox with flex-direction: row, centering both horizontally and vertically. Here’s a full working 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959C1-E368-DE5E-49DE-EECEBE6C9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4600" cy="6212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A823D2-1201-E24B-3EAA-61424F314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971115"/>
            <a:ext cx="4724400" cy="212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1230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0A5118-817B-A218-B071-BFDD3DA7573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257800" y="990600"/>
            <a:ext cx="1371600" cy="51552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Output: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138C4-BDF3-811C-018A-A6E02B029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8" y="2133600"/>
            <a:ext cx="11992383" cy="247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7243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CF7D4-2E6B-FC99-A7AE-417D1884E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0" y="838200"/>
            <a:ext cx="5714321" cy="43088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        HTML + CSS Menu with Flexbox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F01F1-0270-6F5E-73EF-B1A49663D5FF}"/>
              </a:ext>
            </a:extLst>
          </p:cNvPr>
          <p:cNvSpPr txBox="1"/>
          <p:nvPr/>
        </p:nvSpPr>
        <p:spPr>
          <a:xfrm>
            <a:off x="228600" y="1447800"/>
            <a:ext cx="4343400" cy="5232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&lt;!DOCTYPE html&gt;</a:t>
            </a:r>
          </a:p>
          <a:p>
            <a:r>
              <a:rPr lang="en-US" sz="1200" dirty="0"/>
              <a:t>&lt;html lang="</a:t>
            </a:r>
            <a:r>
              <a:rPr lang="en-US" sz="1200" dirty="0" err="1"/>
              <a:t>en</a:t>
            </a:r>
            <a:r>
              <a:rPr lang="en-US" sz="1200" dirty="0"/>
              <a:t>"&gt;</a:t>
            </a:r>
          </a:p>
          <a:p>
            <a:r>
              <a:rPr lang="en-US" sz="1200" dirty="0"/>
              <a:t>&lt;head&gt;</a:t>
            </a:r>
          </a:p>
          <a:p>
            <a:r>
              <a:rPr lang="en-US" sz="1200" dirty="0"/>
              <a:t>  &lt;meta charset="UTF-8"&gt;</a:t>
            </a:r>
          </a:p>
          <a:p>
            <a:r>
              <a:rPr lang="en-US" sz="1200" dirty="0"/>
              <a:t>  &lt;title&gt;Flexbox Menu Example&lt;/title&gt;</a:t>
            </a:r>
          </a:p>
          <a:p>
            <a:r>
              <a:rPr lang="en-US" sz="1200" dirty="0"/>
              <a:t>  &lt;style&gt;</a:t>
            </a:r>
          </a:p>
          <a:p>
            <a:r>
              <a:rPr lang="en-US" sz="1200" dirty="0"/>
              <a:t>    /* Menu container */</a:t>
            </a:r>
          </a:p>
          <a:p>
            <a:r>
              <a:rPr lang="en-US" sz="1200" dirty="0"/>
              <a:t>    .menu {</a:t>
            </a:r>
          </a:p>
          <a:p>
            <a:r>
              <a:rPr lang="en-US" sz="1200" dirty="0"/>
              <a:t>      display: flex;                /* Enable flexbox */</a:t>
            </a:r>
          </a:p>
          <a:p>
            <a:r>
              <a:rPr lang="en-US" sz="1200" dirty="0"/>
              <a:t>      justify-content: center;      /* Center items horizontally */</a:t>
            </a:r>
          </a:p>
          <a:p>
            <a:r>
              <a:rPr lang="en-US" sz="1200" dirty="0"/>
              <a:t>      align-items: center;          /* Align items vertically */</a:t>
            </a:r>
          </a:p>
          <a:p>
            <a:r>
              <a:rPr lang="en-US" sz="1200" dirty="0"/>
              <a:t>      background-color: #333;       /* Dark background */</a:t>
            </a:r>
          </a:p>
          <a:p>
            <a:r>
              <a:rPr lang="en-US" sz="1200" dirty="0"/>
              <a:t>      padding: 10px;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/* Menu items */</a:t>
            </a:r>
          </a:p>
          <a:p>
            <a:r>
              <a:rPr lang="en-US" sz="1200" dirty="0"/>
              <a:t>    .menu-item {</a:t>
            </a:r>
          </a:p>
          <a:p>
            <a:r>
              <a:rPr lang="en-US" sz="1200" dirty="0"/>
              <a:t>      color: white;</a:t>
            </a:r>
          </a:p>
          <a:p>
            <a:r>
              <a:rPr lang="en-US" sz="1200" dirty="0"/>
              <a:t>      padding: 10px 20px;</a:t>
            </a:r>
          </a:p>
          <a:p>
            <a:r>
              <a:rPr lang="en-US" sz="1200" dirty="0"/>
              <a:t>      margin: 0 5px;</a:t>
            </a:r>
          </a:p>
          <a:p>
            <a:r>
              <a:rPr lang="en-US" sz="1200" dirty="0"/>
              <a:t>      text-decoration: none;</a:t>
            </a:r>
          </a:p>
          <a:p>
            <a:r>
              <a:rPr lang="en-US" sz="1200" dirty="0"/>
              <a:t>      font-weight: bold;</a:t>
            </a:r>
          </a:p>
          <a:p>
            <a:r>
              <a:rPr lang="en-US" sz="1200" dirty="0"/>
              <a:t>      background-color: #444;</a:t>
            </a:r>
          </a:p>
          <a:p>
            <a:r>
              <a:rPr lang="en-US" sz="1200" dirty="0"/>
              <a:t>      border-radius: 4px;</a:t>
            </a:r>
          </a:p>
          <a:p>
            <a:r>
              <a:rPr lang="en-US" sz="1200" dirty="0"/>
              <a:t>      display: flex;                /* Flex inside item */</a:t>
            </a:r>
          </a:p>
          <a:p>
            <a:r>
              <a:rPr lang="en-US" sz="1200" dirty="0"/>
              <a:t>      justify-content: center;      /* Center text horizontally */</a:t>
            </a:r>
          </a:p>
          <a:p>
            <a:r>
              <a:rPr lang="en-US" sz="1200" dirty="0"/>
              <a:t>      align-items: center;          /* Center text vertically */</a:t>
            </a:r>
          </a:p>
          <a:p>
            <a:r>
              <a:rPr lang="en-US" sz="1200" dirty="0"/>
              <a:t>   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65777-29E1-70BC-D669-210403591160}"/>
              </a:ext>
            </a:extLst>
          </p:cNvPr>
          <p:cNvSpPr txBox="1"/>
          <p:nvPr/>
        </p:nvSpPr>
        <p:spPr>
          <a:xfrm>
            <a:off x="5715000" y="2874526"/>
            <a:ext cx="4343400" cy="37548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 .menu-item:hover {</a:t>
            </a:r>
          </a:p>
          <a:p>
            <a:r>
              <a:rPr lang="en-US" sz="1400" dirty="0"/>
              <a:t>      background-color: #007BFF;    /* Hover effect */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&lt;/style&gt;</a:t>
            </a:r>
          </a:p>
          <a:p>
            <a:r>
              <a:rPr lang="en-US" sz="1400" dirty="0"/>
              <a:t>&lt;/head&gt;</a:t>
            </a:r>
          </a:p>
          <a:p>
            <a:r>
              <a:rPr lang="en-US" sz="1400" dirty="0"/>
              <a:t>&lt;body&gt;</a:t>
            </a:r>
          </a:p>
          <a:p>
            <a:endParaRPr lang="en-US" sz="1400" dirty="0"/>
          </a:p>
          <a:p>
            <a:r>
              <a:rPr lang="en-US" sz="1400" dirty="0"/>
              <a:t>  &lt;h2&gt;Flexbox Menu Example&lt;/h2&gt;</a:t>
            </a:r>
          </a:p>
          <a:p>
            <a:r>
              <a:rPr lang="en-US" sz="1400" dirty="0"/>
              <a:t>  &lt;nav class="menu"&gt;</a:t>
            </a:r>
          </a:p>
          <a:p>
            <a:r>
              <a:rPr lang="en-US" sz="1400" dirty="0"/>
              <a:t>    &lt;a </a:t>
            </a:r>
            <a:r>
              <a:rPr lang="en-US" sz="1400" dirty="0" err="1"/>
              <a:t>href</a:t>
            </a:r>
            <a:r>
              <a:rPr lang="en-US" sz="1400" dirty="0"/>
              <a:t>="#" class="menu-item"&gt;Home&lt;/a&gt;</a:t>
            </a:r>
          </a:p>
          <a:p>
            <a:r>
              <a:rPr lang="en-US" sz="1400" dirty="0"/>
              <a:t>    &lt;a </a:t>
            </a:r>
            <a:r>
              <a:rPr lang="en-US" sz="1400" dirty="0" err="1"/>
              <a:t>href</a:t>
            </a:r>
            <a:r>
              <a:rPr lang="en-US" sz="1400" dirty="0"/>
              <a:t>="#" class="menu-item"&gt;About&lt;/a&gt;</a:t>
            </a:r>
          </a:p>
          <a:p>
            <a:r>
              <a:rPr lang="en-US" sz="1400" dirty="0"/>
              <a:t>    &lt;a </a:t>
            </a:r>
            <a:r>
              <a:rPr lang="en-US" sz="1400" dirty="0" err="1"/>
              <a:t>href</a:t>
            </a:r>
            <a:r>
              <a:rPr lang="en-US" sz="1400" dirty="0"/>
              <a:t>="#" class="menu-item"&gt;Services&lt;/a&gt;</a:t>
            </a:r>
          </a:p>
          <a:p>
            <a:r>
              <a:rPr lang="en-US" sz="1400" dirty="0"/>
              <a:t>    &lt;a </a:t>
            </a:r>
            <a:r>
              <a:rPr lang="en-US" sz="1400" dirty="0" err="1"/>
              <a:t>href</a:t>
            </a:r>
            <a:r>
              <a:rPr lang="en-US" sz="1400" dirty="0"/>
              <a:t>="#" class="menu-item"&gt;Contact&lt;/a&gt;</a:t>
            </a:r>
          </a:p>
          <a:p>
            <a:r>
              <a:rPr lang="en-US" sz="1400" dirty="0"/>
              <a:t>  &lt;/nav&gt;</a:t>
            </a:r>
          </a:p>
          <a:p>
            <a:endParaRPr lang="en-US" sz="1400" dirty="0"/>
          </a:p>
          <a:p>
            <a:r>
              <a:rPr lang="en-US" sz="1400" dirty="0"/>
              <a:t>&lt;/body&gt;</a:t>
            </a:r>
          </a:p>
          <a:p>
            <a:r>
              <a:rPr lang="en-US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907535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04BDCA1-172A-619C-D4DE-02E5871A3296}"/>
              </a:ext>
            </a:extLst>
          </p:cNvPr>
          <p:cNvSpPr txBox="1">
            <a:spLocks/>
          </p:cNvSpPr>
          <p:nvPr/>
        </p:nvSpPr>
        <p:spPr>
          <a:xfrm>
            <a:off x="5257800" y="990600"/>
            <a:ext cx="137160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350" b="0" i="0">
                <a:solidFill>
                  <a:schemeClr val="tx1"/>
                </a:solidFill>
                <a:latin typeface="MS PGothic"/>
                <a:ea typeface="+mn-ea"/>
                <a:cs typeface="MS PGothic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>
                <a:solidFill>
                  <a:srgbClr val="FF0000"/>
                </a:solidFill>
              </a:rPr>
              <a:t>Output: </a:t>
            </a:r>
            <a:endParaRPr lang="en-US" kern="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4813FD-5BAB-E152-844C-E16A82EE0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923253"/>
            <a:ext cx="11989748" cy="150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486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778AF6-0708-705E-A561-85012DD3439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95400" y="1295400"/>
            <a:ext cx="10363200" cy="2954655"/>
          </a:xfrm>
        </p:spPr>
        <p:txBody>
          <a:bodyPr/>
          <a:lstStyle/>
          <a:p>
            <a:pPr algn="just"/>
            <a:r>
              <a:rPr lang="en-US" sz="2400" b="1" dirty="0">
                <a:highlight>
                  <a:srgbClr val="FFFF00"/>
                </a:highlight>
                <a:latin typeface="+mj-lt"/>
              </a:rPr>
              <a:t>b) CSS Grid</a:t>
            </a:r>
          </a:p>
          <a:p>
            <a:pPr algn="just"/>
            <a:endParaRPr lang="en-US" sz="2400" b="1" dirty="0">
              <a:highlight>
                <a:srgbClr val="FFFF00"/>
              </a:highlight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1. Definition</a:t>
            </a:r>
            <a:endParaRPr lang="en-US" sz="2400" dirty="0">
              <a:latin typeface="+mj-lt"/>
            </a:endParaRP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CSS Grid is a </a:t>
            </a:r>
            <a:r>
              <a:rPr lang="en-US" sz="2400" b="1" dirty="0">
                <a:latin typeface="+mj-lt"/>
              </a:rPr>
              <a:t>layout system</a:t>
            </a:r>
            <a:r>
              <a:rPr lang="en-US" sz="2400" dirty="0">
                <a:latin typeface="+mj-lt"/>
              </a:rPr>
              <a:t> in CSS that allows you to create complex, responsive, two‑dimensional layouts (rows and columns).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Unlike Flexbox (which is one‑dimensional), Grid handles both </a:t>
            </a:r>
            <a:r>
              <a:rPr lang="en-US" sz="2400" b="1" dirty="0">
                <a:latin typeface="+mj-lt"/>
              </a:rPr>
              <a:t>rows and columns simultaneously</a:t>
            </a:r>
            <a:r>
              <a:rPr lang="en-US" sz="2400" dirty="0">
                <a:latin typeface="+mj-lt"/>
              </a:rPr>
              <a:t>.</a:t>
            </a:r>
          </a:p>
          <a:p>
            <a:pPr algn="just"/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48352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0D3B5D-016F-4CE2-1A0A-330E13595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838200"/>
            <a:ext cx="6887029" cy="556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F7DA69-00A4-48FA-276F-DC775D889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275" y="2971800"/>
            <a:ext cx="45624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661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5956E-2B92-6CC0-565C-953F19391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0" y="838200"/>
            <a:ext cx="2171359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Output: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B8B97-024E-8178-4537-99253F6AA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81" y="2438400"/>
            <a:ext cx="11701438" cy="238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661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154F31-04BF-B45E-0E38-AED35A57BBD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95400" y="1066800"/>
            <a:ext cx="8534400" cy="5663089"/>
          </a:xfrm>
        </p:spPr>
        <p:txBody>
          <a:bodyPr/>
          <a:lstStyle/>
          <a:p>
            <a:pPr algn="just"/>
            <a:r>
              <a:rPr lang="en-US" sz="1600" b="1" dirty="0">
                <a:highlight>
                  <a:srgbClr val="FFFF00"/>
                </a:highlight>
                <a:latin typeface="+mj-lt"/>
              </a:rPr>
              <a:t>2. Code Explanation</a:t>
            </a:r>
            <a:endParaRPr lang="en-US" sz="1600" dirty="0">
              <a:highlight>
                <a:srgbClr val="FFFF00"/>
              </a:highlight>
              <a:latin typeface="+mj-lt"/>
            </a:endParaRPr>
          </a:p>
          <a:p>
            <a:pPr algn="just"/>
            <a:r>
              <a:rPr lang="en-US" sz="1600" dirty="0" err="1">
                <a:latin typeface="+mj-lt"/>
              </a:rPr>
              <a:t>css</a:t>
            </a:r>
            <a:endParaRPr lang="en-US" sz="1600" dirty="0">
              <a:latin typeface="+mj-lt"/>
            </a:endParaRPr>
          </a:p>
          <a:p>
            <a:pPr algn="just"/>
            <a:r>
              <a:rPr lang="en-US" sz="1600" dirty="0">
                <a:solidFill>
                  <a:srgbClr val="FF0000"/>
                </a:solidFill>
                <a:latin typeface="+mj-lt"/>
              </a:rPr>
              <a:t>.container {</a:t>
            </a:r>
          </a:p>
          <a:p>
            <a:pPr algn="just"/>
            <a:r>
              <a:rPr lang="en-US" sz="1600" dirty="0">
                <a:solidFill>
                  <a:srgbClr val="FF0000"/>
                </a:solidFill>
                <a:latin typeface="+mj-lt"/>
              </a:rPr>
              <a:t>    display: grid;                          /* Enables grid layout */</a:t>
            </a:r>
          </a:p>
          <a:p>
            <a:pPr algn="just"/>
            <a:r>
              <a:rPr lang="en-US" sz="1600" dirty="0">
                <a:solidFill>
                  <a:srgbClr val="FF0000"/>
                </a:solidFill>
                <a:latin typeface="+mj-lt"/>
              </a:rPr>
              <a:t>    grid-template-columns: repeat(3, 1fr);  /* Creates 3 equal-width columns */</a:t>
            </a:r>
          </a:p>
          <a:p>
            <a:pPr algn="just"/>
            <a:r>
              <a:rPr lang="en-US" sz="1600" dirty="0">
                <a:solidFill>
                  <a:srgbClr val="FF0000"/>
                </a:solidFill>
                <a:latin typeface="+mj-lt"/>
              </a:rPr>
              <a:t>    gap: 10px;                              /* Adds spacing between grid items */</a:t>
            </a:r>
          </a:p>
          <a:p>
            <a:pPr algn="just"/>
            <a:r>
              <a:rPr lang="en-US" sz="1600" dirty="0">
                <a:solidFill>
                  <a:srgbClr val="FF0000"/>
                </a:solidFill>
                <a:latin typeface="+mj-lt"/>
              </a:rPr>
              <a:t>}</a:t>
            </a:r>
          </a:p>
          <a:p>
            <a:pPr marL="285750" lvl="0" indent="-285750" algn="just"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</a:rPr>
              <a:t>display: grid; → turns the container into a grid layout.</a:t>
            </a:r>
          </a:p>
          <a:p>
            <a:pPr marL="285750" lvl="0" indent="-285750" algn="just"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</a:rPr>
              <a:t>grid-template-columns: repeat(3, 1fr); → defines 3 columns, each taking equal space (1fr = one fraction of available space).</a:t>
            </a:r>
          </a:p>
          <a:p>
            <a:pPr marL="285750" lvl="0" indent="-285750" algn="just"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</a:rPr>
              <a:t>gap: 10px; → sets spacing between rows and columns (like margins between items).</a:t>
            </a:r>
          </a:p>
          <a:p>
            <a:pPr lvl="0" algn="just"/>
            <a:endParaRPr lang="en-US" sz="1600" dirty="0">
              <a:latin typeface="+mj-lt"/>
            </a:endParaRPr>
          </a:p>
          <a:p>
            <a:pPr algn="just"/>
            <a:r>
              <a:rPr lang="en-US" sz="1600" b="1" dirty="0">
                <a:latin typeface="+mj-lt"/>
              </a:rPr>
              <a:t>3. Key Concepts</a:t>
            </a:r>
            <a:endParaRPr lang="en-US" sz="1600" dirty="0">
              <a:latin typeface="+mj-lt"/>
            </a:endParaRP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+mj-lt"/>
              </a:rPr>
              <a:t>Grid Container:</a:t>
            </a:r>
            <a:r>
              <a:rPr lang="en-US" sz="1600" dirty="0">
                <a:latin typeface="+mj-lt"/>
              </a:rPr>
              <a:t> The parent element with display: grid.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+mj-lt"/>
              </a:rPr>
              <a:t>Grid Items:</a:t>
            </a:r>
            <a:r>
              <a:rPr lang="en-US" sz="1600" dirty="0">
                <a:latin typeface="+mj-lt"/>
              </a:rPr>
              <a:t> The child elements inside the container.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+mj-lt"/>
              </a:rPr>
              <a:t>Fraction Unit (</a:t>
            </a:r>
            <a:r>
              <a:rPr lang="en-US" sz="1600" dirty="0" err="1">
                <a:latin typeface="+mj-lt"/>
              </a:rPr>
              <a:t>fr</a:t>
            </a:r>
            <a:r>
              <a:rPr lang="en-US" sz="1600" b="1" dirty="0">
                <a:latin typeface="+mj-lt"/>
              </a:rPr>
              <a:t>):</a:t>
            </a:r>
            <a:r>
              <a:rPr lang="en-US" sz="1600" dirty="0">
                <a:latin typeface="+mj-lt"/>
              </a:rPr>
              <a:t> Represents a portion of available space.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+mj-lt"/>
              </a:rPr>
              <a:t>Repeat Function:</a:t>
            </a:r>
            <a:r>
              <a:rPr lang="en-US" sz="1600" dirty="0">
                <a:latin typeface="+mj-lt"/>
              </a:rPr>
              <a:t> Simplifies repetitive column/row definitions.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+mj-lt"/>
              </a:rPr>
              <a:t>Gap:</a:t>
            </a:r>
            <a:r>
              <a:rPr lang="en-US" sz="1600" dirty="0">
                <a:latin typeface="+mj-lt"/>
              </a:rPr>
              <a:t> Controls spacing between items without needing margins.</a:t>
            </a:r>
          </a:p>
          <a:p>
            <a:pPr algn="just"/>
            <a:r>
              <a:rPr lang="en-US" sz="1600" b="1" dirty="0">
                <a:latin typeface="+mj-lt"/>
              </a:rPr>
              <a:t>4. Advantages</a:t>
            </a:r>
            <a:endParaRPr lang="en-US" sz="1600" dirty="0">
              <a:latin typeface="+mj-lt"/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latin typeface="+mj-lt"/>
              </a:rPr>
              <a:t>Easy to create </a:t>
            </a:r>
            <a:r>
              <a:rPr lang="en-US" sz="1600" b="1" dirty="0">
                <a:latin typeface="+mj-lt"/>
              </a:rPr>
              <a:t>responsive layouts</a:t>
            </a:r>
            <a:r>
              <a:rPr lang="en-US" sz="1600" dirty="0">
                <a:latin typeface="+mj-lt"/>
              </a:rPr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latin typeface="+mj-lt"/>
              </a:rPr>
              <a:t>Handles both </a:t>
            </a:r>
            <a:r>
              <a:rPr lang="en-US" sz="1600" b="1" dirty="0">
                <a:latin typeface="+mj-lt"/>
              </a:rPr>
              <a:t>rows and columns</a:t>
            </a:r>
            <a:r>
              <a:rPr lang="en-US" sz="1600" dirty="0">
                <a:latin typeface="+mj-lt"/>
              </a:rPr>
              <a:t> in one system.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latin typeface="+mj-lt"/>
              </a:rPr>
              <a:t>Cleaner and more flexible than floats or tables.</a:t>
            </a:r>
          </a:p>
          <a:p>
            <a:pPr algn="just"/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25579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0958A-2D55-F0B6-587E-63283BC52AFC}"/>
              </a:ext>
            </a:extLst>
          </p:cNvPr>
          <p:cNvSpPr txBox="1"/>
          <p:nvPr/>
        </p:nvSpPr>
        <p:spPr>
          <a:xfrm>
            <a:off x="2895600" y="1981200"/>
            <a:ext cx="8610600" cy="1688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/>
              <a:t>Items are arranged in a grid with 3 columns per row.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/>
              <a:t>Perfect for dashboards, galleries, structured layouts.</a:t>
            </a:r>
          </a:p>
        </p:txBody>
      </p:sp>
    </p:spTree>
    <p:extLst>
      <p:ext uri="{BB962C8B-B14F-4D97-AF65-F5344CB8AC3E}">
        <p14:creationId xmlns:p14="http://schemas.microsoft.com/office/powerpoint/2010/main" val="20143937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5F0658-D55D-A835-A4C4-C79D64BFE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143000"/>
            <a:ext cx="5452745" cy="2362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D5D24A-CA24-BB9B-F0A6-34537ABD9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135912"/>
            <a:ext cx="4800600" cy="16011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18FBE4-60D2-816D-34D5-053A0DA82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78" y="4267200"/>
            <a:ext cx="5286375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B17AA0-61B9-5332-1C18-E73C2085F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4412728"/>
            <a:ext cx="4800600" cy="155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297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BB7093-421D-3F69-FB2F-6FACFEF1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9225"/>
            <a:ext cx="7429500" cy="2009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E8FAA8-A9B6-D8E2-CB9D-E82350CAA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38600"/>
            <a:ext cx="9106439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153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621D-52A4-C8AC-46B8-0D5ACD2AC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707744"/>
            <a:ext cx="86483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CSS Media Queries – Summary Notes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1F44E-BABE-28B7-CA4B-04CA6BB98BD5}"/>
              </a:ext>
            </a:extLst>
          </p:cNvPr>
          <p:cNvSpPr txBox="1"/>
          <p:nvPr/>
        </p:nvSpPr>
        <p:spPr>
          <a:xfrm>
            <a:off x="1676400" y="1484454"/>
            <a:ext cx="100584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1. Definition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Media queries are </a:t>
            </a:r>
            <a:r>
              <a:rPr lang="en-US" sz="2000" b="1" dirty="0"/>
              <a:t>CSS techniques</a:t>
            </a:r>
            <a:r>
              <a:rPr lang="en-US" sz="2000" dirty="0"/>
              <a:t> that allow you to </a:t>
            </a:r>
            <a:r>
              <a:rPr lang="en-US" sz="2000" b="1" dirty="0"/>
              <a:t>apply styles based on the device’s characteristics</a:t>
            </a:r>
            <a:r>
              <a:rPr lang="en-US" sz="2000" dirty="0"/>
              <a:t>, such as screen size, resolution, or orientation.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Essential for </a:t>
            </a:r>
            <a:r>
              <a:rPr lang="en-US" sz="2000" b="1" dirty="0"/>
              <a:t>responsive web design</a:t>
            </a:r>
            <a:r>
              <a:rPr lang="en-US" sz="2000" dirty="0"/>
              <a:t> (making websites look good on phones, tablets, desktops).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115B2F-5ED2-B365-953A-6D6CF55E0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038600"/>
            <a:ext cx="6602102" cy="259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7341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490A98-3FDA-D68A-10F0-0F45A2C47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71600"/>
            <a:ext cx="1049395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768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FAB3B-00CE-550F-B0AC-62ACCFAB4596}"/>
              </a:ext>
            </a:extLst>
          </p:cNvPr>
          <p:cNvSpPr txBox="1"/>
          <p:nvPr/>
        </p:nvSpPr>
        <p:spPr>
          <a:xfrm>
            <a:off x="3200400" y="1066800"/>
            <a:ext cx="510540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4. </a:t>
            </a:r>
            <a:r>
              <a:rPr lang="en-US" sz="2800" b="1" dirty="0">
                <a:solidFill>
                  <a:srgbClr val="FF0000"/>
                </a:solidFill>
              </a:rPr>
              <a:t>Example: Responsive Layout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6571E-84D3-1E2B-CC0D-EE6D9C87367D}"/>
              </a:ext>
            </a:extLst>
          </p:cNvPr>
          <p:cNvSpPr txBox="1"/>
          <p:nvPr/>
        </p:nvSpPr>
        <p:spPr>
          <a:xfrm>
            <a:off x="1295400" y="1595021"/>
            <a:ext cx="60976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/* Default styles for desktop */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body {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background-color: lightblue;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font-size: 18px;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}</a:t>
            </a:r>
            <a:br>
              <a:rPr lang="en-US" sz="1600"/>
            </a:br>
            <a:br>
              <a:rPr lang="en-US" sz="1600"/>
            </a:b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/* Styles for tablets (max-width 768px) */</a:t>
            </a:r>
            <a:b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@media (max-width: 768px) {</a:t>
            </a:r>
            <a:b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body {</a:t>
            </a:r>
            <a:b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background-color: lightgreen;</a:t>
            </a:r>
            <a:b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font-size: 16px;</a:t>
            </a:r>
            <a:b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b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br>
              <a:rPr lang="en-US" sz="1600"/>
            </a:br>
            <a:br>
              <a:rPr lang="en-US" sz="1600"/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/* Styles for mobile (max-width 480px) */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@media (max-width: 480px) {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body {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background-color: lightpink;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font-size: 14px;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}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}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1FF63-1FE4-BEEE-E806-02B2B88527DB}"/>
              </a:ext>
            </a:extLst>
          </p:cNvPr>
          <p:cNvSpPr txBox="1"/>
          <p:nvPr/>
        </p:nvSpPr>
        <p:spPr>
          <a:xfrm>
            <a:off x="7696200" y="3048000"/>
            <a:ext cx="4114801" cy="18498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happens:</a:t>
            </a:r>
          </a:p>
          <a:p>
            <a:pPr>
              <a:buNone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Desktop → light blue, 18px font.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Tablet → light green, 16px font.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Mobile → light pink, 14px font.</a:t>
            </a:r>
          </a:p>
        </p:txBody>
      </p:sp>
    </p:spTree>
    <p:extLst>
      <p:ext uri="{BB962C8B-B14F-4D97-AF65-F5344CB8AC3E}">
        <p14:creationId xmlns:p14="http://schemas.microsoft.com/office/powerpoint/2010/main" val="257206869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35639D-C873-138D-B08B-AAC00C4DB748}"/>
              </a:ext>
            </a:extLst>
          </p:cNvPr>
          <p:cNvSpPr txBox="1"/>
          <p:nvPr/>
        </p:nvSpPr>
        <p:spPr>
          <a:xfrm>
            <a:off x="2057400" y="1371600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highlight>
                  <a:srgbClr val="FFFF00"/>
                </a:highlight>
              </a:rPr>
              <a:t>5. Tips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 </a:t>
            </a:r>
            <a:r>
              <a:rPr lang="en-US" b="1" dirty="0"/>
              <a:t>mobile-first approach</a:t>
            </a:r>
            <a:r>
              <a:rPr lang="en-US" dirty="0"/>
              <a:t>: write default styles for mobile, then add </a:t>
            </a:r>
            <a:r>
              <a:rPr lang="en-US" dirty="0">
                <a:latin typeface="Courier New" panose="02070309020205020404" pitchFamily="49" charset="0"/>
              </a:rPr>
              <a:t>min-width</a:t>
            </a:r>
            <a:r>
              <a:rPr lang="en-US" dirty="0"/>
              <a:t> queries for bigger screens.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Combine multiple conditions: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35430-782E-E908-110C-CAE952348A5D}"/>
              </a:ext>
            </a:extLst>
          </p:cNvPr>
          <p:cNvSpPr txBox="1"/>
          <p:nvPr/>
        </p:nvSpPr>
        <p:spPr>
          <a:xfrm>
            <a:off x="2077278" y="3048000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@media (min-width: 600px) and (max-width: 900px) {</a:t>
            </a:r>
          </a:p>
          <a:p>
            <a:r>
              <a:rPr lang="en-US" dirty="0">
                <a:solidFill>
                  <a:srgbClr val="FF0000"/>
                </a:solidFill>
              </a:rPr>
              <a:t>  body { background-color: orange; }</a:t>
            </a:r>
          </a:p>
          <a:p>
            <a:r>
              <a:rPr lang="en-US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94919E3-5116-48EF-C1C3-91E34558B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259568"/>
            <a:ext cx="9601200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used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fonts, layouts, images, visibility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almost any CSS property.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CSS, internal CSS, or inline style blocks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232227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0D6A-30DD-2986-7F53-E6F81A223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208406"/>
            <a:ext cx="3771560" cy="696594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JavaScript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9F7BC-2730-02AA-7939-819DEC8A9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228600"/>
            <a:ext cx="2143125" cy="214312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AC76CD6-CDE4-ED7F-3FBF-0387ECF1649B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685800" y="2195448"/>
            <a:ext cx="11201400" cy="388375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rgbClr val="FF0000"/>
                </a:solidFill>
                <a:latin typeface="+mj-lt"/>
              </a:rPr>
              <a:t>1. Introduction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lang="en-US" sz="2400" dirty="0"/>
              <a:t>JavaScript is a lightweight, cross-platform, interpreted programming language mainly used for web development.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It runs inside the browser using &lt;script&gt; tags and enables interactive and dynamic content on websites.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JavaScript can manipulate HTML and CSS dynamically.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Although it runs inside browsers, it can also be used on servers through </a:t>
            </a:r>
            <a:r>
              <a:rPr lang="en-US" sz="2400" b="1" dirty="0"/>
              <a:t>Node.js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060847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1F27EE-D336-6766-030A-5A734D5CD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066800"/>
            <a:ext cx="5714321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2. Key Features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44725EF-C614-A7CE-314C-CFD3E288FD3F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143000" y="1905000"/>
            <a:ext cx="10287000" cy="335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Lightweight &amp; Fast: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Executes quickly in browsers.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Single‑Threaded: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Handles one task at a time, but supports asynchronous operations (Promises, async/await).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Event‑Driven: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Responds to user actions like clicks, key presses, or form submissions.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Cross‑Platform: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Works across different operating systems and browsers.</a:t>
            </a:r>
          </a:p>
        </p:txBody>
      </p:sp>
    </p:spTree>
    <p:extLst>
      <p:ext uri="{BB962C8B-B14F-4D97-AF65-F5344CB8AC3E}">
        <p14:creationId xmlns:p14="http://schemas.microsoft.com/office/powerpoint/2010/main" val="339492954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318387-2C9D-E370-0660-FAD2EBD57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066800"/>
            <a:ext cx="5714321" cy="430887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3. 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Basic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Concepts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5428F8-1DF9-F908-F365-CB198D7FDD9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473200" y="1953824"/>
            <a:ext cx="8534400" cy="2708434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Variables=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A </a:t>
            </a:r>
            <a:r>
              <a:rPr lang="en-US" sz="2000" b="1" dirty="0">
                <a:highlight>
                  <a:srgbClr val="FFFF00"/>
                </a:highlight>
                <a:latin typeface="+mj-lt"/>
              </a:rPr>
              <a:t>variable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 is a named container used to store data in memory.</a:t>
            </a:r>
            <a:endParaRPr lang="en-US" sz="2000" b="1" dirty="0">
              <a:highlight>
                <a:srgbClr val="FFFF00"/>
              </a:highlight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Declared using var, let, or const.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var → function‑scoped, older style.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let → block‑scoped, allows reassignment.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const → block‑scoped, cannot be reassigned.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CD304-283D-2C9F-39D0-B9A4A2209BD9}"/>
              </a:ext>
            </a:extLst>
          </p:cNvPr>
          <p:cNvSpPr txBox="1"/>
          <p:nvPr/>
        </p:nvSpPr>
        <p:spPr>
          <a:xfrm>
            <a:off x="1473200" y="47244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let name = "Betty";</a:t>
            </a:r>
          </a:p>
          <a:p>
            <a:r>
              <a:rPr lang="en-US" dirty="0">
                <a:solidFill>
                  <a:srgbClr val="FF0000"/>
                </a:solidFill>
              </a:rPr>
              <a:t>const age = 25;</a:t>
            </a:r>
          </a:p>
          <a:p>
            <a:r>
              <a:rPr lang="en-US" dirty="0">
                <a:solidFill>
                  <a:srgbClr val="FF0000"/>
                </a:solidFill>
              </a:rPr>
              <a:t>var city = "Kigali";</a:t>
            </a:r>
          </a:p>
        </p:txBody>
      </p:sp>
    </p:spTree>
    <p:extLst>
      <p:ext uri="{BB962C8B-B14F-4D97-AF65-F5344CB8AC3E}">
        <p14:creationId xmlns:p14="http://schemas.microsoft.com/office/powerpoint/2010/main" val="182837225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94E524-B7A4-D3C6-E6D8-72F1E6275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5474"/>
            <a:ext cx="2095160" cy="1477328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B. Data Types</a:t>
            </a:r>
            <a:br>
              <a:rPr lang="en-US" sz="2400" dirty="0">
                <a:highlight>
                  <a:srgbClr val="FFFF00"/>
                </a:highlight>
                <a:latin typeface="+mj-lt"/>
              </a:rPr>
            </a:br>
            <a:br>
              <a:rPr lang="en-US" sz="2400" dirty="0">
                <a:latin typeface="+mj-lt"/>
              </a:rPr>
            </a:br>
            <a:br>
              <a:rPr lang="en-US" sz="2400" dirty="0">
                <a:latin typeface="+mj-lt"/>
              </a:rPr>
            </a:br>
            <a:endParaRPr lang="en-US" sz="2400" dirty="0">
              <a:latin typeface="+mj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92F6AD-E89D-2301-5F8C-D1CD41080DD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38200" y="1746075"/>
            <a:ext cx="10134600" cy="406265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+mj-lt"/>
              </a:rPr>
              <a:t>Primitive types: </a:t>
            </a:r>
            <a:r>
              <a:rPr lang="en-US" sz="2400" dirty="0">
                <a:latin typeface="+mj-lt"/>
              </a:rPr>
              <a:t>String, Number, Boolean, Null, Undefined.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+mj-lt"/>
              </a:rPr>
              <a:t>Reference types: </a:t>
            </a:r>
            <a:r>
              <a:rPr lang="en-US" sz="2400" dirty="0">
                <a:latin typeface="+mj-lt"/>
              </a:rPr>
              <a:t>Objects, Arrays, Functions.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2400" dirty="0">
              <a:latin typeface="+mj-lt"/>
            </a:endParaRPr>
          </a:p>
          <a:p>
            <a:r>
              <a:rPr lang="en-US" sz="2400" dirty="0"/>
              <a:t>Example:</a:t>
            </a:r>
          </a:p>
          <a:p>
            <a:endParaRPr lang="en-US" sz="2400" dirty="0">
              <a:latin typeface="+mj-lt"/>
            </a:endParaRPr>
          </a:p>
          <a:p>
            <a:pPr lvl="1"/>
            <a:r>
              <a:rPr lang="en-US" sz="2400" dirty="0">
                <a:solidFill>
                  <a:srgbClr val="FF0000"/>
                </a:solidFill>
                <a:latin typeface="+mj-lt"/>
              </a:rPr>
              <a:t>let text = "Hello";        // String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+mj-lt"/>
              </a:rPr>
              <a:t>let number = 10;           // Number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+mj-lt"/>
              </a:rPr>
              <a:t>let isActive = true;       // Boolean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+mj-lt"/>
              </a:rPr>
              <a:t>let items = [1, 2, 3];     // Array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+mj-lt"/>
              </a:rPr>
              <a:t>let person = {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name:"Vivian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", age:22}; // Object</a:t>
            </a:r>
          </a:p>
          <a:p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8492677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63E81D-E1C0-E0A9-5051-681088D0E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225" y="1093113"/>
            <a:ext cx="316196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C. Operators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953CC1-DA87-F8F0-099E-4C811EE8DC3D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676400" y="1905000"/>
            <a:ext cx="6934200" cy="446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Arithmetic: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+, -, *, /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Comparison: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== (loose), === (strict), !=, &gt;, &lt;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Logical: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&amp;&amp; (AND), || (OR), ! (NOT)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/>
              <a:t>Example1: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rgbClr val="FF0000"/>
                </a:solidFill>
                <a:latin typeface="+mj-lt"/>
              </a:rPr>
              <a:t>	console.log(5 + 3);      // 8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rgbClr val="FF0000"/>
                </a:solidFill>
                <a:latin typeface="+mj-lt"/>
              </a:rPr>
              <a:t>	console.log(5 === "5");  // false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rgbClr val="FF0000"/>
                </a:solidFill>
                <a:latin typeface="+mj-lt"/>
              </a:rPr>
              <a:t>	console.log(true &amp;&amp; false); // false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0441623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F7620A-1F9B-1F8F-96C4-BB3C978E6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914400"/>
            <a:ext cx="5209847" cy="58674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5B48475-69EC-6B2D-AA0D-CB6CF8087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95400"/>
            <a:ext cx="160020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Example2:</a:t>
            </a:r>
          </a:p>
        </p:txBody>
      </p:sp>
    </p:spTree>
    <p:extLst>
      <p:ext uri="{BB962C8B-B14F-4D97-AF65-F5344CB8AC3E}">
        <p14:creationId xmlns:p14="http://schemas.microsoft.com/office/powerpoint/2010/main" val="224880155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470E-2E4F-1139-FDDB-389E8137F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600" y="493570"/>
            <a:ext cx="5714321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Notes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E3DFC2-035C-3B77-18F8-7531681B65E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90600" y="1219200"/>
            <a:ext cx="8534400" cy="61555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There are several ways to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print JavaScript output on the screen in a browser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. Let’s go through them with examples: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DBD300-F9C8-9D6B-821A-93CBC7BD3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949678"/>
            <a:ext cx="96012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document.write()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Prints directly into the HTML document.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Simple, but not recommended for modern projects because it can overwrite the page if used after loading.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4836AA-B15C-6C27-4B66-1E631F6A2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3636585"/>
            <a:ext cx="42291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297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28F168-5778-4FCC-4CC7-0CD5ED7977F0}"/>
              </a:ext>
            </a:extLst>
          </p:cNvPr>
          <p:cNvSpPr txBox="1"/>
          <p:nvPr/>
        </p:nvSpPr>
        <p:spPr>
          <a:xfrm>
            <a:off x="2362200" y="990600"/>
            <a:ext cx="838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  <a:latin typeface="+mj-lt"/>
              </a:rPr>
              <a:t>2. Using </a:t>
            </a:r>
            <a:r>
              <a:rPr lang="en-US" sz="2800" b="1" dirty="0">
                <a:effectLst/>
                <a:highlight>
                  <a:srgbClr val="FFFF00"/>
                </a:highlight>
                <a:latin typeface="+mj-lt"/>
              </a:rPr>
              <a:t>innerHTML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  <a:latin typeface="+mj-lt"/>
              </a:rPr>
              <a:t>Updates the content of an existing HTML element.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  <a:latin typeface="+mj-lt"/>
              </a:rPr>
              <a:t>Most common way to print variables on screen.</a:t>
            </a:r>
          </a:p>
          <a:p>
            <a:pPr>
              <a:buNone/>
            </a:pPr>
            <a:endParaRPr lang="en-US" sz="2800" b="1" dirty="0">
              <a:latin typeface="+mj-lt"/>
            </a:endParaRPr>
          </a:p>
          <a:p>
            <a:pPr>
              <a:buNone/>
            </a:pPr>
            <a:r>
              <a:rPr lang="en-US" sz="2800" b="1" dirty="0">
                <a:effectLst/>
                <a:latin typeface="+mj-lt"/>
              </a:rPr>
              <a:t>Example:</a:t>
            </a:r>
            <a:endParaRPr lang="en-US" sz="2800" dirty="0">
              <a:effectLst/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BEA1CA-9225-35E2-4586-289203CD7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667000"/>
            <a:ext cx="68580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1804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D569D5-7B17-A7AA-A68D-1CB6B903667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524000" y="1295401"/>
            <a:ext cx="10058400" cy="1828800"/>
          </a:xfrm>
        </p:spPr>
        <p:txBody>
          <a:bodyPr/>
          <a:lstStyle/>
          <a:p>
            <a:r>
              <a:rPr lang="en-US" sz="2800" b="1" dirty="0">
                <a:latin typeface="+mj-lt"/>
              </a:rPr>
              <a:t>3. Using </a:t>
            </a:r>
            <a:r>
              <a:rPr lang="en-US" sz="2800" b="1" dirty="0">
                <a:highlight>
                  <a:srgbClr val="FFFF00"/>
                </a:highlight>
                <a:latin typeface="+mj-lt"/>
              </a:rPr>
              <a:t>alert()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+mj-lt"/>
              </a:rPr>
              <a:t>Displays output in a popup dialog box.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+mj-lt"/>
              </a:rPr>
              <a:t>Good for quick testing, but not for user‑friendly interfaces.</a:t>
            </a:r>
          </a:p>
          <a:p>
            <a:r>
              <a:rPr lang="en-US" sz="2800" b="1" dirty="0">
                <a:latin typeface="+mj-lt"/>
              </a:rPr>
              <a:t>Example:</a:t>
            </a:r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36D60-599E-184A-8C2E-AD7B6A045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819400"/>
            <a:ext cx="4495800" cy="398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3246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2214FE-2ABE-6CEE-B0C7-5315E00F6862}"/>
              </a:ext>
            </a:extLst>
          </p:cNvPr>
          <p:cNvSpPr txBox="1"/>
          <p:nvPr/>
        </p:nvSpPr>
        <p:spPr>
          <a:xfrm>
            <a:off x="1143000" y="990600"/>
            <a:ext cx="11049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4. Using </a:t>
            </a:r>
            <a:r>
              <a:rPr lang="en-US" sz="2800" b="1" dirty="0">
                <a:highlight>
                  <a:srgbClr val="FFFF00"/>
                </a:highlight>
              </a:rPr>
              <a:t>console.log()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800" dirty="0"/>
              <a:t>Prints output to the browser console (not visible on the page).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800" dirty="0"/>
              <a:t>Best for debugging.</a:t>
            </a:r>
          </a:p>
          <a:p>
            <a:r>
              <a:rPr lang="en-US" sz="2800" b="1" dirty="0"/>
              <a:t>Example:</a:t>
            </a:r>
            <a:endParaRPr lang="en-US" sz="280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28D668-3A3A-F0E7-1CFE-4843416AD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743200"/>
            <a:ext cx="4829175" cy="37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628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DB18-524F-7435-77EE-4F1AF7B22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049274"/>
            <a:ext cx="5828960" cy="70332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Comparison of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68538-F820-2F1E-0B1E-57364F35C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1199"/>
            <a:ext cx="11277600" cy="47681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49441C-5BB6-A8F2-39FE-319B626F7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76200"/>
            <a:ext cx="40386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3958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0E287-3CCB-5364-102F-AE6B5C268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43000"/>
            <a:ext cx="4343400" cy="762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There are 3 main ways to place JavaScript in HTML: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1C3D7-A6FA-F83E-A9FA-84662B8DFD4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09600" y="2286001"/>
            <a:ext cx="4724400" cy="110799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514350" indent="-514350">
              <a:buAutoNum type="arabicPeriod"/>
            </a:pPr>
            <a:r>
              <a:rPr lang="en-US" sz="2400" b="1" dirty="0">
                <a:latin typeface="+mj-lt"/>
              </a:rPr>
              <a:t>Inside &lt;head&gt;</a:t>
            </a:r>
          </a:p>
          <a:p>
            <a:r>
              <a:rPr lang="en-US" sz="2400" b="1" dirty="0">
                <a:latin typeface="+mj-lt"/>
              </a:rPr>
              <a:t> (Not Always Recommended)</a:t>
            </a:r>
          </a:p>
          <a:p>
            <a:endParaRPr lang="en-US" sz="24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0837C-FC54-E609-A649-92D5D4EC3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609600"/>
            <a:ext cx="6115050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1397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D4AD-5011-6F7A-66ED-9E3A88CB7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92887"/>
            <a:ext cx="5447960" cy="43088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+mj-lt"/>
              </a:rPr>
              <a:t>2. Before &lt;/body&gt; (BEST PRACTICE)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67106-6DCD-8C15-E7D7-50BFD115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535027"/>
            <a:ext cx="6114128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1540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7B3FC-43C9-6F6D-C5FC-A6313B213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3505200" cy="73866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+mj-lt"/>
              </a:rPr>
              <a:t>3. External JavaScript File </a:t>
            </a:r>
            <a:br>
              <a:rPr lang="en-US" sz="2400" dirty="0">
                <a:solidFill>
                  <a:schemeClr val="tx1"/>
                </a:solidFill>
                <a:latin typeface="+mj-lt"/>
              </a:rPr>
            </a:br>
            <a:r>
              <a:rPr lang="en-US" sz="2400" dirty="0">
                <a:solidFill>
                  <a:schemeClr val="tx1"/>
                </a:solidFill>
                <a:latin typeface="+mj-lt"/>
              </a:rPr>
              <a:t>(PROFESSIONAL WAY)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49462-BF7C-566B-6AD8-EE7B9A2D1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460" y="-5080"/>
            <a:ext cx="7241540" cy="6745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76AB13-6F3C-6E94-43B0-B93850061807}"/>
              </a:ext>
            </a:extLst>
          </p:cNvPr>
          <p:cNvSpPr txBox="1"/>
          <p:nvPr/>
        </p:nvSpPr>
        <p:spPr>
          <a:xfrm>
            <a:off x="685800" y="4931563"/>
            <a:ext cx="322961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this is better: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Cleaner HTML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Reusable JavaScript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Easier to maintain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Better for large projects</a:t>
            </a:r>
          </a:p>
        </p:txBody>
      </p:sp>
    </p:spTree>
    <p:extLst>
      <p:ext uri="{BB962C8B-B14F-4D97-AF65-F5344CB8AC3E}">
        <p14:creationId xmlns:p14="http://schemas.microsoft.com/office/powerpoint/2010/main" val="281119527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733F-220F-3AF4-90F4-37D618340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143000"/>
            <a:ext cx="781016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Bonus: Using defer in &lt;head&gt; (Modern Way)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454FA-39CD-9CAC-5153-542AEADFB1B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09600" y="1905000"/>
            <a:ext cx="5715000" cy="369331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You can safely put JS in &lt;head&gt; like this: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000" dirty="0">
              <a:latin typeface="+mj-lt"/>
            </a:endParaRPr>
          </a:p>
          <a:p>
            <a:pPr lvl="1" rtl="0"/>
            <a:r>
              <a:rPr lang="en-US" sz="2000" dirty="0">
                <a:solidFill>
                  <a:srgbClr val="FF0000"/>
                </a:solidFill>
                <a:latin typeface="+mj-lt"/>
              </a:rPr>
              <a:t>&lt;head&gt;</a:t>
            </a:r>
            <a:br>
              <a:rPr lang="en-US" sz="2000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solidFill>
                  <a:srgbClr val="FF0000"/>
                </a:solidFill>
                <a:latin typeface="+mj-lt"/>
              </a:rPr>
              <a:t>&lt;script src="script.js" defer&gt;&lt;/script&gt;</a:t>
            </a:r>
            <a:br>
              <a:rPr lang="en-US" sz="2000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solidFill>
                  <a:srgbClr val="FF0000"/>
                </a:solidFill>
                <a:latin typeface="+mj-lt"/>
              </a:rPr>
              <a:t>&lt;/head&gt;</a:t>
            </a:r>
          </a:p>
          <a:p>
            <a:pPr lvl="1" rtl="0"/>
            <a:endParaRPr lang="en-US" sz="2000" dirty="0">
              <a:solidFill>
                <a:srgbClr val="FF0000"/>
              </a:solidFill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</a:rPr>
              <a:t>What defer does: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000" b="1" dirty="0">
              <a:latin typeface="+mj-lt"/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Downloads JS immediately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Executes it only after HTML is fully loaded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This is very professional and widely used.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BE2D3B-2444-1400-9649-6A83E5250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024811"/>
            <a:ext cx="5791200" cy="283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0064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B81220-7E97-FCDA-05EB-F40A94E5900F}"/>
              </a:ext>
            </a:extLst>
          </p:cNvPr>
          <p:cNvSpPr txBox="1"/>
          <p:nvPr/>
        </p:nvSpPr>
        <p:spPr>
          <a:xfrm>
            <a:off x="2743200" y="762001"/>
            <a:ext cx="769620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The different ways JavaScript can interact with users</a:t>
            </a:r>
            <a:r>
              <a:rPr lang="en-US" sz="2400" dirty="0">
                <a:solidFill>
                  <a:srgbClr val="FF0000"/>
                </a:solidFill>
              </a:rPr>
              <a:t>, mainly using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alert()</a:t>
            </a:r>
            <a:r>
              <a:rPr lang="en-US" sz="2400" dirty="0">
                <a:solidFill>
                  <a:srgbClr val="FF0000"/>
                </a:solidFill>
              </a:rPr>
              <a:t>, 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confirm()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en-US" sz="2400" dirty="0">
                <a:solidFill>
                  <a:srgbClr val="FF0000"/>
                </a:solidFill>
              </a:rPr>
              <a:t>and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prompt()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. </a:t>
            </a:r>
            <a:r>
              <a:rPr lang="en-US" sz="2400" dirty="0">
                <a:solidFill>
                  <a:srgbClr val="FF0000"/>
                </a:solidFill>
              </a:rPr>
              <a:t>These are built-in dialog functions for quick input/output. Let me explain clearly: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676A5-1626-3F09-C3FF-CB0763033401}"/>
              </a:ext>
            </a:extLst>
          </p:cNvPr>
          <p:cNvSpPr txBox="1"/>
          <p:nvPr/>
        </p:nvSpPr>
        <p:spPr>
          <a:xfrm>
            <a:off x="266700" y="2819400"/>
            <a:ext cx="4495800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>
                <a:highlight>
                  <a:srgbClr val="FFFF00"/>
                </a:highlight>
                <a:latin typeface="Courier New" panose="02070309020205020404" pitchFamily="49" charset="0"/>
              </a:rPr>
              <a:t>alert()</a:t>
            </a:r>
          </a:p>
          <a:p>
            <a:endParaRPr lang="en-US" sz="1600" b="1" dirty="0">
              <a:highlight>
                <a:srgbClr val="FFFF00"/>
              </a:highlight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Purpose:</a:t>
            </a:r>
            <a:r>
              <a:rPr lang="en-US" sz="1600" dirty="0"/>
              <a:t> Show a message to the user.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Doesn’t get any input</a:t>
            </a:r>
            <a:r>
              <a:rPr lang="en-US" sz="1600" dirty="0"/>
              <a:t> — only displays text.</a:t>
            </a:r>
          </a:p>
          <a:p>
            <a:endParaRPr lang="en-US" sz="1600" dirty="0"/>
          </a:p>
          <a:p>
            <a:pPr rtl="0">
              <a:buNone/>
            </a:pP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alert("Hello! Welcome to the website.");</a:t>
            </a:r>
          </a:p>
          <a:p>
            <a:pPr rtl="0">
              <a:buNone/>
            </a:pPr>
            <a:endParaRPr lang="en-US" sz="160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Shows a popup with an </a:t>
            </a:r>
            <a:r>
              <a:rPr lang="en-US" sz="1600" b="1" dirty="0"/>
              <a:t>OK</a:t>
            </a:r>
            <a:r>
              <a:rPr lang="en-US" sz="1600" dirty="0"/>
              <a:t> button.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Example with user input: just for notification, not data.</a:t>
            </a:r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258D1-2B73-31EC-4E6F-89760BFA4CBC}"/>
              </a:ext>
            </a:extLst>
          </p:cNvPr>
          <p:cNvSpPr txBox="1"/>
          <p:nvPr/>
        </p:nvSpPr>
        <p:spPr>
          <a:xfrm>
            <a:off x="5410200" y="2845981"/>
            <a:ext cx="6097656" cy="35548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highlight>
                  <a:srgbClr val="FFFF00"/>
                </a:highlight>
              </a:rPr>
              <a:t>2. 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</a:rPr>
              <a:t>confirm()</a:t>
            </a:r>
            <a:endParaRPr lang="en-US" sz="2000" b="1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Purpose:</a:t>
            </a:r>
            <a:r>
              <a:rPr lang="en-US" sz="1800" dirty="0"/>
              <a:t> Ask the user a </a:t>
            </a:r>
            <a:r>
              <a:rPr lang="en-US" sz="1800" b="1" dirty="0"/>
              <a:t>Yes/No (OK/Cancel) question</a:t>
            </a:r>
            <a:r>
              <a:rPr lang="en-US" sz="18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Returns:</a:t>
            </a:r>
            <a:r>
              <a:rPr lang="en-US" sz="1800" dirty="0"/>
              <a:t> </a:t>
            </a:r>
            <a:r>
              <a:rPr lang="en-US" sz="1800" dirty="0">
                <a:latin typeface="Courier New" panose="02070309020205020404" pitchFamily="49" charset="0"/>
              </a:rPr>
              <a:t>true</a:t>
            </a:r>
            <a:r>
              <a:rPr lang="en-US" sz="1800" dirty="0"/>
              <a:t> if user clicks OK, </a:t>
            </a:r>
            <a:r>
              <a:rPr lang="en-US" sz="1800" dirty="0">
                <a:latin typeface="Courier New" panose="02070309020205020404" pitchFamily="49" charset="0"/>
              </a:rPr>
              <a:t>false</a:t>
            </a:r>
            <a:r>
              <a:rPr lang="en-US" sz="1800" dirty="0"/>
              <a:t> if Cancel.</a:t>
            </a:r>
          </a:p>
          <a:p>
            <a:endParaRPr lang="en-US" sz="1800" dirty="0"/>
          </a:p>
          <a:p>
            <a:pPr rtl="0">
              <a:buNone/>
            </a:pP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let result = confirm("Do you want to continue?");</a:t>
            </a:r>
            <a:b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if (result) {</a:t>
            </a:r>
            <a:b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   alert("You clicked OK!");</a:t>
            </a:r>
            <a:b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} else {</a:t>
            </a:r>
            <a:b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   alert("You clicked Cancel!");</a:t>
            </a:r>
            <a:b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}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Useful for </a:t>
            </a:r>
            <a:r>
              <a:rPr lang="en-US" sz="1800" b="1" dirty="0"/>
              <a:t>confirming actions</a:t>
            </a:r>
            <a:r>
              <a:rPr lang="en-US" sz="1800" dirty="0"/>
              <a:t> like deleting a record.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28EBF7-8C7B-F149-728E-48CC59954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27718"/>
            <a:ext cx="1562100" cy="1038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67225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C0F09D4-741D-0847-3991-8313CEE1F10C}"/>
              </a:ext>
            </a:extLst>
          </p:cNvPr>
          <p:cNvSpPr txBox="1"/>
          <p:nvPr/>
        </p:nvSpPr>
        <p:spPr>
          <a:xfrm>
            <a:off x="990600" y="1676400"/>
            <a:ext cx="9372600" cy="41549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highlight>
                  <a:srgbClr val="FFFF00"/>
                </a:highlight>
              </a:rPr>
              <a:t>3. </a:t>
            </a:r>
            <a:r>
              <a:rPr lang="en-US" sz="2400" b="1" dirty="0">
                <a:highlight>
                  <a:srgbClr val="FFFF00"/>
                </a:highlight>
                <a:latin typeface="Courier New" panose="02070309020205020404" pitchFamily="49" charset="0"/>
              </a:rPr>
              <a:t>prompt()</a:t>
            </a:r>
          </a:p>
          <a:p>
            <a:pPr>
              <a:buNone/>
            </a:pPr>
            <a:endParaRPr lang="en-US" sz="2400" b="1" dirty="0">
              <a:highlight>
                <a:srgbClr val="FFFF00"/>
              </a:highlight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Purpose:</a:t>
            </a:r>
            <a:r>
              <a:rPr lang="en-US" sz="2400" dirty="0"/>
              <a:t> Ask the user to </a:t>
            </a:r>
            <a:r>
              <a:rPr lang="en-US" sz="2400" b="1" dirty="0"/>
              <a:t>enter a value</a:t>
            </a:r>
            <a:r>
              <a:rPr lang="en-US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Returns:</a:t>
            </a:r>
            <a:r>
              <a:rPr lang="en-US" sz="2400" dirty="0"/>
              <a:t> The string entered by the user (or </a:t>
            </a:r>
            <a:r>
              <a:rPr lang="en-US" sz="2400" dirty="0">
                <a:latin typeface="Courier New" panose="02070309020205020404" pitchFamily="49" charset="0"/>
              </a:rPr>
              <a:t>null</a:t>
            </a:r>
            <a:r>
              <a:rPr lang="en-US" sz="2400" dirty="0"/>
              <a:t> if Cancel).</a:t>
            </a:r>
          </a:p>
          <a:p>
            <a:endParaRPr lang="en-US" sz="2400" dirty="0"/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let name = prompt("Enter your name:");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if (name) {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    alert("Hello, " + name + "!");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} else {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    alert("You didn’t enter your name.");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177554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302364-2FBD-2C75-8BD7-1EC418AFCEE8}"/>
              </a:ext>
            </a:extLst>
          </p:cNvPr>
          <p:cNvSpPr txBox="1"/>
          <p:nvPr/>
        </p:nvSpPr>
        <p:spPr>
          <a:xfrm>
            <a:off x="2819400" y="1447800"/>
            <a:ext cx="6097656" cy="517064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&lt;!DOCTYPE html&gt;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&lt;html lang="</a:t>
            </a:r>
            <a:r>
              <a:rPr lang="en-US" sz="1100" dirty="0" err="1">
                <a:solidFill>
                  <a:srgbClr val="FF0000"/>
                </a:solidFill>
              </a:rPr>
              <a:t>en</a:t>
            </a:r>
            <a:r>
              <a:rPr lang="en-US" sz="1100" dirty="0">
                <a:solidFill>
                  <a:srgbClr val="FF0000"/>
                </a:solidFill>
              </a:rPr>
              <a:t>"&gt;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&lt;head&gt;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&lt;meta charset="UTF-8"&gt;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&lt;title&gt;Age Comparison&lt;/title&gt;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&lt;/head&gt;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&lt;body&gt;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&lt;script&gt;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// Ask user for their age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let age = prompt("Enter your age:");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  // Convert input to number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age = </a:t>
            </a:r>
            <a:r>
              <a:rPr lang="en-US" sz="1100" dirty="0" err="1">
                <a:solidFill>
                  <a:srgbClr val="FF0000"/>
                </a:solidFill>
              </a:rPr>
              <a:t>parseInt</a:t>
            </a:r>
            <a:r>
              <a:rPr lang="en-US" sz="1100" dirty="0">
                <a:solidFill>
                  <a:srgbClr val="FF0000"/>
                </a:solidFill>
              </a:rPr>
              <a:t>(age);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  // Check if the user entered a valid number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if (</a:t>
            </a:r>
            <a:r>
              <a:rPr lang="en-US" sz="1100" dirty="0" err="1">
                <a:solidFill>
                  <a:srgbClr val="FF0000"/>
                </a:solidFill>
              </a:rPr>
              <a:t>isNaN</a:t>
            </a:r>
            <a:r>
              <a:rPr lang="en-US" sz="1100" dirty="0">
                <a:solidFill>
                  <a:srgbClr val="FF0000"/>
                </a:solidFill>
              </a:rPr>
              <a:t>(age)) {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  alert("Please enter a valid number!");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} else {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  // Compare age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  if (age &gt;= 18) {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      alert("You are an adult.");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  } else {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      alert("You are not an adult yet.");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  }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}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&lt;/script&gt;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&lt;/body&gt;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&lt;/html&gt;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674F6-7EA1-9673-830E-4EC71B9A9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144780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188437901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BEE792-CEB3-94F2-251F-348E40C43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1066800"/>
            <a:ext cx="205740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D. Functions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C564FC9-C4D7-84E1-779D-0423601B986E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924050" y="1557137"/>
            <a:ext cx="8382000" cy="6424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1800" dirty="0">
                <a:latin typeface="+mj-lt"/>
              </a:rPr>
              <a:t>A </a:t>
            </a:r>
            <a:r>
              <a:rPr lang="en-US" sz="1800" b="1" dirty="0">
                <a:latin typeface="+mj-lt"/>
              </a:rPr>
              <a:t>function</a:t>
            </a:r>
            <a:r>
              <a:rPr lang="en-US" sz="1800" dirty="0">
                <a:latin typeface="+mj-lt"/>
              </a:rPr>
              <a:t> is a reusable block of code designed to perform a specific task(Instead of repeating code, you write it once and call it whenever needed).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Declared with function or arrow syntax ()=&gt;{}.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1" dirty="0">
                <a:latin typeface="+mj-lt"/>
              </a:rPr>
              <a:t>Basic Syntax: </a:t>
            </a:r>
            <a:r>
              <a:rPr lang="en-US" sz="1800" dirty="0">
                <a:highlight>
                  <a:srgbClr val="FFFF00"/>
                </a:highlight>
              </a:rPr>
              <a:t>Normal Function</a:t>
            </a:r>
            <a:endParaRPr lang="en-US" sz="1800" b="1" dirty="0">
              <a:highlight>
                <a:srgbClr val="FFFF00"/>
              </a:highlight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800" b="1" dirty="0"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  <a:latin typeface="+mj-lt"/>
              </a:rPr>
              <a:t>function </a:t>
            </a:r>
            <a:r>
              <a:rPr lang="en-US" altLang="en-US" dirty="0" err="1">
                <a:solidFill>
                  <a:srgbClr val="FF0000"/>
                </a:solidFill>
                <a:latin typeface="+mj-lt"/>
              </a:rPr>
              <a:t>functionName</a:t>
            </a:r>
            <a:r>
              <a:rPr lang="en-US" altLang="en-US" dirty="0">
                <a:solidFill>
                  <a:srgbClr val="FF0000"/>
                </a:solidFill>
                <a:latin typeface="+mj-lt"/>
              </a:rPr>
              <a:t>() {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  <a:latin typeface="+mj-lt"/>
              </a:rPr>
              <a:t>    // code to execute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  <a:latin typeface="+mj-lt"/>
              </a:rPr>
              <a:t>}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965B5-424E-E0FD-07A9-037068DE7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305300"/>
            <a:ext cx="34766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5330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36C5-1E5C-5A91-785B-C1278E3C6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0" y="1093113"/>
            <a:ext cx="4610100" cy="43088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Function with Parameters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3C1CF-63E4-92FE-05AD-EAD32032E32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676400" y="1702713"/>
            <a:ext cx="6019800" cy="3077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Parameters are variables passed into a function.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C809E-AFA8-1199-9F1A-3E3E767110E8}"/>
              </a:ext>
            </a:extLst>
          </p:cNvPr>
          <p:cNvSpPr txBox="1"/>
          <p:nvPr/>
        </p:nvSpPr>
        <p:spPr>
          <a:xfrm>
            <a:off x="16002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function greet(name) {</a:t>
            </a:r>
          </a:p>
          <a:p>
            <a:r>
              <a:rPr lang="en-US" dirty="0">
                <a:solidFill>
                  <a:srgbClr val="FF0000"/>
                </a:solidFill>
              </a:rPr>
              <a:t>    console.log("Hello " + name);</a:t>
            </a:r>
          </a:p>
          <a:p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greet("Jean");</a:t>
            </a:r>
          </a:p>
          <a:p>
            <a:r>
              <a:rPr lang="en-US" dirty="0">
                <a:solidFill>
                  <a:srgbClr val="FF0000"/>
                </a:solidFill>
              </a:rPr>
              <a:t>greet("Alice");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328CA-9852-81B0-DB61-C2A5FCCBBF68}"/>
              </a:ext>
            </a:extLst>
          </p:cNvPr>
          <p:cNvSpPr txBox="1"/>
          <p:nvPr/>
        </p:nvSpPr>
        <p:spPr>
          <a:xfrm>
            <a:off x="1600200" y="4876182"/>
            <a:ext cx="2895600" cy="8887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</a:rPr>
              <a:t>name</a:t>
            </a:r>
            <a:r>
              <a:rPr lang="en-US" dirty="0"/>
              <a:t> is a parameter.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</a:rPr>
              <a:t>"Jean"</a:t>
            </a:r>
            <a:r>
              <a:rPr lang="en-US" dirty="0"/>
              <a:t> is an argument.</a:t>
            </a:r>
          </a:p>
        </p:txBody>
      </p:sp>
    </p:spTree>
    <p:extLst>
      <p:ext uri="{BB962C8B-B14F-4D97-AF65-F5344CB8AC3E}">
        <p14:creationId xmlns:p14="http://schemas.microsoft.com/office/powerpoint/2010/main" val="408333691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7E64-7318-24DC-1327-3B6DB6226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650" y="1259086"/>
            <a:ext cx="5714321" cy="3077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Arrow Functions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(Modern JavaScript – ES6)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3A4EA-F30F-D8B3-C06C-9DA072246D5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90650" y="2200275"/>
            <a:ext cx="8534400" cy="307777"/>
          </a:xfrm>
        </p:spPr>
        <p:txBody>
          <a:bodyPr/>
          <a:lstStyle/>
          <a:p>
            <a:r>
              <a:rPr lang="en-US" sz="2000" dirty="0">
                <a:latin typeface="+mj-lt"/>
              </a:rPr>
              <a:t>Very important for React (you’re learning React, so focus here).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E4A31-71AD-FC69-5B5E-846AE16989C4}"/>
              </a:ext>
            </a:extLst>
          </p:cNvPr>
          <p:cNvSpPr txBox="1"/>
          <p:nvPr/>
        </p:nvSpPr>
        <p:spPr>
          <a:xfrm>
            <a:off x="1371600" y="3626674"/>
            <a:ext cx="251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Basic Arrow Function: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95953-428E-76EC-EA88-E0A2B8061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429000"/>
            <a:ext cx="32480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7950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B609-76E2-89A0-BA52-2BA7AEFA9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5451" y="1245513"/>
            <a:ext cx="1657349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E. 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D37F3-98D1-9B81-7785-AA685825C25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676401" y="2057400"/>
            <a:ext cx="8534400" cy="295465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Ordered lists of values.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Can store multiple data with the same type.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b="1" dirty="0">
                <a:latin typeface="+mj-lt"/>
              </a:rPr>
              <a:t>Example:</a:t>
            </a:r>
          </a:p>
          <a:p>
            <a:pPr lvl="1"/>
            <a:r>
              <a:rPr lang="en-US" sz="2400" dirty="0">
                <a:latin typeface="+mj-lt"/>
              </a:rPr>
              <a:t>let fruits = ["Apple", "Banana", "Mango"];</a:t>
            </a:r>
          </a:p>
          <a:p>
            <a:pPr lvl="1"/>
            <a:r>
              <a:rPr lang="en-US" sz="2400" dirty="0">
                <a:latin typeface="+mj-lt"/>
              </a:rPr>
              <a:t>console.log(fruits[1]); // Banana</a:t>
            </a:r>
          </a:p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73002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A3EC-CB48-F181-1893-56059D450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1" y="1371600"/>
            <a:ext cx="1600199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Example: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1545A-FDC1-BE93-DB94-B74BE59F7F4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791200" y="371655"/>
            <a:ext cx="5410200" cy="646330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lvl="1"/>
            <a:r>
              <a:rPr lang="en-US" sz="1400" dirty="0">
                <a:latin typeface="+mj-lt"/>
              </a:rPr>
              <a:t>&lt;!DOCTYPE html&gt;</a:t>
            </a:r>
          </a:p>
          <a:p>
            <a:pPr lvl="1"/>
            <a:r>
              <a:rPr lang="en-US" sz="1400" dirty="0">
                <a:latin typeface="+mj-lt"/>
              </a:rPr>
              <a:t>&lt;html&gt;</a:t>
            </a:r>
          </a:p>
          <a:p>
            <a:pPr lvl="1"/>
            <a:r>
              <a:rPr lang="en-US" sz="1400" dirty="0">
                <a:latin typeface="+mj-lt"/>
              </a:rPr>
              <a:t>&lt;head&gt;</a:t>
            </a:r>
          </a:p>
          <a:p>
            <a:pPr lvl="1"/>
            <a:r>
              <a:rPr lang="en-US" sz="1400" dirty="0">
                <a:latin typeface="+mj-lt"/>
              </a:rPr>
              <a:t>    &lt;title&gt;JavaScript Array Example&lt;/title&gt;</a:t>
            </a:r>
          </a:p>
          <a:p>
            <a:pPr lvl="1"/>
            <a:r>
              <a:rPr lang="en-US" sz="1400" dirty="0">
                <a:latin typeface="+mj-lt"/>
              </a:rPr>
              <a:t>&lt;/head&gt;</a:t>
            </a:r>
          </a:p>
          <a:p>
            <a:pPr lvl="1"/>
            <a:r>
              <a:rPr lang="en-US" sz="1400" dirty="0">
                <a:latin typeface="+mj-lt"/>
              </a:rPr>
              <a:t>&lt;body&gt;</a:t>
            </a:r>
          </a:p>
          <a:p>
            <a:pPr lvl="1"/>
            <a:r>
              <a:rPr lang="en-US" sz="1400" dirty="0">
                <a:latin typeface="+mj-lt"/>
              </a:rPr>
              <a:t>    &lt;h2&gt;Output&lt;/h2&gt;</a:t>
            </a:r>
          </a:p>
          <a:p>
            <a:pPr lvl="1"/>
            <a:r>
              <a:rPr lang="en-US" sz="1400" dirty="0">
                <a:latin typeface="+mj-lt"/>
              </a:rPr>
              <a:t>    &lt;script&gt;</a:t>
            </a:r>
          </a:p>
          <a:p>
            <a:pPr lvl="1"/>
            <a:r>
              <a:rPr lang="en-US" sz="1400" dirty="0">
                <a:latin typeface="+mj-lt"/>
              </a:rPr>
              <a:t>        // Create an array</a:t>
            </a:r>
          </a:p>
          <a:p>
            <a:pPr lvl="1"/>
            <a:r>
              <a:rPr lang="en-US" sz="1400" dirty="0">
                <a:latin typeface="+mj-lt"/>
              </a:rPr>
              <a:t>        let fruits = ["Apple", "Banana", "Mango"];</a:t>
            </a:r>
          </a:p>
          <a:p>
            <a:pPr lvl="1"/>
            <a:br>
              <a:rPr lang="en-US" sz="1400" dirty="0">
                <a:latin typeface="+mj-lt"/>
              </a:rPr>
            </a:br>
            <a:endParaRPr lang="en-US" sz="1400" dirty="0">
              <a:latin typeface="+mj-lt"/>
            </a:endParaRPr>
          </a:p>
          <a:p>
            <a:pPr lvl="1"/>
            <a:r>
              <a:rPr lang="en-US" sz="1400" dirty="0">
                <a:latin typeface="+mj-lt"/>
              </a:rPr>
              <a:t>        document.write("Original array:"+"&lt;</a:t>
            </a:r>
            <a:r>
              <a:rPr lang="en-US" sz="1400" dirty="0" err="1">
                <a:latin typeface="+mj-lt"/>
              </a:rPr>
              <a:t>br</a:t>
            </a:r>
            <a:r>
              <a:rPr lang="en-US" sz="1400" dirty="0">
                <a:latin typeface="+mj-lt"/>
              </a:rPr>
              <a:t>&gt;");</a:t>
            </a:r>
          </a:p>
          <a:p>
            <a:pPr lvl="1"/>
            <a:r>
              <a:rPr lang="en-US" sz="1400" dirty="0">
                <a:latin typeface="+mj-lt"/>
              </a:rPr>
              <a:t>        document.write(fruits +"&lt;</a:t>
            </a:r>
            <a:r>
              <a:rPr lang="en-US" sz="1400" dirty="0" err="1">
                <a:latin typeface="+mj-lt"/>
              </a:rPr>
              <a:t>br</a:t>
            </a:r>
            <a:r>
              <a:rPr lang="en-US" sz="1400" dirty="0">
                <a:latin typeface="+mj-lt"/>
              </a:rPr>
              <a:t>&gt;");</a:t>
            </a:r>
          </a:p>
          <a:p>
            <a:pPr lvl="1"/>
            <a:br>
              <a:rPr lang="en-US" sz="1400" dirty="0">
                <a:latin typeface="+mj-lt"/>
              </a:rPr>
            </a:br>
            <a:endParaRPr lang="en-US" sz="1400" dirty="0">
              <a:latin typeface="+mj-lt"/>
            </a:endParaRPr>
          </a:p>
          <a:p>
            <a:pPr lvl="1"/>
            <a:r>
              <a:rPr lang="en-US" sz="1400" dirty="0">
                <a:latin typeface="+mj-lt"/>
              </a:rPr>
              <a:t>        // Print one element (index 1)</a:t>
            </a:r>
          </a:p>
          <a:p>
            <a:pPr lvl="1"/>
            <a:r>
              <a:rPr lang="en-US" sz="1400" dirty="0">
                <a:latin typeface="+mj-lt"/>
              </a:rPr>
              <a:t>        document.write("Second fruit:"+"&lt;</a:t>
            </a:r>
            <a:r>
              <a:rPr lang="en-US" sz="1400" dirty="0" err="1">
                <a:latin typeface="+mj-lt"/>
              </a:rPr>
              <a:t>br</a:t>
            </a:r>
            <a:r>
              <a:rPr lang="en-US" sz="1400" dirty="0">
                <a:latin typeface="+mj-lt"/>
              </a:rPr>
              <a:t>&gt;");</a:t>
            </a:r>
          </a:p>
          <a:p>
            <a:pPr lvl="1"/>
            <a:r>
              <a:rPr lang="en-US" sz="1400" dirty="0">
                <a:latin typeface="+mj-lt"/>
              </a:rPr>
              <a:t>        document.write(fruits[1] +"&lt;</a:t>
            </a:r>
            <a:r>
              <a:rPr lang="en-US" sz="1400" dirty="0" err="1">
                <a:latin typeface="+mj-lt"/>
              </a:rPr>
              <a:t>br</a:t>
            </a:r>
            <a:r>
              <a:rPr lang="en-US" sz="1400" dirty="0">
                <a:latin typeface="+mj-lt"/>
              </a:rPr>
              <a:t>&gt;");</a:t>
            </a:r>
          </a:p>
          <a:p>
            <a:pPr lvl="1"/>
            <a:br>
              <a:rPr lang="en-US" sz="1400" dirty="0">
                <a:latin typeface="+mj-lt"/>
              </a:rPr>
            </a:br>
            <a:endParaRPr lang="en-US" sz="1400" dirty="0">
              <a:latin typeface="+mj-lt"/>
            </a:endParaRPr>
          </a:p>
          <a:p>
            <a:pPr lvl="1"/>
            <a:r>
              <a:rPr lang="en-US" sz="1400" dirty="0">
                <a:latin typeface="+mj-lt"/>
              </a:rPr>
              <a:t>        //Print all elements using a loop</a:t>
            </a:r>
          </a:p>
          <a:p>
            <a:pPr lvl="1"/>
            <a:r>
              <a:rPr lang="en-US" sz="1400" dirty="0">
                <a:latin typeface="+mj-lt"/>
              </a:rPr>
              <a:t>        document.write("All fruits:" +"&lt;</a:t>
            </a:r>
            <a:r>
              <a:rPr lang="en-US" sz="1400" dirty="0" err="1">
                <a:latin typeface="+mj-lt"/>
              </a:rPr>
              <a:t>br</a:t>
            </a:r>
            <a:r>
              <a:rPr lang="en-US" sz="1400" dirty="0">
                <a:latin typeface="+mj-lt"/>
              </a:rPr>
              <a:t>&gt;");</a:t>
            </a:r>
          </a:p>
          <a:p>
            <a:pPr lvl="1"/>
            <a:r>
              <a:rPr lang="en-US" sz="1400" dirty="0">
                <a:latin typeface="+mj-lt"/>
              </a:rPr>
              <a:t>        for (let i = 0; i &lt; </a:t>
            </a:r>
            <a:r>
              <a:rPr lang="en-US" sz="1400" dirty="0" err="1">
                <a:latin typeface="+mj-lt"/>
              </a:rPr>
              <a:t>fruits.length</a:t>
            </a:r>
            <a:r>
              <a:rPr lang="en-US" sz="1400" dirty="0">
                <a:latin typeface="+mj-lt"/>
              </a:rPr>
              <a:t>; i++) {</a:t>
            </a:r>
          </a:p>
          <a:p>
            <a:pPr lvl="1"/>
            <a:r>
              <a:rPr lang="en-US" sz="1400" dirty="0">
                <a:latin typeface="+mj-lt"/>
              </a:rPr>
              <a:t>            document.write(fruits[i] +"&lt;</a:t>
            </a:r>
            <a:r>
              <a:rPr lang="en-US" sz="1400" dirty="0" err="1">
                <a:latin typeface="+mj-lt"/>
              </a:rPr>
              <a:t>br</a:t>
            </a:r>
            <a:r>
              <a:rPr lang="en-US" sz="1400" dirty="0">
                <a:latin typeface="+mj-lt"/>
              </a:rPr>
              <a:t>&gt;");</a:t>
            </a:r>
          </a:p>
          <a:p>
            <a:pPr lvl="1"/>
            <a:r>
              <a:rPr lang="en-US" sz="1400" dirty="0">
                <a:latin typeface="+mj-lt"/>
              </a:rPr>
              <a:t>        }</a:t>
            </a:r>
          </a:p>
          <a:p>
            <a:pPr lvl="1"/>
            <a:r>
              <a:rPr lang="en-US" sz="1400" dirty="0">
                <a:latin typeface="+mj-lt"/>
              </a:rPr>
              <a:t>    &lt;/script&gt;</a:t>
            </a:r>
          </a:p>
          <a:p>
            <a:pPr lvl="1"/>
            <a:r>
              <a:rPr lang="en-US" sz="1400" dirty="0">
                <a:latin typeface="+mj-lt"/>
              </a:rPr>
              <a:t>&lt;/body&gt;</a:t>
            </a:r>
          </a:p>
          <a:p>
            <a:pPr lvl="1"/>
            <a:r>
              <a:rPr lang="en-US" sz="1400" dirty="0">
                <a:latin typeface="+mj-lt"/>
              </a:rPr>
              <a:t>&lt;/html&gt;</a:t>
            </a:r>
          </a:p>
          <a:p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044785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1C5A00-5000-7876-43CF-8DC23CE04EA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1600" y="1219201"/>
            <a:ext cx="2209800" cy="103105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F. Objects</a:t>
            </a:r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F1B7F7B-5E3E-7C58-3C56-32F498577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981200"/>
            <a:ext cx="5212080" cy="465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Collections of key‑value pairs.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modeling real‑world entities.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/>
              <a:t>Example: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let student = {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 name: "Vivian",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 age: 22,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 course: "IT"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};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console.log(student.name); // Vivian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50943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446DBB-2F51-6726-EA19-D9155C03BB66}"/>
              </a:ext>
            </a:extLst>
          </p:cNvPr>
          <p:cNvSpPr txBox="1"/>
          <p:nvPr/>
        </p:nvSpPr>
        <p:spPr>
          <a:xfrm>
            <a:off x="4267200" y="826477"/>
            <a:ext cx="7010400" cy="6031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Book Object Example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//Create book object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"Introduction to JavaScript"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 Smith"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pages: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//Access individual properties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"Title:"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"Author:"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"All Book Information:&lt;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E46BDB-3E51-5F41-1485-877ED3CC8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43000"/>
            <a:ext cx="1600199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392691818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9AD4DC-9245-BF72-507E-F4B0DF5E2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0675" y="1295400"/>
            <a:ext cx="5714321" cy="492443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JavaScript Control Structures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07AFC16-A101-A218-A8D1-5E4989E97588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600200" y="2135832"/>
            <a:ext cx="5562600" cy="4645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Conditional: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if, else, switch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Loops: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for, while, do...while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dirty="0">
                <a:latin typeface="+mj-lt"/>
              </a:rPr>
              <a:t>Example: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let score = 85;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if (score &gt;= 90) {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  console.log("Grade A");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} else {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  console.log("Grade B");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}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60CB4-FFBB-F31C-AD57-E5516ECA68FB}"/>
              </a:ext>
            </a:extLst>
          </p:cNvPr>
          <p:cNvSpPr txBox="1"/>
          <p:nvPr/>
        </p:nvSpPr>
        <p:spPr>
          <a:xfrm>
            <a:off x="7162800" y="3535486"/>
            <a:ext cx="46482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nn-NO" dirty="0">
                <a:effectLst/>
                <a:latin typeface="Courier New" panose="02070309020205020404" pitchFamily="49" charset="0"/>
              </a:rPr>
              <a:t>for (let i = 0; i &lt; 5; i++) {</a:t>
            </a:r>
          </a:p>
          <a:p>
            <a:pPr>
              <a:buNone/>
            </a:pPr>
            <a:r>
              <a:rPr lang="nn-NO" dirty="0">
                <a:effectLst/>
                <a:latin typeface="Courier New" panose="02070309020205020404" pitchFamily="49" charset="0"/>
              </a:rPr>
              <a:t>  console.log(i);</a:t>
            </a:r>
          </a:p>
          <a:p>
            <a:pPr>
              <a:buNone/>
            </a:pPr>
            <a:r>
              <a:rPr lang="nn-NO" dirty="0">
                <a:effectLst/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382709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CEEF-C6F7-23C4-8B81-126228D33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641343"/>
            <a:ext cx="5791199" cy="71978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Example1 on condition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84D71-B617-B8C0-591C-4AA61F9513B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43000" y="1361128"/>
            <a:ext cx="8534400" cy="5262979"/>
          </a:xfrm>
        </p:spPr>
        <p:txBody>
          <a:bodyPr/>
          <a:lstStyle/>
          <a:p>
            <a:r>
              <a:rPr lang="en-US" sz="1800" dirty="0">
                <a:latin typeface="+mj-lt"/>
              </a:rPr>
              <a:t>&lt;!DOCTYPE html&gt;</a:t>
            </a:r>
          </a:p>
          <a:p>
            <a:r>
              <a:rPr lang="en-US" sz="1800" dirty="0">
                <a:latin typeface="+mj-lt"/>
              </a:rPr>
              <a:t>&lt;html lang="</a:t>
            </a:r>
            <a:r>
              <a:rPr lang="en-US" sz="1800" dirty="0" err="1">
                <a:latin typeface="+mj-lt"/>
              </a:rPr>
              <a:t>en</a:t>
            </a:r>
            <a:r>
              <a:rPr lang="en-US" sz="1800" dirty="0">
                <a:latin typeface="+mj-lt"/>
              </a:rPr>
              <a:t>"&gt;</a:t>
            </a:r>
          </a:p>
          <a:p>
            <a:r>
              <a:rPr lang="en-US" sz="1800" dirty="0">
                <a:latin typeface="+mj-lt"/>
              </a:rPr>
              <a:t>&lt;head&gt;</a:t>
            </a:r>
          </a:p>
          <a:p>
            <a:r>
              <a:rPr lang="en-US" sz="1800" dirty="0">
                <a:latin typeface="+mj-lt"/>
              </a:rPr>
              <a:t>  &lt;meta charset="UTF-8"&gt;</a:t>
            </a:r>
          </a:p>
          <a:p>
            <a:r>
              <a:rPr lang="en-US" sz="1800" dirty="0">
                <a:latin typeface="+mj-lt"/>
              </a:rPr>
              <a:t>  &lt;title&gt;Conditional Example&lt;/title&gt;</a:t>
            </a:r>
          </a:p>
          <a:p>
            <a:r>
              <a:rPr lang="en-US" sz="1800" dirty="0">
                <a:latin typeface="+mj-lt"/>
              </a:rPr>
              <a:t>&lt;/head&gt;</a:t>
            </a:r>
          </a:p>
          <a:p>
            <a:r>
              <a:rPr lang="en-US" sz="1800" dirty="0">
                <a:latin typeface="+mj-lt"/>
              </a:rPr>
              <a:t>&lt;body&gt;</a:t>
            </a:r>
          </a:p>
          <a:p>
            <a:r>
              <a:rPr lang="en-US" sz="1800" dirty="0">
                <a:latin typeface="+mj-lt"/>
              </a:rPr>
              <a:t>  &lt;script&gt;</a:t>
            </a:r>
          </a:p>
          <a:p>
            <a:r>
              <a:rPr lang="en-US" sz="1800" dirty="0">
                <a:latin typeface="+mj-lt"/>
              </a:rPr>
              <a:t>    // Example: if...else</a:t>
            </a:r>
          </a:p>
          <a:p>
            <a:r>
              <a:rPr lang="en-US" sz="1800" dirty="0">
                <a:latin typeface="+mj-lt"/>
              </a:rPr>
              <a:t>    let age = 18;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    if (age &gt;= 18) {</a:t>
            </a:r>
          </a:p>
          <a:p>
            <a:r>
              <a:rPr lang="en-US" sz="1800" dirty="0">
                <a:latin typeface="+mj-lt"/>
              </a:rPr>
              <a:t>      console.log("You are an adult.");</a:t>
            </a:r>
          </a:p>
          <a:p>
            <a:r>
              <a:rPr lang="en-US" sz="1800" dirty="0">
                <a:latin typeface="+mj-lt"/>
              </a:rPr>
              <a:t>    } else {</a:t>
            </a:r>
          </a:p>
          <a:p>
            <a:r>
              <a:rPr lang="en-US" sz="1800" dirty="0">
                <a:latin typeface="+mj-lt"/>
              </a:rPr>
              <a:t>      console.log("You are a minor.");</a:t>
            </a:r>
          </a:p>
          <a:p>
            <a:r>
              <a:rPr lang="en-US" sz="1800" dirty="0">
                <a:latin typeface="+mj-lt"/>
              </a:rPr>
              <a:t>    }</a:t>
            </a:r>
          </a:p>
          <a:p>
            <a:r>
              <a:rPr lang="en-US" sz="1800" dirty="0">
                <a:latin typeface="+mj-lt"/>
              </a:rPr>
              <a:t>  &lt;/script&gt;</a:t>
            </a:r>
          </a:p>
          <a:p>
            <a:r>
              <a:rPr lang="en-US" sz="1800" dirty="0">
                <a:latin typeface="+mj-lt"/>
              </a:rPr>
              <a:t>&lt;/body&gt;</a:t>
            </a:r>
          </a:p>
          <a:p>
            <a:r>
              <a:rPr lang="en-US" sz="1800" dirty="0">
                <a:latin typeface="+mj-lt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9609308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414D9C-C147-04E5-30F0-9BE494D899CE}"/>
              </a:ext>
            </a:extLst>
          </p:cNvPr>
          <p:cNvSpPr txBox="1"/>
          <p:nvPr/>
        </p:nvSpPr>
        <p:spPr>
          <a:xfrm>
            <a:off x="4191000" y="990600"/>
            <a:ext cx="609765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&lt;!DOCTYPE html&gt;</a:t>
            </a:r>
          </a:p>
          <a:p>
            <a:r>
              <a:rPr lang="en-US" sz="2000" dirty="0"/>
              <a:t>&lt;html lang="</a:t>
            </a:r>
            <a:r>
              <a:rPr lang="en-US" sz="2000" dirty="0" err="1"/>
              <a:t>en</a:t>
            </a:r>
            <a:r>
              <a:rPr lang="en-US" sz="2000" dirty="0"/>
              <a:t>"&gt;</a:t>
            </a:r>
          </a:p>
          <a:p>
            <a:r>
              <a:rPr lang="en-US" sz="2000" dirty="0"/>
              <a:t>&lt;head&gt;</a:t>
            </a:r>
          </a:p>
          <a:p>
            <a:r>
              <a:rPr lang="en-US" sz="2000" dirty="0"/>
              <a:t>  &lt;meta charset="UTF-8"&gt;</a:t>
            </a:r>
          </a:p>
          <a:p>
            <a:r>
              <a:rPr lang="en-US" sz="2000" dirty="0"/>
              <a:t>  &lt;title&gt;For Loop Example&lt;/title&gt;</a:t>
            </a:r>
          </a:p>
          <a:p>
            <a:r>
              <a:rPr lang="en-US" sz="2000" dirty="0"/>
              <a:t>&lt;/head&gt;</a:t>
            </a:r>
          </a:p>
          <a:p>
            <a:r>
              <a:rPr lang="en-US" sz="2000" dirty="0"/>
              <a:t>&lt;body&gt;</a:t>
            </a:r>
          </a:p>
          <a:p>
            <a:r>
              <a:rPr lang="en-US" sz="2000" dirty="0"/>
              <a:t>  &lt;script&gt;</a:t>
            </a:r>
          </a:p>
          <a:p>
            <a:r>
              <a:rPr lang="en-US" sz="2000" dirty="0"/>
              <a:t>    // Example: printing numbers from 1 to 5</a:t>
            </a:r>
          </a:p>
          <a:p>
            <a:r>
              <a:rPr lang="en-US" sz="2000" dirty="0"/>
              <a:t>    for (let i = 1; i &lt;= 5; i++) {</a:t>
            </a:r>
          </a:p>
          <a:p>
            <a:r>
              <a:rPr lang="en-US" sz="2000" dirty="0"/>
              <a:t>      console.log("Number: " + i);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  &lt;/script&gt;</a:t>
            </a:r>
          </a:p>
          <a:p>
            <a:r>
              <a:rPr lang="en-US" sz="2000" dirty="0"/>
              <a:t>&lt;/body&gt;</a:t>
            </a:r>
          </a:p>
          <a:p>
            <a:r>
              <a:rPr lang="en-US" sz="2000" dirty="0"/>
              <a:t>&lt;/html&gt;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95D72C-F52B-0998-7448-C87B568F5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516" y="2590800"/>
            <a:ext cx="2667000" cy="135421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Example2 on loops  </a:t>
            </a:r>
          </a:p>
        </p:txBody>
      </p:sp>
    </p:spTree>
    <p:extLst>
      <p:ext uri="{BB962C8B-B14F-4D97-AF65-F5344CB8AC3E}">
        <p14:creationId xmlns:p14="http://schemas.microsoft.com/office/powerpoint/2010/main" val="269085363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F2075C-00E1-390E-7AD6-9F21F1491A8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85800" y="922853"/>
            <a:ext cx="11125200" cy="227754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The HTML DOM (Document Object Model)</a:t>
            </a:r>
          </a:p>
          <a:p>
            <a:pPr algn="just"/>
            <a:endParaRPr lang="en-US" sz="2400" dirty="0"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 Is a structured representation of a </a:t>
            </a:r>
            <a:r>
              <a:rPr lang="en-US" sz="2400" dirty="0">
                <a:highlight>
                  <a:srgbClr val="FFFF00"/>
                </a:highlight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page</a:t>
            </a:r>
            <a:r>
              <a:rPr lang="en-US" sz="2400" dirty="0">
                <a:highlight>
                  <a:srgbClr val="FFFF00"/>
                </a:highlight>
                <a:latin typeface="+mj-lt"/>
              </a:rPr>
              <a:t> </a:t>
            </a:r>
            <a:r>
              <a:rPr lang="en-US" sz="2400" dirty="0">
                <a:latin typeface="+mj-lt"/>
              </a:rPr>
              <a:t>that allows developers to access, modify, and control its content and structure using </a:t>
            </a:r>
            <a:r>
              <a:rPr lang="en-US" sz="2400" dirty="0">
                <a:highlight>
                  <a:srgbClr val="FFFF00"/>
                </a:highlight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JavaScript</a:t>
            </a:r>
            <a:r>
              <a:rPr lang="en-US" sz="2400" dirty="0">
                <a:latin typeface="+mj-lt"/>
              </a:rPr>
              <a:t>. It powers most dynamic website interactions, enabling features like real-time updates, form validation, and interactive user interfaces.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204A1D-B64D-3174-B1AD-26CD3F2B2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86243"/>
            <a:ext cx="7162800" cy="337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6737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C05D71-CD96-0B11-C93D-F3418EEE2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85800"/>
            <a:ext cx="1052848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619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3D4AEB-D120-2B0E-A1D0-768713ABA73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62000" y="1143000"/>
            <a:ext cx="10363200" cy="5676939"/>
          </a:xfrm>
        </p:spPr>
        <p:txBody>
          <a:bodyPr/>
          <a:lstStyle/>
          <a:p>
            <a:pPr algn="just" fontAlgn="base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Notes </a:t>
            </a: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The HTML Document Object Model (DOM) is a tree structure, where each HTML tag becomes a node in the hierarchy.</a:t>
            </a: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At the top, the &lt;html&gt; tag is the root element, containing both &lt;head&gt; and</a:t>
            </a:r>
            <a:r>
              <a:rPr lang="en-US" sz="2000" u="sng" dirty="0">
                <a:latin typeface="+mj-lt"/>
                <a:hlinkClick r:id="rId2"/>
              </a:rPr>
              <a:t>&lt;body&gt;</a:t>
            </a:r>
            <a:r>
              <a:rPr lang="en-US" sz="2000" dirty="0">
                <a:latin typeface="+mj-lt"/>
              </a:rPr>
              <a:t> as child elements.</a:t>
            </a: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These in turn have their own children, such as </a:t>
            </a:r>
            <a:r>
              <a:rPr lang="en-US" sz="2000" u="sng" dirty="0">
                <a:latin typeface="+mj-lt"/>
                <a:hlinkClick r:id="rId3"/>
              </a:rPr>
              <a:t>&lt;title&gt;</a:t>
            </a:r>
            <a:r>
              <a:rPr lang="en-US" sz="2000" dirty="0">
                <a:latin typeface="+mj-lt"/>
              </a:rPr>
              <a:t>, </a:t>
            </a:r>
            <a:r>
              <a:rPr lang="en-US" sz="2000" u="sng" dirty="0">
                <a:latin typeface="+mj-lt"/>
                <a:hlinkClick r:id="rId4"/>
              </a:rPr>
              <a:t>&lt;div&gt;</a:t>
            </a:r>
            <a:r>
              <a:rPr lang="en-US" sz="2000" dirty="0">
                <a:latin typeface="+mj-lt"/>
              </a:rPr>
              <a:t>, and nested elements like &lt;h1&gt;, &lt;p&gt;,</a:t>
            </a:r>
            <a:r>
              <a:rPr lang="en-US" sz="2000" u="sng" dirty="0">
                <a:latin typeface="+mj-lt"/>
                <a:hlinkClick r:id="rId5"/>
              </a:rPr>
              <a:t>&lt;ul&gt;</a:t>
            </a:r>
            <a:r>
              <a:rPr lang="en-US" sz="2000" dirty="0">
                <a:latin typeface="+mj-lt"/>
              </a:rPr>
              <a:t>, and</a:t>
            </a:r>
            <a:r>
              <a:rPr lang="en-US" sz="2000" u="sng" dirty="0">
                <a:latin typeface="+mj-lt"/>
                <a:hlinkClick r:id="rId6"/>
              </a:rPr>
              <a:t>&lt;li&gt;</a:t>
            </a:r>
            <a:r>
              <a:rPr lang="en-US" sz="2000" dirty="0">
                <a:latin typeface="+mj-lt"/>
              </a:rPr>
              <a:t>.</a:t>
            </a: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Elements that contain other elements are labeled as container elements, while elements that do not are simply child elements.</a:t>
            </a: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This hierarchy allows developers to navigate and manipulate web page content using JavaScript by traversing from parent to child and vice versa.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733498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299A9F-0F04-30FB-98EE-CD2C37A73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915400" cy="440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7532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11F1-CDD6-116E-540A-1F6F46132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600" y="381000"/>
            <a:ext cx="5714321" cy="696594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DOM Manipulation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7D8A8E-3A1E-4DB7-F793-1C4FD4CEE7FD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52401" y="1143000"/>
            <a:ext cx="8077200" cy="327628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Access and modify HTML elements.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Common methods: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getElementById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querySelector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innerHTML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dirty="0"/>
              <a:t>Examples: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0000"/>
                </a:solidFill>
                <a:latin typeface="+mj-lt"/>
              </a:rPr>
              <a:t>&lt;p id="demo"&gt;Original Text&lt;/p&gt;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0000"/>
                </a:solidFill>
                <a:latin typeface="+mj-lt"/>
              </a:rPr>
              <a:t>&lt;script&gt;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0000"/>
                </a:solidFill>
                <a:latin typeface="+mj-lt"/>
              </a:rPr>
              <a:t>  </a:t>
            </a:r>
            <a:r>
              <a:rPr lang="en-US" altLang="en-US" sz="2000" dirty="0" err="1">
                <a:solidFill>
                  <a:srgbClr val="FF0000"/>
                </a:solidFill>
                <a:latin typeface="+mj-lt"/>
              </a:rPr>
              <a:t>document.getElementById</a:t>
            </a:r>
            <a:r>
              <a:rPr lang="en-US" altLang="en-US" sz="2000" dirty="0">
                <a:solidFill>
                  <a:srgbClr val="FF0000"/>
                </a:solidFill>
                <a:latin typeface="+mj-lt"/>
              </a:rPr>
              <a:t>("demo").</a:t>
            </a:r>
            <a:r>
              <a:rPr lang="en-US" altLang="en-US" sz="2000" dirty="0" err="1">
                <a:solidFill>
                  <a:srgbClr val="FF0000"/>
                </a:solidFill>
                <a:latin typeface="+mj-lt"/>
              </a:rPr>
              <a:t>innerHTML</a:t>
            </a:r>
            <a:r>
              <a:rPr lang="en-US" altLang="en-US" sz="2000" dirty="0">
                <a:solidFill>
                  <a:srgbClr val="FF0000"/>
                </a:solidFill>
                <a:latin typeface="+mj-lt"/>
              </a:rPr>
              <a:t> = "Text Changed!";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0000"/>
                </a:solidFill>
                <a:latin typeface="+mj-lt"/>
              </a:rPr>
              <a:t>&lt;/script&gt;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D4FEC-1017-3EA6-DA79-22244F8A7469}"/>
              </a:ext>
            </a:extLst>
          </p:cNvPr>
          <p:cNvSpPr txBox="1"/>
          <p:nvPr/>
        </p:nvSpPr>
        <p:spPr>
          <a:xfrm>
            <a:off x="7391400" y="4572000"/>
            <a:ext cx="457200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Key Idea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urier New" panose="02070309020205020404" pitchFamily="49" charset="0"/>
              </a:rPr>
              <a:t>getElementById</a:t>
            </a:r>
            <a:r>
              <a:rPr lang="en-US" dirty="0"/>
              <a:t> → fast, only </a:t>
            </a:r>
            <a:r>
              <a:rPr lang="en-US" dirty="0">
                <a:latin typeface="Courier New" panose="02070309020205020404" pitchFamily="49" charset="0"/>
              </a:rPr>
              <a:t>id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urier New" panose="02070309020205020404" pitchFamily="49" charset="0"/>
              </a:rPr>
              <a:t>querySelector</a:t>
            </a:r>
            <a:r>
              <a:rPr lang="en-US" dirty="0"/>
              <a:t> → flexible, any CSS selector, first match.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urier New" panose="02070309020205020404" pitchFamily="49" charset="0"/>
              </a:rPr>
              <a:t>innerHTML</a:t>
            </a:r>
            <a:r>
              <a:rPr lang="en-US" dirty="0"/>
              <a:t> → </a:t>
            </a:r>
            <a:r>
              <a:rPr lang="en-US" b="1" dirty="0"/>
              <a:t>not a selector</a:t>
            </a:r>
            <a:r>
              <a:rPr lang="en-US" dirty="0"/>
              <a:t>, used to read/change the content inside an element.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360848-AD87-4206-BD07-9B9FF6AA5427}"/>
              </a:ext>
            </a:extLst>
          </p:cNvPr>
          <p:cNvSpPr txBox="1"/>
          <p:nvPr/>
        </p:nvSpPr>
        <p:spPr>
          <a:xfrm>
            <a:off x="228600" y="4953000"/>
            <a:ext cx="670560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&lt;p id="demo"&gt;Original Text&lt;/p&gt;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&lt;script&gt;</a:t>
            </a:r>
          </a:p>
          <a:p>
            <a:r>
              <a:rPr lang="en-US" dirty="0">
                <a:solidFill>
                  <a:srgbClr val="FF0000"/>
                </a:solidFill>
              </a:rPr>
              <a:t>  // Using querySelector to select by ID</a:t>
            </a:r>
          </a:p>
          <a:p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document.querySelector</a:t>
            </a:r>
            <a:r>
              <a:rPr lang="en-US" dirty="0">
                <a:solidFill>
                  <a:srgbClr val="FF0000"/>
                </a:solidFill>
              </a:rPr>
              <a:t>("#demo").innerHTML = "Text Changed!";</a:t>
            </a:r>
          </a:p>
          <a:p>
            <a:r>
              <a:rPr lang="en-US" dirty="0">
                <a:solidFill>
                  <a:srgbClr val="FF0000"/>
                </a:solidFill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8048252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8DC8-8F51-9CBA-00E4-5E40AC9A9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049275"/>
            <a:ext cx="1074420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Selecting and modify elements using DOM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C14EA-9191-870D-7373-4497AC74BBC4}"/>
              </a:ext>
            </a:extLst>
          </p:cNvPr>
          <p:cNvSpPr txBox="1"/>
          <p:nvPr/>
        </p:nvSpPr>
        <p:spPr>
          <a:xfrm>
            <a:off x="990600" y="2105727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400" b="1" dirty="0">
                <a:effectLst/>
                <a:highlight>
                  <a:srgbClr val="FFFF00"/>
                </a:highlight>
                <a:latin typeface="+mj-lt"/>
              </a:rPr>
              <a:t>getElementById("id")   = </a:t>
            </a:r>
            <a:r>
              <a:rPr lang="en-US" sz="2400" dirty="0">
                <a:latin typeface="+mj-lt"/>
              </a:rPr>
              <a:t>is a method of the </a:t>
            </a:r>
            <a:r>
              <a:rPr lang="en-US" sz="2400" b="1" dirty="0">
                <a:latin typeface="+mj-lt"/>
              </a:rPr>
              <a:t>document</a:t>
            </a:r>
            <a:r>
              <a:rPr lang="en-US" sz="2400" dirty="0">
                <a:latin typeface="+mj-lt"/>
              </a:rPr>
              <a:t> object.</a:t>
            </a:r>
            <a:endParaRPr lang="en-US" sz="2400" b="1" dirty="0">
              <a:effectLst/>
              <a:latin typeface="+mj-lt"/>
            </a:endParaRPr>
          </a:p>
          <a:p>
            <a:pPr algn="just"/>
            <a:endParaRPr lang="en-US" sz="2400" b="1" dirty="0">
              <a:effectLst/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+mj-lt"/>
              </a:rPr>
              <a:t>Selects a single element by its </a:t>
            </a:r>
            <a:r>
              <a:rPr lang="en-US" sz="2400" b="1" dirty="0">
                <a:effectLst/>
                <a:latin typeface="+mj-lt"/>
              </a:rPr>
              <a:t>unique ID</a:t>
            </a:r>
            <a:r>
              <a:rPr lang="en-US" sz="2400" dirty="0">
                <a:effectLst/>
                <a:latin typeface="+mj-lt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+mj-lt"/>
              </a:rPr>
              <a:t>Returns </a:t>
            </a:r>
            <a:r>
              <a:rPr lang="en-US" sz="2400" b="1" dirty="0">
                <a:effectLst/>
                <a:latin typeface="+mj-lt"/>
              </a:rPr>
              <a:t>one element</a:t>
            </a:r>
            <a:r>
              <a:rPr lang="en-US" sz="2400" dirty="0">
                <a:effectLst/>
                <a:latin typeface="+mj-lt"/>
              </a:rPr>
              <a:t> (or null if not found).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245EF-9A58-E530-477D-DA00704199BF}"/>
              </a:ext>
            </a:extLst>
          </p:cNvPr>
          <p:cNvSpPr txBox="1"/>
          <p:nvPr/>
        </p:nvSpPr>
        <p:spPr>
          <a:xfrm>
            <a:off x="990600" y="442406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Example: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&lt;p id="demo"&gt;Hello&lt;/p&gt;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&lt;script&gt;</a:t>
            </a:r>
          </a:p>
          <a:p>
            <a:r>
              <a:rPr lang="en-US" dirty="0">
                <a:solidFill>
                  <a:srgbClr val="FF0000"/>
                </a:solidFill>
              </a:rPr>
              <a:t>let element = </a:t>
            </a:r>
            <a:r>
              <a:rPr lang="en-US" dirty="0" err="1">
                <a:solidFill>
                  <a:srgbClr val="FF0000"/>
                </a:solidFill>
              </a:rPr>
              <a:t>document.getElementById</a:t>
            </a:r>
            <a:r>
              <a:rPr lang="en-US" dirty="0">
                <a:solidFill>
                  <a:srgbClr val="FF0000"/>
                </a:solidFill>
              </a:rPr>
              <a:t>("demo");</a:t>
            </a:r>
          </a:p>
          <a:p>
            <a:r>
              <a:rPr lang="en-US" dirty="0">
                <a:solidFill>
                  <a:srgbClr val="FF0000"/>
                </a:solidFill>
              </a:rPr>
              <a:t>&lt;/script&gt;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2D42A-7645-9D89-CE53-0944FA616CE2}"/>
              </a:ext>
            </a:extLst>
          </p:cNvPr>
          <p:cNvSpPr txBox="1"/>
          <p:nvPr/>
        </p:nvSpPr>
        <p:spPr>
          <a:xfrm>
            <a:off x="8001000" y="3733800"/>
            <a:ext cx="38100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Important Points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Selects only by </a:t>
            </a:r>
            <a:r>
              <a:rPr lang="en-US" b="1" dirty="0"/>
              <a:t>id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Returns </a:t>
            </a:r>
            <a:r>
              <a:rPr lang="en-US" b="1" dirty="0"/>
              <a:t>one element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Faster (because IDs are unique)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You write only the ID name (NO </a:t>
            </a:r>
            <a:r>
              <a:rPr lang="en-US" dirty="0">
                <a:latin typeface="Courier New" panose="02070309020205020404" pitchFamily="49" charset="0"/>
              </a:rPr>
              <a:t>#</a:t>
            </a:r>
            <a:r>
              <a:rPr lang="en-US" dirty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Cannot select class, tag, or complex selectors</a:t>
            </a:r>
          </a:p>
        </p:txBody>
      </p:sp>
    </p:spTree>
    <p:extLst>
      <p:ext uri="{BB962C8B-B14F-4D97-AF65-F5344CB8AC3E}">
        <p14:creationId xmlns:p14="http://schemas.microsoft.com/office/powerpoint/2010/main" val="158990414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C4662C-35E4-0AE3-778A-A58BDDE2B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90600"/>
            <a:ext cx="5715000" cy="519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0338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E93115-B7A5-F832-8F3A-9030D546393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14400" y="2349322"/>
            <a:ext cx="6192521" cy="410727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</a:rPr>
              <a:t> Example (ID)</a:t>
            </a:r>
          </a:p>
          <a:p>
            <a:pPr rtl="0">
              <a:lnSpc>
                <a:spcPct val="150000"/>
              </a:lnSpc>
            </a:pPr>
            <a:r>
              <a:rPr lang="en-US" sz="2000" dirty="0">
                <a:latin typeface="+mj-lt"/>
              </a:rPr>
              <a:t>let element = </a:t>
            </a:r>
            <a:r>
              <a:rPr lang="en-US" sz="2000" dirty="0" err="1">
                <a:latin typeface="+mj-lt"/>
              </a:rPr>
              <a:t>document.querySelector</a:t>
            </a:r>
            <a:r>
              <a:rPr lang="en-US" sz="2000" dirty="0">
                <a:latin typeface="+mj-lt"/>
              </a:rPr>
              <a:t>("#title");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Notice the # — because it uses CSS selector rules.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</a:rPr>
              <a:t>Example (Class)</a:t>
            </a:r>
          </a:p>
          <a:p>
            <a:pPr rtl="0">
              <a:lnSpc>
                <a:spcPct val="150000"/>
              </a:lnSpc>
            </a:pPr>
            <a:r>
              <a:rPr lang="en-US" sz="2000" dirty="0">
                <a:latin typeface="+mj-lt"/>
              </a:rPr>
              <a:t>&lt;p class="text"&gt;Hello&lt;/p&gt;</a:t>
            </a:r>
          </a:p>
          <a:p>
            <a:pPr rtl="0">
              <a:lnSpc>
                <a:spcPct val="150000"/>
              </a:lnSpc>
            </a:pPr>
            <a:r>
              <a:rPr lang="en-US" sz="2000" dirty="0">
                <a:latin typeface="+mj-lt"/>
              </a:rPr>
              <a:t>let element = </a:t>
            </a:r>
            <a:r>
              <a:rPr lang="en-US" sz="2000" dirty="0" err="1">
                <a:latin typeface="+mj-lt"/>
              </a:rPr>
              <a:t>document.querySelector</a:t>
            </a:r>
            <a:r>
              <a:rPr lang="en-US" sz="2000" dirty="0">
                <a:latin typeface="+mj-lt"/>
              </a:rPr>
              <a:t>(".text");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</a:rPr>
              <a:t>Example (Tag)</a:t>
            </a:r>
          </a:p>
          <a:p>
            <a:pPr rtl="0">
              <a:lnSpc>
                <a:spcPct val="150000"/>
              </a:lnSpc>
            </a:pPr>
            <a:r>
              <a:rPr lang="en-US" sz="2000" dirty="0">
                <a:latin typeface="+mj-lt"/>
              </a:rPr>
              <a:t>let element = </a:t>
            </a:r>
            <a:r>
              <a:rPr lang="en-US" sz="2000" dirty="0" err="1">
                <a:latin typeface="+mj-lt"/>
              </a:rPr>
              <a:t>document.querySelector</a:t>
            </a:r>
            <a:r>
              <a:rPr lang="en-US" sz="2000" dirty="0">
                <a:latin typeface="+mj-lt"/>
              </a:rPr>
              <a:t>("p");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87480-8E10-9030-F9D3-1A436F88B06E}"/>
              </a:ext>
            </a:extLst>
          </p:cNvPr>
          <p:cNvSpPr txBox="1"/>
          <p:nvPr/>
        </p:nvSpPr>
        <p:spPr>
          <a:xfrm>
            <a:off x="1143000" y="1143000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highlight>
                  <a:srgbClr val="FFFF00"/>
                </a:highlight>
                <a:latin typeface="+mj-lt"/>
              </a:rPr>
              <a:t>2. querySelector()    = </a:t>
            </a:r>
            <a:r>
              <a:rPr lang="en-US" dirty="0">
                <a:latin typeface="+mj-lt"/>
              </a:rPr>
              <a:t>querySelector() is a modern method that uses </a:t>
            </a:r>
            <a:r>
              <a:rPr lang="en-US" b="1" dirty="0">
                <a:latin typeface="+mj-lt"/>
              </a:rPr>
              <a:t>CSS selectors</a:t>
            </a:r>
            <a:r>
              <a:rPr lang="en-US" dirty="0">
                <a:latin typeface="+mj-lt"/>
              </a:rPr>
              <a:t> to select elements.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1563F-BFCC-B957-D715-C545C5257CBD}"/>
              </a:ext>
            </a:extLst>
          </p:cNvPr>
          <p:cNvSpPr txBox="1"/>
          <p:nvPr/>
        </p:nvSpPr>
        <p:spPr>
          <a:xfrm>
            <a:off x="7868920" y="2971800"/>
            <a:ext cx="4170679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+mj-lt"/>
              </a:rPr>
              <a:t>✔ Key Points</a:t>
            </a:r>
          </a:p>
          <a:p>
            <a:r>
              <a:rPr lang="en-US" sz="2000" dirty="0">
                <a:latin typeface="+mj-lt"/>
              </a:rPr>
              <a:t>Uses </a:t>
            </a:r>
            <a:r>
              <a:rPr lang="en-US" sz="2000" b="1" dirty="0">
                <a:latin typeface="+mj-lt"/>
              </a:rPr>
              <a:t>CSS selector syntax</a:t>
            </a:r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Can select: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id (#id)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class (.class)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tag (div)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attribute (input[type="text"])</a:t>
            </a:r>
          </a:p>
          <a:p>
            <a:r>
              <a:rPr lang="en-US" sz="2000" dirty="0">
                <a:latin typeface="+mj-lt"/>
              </a:rPr>
              <a:t>Returns </a:t>
            </a:r>
            <a:r>
              <a:rPr lang="en-US" sz="2000" b="1" dirty="0">
                <a:latin typeface="+mj-lt"/>
              </a:rPr>
              <a:t>only the first matching element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523292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491FCE-3DDB-668E-A7B1-5482760FB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04800"/>
            <a:ext cx="6897000" cy="4191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D7056E-8288-FCA8-A0DC-19AEE70A1397}"/>
              </a:ext>
            </a:extLst>
          </p:cNvPr>
          <p:cNvSpPr txBox="1"/>
          <p:nvPr/>
        </p:nvSpPr>
        <p:spPr>
          <a:xfrm>
            <a:off x="1143000" y="4625430"/>
            <a:ext cx="9982200" cy="154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Should You Use Each?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 are selecting </a:t>
            </a: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by ID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getElementById() is simple and slightly faster.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 want flexibility (class, tag, complex selector), use querySelector().</a:t>
            </a:r>
          </a:p>
        </p:txBody>
      </p:sp>
    </p:spTree>
    <p:extLst>
      <p:ext uri="{BB962C8B-B14F-4D97-AF65-F5344CB8AC3E}">
        <p14:creationId xmlns:p14="http://schemas.microsoft.com/office/powerpoint/2010/main" val="96231670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DB45-48CB-4037-6223-B59363440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7440" y="685800"/>
            <a:ext cx="3847760" cy="492443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+mj-lt"/>
              </a:rPr>
              <a:t>Example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628EB-A4E4-D6E5-1037-64B7B9556B5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447800" y="1318022"/>
            <a:ext cx="10515600" cy="523220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>
                <a:latin typeface="+mj-lt"/>
              </a:rPr>
              <a:t>&lt;div id="box" class="container"&gt;Box&lt;/div&gt;</a:t>
            </a:r>
          </a:p>
          <a:p>
            <a:r>
              <a:rPr lang="en-US" sz="2000" dirty="0">
                <a:latin typeface="+mj-lt"/>
              </a:rPr>
              <a:t>&lt;div class="container"&gt;Another Box&lt;/div&gt;</a:t>
            </a:r>
          </a:p>
          <a:p>
            <a:r>
              <a:rPr lang="en-US" sz="2000" dirty="0">
                <a:latin typeface="+mj-lt"/>
              </a:rPr>
              <a:t>&lt;input type="text" name="username"&gt;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&lt;script&gt;</a:t>
            </a:r>
          </a:p>
          <a:p>
            <a:r>
              <a:rPr lang="en-US" sz="2000" dirty="0">
                <a:solidFill>
                  <a:srgbClr val="FF0000"/>
                </a:solidFill>
                <a:latin typeface="+mj-lt"/>
              </a:rPr>
              <a:t>  // Traditional methods</a:t>
            </a:r>
          </a:p>
          <a:p>
            <a:r>
              <a:rPr lang="en-US" sz="2000" dirty="0">
                <a:latin typeface="+mj-lt"/>
              </a:rPr>
              <a:t>  let </a:t>
            </a:r>
            <a:r>
              <a:rPr lang="en-US" sz="2000" dirty="0" err="1">
                <a:latin typeface="+mj-lt"/>
              </a:rPr>
              <a:t>byId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document.getElementById</a:t>
            </a:r>
            <a:r>
              <a:rPr lang="en-US" sz="2000" dirty="0">
                <a:latin typeface="+mj-lt"/>
              </a:rPr>
              <a:t>("box");         // single element</a:t>
            </a:r>
          </a:p>
          <a:p>
            <a:r>
              <a:rPr lang="en-US" sz="2000" dirty="0">
                <a:latin typeface="+mj-lt"/>
              </a:rPr>
              <a:t>  let </a:t>
            </a:r>
            <a:r>
              <a:rPr lang="en-US" sz="2000" dirty="0" err="1">
                <a:latin typeface="+mj-lt"/>
              </a:rPr>
              <a:t>byTag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document.getElementsByTagName</a:t>
            </a:r>
            <a:r>
              <a:rPr lang="en-US" sz="2000" dirty="0">
                <a:latin typeface="+mj-lt"/>
              </a:rPr>
              <a:t>("div");  // all &lt;div&gt; elements</a:t>
            </a:r>
          </a:p>
          <a:p>
            <a:r>
              <a:rPr lang="en-US" sz="2000" dirty="0">
                <a:latin typeface="+mj-lt"/>
              </a:rPr>
              <a:t>  let </a:t>
            </a:r>
            <a:r>
              <a:rPr lang="en-US" sz="2000" dirty="0" err="1">
                <a:latin typeface="+mj-lt"/>
              </a:rPr>
              <a:t>byClass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document.getElementsByClassName</a:t>
            </a:r>
            <a:r>
              <a:rPr lang="en-US" sz="2000" dirty="0">
                <a:latin typeface="+mj-lt"/>
              </a:rPr>
              <a:t>("container"); // all with class</a:t>
            </a:r>
          </a:p>
          <a:p>
            <a:r>
              <a:rPr lang="en-US" sz="2000" dirty="0">
                <a:latin typeface="+mj-lt"/>
              </a:rPr>
              <a:t>  let </a:t>
            </a:r>
            <a:r>
              <a:rPr lang="en-US" sz="2000" dirty="0" err="1">
                <a:latin typeface="+mj-lt"/>
              </a:rPr>
              <a:t>byName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document.getElementsByName</a:t>
            </a:r>
            <a:r>
              <a:rPr lang="en-US" sz="2000" dirty="0">
                <a:latin typeface="+mj-lt"/>
              </a:rPr>
              <a:t>("username"); // input with name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// Modern methods</a:t>
            </a:r>
          </a:p>
          <a:p>
            <a:r>
              <a:rPr lang="en-US" sz="2000" dirty="0">
                <a:latin typeface="+mj-lt"/>
              </a:rPr>
              <a:t>  let </a:t>
            </a:r>
            <a:r>
              <a:rPr lang="en-US" sz="2000" dirty="0" err="1">
                <a:latin typeface="+mj-lt"/>
              </a:rPr>
              <a:t>qId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document.querySelector</a:t>
            </a:r>
            <a:r>
              <a:rPr lang="en-US" sz="2000" dirty="0">
                <a:latin typeface="+mj-lt"/>
              </a:rPr>
              <a:t>("#box");          // first element with id=box</a:t>
            </a:r>
          </a:p>
          <a:p>
            <a:r>
              <a:rPr lang="en-US" sz="2000" dirty="0">
                <a:latin typeface="+mj-lt"/>
              </a:rPr>
              <a:t>  let </a:t>
            </a:r>
            <a:r>
              <a:rPr lang="en-US" sz="2000" dirty="0" err="1">
                <a:latin typeface="+mj-lt"/>
              </a:rPr>
              <a:t>qClass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document.querySelector</a:t>
            </a:r>
            <a:r>
              <a:rPr lang="en-US" sz="2000" dirty="0">
                <a:latin typeface="+mj-lt"/>
              </a:rPr>
              <a:t>(".container"); // first element with class</a:t>
            </a:r>
          </a:p>
          <a:p>
            <a:r>
              <a:rPr lang="en-US" sz="2000" dirty="0">
                <a:latin typeface="+mj-lt"/>
              </a:rPr>
              <a:t>  let </a:t>
            </a:r>
            <a:r>
              <a:rPr lang="en-US" sz="2000" dirty="0" err="1">
                <a:latin typeface="+mj-lt"/>
              </a:rPr>
              <a:t>qAllClass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document.querySelectorAll</a:t>
            </a:r>
            <a:r>
              <a:rPr lang="en-US" sz="2000" dirty="0">
                <a:latin typeface="+mj-lt"/>
              </a:rPr>
              <a:t>(".container"); // all with class</a:t>
            </a:r>
          </a:p>
          <a:p>
            <a:r>
              <a:rPr lang="en-US" sz="2000" dirty="0">
                <a:latin typeface="+mj-lt"/>
              </a:rPr>
              <a:t>  let </a:t>
            </a:r>
            <a:r>
              <a:rPr lang="en-US" sz="2000" dirty="0" err="1">
                <a:latin typeface="+mj-lt"/>
              </a:rPr>
              <a:t>qName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document.querySelector</a:t>
            </a:r>
            <a:r>
              <a:rPr lang="en-US" sz="2000" dirty="0">
                <a:latin typeface="+mj-lt"/>
              </a:rPr>
              <a:t>("input[name='username']"); // first input with name</a:t>
            </a:r>
          </a:p>
          <a:p>
            <a:r>
              <a:rPr lang="en-US" sz="2000" dirty="0">
                <a:latin typeface="+mj-lt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56233847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8F7F03-F5C4-8D34-1729-5C5E0E340A3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38200" y="1676400"/>
            <a:ext cx="10972800" cy="382072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lvl="1">
              <a:lnSpc>
                <a:spcPct val="150000"/>
              </a:lnSpc>
            </a:pPr>
            <a:r>
              <a:rPr lang="en-US" sz="2400" b="1" dirty="0">
                <a:latin typeface="+mj-lt"/>
              </a:rPr>
              <a:t>Key Takeaways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+mj-lt"/>
              </a:rPr>
              <a:t>Traditional methods</a:t>
            </a:r>
            <a:r>
              <a:rPr lang="en-US" sz="2400" dirty="0">
                <a:latin typeface="+mj-lt"/>
              </a:rPr>
              <a:t> are older and more specific (ID, class, tag, name).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querySelector is more powerful because it uses </a:t>
            </a:r>
            <a:r>
              <a:rPr lang="en-US" sz="2400" b="1" dirty="0">
                <a:latin typeface="+mj-lt"/>
              </a:rPr>
              <a:t>CSS selectors</a:t>
            </a:r>
            <a:r>
              <a:rPr lang="en-US" sz="2400" dirty="0">
                <a:latin typeface="+mj-lt"/>
              </a:rPr>
              <a:t> and works for all cases.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+mj-lt"/>
              </a:rPr>
              <a:t>Best practice today</a:t>
            </a:r>
            <a:r>
              <a:rPr lang="en-US" sz="2400" dirty="0">
                <a:latin typeface="+mj-lt"/>
              </a:rPr>
              <a:t>: 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querySelector / querySelectorAll </a:t>
            </a:r>
            <a:r>
              <a:rPr lang="en-US" sz="2400" dirty="0">
                <a:latin typeface="+mj-lt"/>
              </a:rPr>
              <a:t>for flexibility, unless you specifically need the older methods.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01354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6816-FB23-612A-7A5C-BEBB5346B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106" y="1142586"/>
            <a:ext cx="7429160" cy="492443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+mj-lt"/>
              </a:rPr>
              <a:t>Manipulating elements’ styles in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8F004-0796-E3FE-FBE2-5B96B429442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447800" y="2057400"/>
            <a:ext cx="8534400" cy="2577629"/>
          </a:xfrm>
        </p:spPr>
        <p:txBody>
          <a:bodyPr/>
          <a:lstStyle/>
          <a:p>
            <a:r>
              <a:rPr lang="en-US" b="1" dirty="0"/>
              <a:t>1. Inline Style Changes</a:t>
            </a:r>
          </a:p>
          <a:p>
            <a:r>
              <a:rPr lang="en-US" dirty="0"/>
              <a:t>Use the .style property to directly change CSS of an element.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375CF-EEE7-C48C-1FB9-1F9D24B9B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49" y="4419600"/>
            <a:ext cx="707707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7794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AF32CB-A1BD-4AC7-24CA-D7254BEB1A1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828800" y="1241822"/>
            <a:ext cx="8534400" cy="553997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lvl="1"/>
            <a:r>
              <a:rPr lang="en-US" dirty="0">
                <a:latin typeface="+mj-lt"/>
              </a:rPr>
              <a:t>&lt;!DOCTYPE html&gt;</a:t>
            </a:r>
          </a:p>
          <a:p>
            <a:pPr lvl="1"/>
            <a:r>
              <a:rPr lang="en-US" dirty="0">
                <a:latin typeface="+mj-lt"/>
              </a:rPr>
              <a:t>&lt;html&gt;</a:t>
            </a:r>
          </a:p>
          <a:p>
            <a:pPr lvl="1"/>
            <a:r>
              <a:rPr lang="en-US" dirty="0">
                <a:latin typeface="+mj-lt"/>
              </a:rPr>
              <a:t>&lt;head&gt;</a:t>
            </a:r>
          </a:p>
          <a:p>
            <a:pPr lvl="1"/>
            <a:r>
              <a:rPr lang="en-US" dirty="0">
                <a:latin typeface="+mj-lt"/>
              </a:rPr>
              <a:t>    &lt;title&gt;Auto Style Change&lt;/title&gt;</a:t>
            </a:r>
          </a:p>
          <a:p>
            <a:pPr lvl="1"/>
            <a:r>
              <a:rPr lang="en-US" dirty="0">
                <a:latin typeface="+mj-lt"/>
              </a:rPr>
              <a:t>&lt;/head&gt;</a:t>
            </a:r>
          </a:p>
          <a:p>
            <a:pPr lvl="1"/>
            <a:r>
              <a:rPr lang="en-US" dirty="0">
                <a:latin typeface="+mj-lt"/>
              </a:rPr>
              <a:t>&lt;body&gt;</a:t>
            </a:r>
          </a:p>
          <a:p>
            <a:pPr lvl="1"/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    &lt;h1 id="title"&gt;Hello JavaScript&lt;/h1&gt;</a:t>
            </a:r>
          </a:p>
          <a:p>
            <a:pPr lvl="1"/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    &lt;script&gt;</a:t>
            </a:r>
          </a:p>
          <a:p>
            <a:pPr lvl="1"/>
            <a:r>
              <a:rPr lang="en-US" dirty="0">
                <a:latin typeface="+mj-lt"/>
              </a:rPr>
              <a:t>        let element = </a:t>
            </a:r>
            <a:r>
              <a:rPr lang="en-US" dirty="0" err="1">
                <a:latin typeface="+mj-lt"/>
              </a:rPr>
              <a:t>document.getElementById</a:t>
            </a:r>
            <a:r>
              <a:rPr lang="en-US" dirty="0">
                <a:latin typeface="+mj-lt"/>
              </a:rPr>
              <a:t>("title");</a:t>
            </a:r>
          </a:p>
          <a:p>
            <a:pPr lvl="1"/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        </a:t>
            </a:r>
            <a:r>
              <a:rPr lang="en-US" dirty="0" err="1">
                <a:latin typeface="+mj-lt"/>
              </a:rPr>
              <a:t>element.style.color</a:t>
            </a:r>
            <a:r>
              <a:rPr lang="en-US" dirty="0">
                <a:latin typeface="+mj-lt"/>
              </a:rPr>
              <a:t> = "white";</a:t>
            </a:r>
          </a:p>
          <a:p>
            <a:pPr lvl="1"/>
            <a:r>
              <a:rPr lang="en-US" dirty="0">
                <a:latin typeface="+mj-lt"/>
              </a:rPr>
              <a:t>        </a:t>
            </a:r>
            <a:r>
              <a:rPr lang="en-US" dirty="0" err="1">
                <a:latin typeface="+mj-lt"/>
              </a:rPr>
              <a:t>element.style.backgroundColor</a:t>
            </a:r>
            <a:r>
              <a:rPr lang="en-US" dirty="0">
                <a:latin typeface="+mj-lt"/>
              </a:rPr>
              <a:t> = "green";</a:t>
            </a:r>
          </a:p>
          <a:p>
            <a:pPr lvl="1"/>
            <a:r>
              <a:rPr lang="en-US" dirty="0">
                <a:latin typeface="+mj-lt"/>
              </a:rPr>
              <a:t>        </a:t>
            </a:r>
            <a:r>
              <a:rPr lang="en-US" dirty="0" err="1">
                <a:latin typeface="+mj-lt"/>
              </a:rPr>
              <a:t>element.style.fontSize</a:t>
            </a:r>
            <a:r>
              <a:rPr lang="en-US" dirty="0">
                <a:latin typeface="+mj-lt"/>
              </a:rPr>
              <a:t> = "40px";</a:t>
            </a:r>
          </a:p>
          <a:p>
            <a:pPr lvl="1"/>
            <a:r>
              <a:rPr lang="en-US" dirty="0">
                <a:latin typeface="+mj-lt"/>
              </a:rPr>
              <a:t>        </a:t>
            </a:r>
            <a:r>
              <a:rPr lang="en-US" dirty="0" err="1">
                <a:latin typeface="+mj-lt"/>
              </a:rPr>
              <a:t>element.style.padding</a:t>
            </a:r>
            <a:r>
              <a:rPr lang="en-US" dirty="0">
                <a:latin typeface="+mj-lt"/>
              </a:rPr>
              <a:t> = "20px";</a:t>
            </a:r>
          </a:p>
          <a:p>
            <a:pPr lvl="1"/>
            <a:r>
              <a:rPr lang="en-US" dirty="0">
                <a:latin typeface="+mj-lt"/>
              </a:rPr>
              <a:t>    &lt;/script&gt;</a:t>
            </a:r>
          </a:p>
          <a:p>
            <a:pPr lvl="1"/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&lt;/body&gt;</a:t>
            </a:r>
          </a:p>
          <a:p>
            <a:pPr lvl="1"/>
            <a:r>
              <a:rPr lang="en-US" dirty="0">
                <a:latin typeface="+mj-lt"/>
              </a:rPr>
              <a:t>&lt;/html&gt;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B278E2-7C59-6419-FCB8-E7CF1DD7C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8200" y="498157"/>
            <a:ext cx="4191000" cy="492443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+mj-lt"/>
              </a:rPr>
              <a:t>Using getElementById()</a:t>
            </a:r>
          </a:p>
        </p:txBody>
      </p:sp>
    </p:spTree>
    <p:extLst>
      <p:ext uri="{BB962C8B-B14F-4D97-AF65-F5344CB8AC3E}">
        <p14:creationId xmlns:p14="http://schemas.microsoft.com/office/powerpoint/2010/main" val="234765123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8C1E-2553-2F1F-409D-EB6ADEA4D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457200"/>
            <a:ext cx="5714321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Using querySelector()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54D29-59C6-8DE8-37E7-E41DA13AB09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447800" y="1134308"/>
            <a:ext cx="6324600" cy="5571292"/>
          </a:xfrm>
        </p:spPr>
        <p:txBody>
          <a:bodyPr/>
          <a:lstStyle/>
          <a:p>
            <a:r>
              <a:rPr lang="en-US" sz="1800" dirty="0">
                <a:latin typeface="+mj-lt"/>
              </a:rPr>
              <a:t>&lt;!DOCTYPE html&gt;</a:t>
            </a:r>
          </a:p>
          <a:p>
            <a:r>
              <a:rPr lang="en-US" sz="1800" dirty="0">
                <a:latin typeface="+mj-lt"/>
              </a:rPr>
              <a:t>&lt;html&gt;</a:t>
            </a:r>
          </a:p>
          <a:p>
            <a:r>
              <a:rPr lang="en-US" sz="1800" dirty="0">
                <a:latin typeface="+mj-lt"/>
              </a:rPr>
              <a:t>&lt;head&gt;</a:t>
            </a:r>
          </a:p>
          <a:p>
            <a:r>
              <a:rPr lang="en-US" sz="1800" dirty="0">
                <a:latin typeface="+mj-lt"/>
              </a:rPr>
              <a:t>    &lt;title&gt;Auto Style Change&lt;/title&gt;</a:t>
            </a:r>
          </a:p>
          <a:p>
            <a:r>
              <a:rPr lang="en-US" sz="1800" dirty="0">
                <a:latin typeface="+mj-lt"/>
              </a:rPr>
              <a:t>&lt;/head&gt;</a:t>
            </a:r>
          </a:p>
          <a:p>
            <a:r>
              <a:rPr lang="en-US" sz="1800" dirty="0">
                <a:latin typeface="+mj-lt"/>
              </a:rPr>
              <a:t>&lt;body&gt;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    &lt;h1 id="title"&gt;Hello JavaScript&lt;/h1&gt;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    &lt;script&gt;</a:t>
            </a:r>
          </a:p>
          <a:p>
            <a:r>
              <a:rPr lang="en-US" sz="1800" dirty="0">
                <a:latin typeface="+mj-lt"/>
              </a:rPr>
              <a:t>        let element = </a:t>
            </a:r>
            <a:r>
              <a:rPr lang="en-US" sz="1800" dirty="0" err="1">
                <a:latin typeface="+mj-lt"/>
              </a:rPr>
              <a:t>document.querySelector</a:t>
            </a:r>
            <a:r>
              <a:rPr lang="en-US" sz="1800" dirty="0">
                <a:latin typeface="+mj-lt"/>
              </a:rPr>
              <a:t>("#title");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        </a:t>
            </a:r>
            <a:r>
              <a:rPr lang="en-US" sz="1800" dirty="0" err="1">
                <a:latin typeface="+mj-lt"/>
              </a:rPr>
              <a:t>element.style.color</a:t>
            </a:r>
            <a:r>
              <a:rPr lang="en-US" sz="1800" dirty="0">
                <a:latin typeface="+mj-lt"/>
              </a:rPr>
              <a:t> = "white";</a:t>
            </a:r>
          </a:p>
          <a:p>
            <a:r>
              <a:rPr lang="en-US" sz="1800" dirty="0">
                <a:latin typeface="+mj-lt"/>
              </a:rPr>
              <a:t>        </a:t>
            </a:r>
            <a:r>
              <a:rPr lang="en-US" sz="1800" dirty="0" err="1">
                <a:latin typeface="+mj-lt"/>
              </a:rPr>
              <a:t>element.style.backgroundColor</a:t>
            </a:r>
            <a:r>
              <a:rPr lang="en-US" sz="1800" dirty="0">
                <a:latin typeface="+mj-lt"/>
              </a:rPr>
              <a:t> = "green";</a:t>
            </a:r>
          </a:p>
          <a:p>
            <a:r>
              <a:rPr lang="en-US" sz="1800" dirty="0">
                <a:latin typeface="+mj-lt"/>
              </a:rPr>
              <a:t>        </a:t>
            </a:r>
            <a:r>
              <a:rPr lang="en-US" sz="1800" dirty="0" err="1">
                <a:latin typeface="+mj-lt"/>
              </a:rPr>
              <a:t>element.style.fontSize</a:t>
            </a:r>
            <a:r>
              <a:rPr lang="en-US" sz="1800" dirty="0">
                <a:latin typeface="+mj-lt"/>
              </a:rPr>
              <a:t> = "40px";</a:t>
            </a:r>
          </a:p>
          <a:p>
            <a:r>
              <a:rPr lang="en-US" sz="1800" dirty="0">
                <a:latin typeface="+mj-lt"/>
              </a:rPr>
              <a:t>        </a:t>
            </a:r>
            <a:r>
              <a:rPr lang="en-US" sz="1800" dirty="0" err="1">
                <a:latin typeface="+mj-lt"/>
              </a:rPr>
              <a:t>element.style.padding</a:t>
            </a:r>
            <a:r>
              <a:rPr lang="en-US" sz="1800" dirty="0">
                <a:latin typeface="+mj-lt"/>
              </a:rPr>
              <a:t> = "20px";</a:t>
            </a:r>
          </a:p>
          <a:p>
            <a:r>
              <a:rPr lang="en-US" sz="1800" dirty="0">
                <a:latin typeface="+mj-lt"/>
              </a:rPr>
              <a:t>    &lt;/script&gt;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&lt;/body&gt;</a:t>
            </a:r>
          </a:p>
          <a:p>
            <a:r>
              <a:rPr lang="en-US" sz="1800" dirty="0">
                <a:latin typeface="+mj-lt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96405275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897B680-0FB2-5021-C68C-1C5077A8947A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447800" y="990560"/>
            <a:ext cx="8763000" cy="5627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JavaScript Events </a:t>
            </a:r>
          </a:p>
          <a:p>
            <a:endParaRPr lang="en-US" sz="2000" b="1" dirty="0">
              <a:latin typeface="+mj-lt"/>
            </a:endParaRPr>
          </a:p>
          <a:p>
            <a:r>
              <a:rPr lang="en-US" sz="2800" b="1" dirty="0">
                <a:latin typeface="+mj-lt"/>
              </a:rPr>
              <a:t>What is an Event?</a:t>
            </a:r>
          </a:p>
          <a:p>
            <a:endParaRPr lang="en-US" sz="2800" b="1" dirty="0">
              <a:latin typeface="+mj-lt"/>
            </a:endParaRPr>
          </a:p>
          <a:p>
            <a:r>
              <a:rPr lang="en-US" sz="2800" dirty="0">
                <a:latin typeface="+mj-lt"/>
              </a:rPr>
              <a:t>An </a:t>
            </a:r>
            <a:r>
              <a:rPr lang="en-US" sz="2800" b="1" dirty="0">
                <a:latin typeface="+mj-lt"/>
              </a:rPr>
              <a:t>event</a:t>
            </a:r>
            <a:r>
              <a:rPr lang="en-US" sz="2800" dirty="0">
                <a:latin typeface="+mj-lt"/>
              </a:rPr>
              <a:t> is an action that happens in the browser.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It can be: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j-lt"/>
              </a:rPr>
              <a:t>A user action (click, type, hover)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j-lt"/>
              </a:rPr>
              <a:t>A browser action (page load, resize)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j-lt"/>
              </a:rPr>
              <a:t>JavaScript can detect these actions and respond to them.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843081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C955-4F49-505C-7185-44F0C4017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840" y="1049274"/>
            <a:ext cx="76577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Common Types of Events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83A98-CC8D-3C06-AFBD-44994B26D2B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905000" y="2362200"/>
            <a:ext cx="8534400" cy="152399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US" b="1" dirty="0"/>
              <a:t>Most common in practice:</a:t>
            </a:r>
            <a:r>
              <a:rPr lang="en-US" dirty="0"/>
              <a:t> click, </a:t>
            </a:r>
            <a:r>
              <a:rPr lang="en-US" dirty="0" err="1"/>
              <a:t>keydown</a:t>
            </a:r>
            <a:r>
              <a:rPr lang="en-US" dirty="0"/>
              <a:t>, submit, load, scroll.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6CCFA3-5F07-E926-29FE-7785FF4E4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click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dblclick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mouseover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mouseout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3855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DE46-ACAC-EC5A-DC18-13C7A0997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920" y="990600"/>
            <a:ext cx="9848680" cy="430887"/>
          </a:xfrm>
        </p:spPr>
        <p:txBody>
          <a:bodyPr/>
          <a:lstStyle/>
          <a:p>
            <a:r>
              <a:rPr lang="en-US" sz="2800" dirty="0">
                <a:highlight>
                  <a:srgbClr val="FFFF00"/>
                </a:highlight>
                <a:latin typeface="+mj-lt"/>
              </a:rPr>
              <a:t>JavaScript event handlers </a:t>
            </a:r>
            <a:r>
              <a:rPr lang="en-US" sz="2800" dirty="0">
                <a:latin typeface="+mj-lt"/>
              </a:rPr>
              <a:t>=  </a:t>
            </a:r>
            <a:r>
              <a:rPr lang="en-US" sz="2800" dirty="0">
                <a:highlight>
                  <a:srgbClr val="FFFF00"/>
                </a:highlight>
                <a:latin typeface="+mj-lt"/>
              </a:rPr>
              <a:t>onclick</a:t>
            </a:r>
            <a:r>
              <a:rPr lang="en-US" sz="2800" dirty="0">
                <a:latin typeface="+mj-lt"/>
              </a:rPr>
              <a:t> and </a:t>
            </a:r>
            <a:r>
              <a:rPr lang="en-US" sz="2800" dirty="0">
                <a:highlight>
                  <a:srgbClr val="FFFF00"/>
                </a:highlight>
                <a:latin typeface="+mj-lt"/>
              </a:rPr>
              <a:t>addEventListener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C0E449-5DA0-F83F-CE79-7AC5DD77689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828800" y="1822981"/>
            <a:ext cx="8534400" cy="1798954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onclick and addEventListener are called </a:t>
            </a:r>
            <a:r>
              <a:rPr lang="en-US" sz="2000" b="1" dirty="0">
                <a:latin typeface="+mj-lt"/>
              </a:rPr>
              <a:t>event handlers (or event listener methods)</a:t>
            </a:r>
            <a:r>
              <a:rPr lang="en-US" sz="2000" dirty="0">
                <a:latin typeface="+mj-lt"/>
              </a:rPr>
              <a:t> in JavaScript.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They are ways to </a:t>
            </a:r>
            <a:r>
              <a:rPr lang="en-US" sz="2000" b="1" dirty="0">
                <a:latin typeface="+mj-lt"/>
              </a:rPr>
              <a:t>bind code to events</a:t>
            </a:r>
            <a:r>
              <a:rPr lang="en-US" sz="2000" dirty="0">
                <a:latin typeface="+mj-lt"/>
              </a:rPr>
              <a:t> so that when something happens (like a click), your function runs.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C08BB-DBF0-7698-0B88-03792BBD8DCE}"/>
              </a:ext>
            </a:extLst>
          </p:cNvPr>
          <p:cNvSpPr txBox="1"/>
          <p:nvPr/>
        </p:nvSpPr>
        <p:spPr>
          <a:xfrm>
            <a:off x="1860698" y="3883780"/>
            <a:ext cx="8959702" cy="198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effectLst/>
                <a:latin typeface="+mj-lt"/>
              </a:rPr>
              <a:t>Terminology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  <a:latin typeface="+mj-lt"/>
              </a:rPr>
              <a:t>Event</a:t>
            </a:r>
            <a:r>
              <a:rPr lang="en-US" sz="2000" dirty="0">
                <a:effectLst/>
                <a:latin typeface="+mj-lt"/>
              </a:rPr>
              <a:t> → The action that happens (e.g., click, </a:t>
            </a:r>
            <a:r>
              <a:rPr lang="en-US" sz="2000" dirty="0" err="1">
                <a:effectLst/>
                <a:latin typeface="+mj-lt"/>
              </a:rPr>
              <a:t>keydown</a:t>
            </a:r>
            <a:r>
              <a:rPr lang="en-US" sz="2000" dirty="0">
                <a:effectLst/>
                <a:latin typeface="+mj-lt"/>
              </a:rPr>
              <a:t>, submit).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  <a:latin typeface="+mj-lt"/>
              </a:rPr>
              <a:t>Event Handler / Event Listener</a:t>
            </a:r>
            <a:r>
              <a:rPr lang="en-US" sz="2000" dirty="0">
                <a:effectLst/>
                <a:latin typeface="+mj-lt"/>
              </a:rPr>
              <a:t> → The function that responds to the event.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  <a:latin typeface="+mj-lt"/>
              </a:rPr>
              <a:t>Event Binding</a:t>
            </a:r>
            <a:r>
              <a:rPr lang="en-US" sz="2000" dirty="0">
                <a:effectLst/>
                <a:latin typeface="+mj-lt"/>
              </a:rPr>
              <a:t> → The process of connecting an event to a handler.</a:t>
            </a:r>
          </a:p>
        </p:txBody>
      </p:sp>
    </p:spTree>
    <p:extLst>
      <p:ext uri="{BB962C8B-B14F-4D97-AF65-F5344CB8AC3E}">
        <p14:creationId xmlns:p14="http://schemas.microsoft.com/office/powerpoint/2010/main" val="262333648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875B418-1EFE-31BE-45A3-29B28D5ACFF8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838200" y="1371599"/>
            <a:ext cx="108204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1. onclick 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Inline in HTML: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&lt;button onclick="alert('Button clicked!')"&gt;Click Me&lt;/button&gt;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In JavaScript: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dirty="0">
                <a:latin typeface="+mj-lt"/>
              </a:rPr>
              <a:t>&lt;button id="</a:t>
            </a:r>
            <a:r>
              <a:rPr lang="en-US" sz="2000" dirty="0" err="1">
                <a:latin typeface="+mj-lt"/>
              </a:rPr>
              <a:t>btn</a:t>
            </a:r>
            <a:r>
              <a:rPr lang="en-US" sz="2000" dirty="0">
                <a:latin typeface="+mj-lt"/>
              </a:rPr>
              <a:t>"&gt;Click Me&lt;/button&gt;</a:t>
            </a:r>
            <a:br>
              <a:rPr lang="en-US" sz="2000" dirty="0">
                <a:latin typeface="+mj-lt"/>
              </a:rPr>
            </a:b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&lt;script&gt;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// Using querySelector to select the button by ID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document.querySelector("#</a:t>
            </a:r>
            <a:r>
              <a:rPr lang="en-US" sz="2000" dirty="0" err="1">
                <a:latin typeface="+mj-lt"/>
              </a:rPr>
              <a:t>btn</a:t>
            </a:r>
            <a:r>
              <a:rPr lang="en-US" sz="2000" dirty="0">
                <a:latin typeface="+mj-lt"/>
              </a:rPr>
              <a:t>").onclick = function() {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alert("Button clicked!");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};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&lt;/script&gt;</a:t>
            </a:r>
            <a:endParaRPr lang="en-US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3203312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8BC27B-F268-7A4A-89EC-54A475E5C9DF}"/>
              </a:ext>
            </a:extLst>
          </p:cNvPr>
          <p:cNvSpPr txBox="1"/>
          <p:nvPr/>
        </p:nvSpPr>
        <p:spPr>
          <a:xfrm>
            <a:off x="685800" y="1676400"/>
            <a:ext cx="11201400" cy="28161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Explanation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ourier New" panose="02070309020205020404" pitchFamily="49" charset="0"/>
              </a:rPr>
              <a:t>document.querySelector("#</a:t>
            </a:r>
            <a:r>
              <a:rPr lang="en-US" sz="2400" dirty="0" err="1">
                <a:latin typeface="Courier New" panose="02070309020205020404" pitchFamily="49" charset="0"/>
              </a:rPr>
              <a:t>btn</a:t>
            </a:r>
            <a:r>
              <a:rPr lang="en-US" sz="2400" dirty="0">
                <a:latin typeface="Courier New" panose="02070309020205020404" pitchFamily="49" charset="0"/>
              </a:rPr>
              <a:t>")</a:t>
            </a:r>
            <a:r>
              <a:rPr lang="en-US" sz="2400" dirty="0"/>
              <a:t> → selects the </a:t>
            </a:r>
            <a:r>
              <a:rPr lang="en-US" sz="2400" b="1" dirty="0"/>
              <a:t>button with id="</a:t>
            </a:r>
            <a:r>
              <a:rPr lang="en-US" sz="2400" b="1" dirty="0" err="1"/>
              <a:t>btn</a:t>
            </a:r>
            <a:r>
              <a:rPr lang="en-US" sz="2400" b="1" dirty="0"/>
              <a:t>"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ourier New" panose="02070309020205020404" pitchFamily="49" charset="0"/>
              </a:rPr>
              <a:t>.onclick = function() { ... }</a:t>
            </a:r>
            <a:r>
              <a:rPr lang="en-US" sz="2400" dirty="0"/>
              <a:t> → assigns an </a:t>
            </a:r>
            <a:r>
              <a:rPr lang="en-US" sz="2400" b="1" dirty="0"/>
              <a:t>anonymous function</a:t>
            </a:r>
            <a:r>
              <a:rPr lang="en-US" sz="2400" dirty="0"/>
              <a:t> (no name) to run when the button is clicked.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ourier New" panose="02070309020205020404" pitchFamily="49" charset="0"/>
              </a:rPr>
              <a:t>alert("Button clicked!")</a:t>
            </a:r>
            <a:r>
              <a:rPr lang="en-US" sz="2400" dirty="0"/>
              <a:t> → shows a pop-up when the button is clicked.</a:t>
            </a:r>
          </a:p>
        </p:txBody>
      </p:sp>
    </p:spTree>
    <p:extLst>
      <p:ext uri="{BB962C8B-B14F-4D97-AF65-F5344CB8AC3E}">
        <p14:creationId xmlns:p14="http://schemas.microsoft.com/office/powerpoint/2010/main" val="254522229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6DC3E2-08D9-E8B2-6F25-BC49137ED4D4}"/>
              </a:ext>
            </a:extLst>
          </p:cNvPr>
          <p:cNvSpPr txBox="1"/>
          <p:nvPr/>
        </p:nvSpPr>
        <p:spPr>
          <a:xfrm>
            <a:off x="2133600" y="1535332"/>
            <a:ext cx="8991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&lt;!DOCTYPE html&gt;</a:t>
            </a:r>
          </a:p>
          <a:p>
            <a:r>
              <a:rPr lang="en-US" sz="2000" dirty="0"/>
              <a:t>&lt;html lang="</a:t>
            </a:r>
            <a:r>
              <a:rPr lang="en-US" sz="2000" dirty="0" err="1"/>
              <a:t>en</a:t>
            </a:r>
            <a:r>
              <a:rPr lang="en-US" sz="2000" dirty="0"/>
              <a:t>"&gt;</a:t>
            </a:r>
          </a:p>
          <a:p>
            <a:r>
              <a:rPr lang="en-US" sz="2000" dirty="0"/>
              <a:t>&lt;head&gt;</a:t>
            </a:r>
          </a:p>
          <a:p>
            <a:r>
              <a:rPr lang="en-US" sz="2000" dirty="0"/>
              <a:t>  &lt;meta charset="UTF-8"&gt;</a:t>
            </a:r>
          </a:p>
          <a:p>
            <a:r>
              <a:rPr lang="en-US" sz="2000" dirty="0"/>
              <a:t>  &lt;title&gt;onclick Example&lt;/title&gt;</a:t>
            </a:r>
          </a:p>
          <a:p>
            <a:r>
              <a:rPr lang="en-US" sz="2000" dirty="0"/>
              <a:t>&lt;/head&gt;</a:t>
            </a:r>
          </a:p>
          <a:p>
            <a:r>
              <a:rPr lang="en-US" sz="2000" dirty="0"/>
              <a:t>&lt;body&gt;</a:t>
            </a:r>
          </a:p>
          <a:p>
            <a:r>
              <a:rPr lang="en-US" sz="2000" dirty="0"/>
              <a:t>  &lt;h2&gt;onclick Demo&lt;/h2&gt;</a:t>
            </a:r>
          </a:p>
          <a:p>
            <a:endParaRPr lang="en-US" sz="2000" dirty="0"/>
          </a:p>
          <a:p>
            <a:r>
              <a:rPr lang="en-US" sz="2000" dirty="0"/>
              <a:t>  &lt;!-- Button with inline onclick --&gt;</a:t>
            </a:r>
          </a:p>
          <a:p>
            <a:r>
              <a:rPr lang="en-US" sz="2000" dirty="0"/>
              <a:t>  &lt;button onclick="alert('Button clicked!')"&gt;Click Me&lt;/button&gt;</a:t>
            </a:r>
          </a:p>
          <a:p>
            <a:endParaRPr lang="en-US" sz="2000" dirty="0"/>
          </a:p>
          <a:p>
            <a:r>
              <a:rPr lang="en-US" sz="2000" dirty="0"/>
              <a:t>&lt;/body&gt;</a:t>
            </a:r>
          </a:p>
          <a:p>
            <a:r>
              <a:rPr lang="en-US" sz="2000" dirty="0"/>
              <a:t>&lt;/html&gt;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A727DF-20F1-2DC5-4059-3834B4DDD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69296" y="610374"/>
            <a:ext cx="25523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Example </a:t>
            </a:r>
          </a:p>
        </p:txBody>
      </p:sp>
    </p:spTree>
    <p:extLst>
      <p:ext uri="{BB962C8B-B14F-4D97-AF65-F5344CB8AC3E}">
        <p14:creationId xmlns:p14="http://schemas.microsoft.com/office/powerpoint/2010/main" val="224556243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CF189A-8907-9EF4-4BC0-565AF0034A4A}"/>
              </a:ext>
            </a:extLst>
          </p:cNvPr>
          <p:cNvSpPr txBox="1"/>
          <p:nvPr/>
        </p:nvSpPr>
        <p:spPr>
          <a:xfrm>
            <a:off x="2438400" y="1076074"/>
            <a:ext cx="8001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&lt;!DOCTYPE html&gt;</a:t>
            </a:r>
          </a:p>
          <a:p>
            <a:r>
              <a:rPr lang="en-US" sz="1600" dirty="0"/>
              <a:t>&lt;html lang="</a:t>
            </a:r>
            <a:r>
              <a:rPr lang="en-US" sz="1600" dirty="0" err="1"/>
              <a:t>en</a:t>
            </a:r>
            <a:r>
              <a:rPr lang="en-US" sz="1600" dirty="0"/>
              <a:t>"&gt;</a:t>
            </a:r>
          </a:p>
          <a:p>
            <a:r>
              <a:rPr lang="en-US" sz="1600" dirty="0"/>
              <a:t>&lt;head&gt;</a:t>
            </a:r>
          </a:p>
          <a:p>
            <a:r>
              <a:rPr lang="en-US" sz="1600" dirty="0"/>
              <a:t>  &lt;meta charset="UTF-8"&gt;</a:t>
            </a:r>
          </a:p>
          <a:p>
            <a:r>
              <a:rPr lang="en-US" sz="1600" dirty="0"/>
              <a:t>  &lt;title&gt;onclick Example&lt;/title&gt;</a:t>
            </a:r>
          </a:p>
          <a:p>
            <a:r>
              <a:rPr lang="en-US" sz="1600" dirty="0"/>
              <a:t>&lt;/head&gt;</a:t>
            </a:r>
          </a:p>
          <a:p>
            <a:r>
              <a:rPr lang="en-US" sz="1600" dirty="0"/>
              <a:t>&lt;body&gt;</a:t>
            </a:r>
          </a:p>
          <a:p>
            <a:r>
              <a:rPr lang="en-US" sz="1600" dirty="0"/>
              <a:t>  &lt;h2&gt;onclick Demo&lt;/h2&gt;</a:t>
            </a:r>
          </a:p>
          <a:p>
            <a:endParaRPr lang="en-US" sz="1600" dirty="0"/>
          </a:p>
          <a:p>
            <a:r>
              <a:rPr lang="en-US" sz="1600" dirty="0"/>
              <a:t>  &lt;!-- Button without inline onclick --&gt;</a:t>
            </a:r>
          </a:p>
          <a:p>
            <a:r>
              <a:rPr lang="en-US" sz="1600" dirty="0"/>
              <a:t>  &lt;button id="</a:t>
            </a:r>
            <a:r>
              <a:rPr lang="en-US" sz="1600" dirty="0" err="1"/>
              <a:t>myButton</a:t>
            </a:r>
            <a:r>
              <a:rPr lang="en-US" sz="1600" dirty="0"/>
              <a:t>"&gt;Click Me&lt;/button&gt;</a:t>
            </a:r>
          </a:p>
          <a:p>
            <a:endParaRPr lang="en-US" sz="1600" dirty="0"/>
          </a:p>
          <a:p>
            <a:r>
              <a:rPr lang="en-US" sz="1600" dirty="0"/>
              <a:t>  &lt;script&gt;</a:t>
            </a:r>
          </a:p>
          <a:p>
            <a:r>
              <a:rPr lang="en-US" sz="1600" dirty="0"/>
              <a:t>    // Get the button element</a:t>
            </a:r>
          </a:p>
          <a:p>
            <a:r>
              <a:rPr lang="en-US" sz="1600" dirty="0"/>
              <a:t>    const button = </a:t>
            </a:r>
            <a:r>
              <a:rPr lang="en-US" sz="1600" dirty="0" err="1"/>
              <a:t>document.getElementById</a:t>
            </a:r>
            <a:r>
              <a:rPr lang="en-US" sz="1600" dirty="0"/>
              <a:t>("</a:t>
            </a:r>
            <a:r>
              <a:rPr lang="en-US" sz="1600" dirty="0" err="1"/>
              <a:t>myButton</a:t>
            </a:r>
            <a:r>
              <a:rPr lang="en-US" sz="1600" dirty="0"/>
              <a:t>");</a:t>
            </a:r>
          </a:p>
          <a:p>
            <a:endParaRPr lang="en-US" sz="1600" dirty="0"/>
          </a:p>
          <a:p>
            <a:r>
              <a:rPr lang="en-US" sz="1600" dirty="0"/>
              <a:t>    // Assign the onclick property in JavaScript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button.onclick</a:t>
            </a:r>
            <a:r>
              <a:rPr lang="en-US" sz="1600" dirty="0"/>
              <a:t> = function() {</a:t>
            </a:r>
          </a:p>
          <a:p>
            <a:r>
              <a:rPr lang="en-US" sz="1600" dirty="0"/>
              <a:t>      alert("Button clicked!");</a:t>
            </a:r>
          </a:p>
          <a:p>
            <a:r>
              <a:rPr lang="en-US" sz="1600" dirty="0"/>
              <a:t>    };</a:t>
            </a:r>
          </a:p>
          <a:p>
            <a:r>
              <a:rPr lang="en-US" sz="1600" dirty="0"/>
              <a:t>  &lt;/script&gt;</a:t>
            </a:r>
          </a:p>
          <a:p>
            <a:r>
              <a:rPr lang="en-US" sz="1600" dirty="0"/>
              <a:t>&lt;/body&gt;</a:t>
            </a:r>
          </a:p>
          <a:p>
            <a:r>
              <a:rPr lang="en-US" sz="16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12292277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05B0-10C6-D0BE-94C8-B5A73B588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45151"/>
            <a:ext cx="5714321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2. addEventListener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E08AC-3767-2A21-FAF8-DC5E3FC8CD7B}"/>
              </a:ext>
            </a:extLst>
          </p:cNvPr>
          <p:cNvSpPr txBox="1"/>
          <p:nvPr/>
        </p:nvSpPr>
        <p:spPr>
          <a:xfrm>
            <a:off x="1143000" y="2057400"/>
            <a:ext cx="304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Syntax (General Form)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3301BA-F52E-7EAB-3159-17305B086552}"/>
              </a:ext>
            </a:extLst>
          </p:cNvPr>
          <p:cNvSpPr txBox="1"/>
          <p:nvPr/>
        </p:nvSpPr>
        <p:spPr>
          <a:xfrm>
            <a:off x="1143000" y="2667000"/>
            <a:ext cx="86114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document.querySelector("CSS_SELECTOR").addEventListener("EVENT_TYPE", function() {</a:t>
            </a:r>
            <a:br>
              <a:rPr lang="en-US" dirty="0"/>
            </a:br>
            <a:r>
              <a:rPr lang="en-US" dirty="0"/>
              <a:t>// Code to run when the event happens</a:t>
            </a:r>
            <a:br>
              <a:rPr lang="en-US" dirty="0"/>
            </a:br>
            <a:r>
              <a:rPr lang="en-US" dirty="0"/>
              <a:t>});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6F9F9-740A-7AEF-2027-6094AE8E27A3}"/>
              </a:ext>
            </a:extLst>
          </p:cNvPr>
          <p:cNvSpPr txBox="1"/>
          <p:nvPr/>
        </p:nvSpPr>
        <p:spPr>
          <a:xfrm>
            <a:off x="1143000" y="3958523"/>
            <a:ext cx="6097772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.addEventListener("EVENT_TYPE", function() {...})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"EVENT_TYPE"</a:t>
            </a:r>
            <a:r>
              <a:rPr lang="en-US" dirty="0"/>
              <a:t> → the type of event you want to listen for (click, mouseover, keypress,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function() {...}</a:t>
            </a:r>
            <a:r>
              <a:rPr lang="en-US" dirty="0"/>
              <a:t> → anonymous function that runs when the event happens</a:t>
            </a:r>
          </a:p>
        </p:txBody>
      </p:sp>
    </p:spTree>
    <p:extLst>
      <p:ext uri="{BB962C8B-B14F-4D97-AF65-F5344CB8AC3E}">
        <p14:creationId xmlns:p14="http://schemas.microsoft.com/office/powerpoint/2010/main" val="394651522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92C2-5FC8-E622-8802-374F118B1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66342"/>
            <a:ext cx="82673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 addEventListener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F657B-0C40-2A18-1407-2DAC9E1CFFEA}"/>
              </a:ext>
            </a:extLst>
          </p:cNvPr>
          <p:cNvSpPr txBox="1"/>
          <p:nvPr/>
        </p:nvSpPr>
        <p:spPr>
          <a:xfrm>
            <a:off x="1371600" y="1882676"/>
            <a:ext cx="7315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&lt;button id="</a:t>
            </a:r>
            <a:r>
              <a:rPr lang="en-US" dirty="0" err="1"/>
              <a:t>btn</a:t>
            </a:r>
            <a:r>
              <a:rPr lang="en-US" dirty="0"/>
              <a:t>"&gt;Click Me&lt;/button&gt;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&lt;script&gt;</a:t>
            </a:r>
            <a:br>
              <a:rPr lang="en-US" dirty="0"/>
            </a:br>
            <a:r>
              <a:rPr lang="en-US" dirty="0"/>
              <a:t>// Directly attach the event listener without storing in a variable</a:t>
            </a:r>
            <a:br>
              <a:rPr lang="en-US" dirty="0"/>
            </a:br>
            <a:r>
              <a:rPr lang="en-US" dirty="0"/>
              <a:t>document.querySelector("#</a:t>
            </a:r>
            <a:r>
              <a:rPr lang="en-US" dirty="0" err="1"/>
              <a:t>btn</a:t>
            </a:r>
            <a:r>
              <a:rPr lang="en-US" dirty="0"/>
              <a:t>").addEventListener("click", function() {</a:t>
            </a:r>
            <a:br>
              <a:rPr lang="en-US" dirty="0"/>
            </a:br>
            <a:r>
              <a:rPr lang="en-US" dirty="0"/>
              <a:t>alert("Button clicked!");</a:t>
            </a:r>
            <a:br>
              <a:rPr lang="en-US" dirty="0"/>
            </a:br>
            <a:r>
              <a:rPr lang="en-US" dirty="0"/>
              <a:t>});</a:t>
            </a:r>
            <a:br>
              <a:rPr lang="en-US" dirty="0"/>
            </a:br>
            <a:r>
              <a:rPr lang="en-US" dirty="0"/>
              <a:t>&lt;/script&gt;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DCDEC-ECEE-9A7F-5621-604F5A6557C4}"/>
              </a:ext>
            </a:extLst>
          </p:cNvPr>
          <p:cNvSpPr txBox="1"/>
          <p:nvPr/>
        </p:nvSpPr>
        <p:spPr>
          <a:xfrm>
            <a:off x="1219200" y="4648200"/>
            <a:ext cx="10744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Explanation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document.querySelector("#</a:t>
            </a:r>
            <a:r>
              <a:rPr lang="en-US" dirty="0" err="1">
                <a:latin typeface="Courier New" panose="02070309020205020404" pitchFamily="49" charset="0"/>
              </a:rPr>
              <a:t>btn</a:t>
            </a:r>
            <a:r>
              <a:rPr lang="en-US" dirty="0">
                <a:latin typeface="Courier New" panose="02070309020205020404" pitchFamily="49" charset="0"/>
              </a:rPr>
              <a:t>")</a:t>
            </a:r>
            <a:r>
              <a:rPr lang="en-US" dirty="0"/>
              <a:t> → selects the button directly.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.addEventListener("click", function() { ... })</a:t>
            </a:r>
            <a:r>
              <a:rPr lang="en-US" dirty="0"/>
              <a:t> → attaches the click event immediately.</a:t>
            </a:r>
          </a:p>
          <a:p>
            <a:pPr>
              <a:buFont typeface="+mj-lt"/>
              <a:buAutoNum type="arabicPeriod"/>
            </a:pPr>
            <a:r>
              <a:rPr lang="en-US" dirty="0"/>
              <a:t>No need for </a:t>
            </a:r>
            <a:r>
              <a:rPr lang="en-US" dirty="0">
                <a:latin typeface="Courier New" panose="02070309020205020404" pitchFamily="49" charset="0"/>
              </a:rPr>
              <a:t>let button = ...</a:t>
            </a:r>
            <a:r>
              <a:rPr lang="en-US" dirty="0"/>
              <a:t> unless you want to reuse it later.</a:t>
            </a:r>
          </a:p>
        </p:txBody>
      </p:sp>
    </p:spTree>
    <p:extLst>
      <p:ext uri="{BB962C8B-B14F-4D97-AF65-F5344CB8AC3E}">
        <p14:creationId xmlns:p14="http://schemas.microsoft.com/office/powerpoint/2010/main" val="184948586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DF8A-96A0-B9A4-A4E8-42D87755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0" y="762000"/>
            <a:ext cx="5714321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A complete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54CBE-9A00-59C2-EE48-52DA267EF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00200"/>
            <a:ext cx="867727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0634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45D4-CC19-0CC8-3030-3D0F28D38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840" y="1049274"/>
            <a:ext cx="392396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2. Hide/Show with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E7ACF-DDE7-8872-E0DA-9CCD9332852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57200" y="2294693"/>
            <a:ext cx="11506200" cy="184665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&lt;div id="box"&gt;This is a box&lt;/div&gt;</a:t>
            </a:r>
          </a:p>
          <a:p>
            <a:r>
              <a:rPr lang="en-US" sz="2400" dirty="0">
                <a:latin typeface="+mj-lt"/>
              </a:rPr>
              <a:t>&lt;button onclick="</a:t>
            </a:r>
            <a:r>
              <a:rPr lang="en-US" sz="2400" dirty="0" err="1">
                <a:latin typeface="+mj-lt"/>
              </a:rPr>
              <a:t>document.getElementById</a:t>
            </a:r>
            <a:r>
              <a:rPr lang="en-US" sz="2400" dirty="0">
                <a:latin typeface="+mj-lt"/>
              </a:rPr>
              <a:t>('box').</a:t>
            </a:r>
            <a:r>
              <a:rPr lang="en-US" sz="2400" dirty="0" err="1">
                <a:latin typeface="+mj-lt"/>
              </a:rPr>
              <a:t>style.display</a:t>
            </a:r>
            <a:r>
              <a:rPr lang="en-US" sz="2400" dirty="0">
                <a:latin typeface="+mj-lt"/>
              </a:rPr>
              <a:t>='none'"&gt;Hide&lt;/button&gt;</a:t>
            </a:r>
          </a:p>
          <a:p>
            <a:r>
              <a:rPr lang="en-US" sz="2400" dirty="0">
                <a:latin typeface="+mj-lt"/>
              </a:rPr>
              <a:t>&lt;button onclick="</a:t>
            </a:r>
            <a:r>
              <a:rPr lang="en-US" sz="2400" dirty="0" err="1">
                <a:latin typeface="+mj-lt"/>
              </a:rPr>
              <a:t>document.getElementById</a:t>
            </a:r>
            <a:r>
              <a:rPr lang="en-US" sz="2400" dirty="0">
                <a:latin typeface="+mj-lt"/>
              </a:rPr>
              <a:t>('box').</a:t>
            </a:r>
            <a:r>
              <a:rPr lang="en-US" sz="2400" dirty="0" err="1">
                <a:latin typeface="+mj-lt"/>
              </a:rPr>
              <a:t>style.display</a:t>
            </a:r>
            <a:r>
              <a:rPr lang="en-US" sz="2400" dirty="0">
                <a:latin typeface="+mj-lt"/>
              </a:rPr>
              <a:t>='block'"&gt;Show&lt;/button&gt;</a:t>
            </a:r>
          </a:p>
          <a:p>
            <a:endParaRPr lang="en-US" sz="2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A53EC-DBC8-3025-06E0-3004B0387557}"/>
              </a:ext>
            </a:extLst>
          </p:cNvPr>
          <p:cNvSpPr txBox="1"/>
          <p:nvPr/>
        </p:nvSpPr>
        <p:spPr>
          <a:xfrm>
            <a:off x="762000" y="4648200"/>
            <a:ext cx="982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Here, the </a:t>
            </a:r>
            <a:r>
              <a:rPr lang="en-US" sz="24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display</a:t>
            </a:r>
            <a:r>
              <a:rPr lang="en-US" sz="2400" dirty="0"/>
              <a:t> property is manipulated to hide/show the element.</a:t>
            </a:r>
          </a:p>
        </p:txBody>
      </p:sp>
    </p:spTree>
    <p:extLst>
      <p:ext uri="{BB962C8B-B14F-4D97-AF65-F5344CB8AC3E}">
        <p14:creationId xmlns:p14="http://schemas.microsoft.com/office/powerpoint/2010/main" val="422397120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F2A671-C0A0-7547-2AB7-33EEFBA69EA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52400" y="903171"/>
            <a:ext cx="3733800" cy="5943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600" dirty="0">
                <a:latin typeface="+mj-lt"/>
              </a:rPr>
              <a:t>&lt;!DOCTYPE html&gt;</a:t>
            </a:r>
          </a:p>
          <a:p>
            <a:r>
              <a:rPr lang="en-US" sz="1600" dirty="0">
                <a:latin typeface="+mj-lt"/>
              </a:rPr>
              <a:t>&lt;html&gt;</a:t>
            </a:r>
          </a:p>
          <a:p>
            <a:r>
              <a:rPr lang="en-US" sz="1600" dirty="0">
                <a:latin typeface="+mj-lt"/>
              </a:rPr>
              <a:t>&lt;head&gt;</a:t>
            </a:r>
          </a:p>
          <a:p>
            <a:r>
              <a:rPr lang="en-US" sz="1600" dirty="0">
                <a:latin typeface="+mj-lt"/>
              </a:rPr>
              <a:t>    &lt;title&gt;Hide and Show Example&lt;/title&gt;</a:t>
            </a:r>
          </a:p>
          <a:p>
            <a:r>
              <a:rPr lang="en-US" sz="1600" dirty="0">
                <a:latin typeface="+mj-lt"/>
              </a:rPr>
              <a:t>    &lt;style&gt;</a:t>
            </a:r>
          </a:p>
          <a:p>
            <a:r>
              <a:rPr lang="en-US" sz="1600" dirty="0">
                <a:latin typeface="+mj-lt"/>
              </a:rPr>
              <a:t>        #box {</a:t>
            </a:r>
          </a:p>
          <a:p>
            <a:r>
              <a:rPr lang="en-US" sz="1600" dirty="0">
                <a:latin typeface="+mj-lt"/>
              </a:rPr>
              <a:t>            width: 300px;</a:t>
            </a:r>
          </a:p>
          <a:p>
            <a:r>
              <a:rPr lang="en-US" sz="1600" dirty="0">
                <a:latin typeface="+mj-lt"/>
              </a:rPr>
              <a:t>            height: 150px;</a:t>
            </a:r>
          </a:p>
          <a:p>
            <a:r>
              <a:rPr lang="en-US" sz="1600" dirty="0">
                <a:latin typeface="+mj-lt"/>
              </a:rPr>
              <a:t>            background-color: </a:t>
            </a:r>
            <a:r>
              <a:rPr lang="en-US" sz="1600" dirty="0" err="1">
                <a:latin typeface="+mj-lt"/>
              </a:rPr>
              <a:t>lightblue</a:t>
            </a:r>
            <a:r>
              <a:rPr lang="en-US" sz="1600" dirty="0">
                <a:latin typeface="+mj-lt"/>
              </a:rPr>
              <a:t>;</a:t>
            </a:r>
          </a:p>
          <a:p>
            <a:r>
              <a:rPr lang="en-US" sz="1600" dirty="0">
                <a:latin typeface="+mj-lt"/>
              </a:rPr>
              <a:t>            text-align: center;</a:t>
            </a:r>
          </a:p>
          <a:p>
            <a:r>
              <a:rPr lang="en-US" sz="1600" dirty="0">
                <a:latin typeface="+mj-lt"/>
              </a:rPr>
              <a:t>            line-height: 150px;</a:t>
            </a:r>
          </a:p>
          <a:p>
            <a:r>
              <a:rPr lang="en-US" sz="1600" dirty="0">
                <a:latin typeface="+mj-lt"/>
              </a:rPr>
              <a:t>            font-size: 20px;</a:t>
            </a:r>
          </a:p>
          <a:p>
            <a:r>
              <a:rPr lang="en-US" sz="1600" dirty="0">
                <a:latin typeface="+mj-lt"/>
              </a:rPr>
              <a:t>            margin-bottom: 20px;</a:t>
            </a:r>
          </a:p>
          <a:p>
            <a:r>
              <a:rPr lang="en-US" sz="1600" dirty="0">
                <a:latin typeface="+mj-lt"/>
              </a:rPr>
              <a:t>        }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        button {</a:t>
            </a:r>
          </a:p>
          <a:p>
            <a:r>
              <a:rPr lang="en-US" sz="1600" dirty="0">
                <a:latin typeface="+mj-lt"/>
              </a:rPr>
              <a:t>            padding: 10px 20px;</a:t>
            </a:r>
          </a:p>
          <a:p>
            <a:r>
              <a:rPr lang="en-US" sz="1600" dirty="0">
                <a:latin typeface="+mj-lt"/>
              </a:rPr>
              <a:t>            margin-right: 10px;</a:t>
            </a:r>
          </a:p>
          <a:p>
            <a:r>
              <a:rPr lang="en-US" sz="1600" dirty="0">
                <a:latin typeface="+mj-lt"/>
              </a:rPr>
              <a:t>            font-size: 16px;</a:t>
            </a:r>
          </a:p>
          <a:p>
            <a:r>
              <a:rPr lang="en-US" sz="1600" dirty="0">
                <a:latin typeface="+mj-lt"/>
              </a:rPr>
              <a:t>        }</a:t>
            </a:r>
          </a:p>
          <a:p>
            <a:r>
              <a:rPr lang="en-US" sz="1600" dirty="0">
                <a:latin typeface="+mj-lt"/>
              </a:rPr>
              <a:t>    &lt;/style&gt;</a:t>
            </a:r>
          </a:p>
          <a:p>
            <a:r>
              <a:rPr lang="en-US" sz="1600" dirty="0">
                <a:latin typeface="+mj-lt"/>
              </a:rPr>
              <a:t>&lt;/head&gt;</a:t>
            </a:r>
          </a:p>
          <a:p>
            <a:endParaRPr lang="en-US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6A87FA-BF84-5488-D6AA-3428ADADDFAA}"/>
              </a:ext>
            </a:extLst>
          </p:cNvPr>
          <p:cNvSpPr txBox="1"/>
          <p:nvPr/>
        </p:nvSpPr>
        <p:spPr>
          <a:xfrm>
            <a:off x="4191000" y="3962400"/>
            <a:ext cx="8001000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&lt;body&gt;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    &lt;div id="box"&gt;This is a box&lt;/div&gt;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    &lt;button onclick="</a:t>
            </a:r>
            <a:r>
              <a:rPr lang="en-US" sz="1600" dirty="0" err="1">
                <a:latin typeface="+mj-lt"/>
              </a:rPr>
              <a:t>document.getElementById</a:t>
            </a:r>
            <a:r>
              <a:rPr lang="en-US" sz="1600" dirty="0">
                <a:latin typeface="+mj-lt"/>
              </a:rPr>
              <a:t>('box').</a:t>
            </a:r>
            <a:r>
              <a:rPr lang="en-US" sz="1600" dirty="0" err="1">
                <a:latin typeface="+mj-lt"/>
              </a:rPr>
              <a:t>style.display</a:t>
            </a:r>
            <a:r>
              <a:rPr lang="en-US" sz="1600" dirty="0">
                <a:latin typeface="+mj-lt"/>
              </a:rPr>
              <a:t>='none' "&gt; Hide&lt;/button&gt;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    &lt;button onclick="</a:t>
            </a:r>
            <a:r>
              <a:rPr lang="en-US" sz="1600" dirty="0" err="1">
                <a:latin typeface="+mj-lt"/>
              </a:rPr>
              <a:t>document.getElementById</a:t>
            </a:r>
            <a:r>
              <a:rPr lang="en-US" sz="1600" dirty="0">
                <a:latin typeface="+mj-lt"/>
              </a:rPr>
              <a:t>('box').</a:t>
            </a:r>
            <a:r>
              <a:rPr lang="en-US" sz="1600" dirty="0" err="1">
                <a:latin typeface="+mj-lt"/>
              </a:rPr>
              <a:t>style.display</a:t>
            </a:r>
            <a:r>
              <a:rPr lang="en-US" sz="1600" dirty="0">
                <a:latin typeface="+mj-lt"/>
              </a:rPr>
              <a:t>='block' "&gt;Show &lt;/button&gt;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&lt;/body&gt;</a:t>
            </a:r>
          </a:p>
          <a:p>
            <a:r>
              <a:rPr lang="en-US" sz="1600" dirty="0">
                <a:latin typeface="+mj-lt"/>
              </a:rPr>
              <a:t>&lt;/html&gt;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8932846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EFFF-E27A-1384-FE94-AFA120ABA7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Using JavaScript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77D35-1470-7BCD-14CA-6DA0557C8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809750"/>
            <a:ext cx="69818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3228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34EE4-BC17-0B55-DEED-1A423E1BA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1182231"/>
            <a:ext cx="9906000" cy="184665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 Notes: you can prefer to use: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 in order  to control the transition of elements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2832EA-F9AF-8F02-8BFA-A6F878538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767006"/>
            <a:ext cx="6432526" cy="6771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95DB38-36A8-19A1-C1A9-B0800CE1E17B}"/>
              </a:ext>
            </a:extLst>
          </p:cNvPr>
          <p:cNvSpPr txBox="1"/>
          <p:nvPr/>
        </p:nvSpPr>
        <p:spPr>
          <a:xfrm>
            <a:off x="1066800" y="3505200"/>
            <a:ext cx="10591800" cy="22621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</a:rPr>
              <a:t>classList.add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/>
              <a:t>and 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</a:rPr>
              <a:t>classList.remove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/>
              <a:t>are </a:t>
            </a:r>
            <a:r>
              <a:rPr lang="en-US" sz="2400" b="1" dirty="0"/>
              <a:t>JavaScript methods used to manipulate CSS classes on HTML elements</a:t>
            </a:r>
            <a:r>
              <a:rPr lang="en-US" sz="2400" dirty="0"/>
              <a:t>. They are part of the </a:t>
            </a:r>
            <a:r>
              <a:rPr lang="en-US" sz="2400" dirty="0" err="1">
                <a:latin typeface="Courier New" panose="02070309020205020404" pitchFamily="49" charset="0"/>
              </a:rPr>
              <a:t>classList</a:t>
            </a:r>
            <a:r>
              <a:rPr lang="en-US" sz="2400" dirty="0"/>
              <a:t> property of an element, which gives you a convenient way to add, remove, toggle, or check CSS classes without touching the entire </a:t>
            </a:r>
            <a:r>
              <a:rPr lang="en-US" sz="2400" dirty="0" err="1">
                <a:latin typeface="Courier New" panose="02070309020205020404" pitchFamily="49" charset="0"/>
              </a:rPr>
              <a:t>className</a:t>
            </a:r>
            <a:r>
              <a:rPr lang="en-US" sz="2400" dirty="0"/>
              <a:t> string.</a:t>
            </a:r>
          </a:p>
        </p:txBody>
      </p:sp>
    </p:spTree>
    <p:extLst>
      <p:ext uri="{BB962C8B-B14F-4D97-AF65-F5344CB8AC3E}">
        <p14:creationId xmlns:p14="http://schemas.microsoft.com/office/powerpoint/2010/main" val="407067806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E5F6F25-A18A-16E1-2A39-825DE5C4F425}"/>
              </a:ext>
            </a:extLst>
          </p:cNvPr>
          <p:cNvSpPr txBox="1"/>
          <p:nvPr/>
        </p:nvSpPr>
        <p:spPr>
          <a:xfrm>
            <a:off x="838200" y="1307265"/>
            <a:ext cx="10439400" cy="42434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/>
              <a:t>How It Works</a:t>
            </a:r>
          </a:p>
          <a:p>
            <a:pPr algn="just">
              <a:buNone/>
            </a:pPr>
            <a:endParaRPr lang="en-US" sz="2800" b="1" dirty="0"/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effectLst/>
              </a:rPr>
              <a:t>Base State (hidden)</a:t>
            </a:r>
            <a:r>
              <a:rPr lang="en-US" dirty="0">
                <a:effectLst/>
              </a:rPr>
              <a:t> Define the element’s default style (e.g., </a:t>
            </a:r>
            <a:r>
              <a:rPr lang="en-US" dirty="0">
                <a:effectLst/>
                <a:latin typeface="Courier New" panose="02070309020205020404" pitchFamily="49" charset="0"/>
              </a:rPr>
              <a:t>opacity: 0</a:t>
            </a:r>
            <a:r>
              <a:rPr lang="en-US" dirty="0">
                <a:effectLst/>
              </a:rPr>
              <a:t>, </a:t>
            </a:r>
            <a:r>
              <a:rPr lang="en-US" dirty="0">
                <a:effectLst/>
                <a:latin typeface="Courier New" panose="02070309020205020404" pitchFamily="49" charset="0"/>
              </a:rPr>
              <a:t>transform: </a:t>
            </a:r>
            <a:r>
              <a:rPr lang="en-US" dirty="0" err="1">
                <a:effectLst/>
                <a:latin typeface="Courier New" panose="02070309020205020404" pitchFamily="49" charset="0"/>
              </a:rPr>
              <a:t>translateY</a:t>
            </a:r>
            <a:r>
              <a:rPr lang="en-US" dirty="0">
                <a:effectLst/>
                <a:latin typeface="Courier New" panose="02070309020205020404" pitchFamily="49" charset="0"/>
              </a:rPr>
              <a:t>(-20px)</a:t>
            </a:r>
            <a:r>
              <a:rPr lang="en-US" dirty="0">
                <a:effectLst/>
              </a:rPr>
              <a:t>).</a:t>
            </a:r>
            <a:endParaRPr lang="en-US" dirty="0"/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effectLst/>
              </a:rPr>
              <a:t>Active State (visible)</a:t>
            </a:r>
            <a:r>
              <a:rPr lang="en-US" dirty="0">
                <a:effectLst/>
              </a:rPr>
              <a:t> Create a CSS class (e.g., </a:t>
            </a:r>
            <a:r>
              <a:rPr lang="en-US" dirty="0">
                <a:effectLst/>
                <a:latin typeface="Courier New" panose="02070309020205020404" pitchFamily="49" charset="0"/>
              </a:rPr>
              <a:t>.show</a:t>
            </a:r>
            <a:r>
              <a:rPr lang="en-US" dirty="0">
                <a:effectLst/>
              </a:rPr>
              <a:t>) that changes the properties (</a:t>
            </a:r>
            <a:r>
              <a:rPr lang="en-US" dirty="0">
                <a:effectLst/>
                <a:latin typeface="Courier New" panose="02070309020205020404" pitchFamily="49" charset="0"/>
              </a:rPr>
              <a:t>opacity: 1</a:t>
            </a:r>
            <a:r>
              <a:rPr lang="en-US" dirty="0">
                <a:effectLst/>
              </a:rPr>
              <a:t>, </a:t>
            </a:r>
            <a:r>
              <a:rPr lang="en-US" dirty="0">
                <a:effectLst/>
                <a:latin typeface="Courier New" panose="02070309020205020404" pitchFamily="49" charset="0"/>
              </a:rPr>
              <a:t>transform: </a:t>
            </a:r>
            <a:r>
              <a:rPr lang="en-US" dirty="0" err="1">
                <a:effectLst/>
                <a:latin typeface="Courier New" panose="02070309020205020404" pitchFamily="49" charset="0"/>
              </a:rPr>
              <a:t>translateY</a:t>
            </a:r>
            <a:r>
              <a:rPr lang="en-US" dirty="0">
                <a:effectLst/>
                <a:latin typeface="Courier New" panose="02070309020205020404" pitchFamily="49" charset="0"/>
              </a:rPr>
              <a:t>(0)</a:t>
            </a:r>
            <a:r>
              <a:rPr lang="en-US" dirty="0">
                <a:effectLst/>
              </a:rPr>
              <a:t>).</a:t>
            </a:r>
            <a:endParaRPr lang="en-US" dirty="0"/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effectLst/>
              </a:rPr>
              <a:t>Transition</a:t>
            </a:r>
            <a:r>
              <a:rPr lang="en-US" dirty="0">
                <a:effectLst/>
              </a:rPr>
              <a:t> Add a </a:t>
            </a:r>
            <a:r>
              <a:rPr lang="en-US" dirty="0">
                <a:effectLst/>
                <a:latin typeface="Courier New" panose="02070309020205020404" pitchFamily="49" charset="0"/>
              </a:rPr>
              <a:t>transition</a:t>
            </a:r>
            <a:r>
              <a:rPr lang="en-US" dirty="0">
                <a:effectLst/>
              </a:rPr>
              <a:t> property in CSS so changes between states animate smoothly.</a:t>
            </a:r>
            <a:endParaRPr lang="en-US" dirty="0"/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effectLst/>
              </a:rPr>
              <a:t>JavaScript Control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effectLst/>
              </a:rPr>
              <a:t>Use </a:t>
            </a:r>
            <a:r>
              <a:rPr lang="en-US" dirty="0" err="1">
                <a:effectLst/>
                <a:latin typeface="Courier New" panose="02070309020205020404" pitchFamily="49" charset="0"/>
              </a:rPr>
              <a:t>element.classList.add</a:t>
            </a:r>
            <a:r>
              <a:rPr lang="en-US" dirty="0">
                <a:effectLst/>
                <a:latin typeface="Courier New" panose="02070309020205020404" pitchFamily="49" charset="0"/>
              </a:rPr>
              <a:t>("show")</a:t>
            </a:r>
            <a:r>
              <a:rPr lang="en-US" dirty="0">
                <a:effectLst/>
              </a:rPr>
              <a:t> to apply the visible state.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effectLst/>
              </a:rPr>
              <a:t>Use </a:t>
            </a:r>
            <a:r>
              <a:rPr lang="en-US" dirty="0" err="1">
                <a:effectLst/>
                <a:latin typeface="Courier New" panose="02070309020205020404" pitchFamily="49" charset="0"/>
              </a:rPr>
              <a:t>element.classList.remove</a:t>
            </a:r>
            <a:r>
              <a:rPr lang="en-US" dirty="0">
                <a:effectLst/>
                <a:latin typeface="Courier New" panose="02070309020205020404" pitchFamily="49" charset="0"/>
              </a:rPr>
              <a:t>("show")</a:t>
            </a:r>
            <a:r>
              <a:rPr lang="en-US" dirty="0">
                <a:effectLst/>
              </a:rPr>
              <a:t> to revert to the hidden state.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21993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5ADDB0-E175-DE64-0713-C5851D06FA6E}"/>
              </a:ext>
            </a:extLst>
          </p:cNvPr>
          <p:cNvSpPr txBox="1"/>
          <p:nvPr/>
        </p:nvSpPr>
        <p:spPr>
          <a:xfrm>
            <a:off x="4038600" y="3744515"/>
            <a:ext cx="800100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mybox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'show'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mybox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THIS IS MY BOX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mybox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'show'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6D070-F22C-5D00-D405-1A9295611A71}"/>
              </a:ext>
            </a:extLst>
          </p:cNvPr>
          <p:cNvSpPr txBox="1"/>
          <p:nvPr/>
        </p:nvSpPr>
        <p:spPr>
          <a:xfrm>
            <a:off x="457200" y="1236915"/>
            <a:ext cx="4253948" cy="4942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&lt;!DOCTYPE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html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&lt;html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lang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+mj-lt"/>
              </a:rPr>
              <a:t>en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&lt;head&gt;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&lt;meta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charset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"UTF-8"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&lt;meta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name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"viewport"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content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"width=device-width, initial-scale=1.0"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&lt;title&gt;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Document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&lt;/title&gt;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&lt;style&gt;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.box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{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background-color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 err="1">
                <a:solidFill>
                  <a:srgbClr val="0451A5"/>
                </a:solidFill>
                <a:effectLst/>
                <a:latin typeface="+mj-lt"/>
              </a:rPr>
              <a:t>skyblue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 err="1">
                <a:solidFill>
                  <a:srgbClr val="0451A5"/>
                </a:solidFill>
                <a:effectLst/>
                <a:latin typeface="+mj-lt"/>
              </a:rPr>
              <a:t>aliceblue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  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300px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100px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margin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0451A5"/>
                </a:solidFill>
                <a:effectLst/>
                <a:latin typeface="+mj-lt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</a:b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opacity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transition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opacity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1s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0451A5"/>
                </a:solidFill>
                <a:effectLst/>
                <a:latin typeface="+mj-lt"/>
              </a:rPr>
              <a:t>ease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}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.</a:t>
            </a:r>
            <a:r>
              <a:rPr lang="en-US" sz="1400" b="0" dirty="0" err="1">
                <a:solidFill>
                  <a:srgbClr val="800000"/>
                </a:solidFill>
                <a:effectLst/>
                <a:latin typeface="+mj-lt"/>
              </a:rPr>
              <a:t>box.show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{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opacity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transition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opacity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0.5s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0451A5"/>
                </a:solidFill>
                <a:effectLst/>
                <a:latin typeface="+mj-lt"/>
              </a:rPr>
              <a:t>ease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   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 }        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 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&lt;/style&gt;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75EB3F-97F9-6466-E73A-CE8ADF0E1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678770"/>
            <a:ext cx="4253949" cy="6965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A simple example</a:t>
            </a:r>
          </a:p>
        </p:txBody>
      </p:sp>
    </p:spTree>
    <p:extLst>
      <p:ext uri="{BB962C8B-B14F-4D97-AF65-F5344CB8AC3E}">
        <p14:creationId xmlns:p14="http://schemas.microsoft.com/office/powerpoint/2010/main" val="5360769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E4AA4B-9B52-67AB-5587-0EFAFA37E3D5}"/>
              </a:ext>
            </a:extLst>
          </p:cNvPr>
          <p:cNvSpPr txBox="1"/>
          <p:nvPr/>
        </p:nvSpPr>
        <p:spPr>
          <a:xfrm>
            <a:off x="5562600" y="381000"/>
            <a:ext cx="6097656" cy="7082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box.show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translateY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slide into place */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pointer-events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12px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.close-</a:t>
            </a:r>
            <a:r>
              <a:rPr lang="en-US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crimson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mybox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'show'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mybox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THIS IS MY BOX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"close-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mybox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'show'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76A7B-F1C2-24A0-D343-0AD3A525CB7C}"/>
              </a:ext>
            </a:extLst>
          </p:cNvPr>
          <p:cNvSpPr txBox="1"/>
          <p:nvPr/>
        </p:nvSpPr>
        <p:spPr>
          <a:xfrm>
            <a:off x="304800" y="1643230"/>
            <a:ext cx="4800600" cy="422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&lt;!DOCTYPE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html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&lt;html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lang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+mj-lt"/>
              </a:rPr>
              <a:t>en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&lt;head&gt;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&lt;meta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charset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"UTF-8"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&lt;meta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name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"viewport"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content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+mj-lt"/>
              </a:rPr>
              <a:t>"width=device-width, initial-scale=1.0"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&lt;title&gt;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Improved Transition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&lt;/title&gt;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  <a:t>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&lt;style&gt;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+mj-lt"/>
              </a:rPr>
              <a:t>.box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 {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background-color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 err="1">
                <a:solidFill>
                  <a:srgbClr val="0451A5"/>
                </a:solidFill>
                <a:effectLst/>
                <a:latin typeface="+mj-lt"/>
              </a:rPr>
              <a:t>skyblue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+mj-lt"/>
              </a:rPr>
              <a:t>white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  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300px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margin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20px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0451A5"/>
                </a:solidFill>
                <a:effectLst/>
                <a:latin typeface="+mj-lt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      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padding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20px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text-align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+mj-lt"/>
              </a:rPr>
              <a:t>center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+mj-lt"/>
              </a:rPr>
            </a:b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+mj-lt"/>
              </a:rPr>
              <a:t>/* hidden by default */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opacity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 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transform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+mj-lt"/>
              </a:rPr>
              <a:t>translateY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-30px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); </a:t>
            </a:r>
            <a:r>
              <a:rPr lang="en-US" sz="1400" b="0" dirty="0">
                <a:solidFill>
                  <a:srgbClr val="008000"/>
                </a:solidFill>
                <a:effectLst/>
                <a:latin typeface="+mj-lt"/>
              </a:rPr>
              <a:t>/* slide up */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transition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opacity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0.8s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0451A5"/>
                </a:solidFill>
                <a:effectLst/>
                <a:latin typeface="+mj-lt"/>
              </a:rPr>
              <a:t>ease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, transform </a:t>
            </a:r>
            <a:r>
              <a:rPr lang="en-US" sz="1400" b="0" dirty="0">
                <a:solidFill>
                  <a:srgbClr val="098658"/>
                </a:solidFill>
                <a:effectLst/>
                <a:latin typeface="+mj-lt"/>
              </a:rPr>
              <a:t>0.8s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sz="1400" b="0" dirty="0">
                <a:solidFill>
                  <a:srgbClr val="0451A5"/>
                </a:solidFill>
                <a:effectLst/>
                <a:latin typeface="+mj-lt"/>
              </a:rPr>
              <a:t>ease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  </a:t>
            </a:r>
            <a:r>
              <a:rPr lang="en-US" sz="1400" b="0" dirty="0">
                <a:solidFill>
                  <a:srgbClr val="E50000"/>
                </a:solidFill>
                <a:effectLst/>
                <a:latin typeface="+mj-lt"/>
              </a:rPr>
              <a:t>pointer-events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sz="1400" b="0" dirty="0">
                <a:solidFill>
                  <a:srgbClr val="0451A5"/>
                </a:solidFill>
                <a:effectLst/>
                <a:latin typeface="+mj-lt"/>
              </a:rPr>
              <a:t>none</a:t>
            </a: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; </a:t>
            </a:r>
            <a:r>
              <a:rPr lang="en-US" sz="1400" b="0" dirty="0">
                <a:solidFill>
                  <a:srgbClr val="008000"/>
                </a:solidFill>
                <a:effectLst/>
                <a:latin typeface="+mj-lt"/>
              </a:rPr>
              <a:t>/* prevent clicks when hidden */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+mj-lt"/>
              </a:rPr>
              <a:t>    }</a:t>
            </a:r>
            <a:endParaRPr lang="en-US" sz="1400" b="0" dirty="0">
              <a:solidFill>
                <a:srgbClr val="3B3B3B"/>
              </a:solidFill>
              <a:effectLst/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D1F8073-C67A-E701-37D9-610AF4107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2200" y="1055760"/>
            <a:ext cx="3352800" cy="34829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>
                <a:solidFill>
                  <a:srgbClr val="FF0000"/>
                </a:solidFill>
                <a:latin typeface="+mj-lt"/>
              </a:rPr>
              <a:t>Improved transition example</a:t>
            </a:r>
          </a:p>
        </p:txBody>
      </p:sp>
    </p:spTree>
    <p:extLst>
      <p:ext uri="{BB962C8B-B14F-4D97-AF65-F5344CB8AC3E}">
        <p14:creationId xmlns:p14="http://schemas.microsoft.com/office/powerpoint/2010/main" val="426244624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52C193-00C5-A668-9FF1-84A7BB738E47}"/>
              </a:ext>
            </a:extLst>
          </p:cNvPr>
          <p:cNvSpPr txBox="1"/>
          <p:nvPr/>
        </p:nvSpPr>
        <p:spPr>
          <a:xfrm>
            <a:off x="381000" y="914400"/>
            <a:ext cx="6019800" cy="5866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How These Properties Work Together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Example hidden element: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.box{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opacity: 0;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transform: </a:t>
            </a:r>
            <a:r>
              <a:rPr lang="en-US" dirty="0" err="1">
                <a:latin typeface="Courier New" panose="02070309020205020404" pitchFamily="49" charset="0"/>
              </a:rPr>
              <a:t>translateY</a:t>
            </a:r>
            <a:r>
              <a:rPr lang="en-US" dirty="0">
                <a:latin typeface="Courier New" panose="02070309020205020404" pitchFamily="49" charset="0"/>
              </a:rPr>
              <a:t>(-30px);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transition: opacity 0.8s ease-in-out, transform 0.8s ease;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pointer-events: none;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Meaning: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Form is invisible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Form is moved upward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Form cannot be clicked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When it appears, animation will be smooth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F9E86-3EFF-BCB0-454E-F7BCDE40B65F}"/>
              </a:ext>
            </a:extLst>
          </p:cNvPr>
          <p:cNvSpPr txBox="1"/>
          <p:nvPr/>
        </p:nvSpPr>
        <p:spPr>
          <a:xfrm>
            <a:off x="7696200" y="1440712"/>
            <a:ext cx="4191000" cy="42043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Example visible form: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</a:rPr>
              <a:t>form.show</a:t>
            </a:r>
            <a:r>
              <a:rPr lang="en-US" dirty="0">
                <a:latin typeface="Courier New" panose="02070309020205020404" pitchFamily="49" charset="0"/>
              </a:rPr>
              <a:t>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opacity: 1;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transform: </a:t>
            </a:r>
            <a:r>
              <a:rPr lang="en-US" dirty="0" err="1">
                <a:latin typeface="Courier New" panose="02070309020205020404" pitchFamily="49" charset="0"/>
              </a:rPr>
              <a:t>translateY</a:t>
            </a:r>
            <a:r>
              <a:rPr lang="en-US" dirty="0">
                <a:latin typeface="Courier New" panose="02070309020205020404" pitchFamily="49" charset="0"/>
              </a:rPr>
              <a:t>(0);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pointer-events: auto;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Result: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Form </a:t>
            </a:r>
            <a:r>
              <a:rPr lang="en-US" b="1" dirty="0"/>
              <a:t>slides down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Form </a:t>
            </a:r>
            <a:r>
              <a:rPr lang="en-US" b="1" dirty="0"/>
              <a:t>fades in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Form becomes </a:t>
            </a:r>
            <a:r>
              <a:rPr lang="en-US" b="1" dirty="0"/>
              <a:t>clickable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964191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F010-C654-AEAE-6F12-14063EA31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4720" y="1066800"/>
            <a:ext cx="796256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A simple Dashboard Example (using onclick)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A0E745-1994-14AE-92C9-BEEA63695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017"/>
            <a:ext cx="4739456" cy="381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70B0EA-4445-2FB8-2953-830E469EB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894868"/>
            <a:ext cx="5943600" cy="427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0917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A5EDE1-047F-651A-99B9-DE07CCED9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838200"/>
            <a:ext cx="8077200" cy="591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0123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4D1D89-A026-8187-9559-B399E1BE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952500"/>
            <a:ext cx="84582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3313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4529-DEA8-6BAA-5DA1-7C06CE7B0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840" y="1049274"/>
            <a:ext cx="5714321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Key Take away: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AB496-6870-99D7-7F75-7287F5F5A8D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1600" y="2057400"/>
            <a:ext cx="10515600" cy="251851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j-lt"/>
              </a:rPr>
              <a:t>First, </a:t>
            </a:r>
            <a:r>
              <a:rPr lang="en-US" sz="2800" b="1" dirty="0">
                <a:latin typeface="+mj-lt"/>
              </a:rPr>
              <a:t>select</a:t>
            </a:r>
            <a:r>
              <a:rPr lang="en-US" sz="2800" dirty="0">
                <a:latin typeface="+mj-lt"/>
              </a:rPr>
              <a:t> the element (getElementById, querySelector, etc.).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j-lt"/>
              </a:rPr>
              <a:t>Then, </a:t>
            </a:r>
            <a:r>
              <a:rPr lang="en-US" sz="2800" b="1" dirty="0">
                <a:latin typeface="+mj-lt"/>
              </a:rPr>
              <a:t>manipulate</a:t>
            </a:r>
            <a:r>
              <a:rPr lang="en-US" sz="2800" dirty="0">
                <a:latin typeface="+mj-lt"/>
              </a:rPr>
              <a:t> it using content, style, attributes, classes, or events.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j-lt"/>
              </a:rPr>
              <a:t>This is how you make web pages </a:t>
            </a:r>
            <a:r>
              <a:rPr lang="en-US" sz="2800" b="1" dirty="0">
                <a:latin typeface="+mj-lt"/>
              </a:rPr>
              <a:t>dynamic and interactive</a:t>
            </a:r>
            <a:r>
              <a:rPr lang="en-US" sz="28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161509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0B7D-4DD5-914B-8895-CC4D6B579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0957" y="1219157"/>
            <a:ext cx="7886360" cy="47472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JavaScript Form Validation on Button Click – Summary Notes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021A9-8D7B-4CB0-E852-51BA56ADF344}"/>
              </a:ext>
            </a:extLst>
          </p:cNvPr>
          <p:cNvSpPr txBox="1"/>
          <p:nvPr/>
        </p:nvSpPr>
        <p:spPr>
          <a:xfrm>
            <a:off x="2057400" y="1828800"/>
            <a:ext cx="8763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1. Purpose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Ensure that users enter correct and complete data before submission.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Prevent submission if validation fails.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Improve user experience and data integrity.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378B2-90EF-D8D7-CCD2-EFD87A07670F}"/>
              </a:ext>
            </a:extLst>
          </p:cNvPr>
          <p:cNvSpPr txBox="1"/>
          <p:nvPr/>
        </p:nvSpPr>
        <p:spPr>
          <a:xfrm>
            <a:off x="2050774" y="3810000"/>
            <a:ext cx="716942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2. Basic Steps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Select the form and button</a:t>
            </a:r>
            <a:r>
              <a:rPr lang="en-US" dirty="0"/>
              <a:t> in JavaScript.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Add an event listener</a:t>
            </a:r>
            <a:r>
              <a:rPr lang="en-US" dirty="0"/>
              <a:t> to the button (usually </a:t>
            </a:r>
            <a:r>
              <a:rPr lang="en-US" dirty="0">
                <a:latin typeface="Courier New" panose="02070309020205020404" pitchFamily="49" charset="0"/>
              </a:rPr>
              <a:t>click</a:t>
            </a:r>
            <a:r>
              <a:rPr lang="en-US" dirty="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Check the input fields</a:t>
            </a:r>
            <a:r>
              <a:rPr lang="en-US" dirty="0"/>
              <a:t> for validity.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Show error messages</a:t>
            </a:r>
            <a:r>
              <a:rPr lang="en-US" dirty="0"/>
              <a:t> if data is invalid.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Prevent form submission</a:t>
            </a:r>
            <a:r>
              <a:rPr lang="en-US" dirty="0"/>
              <a:t> if validation fails.</a:t>
            </a:r>
          </a:p>
        </p:txBody>
      </p:sp>
    </p:spTree>
    <p:extLst>
      <p:ext uri="{BB962C8B-B14F-4D97-AF65-F5344CB8AC3E}">
        <p14:creationId xmlns:p14="http://schemas.microsoft.com/office/powerpoint/2010/main" val="17155697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A187BC-C043-24E4-68B0-B22811789587}"/>
              </a:ext>
            </a:extLst>
          </p:cNvPr>
          <p:cNvSpPr txBox="1"/>
          <p:nvPr/>
        </p:nvSpPr>
        <p:spPr>
          <a:xfrm>
            <a:off x="2438400" y="1482634"/>
            <a:ext cx="8153400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3. Common Validation Types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Required fields</a:t>
            </a:r>
            <a:r>
              <a:rPr lang="en-US" dirty="0"/>
              <a:t>: Ensure a field is not empty.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Length check</a:t>
            </a:r>
            <a:r>
              <a:rPr lang="en-US" dirty="0"/>
              <a:t>: Minimum or maximum character length.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Pattern check</a:t>
            </a:r>
            <a:r>
              <a:rPr lang="en-US" dirty="0"/>
              <a:t>: Match specific patterns like email, phone number, or password.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Numeric check</a:t>
            </a:r>
            <a:r>
              <a:rPr lang="en-US" dirty="0"/>
              <a:t>: Validate numbers, age, etc.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Matching fields</a:t>
            </a:r>
            <a:r>
              <a:rPr lang="en-US" dirty="0"/>
              <a:t>: Confirm password matches.</a:t>
            </a:r>
          </a:p>
        </p:txBody>
      </p:sp>
    </p:spTree>
    <p:extLst>
      <p:ext uri="{BB962C8B-B14F-4D97-AF65-F5344CB8AC3E}">
        <p14:creationId xmlns:p14="http://schemas.microsoft.com/office/powerpoint/2010/main" val="418894808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76E2-BB86-4CB2-1966-7CCCEBE72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519514"/>
            <a:ext cx="4228760" cy="1770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4. Example: Simple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A817D-03BF-B172-6F56-4237246F2D1C}"/>
              </a:ext>
            </a:extLst>
          </p:cNvPr>
          <p:cNvSpPr txBox="1"/>
          <p:nvPr/>
        </p:nvSpPr>
        <p:spPr>
          <a:xfrm>
            <a:off x="4876800" y="1232025"/>
            <a:ext cx="6553200" cy="48320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&lt;form id="</a:t>
            </a:r>
            <a:r>
              <a:rPr lang="en-US" sz="1400" dirty="0" err="1"/>
              <a:t>myForm</a:t>
            </a:r>
            <a:r>
              <a:rPr lang="en-US" sz="1400" dirty="0"/>
              <a:t>"&gt;</a:t>
            </a:r>
            <a:br>
              <a:rPr lang="en-US" sz="1400" dirty="0"/>
            </a:br>
            <a:r>
              <a:rPr lang="en-US" sz="1400" dirty="0"/>
              <a:t>Name: &lt;input type="text" id="name"&gt;&lt;</a:t>
            </a:r>
            <a:r>
              <a:rPr lang="en-US" sz="1400" dirty="0" err="1"/>
              <a:t>br</a:t>
            </a:r>
            <a:r>
              <a:rPr lang="en-US" sz="1400" dirty="0"/>
              <a:t>&gt;</a:t>
            </a:r>
            <a:br>
              <a:rPr lang="en-US" sz="1400" dirty="0"/>
            </a:br>
            <a:r>
              <a:rPr lang="en-US" sz="1400" dirty="0"/>
              <a:t>Email: &lt;input type="email" id="email"&gt;&lt;</a:t>
            </a:r>
            <a:r>
              <a:rPr lang="en-US" sz="1400" dirty="0" err="1"/>
              <a:t>br</a:t>
            </a:r>
            <a:r>
              <a:rPr lang="en-US" sz="1400" dirty="0"/>
              <a:t>&gt;</a:t>
            </a:r>
            <a:br>
              <a:rPr lang="en-US" sz="1400" dirty="0"/>
            </a:br>
            <a:r>
              <a:rPr lang="en-US" sz="1400" dirty="0"/>
              <a:t>&lt;button type="submit" id="</a:t>
            </a:r>
            <a:r>
              <a:rPr lang="en-US" sz="1400" dirty="0" err="1"/>
              <a:t>submitBtn</a:t>
            </a:r>
            <a:r>
              <a:rPr lang="en-US" sz="1400" dirty="0"/>
              <a:t>"&gt;Submit&lt;/button&gt;</a:t>
            </a:r>
            <a:br>
              <a:rPr lang="en-US" sz="1400" dirty="0"/>
            </a:br>
            <a:r>
              <a:rPr lang="en-US" sz="1400" dirty="0"/>
              <a:t>&lt;/form&gt;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&lt;script&gt;</a:t>
            </a:r>
            <a:br>
              <a:rPr lang="en-US" sz="1400" dirty="0"/>
            </a:br>
            <a:r>
              <a:rPr lang="en-US" sz="1400" dirty="0" err="1"/>
              <a:t>document.getElementById</a:t>
            </a:r>
            <a:r>
              <a:rPr lang="en-US" sz="1400" dirty="0"/>
              <a:t>('</a:t>
            </a:r>
            <a:r>
              <a:rPr lang="en-US" sz="1400" dirty="0" err="1"/>
              <a:t>submitBtn</a:t>
            </a:r>
            <a:r>
              <a:rPr lang="en-US" sz="1400" dirty="0"/>
              <a:t>').addEventListener('click', function(event) {</a:t>
            </a:r>
            <a:br>
              <a:rPr lang="en-US" sz="1400" dirty="0"/>
            </a:br>
            <a:r>
              <a:rPr lang="en-US" sz="1400" dirty="0"/>
              <a:t>let name = </a:t>
            </a:r>
            <a:r>
              <a:rPr lang="en-US" sz="1400" dirty="0" err="1"/>
              <a:t>document.getElementById</a:t>
            </a:r>
            <a:r>
              <a:rPr lang="en-US" sz="1400" dirty="0"/>
              <a:t>('name').value;</a:t>
            </a:r>
            <a:br>
              <a:rPr lang="en-US" sz="1400" dirty="0"/>
            </a:br>
            <a:r>
              <a:rPr lang="en-US" sz="1400" dirty="0"/>
              <a:t>let email = </a:t>
            </a:r>
            <a:r>
              <a:rPr lang="en-US" sz="1400" dirty="0" err="1"/>
              <a:t>document.getElementById</a:t>
            </a:r>
            <a:r>
              <a:rPr lang="en-US" sz="1400" dirty="0"/>
              <a:t>('email').value;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if (name === "") {</a:t>
            </a:r>
            <a:br>
              <a:rPr lang="en-US" sz="1400" dirty="0"/>
            </a:br>
            <a:r>
              <a:rPr lang="en-US" sz="1400" dirty="0"/>
              <a:t>alert("Name is required!");</a:t>
            </a:r>
            <a:br>
              <a:rPr lang="en-US" sz="1400" dirty="0"/>
            </a:br>
            <a:r>
              <a:rPr lang="en-US" sz="1400" dirty="0" err="1"/>
              <a:t>event.preventDefault</a:t>
            </a:r>
            <a:r>
              <a:rPr lang="en-US" sz="1400" dirty="0"/>
              <a:t>(); // Stop form submission</a:t>
            </a:r>
            <a:br>
              <a:rPr lang="en-US" sz="1400" dirty="0"/>
            </a:br>
            <a:r>
              <a:rPr lang="en-US" sz="1400" dirty="0"/>
              <a:t>} else if (email === "") {</a:t>
            </a:r>
            <a:br>
              <a:rPr lang="en-US" sz="1400" dirty="0"/>
            </a:br>
            <a:r>
              <a:rPr lang="en-US" sz="1400" dirty="0"/>
              <a:t>alert("Email is required!");</a:t>
            </a:r>
            <a:br>
              <a:rPr lang="en-US" sz="1400" dirty="0"/>
            </a:br>
            <a:r>
              <a:rPr lang="en-US" sz="1400" dirty="0" err="1"/>
              <a:t>event.preventDefault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} else {</a:t>
            </a:r>
            <a:br>
              <a:rPr lang="en-US" sz="1400" dirty="0"/>
            </a:br>
            <a:r>
              <a:rPr lang="en-US" sz="1400" dirty="0"/>
              <a:t>alert("Form submitted successfully!");</a:t>
            </a:r>
            <a:br>
              <a:rPr lang="en-US" sz="1400" dirty="0"/>
            </a:br>
            <a:r>
              <a:rPr lang="en-US" sz="1400" dirty="0"/>
              <a:t>}</a:t>
            </a:r>
            <a:br>
              <a:rPr lang="en-US" sz="1400" dirty="0"/>
            </a:br>
            <a:r>
              <a:rPr lang="en-US" sz="1400" dirty="0"/>
              <a:t>});</a:t>
            </a:r>
            <a:br>
              <a:rPr lang="en-US" sz="1400" dirty="0"/>
            </a:br>
            <a:r>
              <a:rPr lang="en-US" sz="14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54481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7B900B-A617-0AD1-2A25-6270AF1570F6}"/>
              </a:ext>
            </a:extLst>
          </p:cNvPr>
          <p:cNvSpPr txBox="1"/>
          <p:nvPr/>
        </p:nvSpPr>
        <p:spPr>
          <a:xfrm>
            <a:off x="5486400" y="1295400"/>
            <a:ext cx="6097656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dirty="0"/>
              <a:t>&lt;script&gt;</a:t>
            </a:r>
          </a:p>
          <a:p>
            <a:r>
              <a:rPr lang="en-US" sz="1400" dirty="0" err="1"/>
              <a:t>document.getElementById</a:t>
            </a:r>
            <a:r>
              <a:rPr lang="en-US" sz="1400" dirty="0"/>
              <a:t>('</a:t>
            </a:r>
            <a:r>
              <a:rPr lang="en-US" sz="1400" dirty="0" err="1"/>
              <a:t>submitBtn</a:t>
            </a:r>
            <a:r>
              <a:rPr lang="en-US" sz="1400" dirty="0"/>
              <a:t>').addEventListener('click', function(event) {</a:t>
            </a:r>
          </a:p>
          <a:p>
            <a:r>
              <a:rPr lang="en-US" sz="1400" dirty="0"/>
              <a:t>    let name = </a:t>
            </a:r>
            <a:r>
              <a:rPr lang="en-US" sz="1400" dirty="0" err="1"/>
              <a:t>document.getElementById</a:t>
            </a:r>
            <a:r>
              <a:rPr lang="en-US" sz="1400" dirty="0"/>
              <a:t>('name').value;</a:t>
            </a:r>
          </a:p>
          <a:p>
            <a:r>
              <a:rPr lang="en-US" sz="1400" dirty="0"/>
              <a:t>    let email = </a:t>
            </a:r>
            <a:r>
              <a:rPr lang="en-US" sz="1400" dirty="0" err="1"/>
              <a:t>document.getElementById</a:t>
            </a:r>
            <a:r>
              <a:rPr lang="en-US" sz="1400" dirty="0"/>
              <a:t>('email').value;</a:t>
            </a:r>
          </a:p>
          <a:p>
            <a:r>
              <a:rPr lang="en-US" sz="1400" dirty="0"/>
              <a:t>    </a:t>
            </a:r>
          </a:p>
          <a:p>
            <a:r>
              <a:rPr lang="en-US" sz="1400" dirty="0"/>
              <a:t>    if (name === "") {</a:t>
            </a:r>
          </a:p>
          <a:p>
            <a:r>
              <a:rPr lang="en-US" sz="1400" dirty="0"/>
              <a:t>        alert("Name is required!");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event.preventDefault</a:t>
            </a:r>
            <a:r>
              <a:rPr lang="en-US" sz="1400" dirty="0"/>
              <a:t>(); // Stops the form from submitting</a:t>
            </a:r>
          </a:p>
          <a:p>
            <a:r>
              <a:rPr lang="en-US" sz="1400" dirty="0"/>
              <a:t>    } else if (email === "") {</a:t>
            </a:r>
          </a:p>
          <a:p>
            <a:r>
              <a:rPr lang="en-US" sz="1400" dirty="0"/>
              <a:t>        alert("Email is required!");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event.preventDefault</a:t>
            </a:r>
            <a:r>
              <a:rPr lang="en-US" sz="1400" dirty="0"/>
              <a:t>();</a:t>
            </a:r>
          </a:p>
          <a:p>
            <a:r>
              <a:rPr lang="en-US" sz="1400" dirty="0"/>
              <a:t>    } else {</a:t>
            </a:r>
          </a:p>
          <a:p>
            <a:r>
              <a:rPr lang="en-US" sz="1400" dirty="0"/>
              <a:t>        alert("Form submitted successfully!");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});</a:t>
            </a:r>
          </a:p>
          <a:p>
            <a:r>
              <a:rPr lang="en-US" sz="1400" dirty="0"/>
              <a:t>&lt;/script&gt;</a:t>
            </a:r>
          </a:p>
          <a:p>
            <a:endParaRPr lang="en-US" sz="1400" dirty="0"/>
          </a:p>
          <a:p>
            <a:r>
              <a:rPr lang="en-US" sz="1400" dirty="0"/>
              <a:t>&lt;/body&gt;</a:t>
            </a:r>
          </a:p>
          <a:p>
            <a:r>
              <a:rPr lang="en-US" sz="1400" dirty="0"/>
              <a:t>&lt;/html&gt;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BCF12-302B-4F26-A8AD-C49DA03BD58A}"/>
              </a:ext>
            </a:extLst>
          </p:cNvPr>
          <p:cNvSpPr txBox="1"/>
          <p:nvPr/>
        </p:nvSpPr>
        <p:spPr>
          <a:xfrm>
            <a:off x="457200" y="2209800"/>
            <a:ext cx="3962400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&lt;!DOCTYPE html&gt;</a:t>
            </a:r>
          </a:p>
          <a:p>
            <a:r>
              <a:rPr lang="en-US" sz="1200" dirty="0"/>
              <a:t>&lt;html lang="</a:t>
            </a:r>
            <a:r>
              <a:rPr lang="en-US" sz="1200" dirty="0" err="1"/>
              <a:t>en</a:t>
            </a:r>
            <a:r>
              <a:rPr lang="en-US" sz="1200" dirty="0"/>
              <a:t>"&gt;</a:t>
            </a:r>
          </a:p>
          <a:p>
            <a:r>
              <a:rPr lang="en-US" sz="1200" dirty="0"/>
              <a:t>&lt;head&gt;</a:t>
            </a:r>
          </a:p>
          <a:p>
            <a:r>
              <a:rPr lang="en-US" sz="1200" dirty="0"/>
              <a:t>&lt;meta charset="UTF-8"&gt;</a:t>
            </a:r>
          </a:p>
          <a:p>
            <a:r>
              <a:rPr lang="en-US" sz="1200" dirty="0"/>
              <a:t>&lt;title&gt;Simple Form Validation&lt;/title&gt;</a:t>
            </a:r>
          </a:p>
          <a:p>
            <a:r>
              <a:rPr lang="en-US" sz="1200" dirty="0"/>
              <a:t>&lt;/head&gt;</a:t>
            </a:r>
          </a:p>
          <a:p>
            <a:r>
              <a:rPr lang="en-US" sz="1200" dirty="0"/>
              <a:t>&lt;body&gt;</a:t>
            </a:r>
          </a:p>
          <a:p>
            <a:endParaRPr lang="en-US" sz="1200" dirty="0"/>
          </a:p>
          <a:p>
            <a:r>
              <a:rPr lang="en-US" sz="1200" dirty="0"/>
              <a:t>&lt;h2&gt;Registration Form&lt;/h2&gt;</a:t>
            </a:r>
          </a:p>
          <a:p>
            <a:endParaRPr lang="en-US" sz="1200" dirty="0"/>
          </a:p>
          <a:p>
            <a:r>
              <a:rPr lang="en-US" sz="1200" dirty="0"/>
              <a:t>&lt;form id="</a:t>
            </a:r>
            <a:r>
              <a:rPr lang="en-US" sz="1200" dirty="0" err="1"/>
              <a:t>myForm</a:t>
            </a:r>
            <a:r>
              <a:rPr lang="en-US" sz="1200" dirty="0"/>
              <a:t>"&gt;</a:t>
            </a:r>
          </a:p>
          <a:p>
            <a:r>
              <a:rPr lang="en-US" sz="1200" dirty="0"/>
              <a:t>  Name: &lt;input type="text" id="name"&gt;&lt;</a:t>
            </a:r>
            <a:r>
              <a:rPr lang="en-US" sz="1200" dirty="0" err="1"/>
              <a:t>br</a:t>
            </a:r>
            <a:r>
              <a:rPr lang="en-US" sz="1200" dirty="0"/>
              <a:t>&gt;&lt;</a:t>
            </a:r>
            <a:r>
              <a:rPr lang="en-US" sz="1200" dirty="0" err="1"/>
              <a:t>br</a:t>
            </a:r>
            <a:r>
              <a:rPr lang="en-US" sz="1200" dirty="0"/>
              <a:t>&gt;</a:t>
            </a:r>
          </a:p>
          <a:p>
            <a:r>
              <a:rPr lang="en-US" sz="1200" dirty="0"/>
              <a:t>  Email: &lt;input type="email" id="email"&gt;&lt;</a:t>
            </a:r>
            <a:r>
              <a:rPr lang="en-US" sz="1200" dirty="0" err="1"/>
              <a:t>br</a:t>
            </a:r>
            <a:r>
              <a:rPr lang="en-US" sz="1200" dirty="0"/>
              <a:t>&gt;&lt;</a:t>
            </a:r>
            <a:r>
              <a:rPr lang="en-US" sz="1200" dirty="0" err="1"/>
              <a:t>br</a:t>
            </a:r>
            <a:r>
              <a:rPr lang="en-US" sz="1200" dirty="0"/>
              <a:t>&gt;</a:t>
            </a:r>
          </a:p>
          <a:p>
            <a:r>
              <a:rPr lang="en-US" sz="1200" dirty="0"/>
              <a:t>  &lt;button type="submit" id="</a:t>
            </a:r>
            <a:r>
              <a:rPr lang="en-US" sz="1200" dirty="0" err="1"/>
              <a:t>submitBtn</a:t>
            </a:r>
            <a:r>
              <a:rPr lang="en-US" sz="1200" dirty="0"/>
              <a:t>"&gt;Submit&lt;/button&gt;</a:t>
            </a:r>
          </a:p>
          <a:p>
            <a:r>
              <a:rPr lang="en-US" sz="1200" dirty="0"/>
              <a:t>&lt;/form&gt;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1DC49A1-B810-92AF-AFFA-73CD28E2E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43000"/>
            <a:ext cx="2895600" cy="4308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+mj-lt"/>
              </a:rPr>
              <a:t>Complete example</a:t>
            </a:r>
          </a:p>
        </p:txBody>
      </p:sp>
    </p:spTree>
    <p:extLst>
      <p:ext uri="{BB962C8B-B14F-4D97-AF65-F5344CB8AC3E}">
        <p14:creationId xmlns:p14="http://schemas.microsoft.com/office/powerpoint/2010/main" val="1026756528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B88DA3-9624-6608-2C5E-EC0A290D98E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276600" y="2590800"/>
            <a:ext cx="6096000" cy="1143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END OF  CHAP 1</a:t>
            </a:r>
          </a:p>
        </p:txBody>
      </p:sp>
    </p:spTree>
    <p:extLst>
      <p:ext uri="{BB962C8B-B14F-4D97-AF65-F5344CB8AC3E}">
        <p14:creationId xmlns:p14="http://schemas.microsoft.com/office/powerpoint/2010/main" val="245811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5275</TotalTime>
  <Words>8607</Words>
  <Application>Microsoft Office PowerPoint</Application>
  <PresentationFormat>Widescreen</PresentationFormat>
  <Paragraphs>1160</Paragraphs>
  <Slides>169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169</vt:i4>
      </vt:variant>
    </vt:vector>
  </HeadingPairs>
  <TitlesOfParts>
    <vt:vector size="179" baseType="lpstr">
      <vt:lpstr>MS PGothic</vt:lpstr>
      <vt:lpstr>Arial</vt:lpstr>
      <vt:lpstr>Arial Unicode MS</vt:lpstr>
      <vt:lpstr>Calibri</vt:lpstr>
      <vt:lpstr>Consolas</vt:lpstr>
      <vt:lpstr>Courier New</vt:lpstr>
      <vt:lpstr>Gill Sans</vt:lpstr>
      <vt:lpstr>Times New Roman</vt:lpstr>
      <vt:lpstr>Wingdings</vt:lpstr>
      <vt:lpstr>Office Theme</vt:lpstr>
      <vt:lpstr>CIT83104: ADVANCED WEB DESIGN AND DEVELOPMENT</vt:lpstr>
      <vt:lpstr>CLASS INSTRUCTIONS </vt:lpstr>
      <vt:lpstr>MODULE OVERVIEW </vt:lpstr>
      <vt:lpstr>MODULE AIMS </vt:lpstr>
      <vt:lpstr>KEY TECHNOLOGIES &amp; TOOLS </vt:lpstr>
      <vt:lpstr>PowerPoint Presentation</vt:lpstr>
      <vt:lpstr> MODULE CONTENTS </vt:lpstr>
      <vt:lpstr> CHAP 1: APPLY HTML, CSS, JAVASCRIPT, AND LAYOUT TECHNIQUES </vt:lpstr>
      <vt:lpstr>INTRODUCTION</vt:lpstr>
      <vt:lpstr>PowerPoint Presentation</vt:lpstr>
      <vt:lpstr>PowerPoint Presentation</vt:lpstr>
      <vt:lpstr>== How Web Servers Work ==</vt:lpstr>
      <vt:lpstr>PowerPoint Presentation</vt:lpstr>
      <vt:lpstr>PowerPoint Presentation</vt:lpstr>
      <vt:lpstr>PowerPoint Presentation</vt:lpstr>
      <vt:lpstr>4. Frontend   vs  Backend Development </vt:lpstr>
      <vt:lpstr>Note: Full-stack Development </vt:lpstr>
      <vt:lpstr>HTML Overview</vt:lpstr>
      <vt:lpstr>Description of HTML tag </vt:lpstr>
      <vt:lpstr>PowerPoint Presentation</vt:lpstr>
      <vt:lpstr>PowerPoint Presentation</vt:lpstr>
      <vt:lpstr>HTML Attributes</vt:lpstr>
      <vt:lpstr>Example 2: Image Attributes</vt:lpstr>
      <vt:lpstr>PowerPoint Presentation</vt:lpstr>
      <vt:lpstr>DEVELOPING A WEBPAGE </vt:lpstr>
      <vt:lpstr>PowerPoint Presentation</vt:lpstr>
      <vt:lpstr>Developing webpage using HTML tag categories </vt:lpstr>
      <vt:lpstr>2. Table tags </vt:lpstr>
      <vt:lpstr>Example1: Sample HTML table </vt:lpstr>
      <vt:lpstr>Table attributes </vt:lpstr>
      <vt:lpstr>PowerPoint Presentation</vt:lpstr>
      <vt:lpstr>Example:  </vt:lpstr>
      <vt:lpstr>3. Form tags  </vt:lpstr>
      <vt:lpstr>Common Form Elements </vt:lpstr>
      <vt:lpstr>PowerPoint Presentation</vt:lpstr>
      <vt:lpstr>Example1: </vt:lpstr>
      <vt:lpstr>cont’d</vt:lpstr>
      <vt:lpstr>Example2:</vt:lpstr>
      <vt:lpstr>Cont’d </vt:lpstr>
      <vt:lpstr>Generated form:</vt:lpstr>
      <vt:lpstr>5. Html List Tags: HTML provides several list tags for creating ordered and unordered lists. These tags help organize content into a structured format, making it easier to read and understand. </vt:lpstr>
      <vt:lpstr>Ordered List (&lt;ol&gt;) Used when order matters (steps, ranking, instructions) = Displays items in a numbered sequence. </vt:lpstr>
      <vt:lpstr>Description List (&lt;dl&gt;)  Used for definitions or explanations(Used to create a list of terms and their descriptions). </vt:lpstr>
      <vt:lpstr>Common Attributes</vt:lpstr>
      <vt:lpstr>5. Html Semantic Tags</vt:lpstr>
      <vt:lpstr>Example 1: Basic Page Structure</vt:lpstr>
      <vt:lpstr>Example 2: Using &lt;figure&gt; and &lt;figcaption&gt;</vt:lpstr>
      <vt:lpstr>Style web elements using CSS</vt:lpstr>
      <vt:lpstr>CSS Selectors The selector determines which HTML elements the style will apply to = CSS selectors are used to "find" (or select) the HTML elements you want to style.  For example: </vt:lpstr>
      <vt:lpstr>PowerPoint Presentation</vt:lpstr>
      <vt:lpstr>PowerPoint Presentation</vt:lpstr>
      <vt:lpstr>PowerPoint Presentation</vt:lpstr>
      <vt:lpstr>6. The CSS Descendant Selector</vt:lpstr>
      <vt:lpstr>7. The CSS Child Selector</vt:lpstr>
      <vt:lpstr>8. The CSS Attribute Selector</vt:lpstr>
      <vt:lpstr>The CSS Box Model (Core Concept)</vt:lpstr>
      <vt:lpstr>PowerPoint Presentation</vt:lpstr>
      <vt:lpstr>PowerPoint Presentation</vt:lpstr>
      <vt:lpstr>PowerPoint Presentation</vt:lpstr>
      <vt:lpstr>Complete Example</vt:lpstr>
      <vt:lpstr>Output: </vt:lpstr>
      <vt:lpstr>PowerPoint Presentation</vt:lpstr>
      <vt:lpstr>Notes </vt:lpstr>
      <vt:lpstr>Use CSS Visual rules </vt:lpstr>
      <vt:lpstr>PowerPoint Presentation</vt:lpstr>
      <vt:lpstr>PowerPoint Presentation</vt:lpstr>
      <vt:lpstr>PowerPoint Presentation</vt:lpstr>
      <vt:lpstr>PowerPoint Presentation</vt:lpstr>
      <vt:lpstr>CSS style types =Ways to Apply CSS</vt:lpstr>
      <vt:lpstr>PowerPoint Presentation</vt:lpstr>
      <vt:lpstr>3. External CSS (Recommended)</vt:lpstr>
      <vt:lpstr>Let’s design  </vt:lpstr>
      <vt:lpstr>PowerPoint Presentation</vt:lpstr>
      <vt:lpstr>PowerPoint Presentation</vt:lpstr>
      <vt:lpstr>Sample codes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Layout Techniques </vt:lpstr>
      <vt:lpstr>Example1: Row (Horizontal Layout)</vt:lpstr>
      <vt:lpstr>Example2: Column (Vertical Layout)</vt:lpstr>
      <vt:lpstr>Clear Comparison</vt:lpstr>
      <vt:lpstr>PowerPoint Presentation</vt:lpstr>
      <vt:lpstr>A complete HTML + CSS example that demonstrates flexbox with flex-direction: row, centering both horizontally and vertically. Here’s a full working example:</vt:lpstr>
      <vt:lpstr>PowerPoint Presentation</vt:lpstr>
      <vt:lpstr>        HTML + CSS Menu with Flexbox</vt:lpstr>
      <vt:lpstr>PowerPoint Presentation</vt:lpstr>
      <vt:lpstr>PowerPoint Presentation</vt:lpstr>
      <vt:lpstr>PowerPoint Presentation</vt:lpstr>
      <vt:lpstr>Output: </vt:lpstr>
      <vt:lpstr>PowerPoint Presentation</vt:lpstr>
      <vt:lpstr>PowerPoint Presentation</vt:lpstr>
      <vt:lpstr>PowerPoint Presentation</vt:lpstr>
      <vt:lpstr>PowerPoint Presentation</vt:lpstr>
      <vt:lpstr>CSS Media Queries – Summary Notes</vt:lpstr>
      <vt:lpstr>PowerPoint Presentation</vt:lpstr>
      <vt:lpstr>PowerPoint Presentation</vt:lpstr>
      <vt:lpstr>PowerPoint Presentation</vt:lpstr>
      <vt:lpstr>JavaScript </vt:lpstr>
      <vt:lpstr>2. Key Features</vt:lpstr>
      <vt:lpstr>3. Basic Concepts</vt:lpstr>
      <vt:lpstr>B. Data Types   </vt:lpstr>
      <vt:lpstr>C. Operators</vt:lpstr>
      <vt:lpstr>Example2:</vt:lpstr>
      <vt:lpstr>Notes </vt:lpstr>
      <vt:lpstr>PowerPoint Presentation</vt:lpstr>
      <vt:lpstr>PowerPoint Presentation</vt:lpstr>
      <vt:lpstr>PowerPoint Presentation</vt:lpstr>
      <vt:lpstr>Comparison of Methods</vt:lpstr>
      <vt:lpstr>There are 3 main ways to place JavaScript in HTML:</vt:lpstr>
      <vt:lpstr>2. Before &lt;/body&gt; (BEST PRACTICE)</vt:lpstr>
      <vt:lpstr>3. External JavaScript File  (PROFESSIONAL WAY)</vt:lpstr>
      <vt:lpstr>Bonus: Using defer in &lt;head&gt; (Modern Way)</vt:lpstr>
      <vt:lpstr>PowerPoint Presentation</vt:lpstr>
      <vt:lpstr>PowerPoint Presentation</vt:lpstr>
      <vt:lpstr>Example: </vt:lpstr>
      <vt:lpstr>D. Functions</vt:lpstr>
      <vt:lpstr>Function with Parameters</vt:lpstr>
      <vt:lpstr>Arrow Functions (Modern JavaScript – ES6)</vt:lpstr>
      <vt:lpstr>E. Arrays</vt:lpstr>
      <vt:lpstr>Example: </vt:lpstr>
      <vt:lpstr>PowerPoint Presentation</vt:lpstr>
      <vt:lpstr>Example: </vt:lpstr>
      <vt:lpstr>JavaScript Control Structures</vt:lpstr>
      <vt:lpstr>Example1 on condition  </vt:lpstr>
      <vt:lpstr>Example2 on loops  </vt:lpstr>
      <vt:lpstr>PowerPoint Presentation</vt:lpstr>
      <vt:lpstr>PowerPoint Presentation</vt:lpstr>
      <vt:lpstr>PowerPoint Presentation</vt:lpstr>
      <vt:lpstr>PowerPoint Presentation</vt:lpstr>
      <vt:lpstr>DOM Manipulation</vt:lpstr>
      <vt:lpstr>Selecting and modify elements using DOM </vt:lpstr>
      <vt:lpstr>PowerPoint Presentation</vt:lpstr>
      <vt:lpstr>PowerPoint Presentation</vt:lpstr>
      <vt:lpstr>PowerPoint Presentation</vt:lpstr>
      <vt:lpstr>Example Comparison</vt:lpstr>
      <vt:lpstr>PowerPoint Presentation</vt:lpstr>
      <vt:lpstr>Manipulating elements’ styles in JavaScript</vt:lpstr>
      <vt:lpstr>Using getElementById()</vt:lpstr>
      <vt:lpstr>Using querySelector()</vt:lpstr>
      <vt:lpstr>PowerPoint Presentation</vt:lpstr>
      <vt:lpstr>Common Types of Events</vt:lpstr>
      <vt:lpstr>JavaScript event handlers =  onclick and addEventListener</vt:lpstr>
      <vt:lpstr>PowerPoint Presentation</vt:lpstr>
      <vt:lpstr>PowerPoint Presentation</vt:lpstr>
      <vt:lpstr>Example </vt:lpstr>
      <vt:lpstr>PowerPoint Presentation</vt:lpstr>
      <vt:lpstr>2. addEventListener</vt:lpstr>
      <vt:lpstr>Example addEventListener</vt:lpstr>
      <vt:lpstr>A complete example</vt:lpstr>
      <vt:lpstr>2. Hide/Show with Styles</vt:lpstr>
      <vt:lpstr>PowerPoint Presentation</vt:lpstr>
      <vt:lpstr>Using JavaScript </vt:lpstr>
      <vt:lpstr> Notes: you can prefer to use:     in order  to control the transition of elements </vt:lpstr>
      <vt:lpstr>PowerPoint Presentation</vt:lpstr>
      <vt:lpstr>A simple example</vt:lpstr>
      <vt:lpstr>Improved transition example</vt:lpstr>
      <vt:lpstr>PowerPoint Presentation</vt:lpstr>
      <vt:lpstr>A simple Dashboard Example (using onclick)</vt:lpstr>
      <vt:lpstr>PowerPoint Presentation</vt:lpstr>
      <vt:lpstr>PowerPoint Presentation</vt:lpstr>
      <vt:lpstr>Key Take away:</vt:lpstr>
      <vt:lpstr>JavaScript Form Validation on Button Click – Summary Notes</vt:lpstr>
      <vt:lpstr>PowerPoint Presentation</vt:lpstr>
      <vt:lpstr>4. Example: Simple Validation</vt:lpstr>
      <vt:lpstr>Complete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</dc:creator>
  <cp:lastModifiedBy>USER</cp:lastModifiedBy>
  <cp:revision>825</cp:revision>
  <dcterms:created xsi:type="dcterms:W3CDTF">2021-07-23T10:02:56Z</dcterms:created>
  <dcterms:modified xsi:type="dcterms:W3CDTF">2026-04-02T15:28:37Z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2021-07-23T00:00:00Z</vt:filetime>
  </property>
</Properties>
</file>