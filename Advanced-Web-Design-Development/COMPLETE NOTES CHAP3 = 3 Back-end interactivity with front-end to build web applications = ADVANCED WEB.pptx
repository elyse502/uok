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56" r:id="rId2"/>
    <p:sldId id="316" r:id="rId3"/>
    <p:sldId id="345" r:id="rId4"/>
    <p:sldId id="346" r:id="rId5"/>
    <p:sldId id="347" r:id="rId6"/>
    <p:sldId id="389" r:id="rId7"/>
    <p:sldId id="315" r:id="rId8"/>
    <p:sldId id="309" r:id="rId9"/>
    <p:sldId id="391" r:id="rId10"/>
    <p:sldId id="390" r:id="rId11"/>
    <p:sldId id="393" r:id="rId12"/>
    <p:sldId id="394" r:id="rId13"/>
    <p:sldId id="399" r:id="rId14"/>
    <p:sldId id="401" r:id="rId15"/>
    <p:sldId id="409" r:id="rId16"/>
    <p:sldId id="407" r:id="rId17"/>
    <p:sldId id="395" r:id="rId18"/>
    <p:sldId id="402" r:id="rId19"/>
    <p:sldId id="403" r:id="rId20"/>
    <p:sldId id="408" r:id="rId21"/>
    <p:sldId id="404" r:id="rId22"/>
    <p:sldId id="405" r:id="rId23"/>
    <p:sldId id="406" r:id="rId24"/>
    <p:sldId id="426" r:id="rId25"/>
    <p:sldId id="410" r:id="rId26"/>
    <p:sldId id="411" r:id="rId27"/>
    <p:sldId id="412" r:id="rId28"/>
    <p:sldId id="413" r:id="rId29"/>
    <p:sldId id="414" r:id="rId30"/>
    <p:sldId id="415" r:id="rId31"/>
    <p:sldId id="416" r:id="rId32"/>
    <p:sldId id="417" r:id="rId33"/>
    <p:sldId id="422" r:id="rId34"/>
    <p:sldId id="423" r:id="rId35"/>
    <p:sldId id="424" r:id="rId36"/>
    <p:sldId id="425" r:id="rId37"/>
    <p:sldId id="427" r:id="rId38"/>
    <p:sldId id="418" r:id="rId39"/>
    <p:sldId id="419" r:id="rId40"/>
    <p:sldId id="420" r:id="rId41"/>
    <p:sldId id="421" r:id="rId42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2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28"/>
    <p:restoredTop sz="93842" autoAdjust="0"/>
  </p:normalViewPr>
  <p:slideViewPr>
    <p:cSldViewPr>
      <p:cViewPr varScale="1">
        <p:scale>
          <a:sx n="64" d="100"/>
          <a:sy n="64" d="100"/>
        </p:scale>
        <p:origin x="704" y="44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FD590B5-3698-1313-01B0-FF7A8D0451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2B5BB-5A60-4BB3-B3B0-82E1BD61AC6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4E043A-575B-404A-AF16-E1B002A1C5C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6F3466-3914-7997-DD11-2F3AEF0E71F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257574-561C-94BC-827B-A093E6A2D88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DBD18B-D895-40D2-8E13-F8A1C5375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6634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93460-4FE2-4BFA-B61E-E766871C41D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AC896-9C5D-41ED-9FA9-751D871D5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97614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6AC896-9C5D-41ED-9FA9-751D871D5EB2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A0B3E-8783-6BDF-8EF3-8694781D68E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152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38840" y="1049274"/>
            <a:ext cx="5714321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5155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5155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5155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1999" cy="68579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" y="0"/>
            <a:ext cx="12191999" cy="68579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53993" y="2483307"/>
            <a:ext cx="3684015" cy="788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4985" y="2157441"/>
            <a:ext cx="11260667" cy="5155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228600" y="-76200"/>
            <a:ext cx="12420600" cy="68579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1000" y="239086"/>
            <a:ext cx="11353800" cy="56618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3200" b="1" dirty="0">
                <a:solidFill>
                  <a:schemeClr val="tx1"/>
                </a:solidFill>
              </a:rPr>
              <a:t>CIT83104: </a:t>
            </a:r>
            <a:r>
              <a:rPr 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ADVANCED WEB DESIGN AND </a:t>
            </a:r>
            <a:r>
              <a:rPr lang="en-US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DEVELOPMENT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19400" y="1219200"/>
            <a:ext cx="6807326" cy="158992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5"/>
              </a:spcBef>
              <a:tabLst>
                <a:tab pos="3187700" algn="l"/>
              </a:tabLst>
            </a:pPr>
            <a:r>
              <a:rPr lang="en-US" sz="4000" dirty="0">
                <a:ln w="0">
                  <a:solidFill>
                    <a:schemeClr val="tx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cs typeface="Times New Roman"/>
              </a:rPr>
              <a:t>By:</a:t>
            </a:r>
            <a:endParaRPr sz="5800" dirty="0">
              <a:ln w="0">
                <a:solidFill>
                  <a:schemeClr val="tx1"/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/>
              <a:cs typeface="Times New Roman"/>
            </a:endParaRPr>
          </a:p>
          <a:p>
            <a:pPr marL="307340" algn="ctr">
              <a:lnSpc>
                <a:spcPct val="150000"/>
              </a:lnSpc>
            </a:pPr>
            <a:r>
              <a:rPr lang="en-US" altLang="x-none" sz="3200" dirty="0">
                <a:ln w="0">
                  <a:solidFill>
                    <a:schemeClr val="tx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Mr. MANIRARORA Jean Marie Vianney</a:t>
            </a:r>
            <a:endParaRPr sz="3000" dirty="0">
              <a:ln w="0">
                <a:solidFill>
                  <a:schemeClr val="tx1"/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S PGothic"/>
              <a:cs typeface="MS P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9200" y="6323444"/>
            <a:ext cx="10287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chemeClr val="bg1"/>
                </a:solidFill>
                <a:cs typeface="Calibri"/>
              </a:rPr>
              <a:t>Course</a:t>
            </a:r>
            <a:r>
              <a:rPr sz="2400" spc="240" dirty="0">
                <a:solidFill>
                  <a:schemeClr val="bg1"/>
                </a:solidFill>
                <a:cs typeface="Calibri"/>
              </a:rPr>
              <a:t> </a:t>
            </a:r>
            <a:r>
              <a:rPr sz="2400" spc="-5" dirty="0">
                <a:solidFill>
                  <a:schemeClr val="bg1"/>
                </a:solidFill>
                <a:cs typeface="Calibri"/>
              </a:rPr>
              <a:t>Code</a:t>
            </a:r>
            <a:r>
              <a:rPr lang="en-US" sz="2400" spc="-5" dirty="0">
                <a:solidFill>
                  <a:schemeClr val="bg1"/>
                </a:solidFill>
                <a:cs typeface="Calibri"/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CIT83104  </a:t>
            </a:r>
            <a:r>
              <a:rPr sz="2400" dirty="0">
                <a:solidFill>
                  <a:schemeClr val="bg1"/>
                </a:solidFill>
                <a:cs typeface="Calibri"/>
              </a:rPr>
              <a:t>&amp;</a:t>
            </a:r>
            <a:r>
              <a:rPr sz="2400" spc="-25" dirty="0">
                <a:solidFill>
                  <a:schemeClr val="bg1"/>
                </a:solidFill>
                <a:cs typeface="Calibri"/>
              </a:rPr>
              <a:t> </a:t>
            </a:r>
            <a:r>
              <a:rPr sz="2400" dirty="0">
                <a:solidFill>
                  <a:schemeClr val="bg1"/>
                </a:solidFill>
                <a:cs typeface="Calibri"/>
              </a:rPr>
              <a:t>Name</a:t>
            </a:r>
            <a:r>
              <a:rPr lang="en-US" sz="2400" dirty="0">
                <a:solidFill>
                  <a:schemeClr val="bg1"/>
                </a:solidFill>
                <a:cs typeface="Calibri"/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ADVANCED WEB DESIGN AND DEVELOPMENT</a:t>
            </a:r>
            <a:endParaRPr sz="2400" dirty="0">
              <a:solidFill>
                <a:schemeClr val="bg1"/>
              </a:solidFill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28681" y="6426504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91000" y="412898"/>
            <a:ext cx="5143160" cy="67710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  <a:sym typeface="Times New Roman"/>
              </a:rPr>
              <a:t>CLASS INSTRUCTIONS 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1676400" y="1295400"/>
            <a:ext cx="9829800" cy="51816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+mn-lt"/>
              </a:rPr>
              <a:t>Please keep your phones aside during class sessions.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+mn-lt"/>
              </a:rPr>
              <a:t>100% attendance is required for all classes.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+mn-lt"/>
              </a:rPr>
              <a:t>Students are expected to practice effective time management.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+mn-lt"/>
              </a:rPr>
              <a:t>Participation in all academic activities is mandatory, including:</a:t>
            </a:r>
          </a:p>
          <a:p>
            <a:pPr marL="1714500" lvl="3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Quizzes</a:t>
            </a:r>
          </a:p>
          <a:p>
            <a:pPr marL="1714500" lvl="3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In-class activities</a:t>
            </a:r>
          </a:p>
          <a:p>
            <a:pPr marL="1714500" lvl="3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Individual assignments</a:t>
            </a:r>
          </a:p>
          <a:p>
            <a:pPr marL="1714500" lvl="3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Group assignments</a:t>
            </a:r>
          </a:p>
          <a:p>
            <a:pPr marL="1714500" lvl="3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Presentations</a:t>
            </a:r>
          </a:p>
          <a:p>
            <a:pPr lvl="1" algn="just">
              <a:lnSpc>
                <a:spcPct val="150000"/>
              </a:lnSpc>
            </a:pPr>
            <a:r>
              <a:rPr lang="en-US" sz="2400" b="1" dirty="0">
                <a:latin typeface="+mn-lt"/>
              </a:rPr>
              <a:t>Note: </a:t>
            </a:r>
            <a:r>
              <a:rPr lang="en-US" sz="2400" dirty="0">
                <a:latin typeface="+mn-lt"/>
              </a:rPr>
              <a:t>Failure to attend or participate in these activities may affect your overall performance.</a:t>
            </a:r>
          </a:p>
          <a:p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74729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B04EB-1913-994F-04DA-C811BC9D0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6039" y="609601"/>
            <a:ext cx="4914561" cy="685799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MODULE OVERVIEW</a:t>
            </a:r>
            <a:br>
              <a:rPr lang="en-US" dirty="0">
                <a:solidFill>
                  <a:srgbClr val="FF0000"/>
                </a:solidFill>
                <a:latin typeface="+mj-lt"/>
              </a:rPr>
            </a:b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9345C-494B-AF39-875C-8A20D5953A2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81000" y="1447800"/>
            <a:ext cx="11506200" cy="5133136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Module Code:</a:t>
            </a:r>
            <a:r>
              <a:rPr lang="en-US" sz="3200" b="1" dirty="0">
                <a:solidFill>
                  <a:schemeClr val="tx1"/>
                </a:solidFill>
              </a:rPr>
              <a:t> CIT83104 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Title</a:t>
            </a:r>
            <a:r>
              <a:rPr lang="en-US" sz="3200" dirty="0"/>
              <a:t>: Advanced Web Design and Development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Credits</a:t>
            </a:r>
            <a:r>
              <a:rPr lang="en-US" sz="3200" dirty="0"/>
              <a:t>: 15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Year</a:t>
            </a:r>
            <a:r>
              <a:rPr lang="en-US" sz="3200" dirty="0"/>
              <a:t>: 3rd Year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Prerequisite</a:t>
            </a:r>
            <a:r>
              <a:rPr lang="en-US" sz="3200" dirty="0"/>
              <a:t>: Introduction to Web Design and Development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Total Study Hours</a:t>
            </a:r>
            <a:r>
              <a:rPr lang="en-US" sz="3200" dirty="0"/>
              <a:t>: 150 (</a:t>
            </a:r>
            <a:r>
              <a:rPr lang="en-US" sz="2800" dirty="0"/>
              <a:t>Lectures, Labs, Assignments, Self-study, etc.)</a:t>
            </a:r>
          </a:p>
          <a:p>
            <a:pPr>
              <a:lnSpc>
                <a:spcPct val="150000"/>
              </a:lnSpc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14515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726DB-3370-94A0-A966-68EA3FB49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1120" y="762000"/>
            <a:ext cx="3524080" cy="644619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MODULE AIMS</a:t>
            </a:r>
            <a:br>
              <a:rPr lang="en-US" dirty="0">
                <a:solidFill>
                  <a:srgbClr val="FF0000"/>
                </a:solidFill>
                <a:latin typeface="+mj-lt"/>
              </a:rPr>
            </a:b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CBB57-C682-DC72-CF28-BD75F0432F5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81000" y="1981200"/>
            <a:ext cx="11353800" cy="3470181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Prepare students for professional web development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Blend theoretical knowledge with practical implementation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Focus on interactive, database-backed, and maintainable web applications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05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7E5ED-4ED2-6864-9AE2-BA6BB8F8D2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457200"/>
            <a:ext cx="5562600" cy="6096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+mj-lt"/>
              </a:rPr>
              <a:t>KEY TECHNOLOGIES &amp; TOOLS</a:t>
            </a:r>
            <a:br>
              <a:rPr lang="en-US" sz="3600" dirty="0">
                <a:solidFill>
                  <a:srgbClr val="FF0000"/>
                </a:solidFill>
                <a:latin typeface="+mj-lt"/>
              </a:rPr>
            </a:br>
            <a:endParaRPr lang="en-US" sz="36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DAF4E8-0ED0-D96D-CC2B-5B55396E4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1" y="1066800"/>
            <a:ext cx="10058400" cy="5813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95273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220E190-9BF9-BEA9-63EB-6CF4032771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729733"/>
            <a:ext cx="9251327" cy="612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65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00519" y="762000"/>
            <a:ext cx="5962481" cy="67710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	MODULE CONTENTS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495298" y="1752600"/>
            <a:ext cx="11544302" cy="4955203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+mn-lt"/>
              </a:rPr>
              <a:t>HTML, CSS, JavaScript, layout techniques, and other industry-standard practices. 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/>
              <a:t>S</a:t>
            </a:r>
            <a:r>
              <a:rPr lang="en-US" sz="2800" dirty="0">
                <a:latin typeface="+mn-lt"/>
              </a:rPr>
              <a:t>cripting technologies to create dynamic and interactive websites. 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+mn-lt"/>
              </a:rPr>
              <a:t>Back-end interactivity with front-end to build web applications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/>
              <a:t>Professional quality portfolio of web design work. </a:t>
            </a:r>
            <a:endParaRPr lang="en-US" sz="2800" dirty="0">
              <a:latin typeface="+mn-lt"/>
            </a:endParaRP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+mn-lt"/>
              </a:rPr>
              <a:t>build Dynamic websites utilizing the most current versions of industry-standard applications and tools</a:t>
            </a: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81036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0100" y="1371599"/>
            <a:ext cx="3619500" cy="48768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4000" dirty="0">
                <a:solidFill>
                  <a:srgbClr val="FF0000"/>
                </a:solidFill>
                <a:latin typeface="+mj-lt"/>
              </a:rPr>
              <a:t>CHAP 3: Back-end interactivity with front-end to build web applications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866301-0CC4-1BC5-7A13-D22948BF9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352106"/>
            <a:ext cx="7344440" cy="489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408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6148D76-3E19-E39D-E2F0-2B1EED6F306E}"/>
              </a:ext>
            </a:extLst>
          </p:cNvPr>
          <p:cNvSpPr txBox="1"/>
          <p:nvPr/>
        </p:nvSpPr>
        <p:spPr>
          <a:xfrm>
            <a:off x="590992" y="1066800"/>
            <a:ext cx="52764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1. Connecting PHP to MySQL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3B9B62-5DF3-F04A-B391-31B4A2F02A41}"/>
              </a:ext>
            </a:extLst>
          </p:cNvPr>
          <p:cNvSpPr txBox="1"/>
          <p:nvPr/>
        </p:nvSpPr>
        <p:spPr>
          <a:xfrm>
            <a:off x="685800" y="1828800"/>
            <a:ext cx="4915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latin typeface="Calibri-Bold"/>
              </a:rPr>
              <a:t>Application of Database Connection drives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50032B-26ED-A0A6-B8E3-0F1704A07EF2}"/>
              </a:ext>
            </a:extLst>
          </p:cNvPr>
          <p:cNvSpPr txBox="1"/>
          <p:nvPr/>
        </p:nvSpPr>
        <p:spPr>
          <a:xfrm>
            <a:off x="762000" y="2362200"/>
            <a:ext cx="101346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/>
            <a:r>
              <a:rPr lang="en-US" sz="2000" b="0" i="0" u="none" strike="noStrike" baseline="0" dirty="0">
                <a:solidFill>
                  <a:srgbClr val="000000"/>
                </a:solidFill>
                <a:latin typeface="Wingdings-Regular"/>
              </a:rPr>
              <a:t> </a:t>
            </a:r>
            <a:r>
              <a:rPr lang="en-US" sz="2000" b="1" i="0" u="none" strike="noStrike" baseline="0" dirty="0">
                <a:solidFill>
                  <a:srgbClr val="000000"/>
                </a:solidFill>
                <a:latin typeface="Calibri-Bold"/>
              </a:rPr>
              <a:t>MySQLi</a:t>
            </a:r>
          </a:p>
          <a:p>
            <a:pPr lvl="1" algn="just"/>
            <a:r>
              <a:rPr lang="en-US" sz="2000" b="0" i="0" u="none" strike="noStrike" baseline="0" dirty="0">
                <a:solidFill>
                  <a:srgbClr val="000000"/>
                </a:solidFill>
                <a:latin typeface="Wingdings-Regular"/>
              </a:rPr>
              <a:t> </a:t>
            </a:r>
            <a:r>
              <a:rPr lang="en-US" sz="2000" b="1" i="0" u="none" strike="noStrike" baseline="0" dirty="0">
                <a:solidFill>
                  <a:srgbClr val="000000"/>
                </a:solidFill>
                <a:latin typeface="Calibri-Bold"/>
              </a:rPr>
              <a:t>PDO</a:t>
            </a:r>
          </a:p>
          <a:p>
            <a:pPr algn="just"/>
            <a:r>
              <a:rPr lang="en-US" sz="1800" b="1" i="0" u="none" strike="noStrike" baseline="0" dirty="0">
                <a:solidFill>
                  <a:srgbClr val="0D0D0D"/>
                </a:solidFill>
                <a:latin typeface="Calibri-Bold"/>
              </a:rPr>
              <a:t>MySQLi and PDO (PHP Data Objects) </a:t>
            </a:r>
            <a:r>
              <a:rPr lang="en-US" sz="1800" b="0" i="0" u="none" strike="noStrike" baseline="0" dirty="0">
                <a:solidFill>
                  <a:srgbClr val="0D0D0D"/>
                </a:solidFill>
                <a:latin typeface="Calibri" panose="020F0502020204030204" pitchFamily="34" charset="0"/>
              </a:rPr>
              <a:t>are two popular ways to interact with MySQL databases in PHP.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DAC5E0-E192-3C45-0F1A-E26B001BFC27}"/>
              </a:ext>
            </a:extLst>
          </p:cNvPr>
          <p:cNvSpPr txBox="1"/>
          <p:nvPr/>
        </p:nvSpPr>
        <p:spPr>
          <a:xfrm>
            <a:off x="838200" y="3510916"/>
            <a:ext cx="108204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Definition of MySQLi</a:t>
            </a:r>
          </a:p>
          <a:p>
            <a:pPr>
              <a:buNone/>
            </a:pPr>
            <a:r>
              <a:rPr lang="en-US" b="1" dirty="0"/>
              <a:t>MySQLi (MySQL Improved)</a:t>
            </a:r>
            <a:r>
              <a:rPr lang="en-US" dirty="0"/>
              <a:t> is a </a:t>
            </a:r>
            <a:r>
              <a:rPr lang="en-US" b="1" dirty="0"/>
              <a:t>PHP extension</a:t>
            </a:r>
            <a:r>
              <a:rPr lang="en-US" dirty="0"/>
              <a:t> used to interact with </a:t>
            </a:r>
            <a:r>
              <a:rPr lang="en-US" b="1" dirty="0"/>
              <a:t>MySQL databases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It allows PHP programs to: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Connect to a MySQL database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Insert data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Retrieve data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Update records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Delete records</a:t>
            </a:r>
          </a:p>
          <a:p>
            <a:pPr>
              <a:buNone/>
            </a:pPr>
            <a:r>
              <a:rPr lang="en-US" dirty="0"/>
              <a:t>MySQLi is an improved version of the older </a:t>
            </a:r>
            <a:r>
              <a:rPr lang="en-US" b="1" dirty="0"/>
              <a:t>MySQL extension</a:t>
            </a:r>
            <a:r>
              <a:rPr lang="en-US" dirty="0"/>
              <a:t> and provides </a:t>
            </a:r>
            <a:r>
              <a:rPr lang="en-US" b="1" dirty="0"/>
              <a:t>better security and performance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8614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9FADB5-8813-8BCE-BA75-E2992CFE7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030317"/>
            <a:ext cx="7696200" cy="5827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631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E32AAF-0763-6E98-AAB7-C0BFBCC1D476}"/>
              </a:ext>
            </a:extLst>
          </p:cNvPr>
          <p:cNvSpPr txBox="1"/>
          <p:nvPr/>
        </p:nvSpPr>
        <p:spPr>
          <a:xfrm>
            <a:off x="990600" y="1219200"/>
            <a:ext cx="1981200" cy="258532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Database Connection</a:t>
            </a:r>
          </a:p>
          <a:p>
            <a:endParaRPr lang="en-US" b="1" dirty="0"/>
          </a:p>
          <a:p>
            <a:pPr>
              <a:buNone/>
            </a:pPr>
            <a:r>
              <a:rPr lang="en-US" dirty="0"/>
              <a:t>Before performing any database operation, PHP must </a:t>
            </a:r>
            <a:r>
              <a:rPr lang="en-US" b="1" dirty="0"/>
              <a:t>connect to the MySQL database server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9DACEA-405A-CA29-24DA-DD3E8B7816F2}"/>
              </a:ext>
            </a:extLst>
          </p:cNvPr>
          <p:cNvSpPr txBox="1"/>
          <p:nvPr/>
        </p:nvSpPr>
        <p:spPr>
          <a:xfrm>
            <a:off x="3733800" y="896034"/>
            <a:ext cx="36576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FILE NAME: </a:t>
            </a:r>
            <a:r>
              <a:rPr lang="en-US" dirty="0"/>
              <a:t>	</a:t>
            </a:r>
            <a:r>
              <a:rPr lang="en-US" dirty="0">
                <a:highlight>
                  <a:srgbClr val="FFFF00"/>
                </a:highlight>
              </a:rPr>
              <a:t>connection.php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20B488-B33D-0CA6-43C5-B9502AF45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2037635"/>
            <a:ext cx="8677275" cy="35337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68351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EFF255-A748-A3AB-FD6E-705EB1304ABD}"/>
              </a:ext>
            </a:extLst>
          </p:cNvPr>
          <p:cNvSpPr txBox="1"/>
          <p:nvPr/>
        </p:nvSpPr>
        <p:spPr>
          <a:xfrm>
            <a:off x="1676400" y="1322654"/>
            <a:ext cx="9753600" cy="447814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/>
              <a:t>Database Table Structure (students) inside database schooluk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/>
              <a:t>Your MySQL table should look like: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</a:rPr>
              <a:t>CREATE TABLE students(</a:t>
            </a:r>
            <a:b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</a:rPr>
              <a:t>studentid INT AUTO_INCREMENT PRIMARY KEY,</a:t>
            </a:r>
            <a:b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</a:rPr>
              <a:t>names VARCHAR(100),</a:t>
            </a:r>
            <a:b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</a:rPr>
              <a:t>address VARCHAR(100),</a:t>
            </a:r>
            <a:b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</a:rPr>
              <a:t>phone VARCHAR(20)</a:t>
            </a:r>
            <a:b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269807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4F99BD4-A3E7-DF18-AB80-BB0D8E6EEC91}"/>
              </a:ext>
            </a:extLst>
          </p:cNvPr>
          <p:cNvSpPr txBox="1"/>
          <p:nvPr/>
        </p:nvSpPr>
        <p:spPr>
          <a:xfrm>
            <a:off x="381000" y="1524000"/>
            <a:ext cx="3948223" cy="206210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</a:rPr>
              <a:t>2. Insert records</a:t>
            </a:r>
          </a:p>
          <a:p>
            <a:endParaRPr lang="en-US" dirty="0"/>
          </a:p>
          <a:p>
            <a:r>
              <a:rPr lang="en-US" dirty="0"/>
              <a:t>Here’s a </a:t>
            </a:r>
            <a:r>
              <a:rPr lang="en-US" b="1" dirty="0"/>
              <a:t>complete </a:t>
            </a:r>
            <a:r>
              <a:rPr lang="en-US" dirty="0">
                <a:latin typeface="Courier New" panose="02070309020205020404" pitchFamily="49" charset="0"/>
              </a:rPr>
              <a:t>addstudent.php</a:t>
            </a:r>
            <a:r>
              <a:rPr lang="en-US" b="1" dirty="0"/>
              <a:t> example</a:t>
            </a:r>
            <a:r>
              <a:rPr lang="en-US" dirty="0"/>
              <a:t> that combines the </a:t>
            </a:r>
            <a:r>
              <a:rPr lang="en-US" b="1" dirty="0"/>
              <a:t>form</a:t>
            </a:r>
            <a:r>
              <a:rPr lang="en-US" dirty="0"/>
              <a:t> and the </a:t>
            </a:r>
            <a:r>
              <a:rPr lang="en-US" b="1" dirty="0"/>
              <a:t>insert logic</a:t>
            </a:r>
            <a:r>
              <a:rPr lang="en-US" dirty="0"/>
              <a:t> using </a:t>
            </a:r>
            <a:r>
              <a:rPr lang="en-US" b="1" dirty="0">
                <a:highlight>
                  <a:srgbClr val="FFFF00"/>
                </a:highlight>
                <a:latin typeface="Courier New" panose="02070309020205020404" pitchFamily="49" charset="0"/>
              </a:rPr>
              <a:t>isset()</a:t>
            </a:r>
            <a:r>
              <a:rPr lang="en-US" b="1" dirty="0">
                <a:highlight>
                  <a:srgbClr val="FFFF00"/>
                </a:highlight>
              </a:rPr>
              <a:t> </a:t>
            </a:r>
            <a:r>
              <a:rPr lang="en-US" dirty="0"/>
              <a:t>to check if the form was submitted. This way, everything is handled in one file: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9A36692-52C3-C258-19DC-A5F621AA7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907" y="0"/>
            <a:ext cx="74870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642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B2AF8F-B2D4-88C5-072B-3A76C7389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66800"/>
            <a:ext cx="8229600" cy="532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263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615C73-DE44-4167-A938-F3892DDDA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923925"/>
            <a:ext cx="6179877" cy="5476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24508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AC66B-FA11-1520-4F96-009EF937F4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43000"/>
            <a:ext cx="10820400" cy="615553"/>
          </a:xfrm>
        </p:spPr>
        <p:txBody>
          <a:bodyPr/>
          <a:lstStyle/>
          <a:p>
            <a:pPr algn="just"/>
            <a:r>
              <a:rPr lang="en-US" sz="2000" dirty="0">
                <a:solidFill>
                  <a:srgbClr val="FF0000"/>
                </a:solidFill>
                <a:latin typeface="+mj-lt"/>
              </a:rPr>
              <a:t>Notes: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in PHP, include is one of several functions you can use to bring external files into your script. Here’s a breakdown of the main ones that work like include: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BBD3AE-607C-063B-7CF9-CA193557542F}"/>
              </a:ext>
            </a:extLst>
          </p:cNvPr>
          <p:cNvSpPr txBox="1"/>
          <p:nvPr/>
        </p:nvSpPr>
        <p:spPr>
          <a:xfrm>
            <a:off x="681519" y="2057400"/>
            <a:ext cx="1528281" cy="381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Example: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946B5A-BB9F-66B1-A0B1-744488050CEA}"/>
              </a:ext>
            </a:extLst>
          </p:cNvPr>
          <p:cNvSpPr txBox="1"/>
          <p:nvPr/>
        </p:nvSpPr>
        <p:spPr>
          <a:xfrm>
            <a:off x="681519" y="2737247"/>
            <a:ext cx="6781800" cy="40934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/>
              <a:t>&lt;?php</a:t>
            </a:r>
          </a:p>
          <a:p>
            <a:r>
              <a:rPr lang="en-US" sz="2000" dirty="0"/>
              <a:t>// include: warning if missing, script continues</a:t>
            </a:r>
          </a:p>
          <a:p>
            <a:r>
              <a:rPr lang="en-US" sz="2000" dirty="0">
                <a:highlight>
                  <a:srgbClr val="FFFF00"/>
                </a:highlight>
              </a:rPr>
              <a:t>include("connection.php");</a:t>
            </a:r>
          </a:p>
          <a:p>
            <a:endParaRPr lang="en-US" sz="2000" dirty="0"/>
          </a:p>
          <a:p>
            <a:r>
              <a:rPr lang="en-US" sz="2000" dirty="0"/>
              <a:t>// </a:t>
            </a:r>
            <a:r>
              <a:rPr lang="en-US" sz="2000" dirty="0" err="1"/>
              <a:t>include_once</a:t>
            </a:r>
            <a:r>
              <a:rPr lang="en-US" sz="2000" dirty="0"/>
              <a:t>: avoids multiple inclusions</a:t>
            </a:r>
          </a:p>
          <a:p>
            <a:r>
              <a:rPr lang="en-US" sz="2000" dirty="0" err="1">
                <a:highlight>
                  <a:srgbClr val="FFFF00"/>
                </a:highlight>
              </a:rPr>
              <a:t>include_once</a:t>
            </a:r>
            <a:r>
              <a:rPr lang="en-US" sz="2000" dirty="0">
                <a:highlight>
                  <a:srgbClr val="FFFF00"/>
                </a:highlight>
              </a:rPr>
              <a:t>("connection.php");</a:t>
            </a:r>
          </a:p>
          <a:p>
            <a:endParaRPr lang="en-US" sz="2000" dirty="0"/>
          </a:p>
          <a:p>
            <a:r>
              <a:rPr lang="en-US" sz="2000" dirty="0"/>
              <a:t>// require: fatal error if missing, script stops</a:t>
            </a:r>
          </a:p>
          <a:p>
            <a:r>
              <a:rPr lang="en-US" sz="2000" dirty="0">
                <a:highlight>
                  <a:srgbClr val="FFFF00"/>
                </a:highlight>
              </a:rPr>
              <a:t>require("connection.php");</a:t>
            </a:r>
          </a:p>
          <a:p>
            <a:endParaRPr lang="en-US" sz="2000" dirty="0"/>
          </a:p>
          <a:p>
            <a:r>
              <a:rPr lang="en-US" sz="2000" dirty="0"/>
              <a:t>// </a:t>
            </a:r>
            <a:r>
              <a:rPr lang="en-US" sz="2000" dirty="0" err="1"/>
              <a:t>require_once</a:t>
            </a:r>
            <a:r>
              <a:rPr lang="en-US" sz="2000" dirty="0"/>
              <a:t>: fatal error if missing, but only once</a:t>
            </a:r>
          </a:p>
          <a:p>
            <a:r>
              <a:rPr lang="en-US" sz="2000" dirty="0" err="1">
                <a:highlight>
                  <a:srgbClr val="FFFF00"/>
                </a:highlight>
              </a:rPr>
              <a:t>require_once</a:t>
            </a:r>
            <a:r>
              <a:rPr lang="en-US" sz="2000" dirty="0">
                <a:highlight>
                  <a:srgbClr val="FFFF00"/>
                </a:highlight>
              </a:rPr>
              <a:t>("connection.php");</a:t>
            </a:r>
          </a:p>
          <a:p>
            <a:r>
              <a:rPr lang="en-US" sz="2000" dirty="0"/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1507868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C7111B2-F641-4333-19B7-BD769A7C03F3}"/>
              </a:ext>
            </a:extLst>
          </p:cNvPr>
          <p:cNvSpPr txBox="1"/>
          <p:nvPr/>
        </p:nvSpPr>
        <p:spPr>
          <a:xfrm>
            <a:off x="4076699" y="685800"/>
            <a:ext cx="4038599" cy="15081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</a:rPr>
              <a:t>3. view records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PHP Code to Retrieve Students 'data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File name is 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viewstudents.php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178820-9513-22C3-82EF-9F15864BB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362200"/>
            <a:ext cx="8105775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998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2698C8-C48C-894E-7F5D-6669A631A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7" y="533400"/>
            <a:ext cx="11968163" cy="616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502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135C53-FF71-5C1E-BA92-9008FF66C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52400"/>
            <a:ext cx="9448800" cy="6367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356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7FA1BC-8D75-A22D-D23C-01EB618C2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524000"/>
            <a:ext cx="11299370" cy="3962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173586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DB7808-35DD-4723-FCEC-7628465CD421}"/>
              </a:ext>
            </a:extLst>
          </p:cNvPr>
          <p:cNvSpPr txBox="1"/>
          <p:nvPr/>
        </p:nvSpPr>
        <p:spPr>
          <a:xfrm>
            <a:off x="381001" y="1295400"/>
            <a:ext cx="2590800" cy="206210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</a:rPr>
              <a:t>4. Delete Records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PHP Code to Delete Students 'data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File name is 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deletestudents.php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EE62F1-17D9-3A93-4243-05C75182C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304800"/>
            <a:ext cx="8077200" cy="611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7127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A8C2AC-2F3B-8228-331D-D44F00AAFEAA}"/>
              </a:ext>
            </a:extLst>
          </p:cNvPr>
          <p:cNvSpPr txBox="1"/>
          <p:nvPr/>
        </p:nvSpPr>
        <p:spPr>
          <a:xfrm>
            <a:off x="381001" y="1295400"/>
            <a:ext cx="2590800" cy="206210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</a:rPr>
              <a:t>5. Update Records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PHP Code to Delete Students 'data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File name is 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updatestudents.php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38A3EA-6B49-E4AE-4BC1-7AFED9264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408" y="1"/>
            <a:ext cx="8767592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5537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97150F-9278-BB7B-2C67-53A19BA8A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0"/>
            <a:ext cx="6874577" cy="655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9336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BEF301-E495-A4B3-56A7-C22834EE34B5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371600" y="1490008"/>
            <a:ext cx="9753600" cy="315471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+mj-lt"/>
              </a:rPr>
              <a:t>Dashboard design </a:t>
            </a:r>
          </a:p>
          <a:p>
            <a:pPr algn="just"/>
            <a:endParaRPr lang="en-US" sz="2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lt"/>
            </a:endParaRPr>
          </a:p>
          <a:p>
            <a:pPr lvl="1" algn="just"/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</a:rPr>
              <a:t>A dashboard is a central interface or homepage in a system that provides users with a quick overview and easy access to important features, data, or tools. Think of it as a control panel for a web application or management system.</a:t>
            </a:r>
          </a:p>
          <a:p>
            <a:pPr lvl="1" algn="just"/>
            <a:endParaRPr lang="en-US" sz="125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lt"/>
            </a:endParaRPr>
          </a:p>
          <a:p>
            <a:pPr lvl="1" algn="just"/>
            <a:endParaRPr lang="en-US" sz="125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188701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2EDE3E-B344-7B0B-F6D3-FBA7A2ED8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43000"/>
            <a:ext cx="10743550" cy="52844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930254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80BC1-7FCE-83A7-669F-D28F81B6C5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609601"/>
            <a:ext cx="4419600" cy="5334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latin typeface="+mj-lt"/>
              </a:rPr>
              <a:t>Dashboard Sample codes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19D7B9-A05A-501A-F587-87469AF765D2}"/>
              </a:ext>
            </a:extLst>
          </p:cNvPr>
          <p:cNvSpPr txBox="1"/>
          <p:nvPr/>
        </p:nvSpPr>
        <p:spPr>
          <a:xfrm>
            <a:off x="2819400" y="1371600"/>
            <a:ext cx="6553200" cy="53256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&lt;meta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&lt;meta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"viewport"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"width=device-width, initial-scale=1.0"</a:t>
            </a: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&lt;title&gt;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Student Dashboard</a:t>
            </a: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&lt;/title&gt;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&lt;style&gt;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Arial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sans-serif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#f4f6f9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#007BFF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#fff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15px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9239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1A78C8-E54B-37E9-5749-F43EF6CA6614}"/>
              </a:ext>
            </a:extLst>
          </p:cNvPr>
          <p:cNvSpPr txBox="1"/>
          <p:nvPr/>
        </p:nvSpPr>
        <p:spPr>
          <a:xfrm>
            <a:off x="381000" y="907115"/>
            <a:ext cx="4572000" cy="587468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.container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90%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.cards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flex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justify-content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space-around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flex-wrap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wrap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gap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.card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#fff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8px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box-shadow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8px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flex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250px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9D4EF2-B492-1688-B488-7C9CAE2BE979}"/>
              </a:ext>
            </a:extLst>
          </p:cNvPr>
          <p:cNvSpPr txBox="1"/>
          <p:nvPr/>
        </p:nvSpPr>
        <p:spPr>
          <a:xfrm>
            <a:off x="6096000" y="685800"/>
            <a:ext cx="5029200" cy="587468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.card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margin-bottom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#333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.card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#666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14px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.card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inline-block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margin-top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15px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#007BFF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#fff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5px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text-decoration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transition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2654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852657E-EF9E-8715-8C7D-29EBCB19394F}"/>
              </a:ext>
            </a:extLst>
          </p:cNvPr>
          <p:cNvSpPr txBox="1"/>
          <p:nvPr/>
        </p:nvSpPr>
        <p:spPr>
          <a:xfrm>
            <a:off x="381000" y="1419411"/>
            <a:ext cx="2971800" cy="49051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.card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a:hover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#0056b3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15px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#eee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fixed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bottom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0px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100%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sz="14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fff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&lt;/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&lt;/head&gt;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7FAF6F-852C-684A-F564-A94047C3C670}"/>
              </a:ext>
            </a:extLst>
          </p:cNvPr>
          <p:cNvSpPr txBox="1"/>
          <p:nvPr/>
        </p:nvSpPr>
        <p:spPr>
          <a:xfrm>
            <a:off x="4572000" y="1066800"/>
            <a:ext cx="7010400" cy="51338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&lt;h1&gt;Student Management Dashboard&lt;/h1&gt;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&lt;div class="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container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&lt;div class="cards"&gt;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&lt;div class="card"&gt;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&lt;h3&gt;View Students&lt;/h3&gt;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&lt;p&gt;See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student records in the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.&lt;/p&gt;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&lt;a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="viewstudents.php"&gt;Go&lt;/a&gt;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&lt;/div&gt;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&lt;div class="card"&gt;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&lt;h3&gt;Add Student&lt;/h3&gt;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&lt;p&gt;Insert a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student record.&lt;/p&gt;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&lt;a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="addstudent.php"&gt;Go&lt;/a&gt;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&lt;/div&gt;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&lt;div class="card"&gt;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&lt;h3&gt;Reports&lt;/h3&gt;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&lt;p&gt;Generate simple reports or summaries.&lt;/p&gt;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&lt;a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reports.php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"&gt;Go&lt;/a&gt;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&lt;/div&gt;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&lt;/div&gt;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3747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A1E673-7B6E-2836-0858-F01727DDE253}"/>
              </a:ext>
            </a:extLst>
          </p:cNvPr>
          <p:cNvSpPr txBox="1"/>
          <p:nvPr/>
        </p:nvSpPr>
        <p:spPr>
          <a:xfrm>
            <a:off x="1295400" y="2057400"/>
            <a:ext cx="10439400" cy="263809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&lt;footer&gt;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&lt;p&gt;&amp;copy; 2026-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&lt;?php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'Y'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?&gt;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KVMM School – Student Management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&lt;/footer&gt;</a:t>
            </a:r>
            <a:b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b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2327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155D48-81CF-BCF9-402E-60BC5D298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85800"/>
            <a:ext cx="8963025" cy="58925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54071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A07B58-E7CA-F1D2-EF0A-E67913C7B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0"/>
            <a:ext cx="73882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6629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F28756-4326-C4B5-043D-007ACA05D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065"/>
            <a:ext cx="5695950" cy="66960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63A724-F122-F3DC-B003-8F8A9355C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457200"/>
            <a:ext cx="6018013" cy="54809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824308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D752E-F8E1-3DA9-E8A9-9A85E1B1C9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609601"/>
            <a:ext cx="7543800" cy="5334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latin typeface="+mj-lt"/>
              </a:rPr>
              <a:t>A simple responsive dashboard with links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DDE5AA-5D2C-CE90-E6EA-1873C15C6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43" y="1371600"/>
            <a:ext cx="10983593" cy="54226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41473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5EA74-3AE4-185B-256E-7C5DA181B2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1219200"/>
            <a:ext cx="1219200" cy="9144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800" dirty="0">
                <a:solidFill>
                  <a:srgbClr val="FF0000"/>
                </a:solidFill>
                <a:latin typeface="+mj-lt"/>
              </a:rPr>
              <a:t>Sample codes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B0F63B-B218-AF6C-683C-30328C6E17E5}"/>
              </a:ext>
            </a:extLst>
          </p:cNvPr>
          <p:cNvSpPr txBox="1"/>
          <p:nvPr/>
        </p:nvSpPr>
        <p:spPr>
          <a:xfrm>
            <a:off x="1447800" y="990600"/>
            <a:ext cx="4648200" cy="55515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&lt;meta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&lt;title&gt;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KVMM School Dashboard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&lt;/title&gt;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&lt;style&gt;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Arial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sans-serif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#f4f6f9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#007BFF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#fff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562399-E1FC-1EB1-35B8-B3B0B83D2044}"/>
              </a:ext>
            </a:extLst>
          </p:cNvPr>
          <p:cNvSpPr txBox="1"/>
          <p:nvPr/>
        </p:nvSpPr>
        <p:spPr>
          <a:xfrm>
            <a:off x="6324600" y="152400"/>
            <a:ext cx="5486400" cy="580543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#333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#fff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15px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fixed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bottom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100%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.dashboard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grid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  </a:t>
            </a:r>
            <a:r>
              <a:rPr lang="en-US" sz="11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grid-template-columns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repeat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auto-fit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minmax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180px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1fr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  <a:endParaRPr lang="en-US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gap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30px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.card-link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text-decoration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994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27F46B-41CD-16F6-95F1-758D71D416B3}"/>
              </a:ext>
            </a:extLst>
          </p:cNvPr>
          <p:cNvSpPr txBox="1"/>
          <p:nvPr/>
        </p:nvSpPr>
        <p:spPr>
          <a:xfrm>
            <a:off x="152400" y="1143000"/>
            <a:ext cx="4572000" cy="39703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.card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#fff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8px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box-shadow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8px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transition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transform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box-shadow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.card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60px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60px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margin-bottom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.card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#007BFF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card:hover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translateY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-5px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box-shadow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4px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12px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8D33E3-48B0-5859-EB21-82B75C7A49CE}"/>
              </a:ext>
            </a:extLst>
          </p:cNvPr>
          <p:cNvSpPr txBox="1"/>
          <p:nvPr/>
        </p:nvSpPr>
        <p:spPr>
          <a:xfrm>
            <a:off x="5486400" y="990600"/>
            <a:ext cx="6097772" cy="25408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max-width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.dashboard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grid-template-columns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1fr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&lt;/style&gt;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5666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AA7708-F1A4-2062-2A21-15275131D17E}"/>
              </a:ext>
            </a:extLst>
          </p:cNvPr>
          <p:cNvSpPr txBox="1"/>
          <p:nvPr/>
        </p:nvSpPr>
        <p:spPr>
          <a:xfrm>
            <a:off x="6629400" y="381000"/>
            <a:ext cx="4191000" cy="618464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b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&lt;a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marks.php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"card-link"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"card"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0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"marks.png"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alt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"Marks"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&lt;h3&gt;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Marks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&lt;/h3&gt;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&lt;/a&gt;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&lt;a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announcements.php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"card-link"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"card"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0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"announcement.png"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alt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"Announcements"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&lt;h3&gt;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Announcements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&lt;/h3&gt;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&lt;/a&gt;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&lt;a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settings.php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"card-link"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"card"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0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"settings.png"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alt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"Settings"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&lt;h3&gt;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Settings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&lt;/h3&gt;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&lt;/a&gt;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&lt;footer&gt;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&amp;copy;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2026 KVMM School – All rights reserved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&lt;/footer&gt;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8595D7-3A2E-251F-E384-9D5CD415A467}"/>
              </a:ext>
            </a:extLst>
          </p:cNvPr>
          <p:cNvSpPr txBox="1"/>
          <p:nvPr/>
        </p:nvSpPr>
        <p:spPr>
          <a:xfrm>
            <a:off x="381000" y="1447800"/>
            <a:ext cx="4953000" cy="44156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&lt;header&gt;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KVMM School Management Dashboard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&lt;/header&gt;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"dashboard"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students.php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"card-link"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"card"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"download.png"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alt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"Students"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&lt;h3&gt;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Students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&lt;/h3&gt;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&lt;/a&gt;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modules.php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"card-link"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"card"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"module.png"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alt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"Modules"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&lt;h3&gt;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Modules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&lt;/h3&gt;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&lt;/a&gt;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7364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0C7E28-9DCC-DA1B-4B15-BBEC3E57F2CB}"/>
              </a:ext>
            </a:extLst>
          </p:cNvPr>
          <p:cNvSpPr txBox="1"/>
          <p:nvPr/>
        </p:nvSpPr>
        <p:spPr>
          <a:xfrm>
            <a:off x="2590800" y="1828800"/>
            <a:ext cx="8458200" cy="29238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tabLst>
                <a:tab pos="3317875" algn="l"/>
              </a:tabLst>
            </a:pPr>
            <a:r>
              <a:rPr lang="en-US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A login form</a:t>
            </a:r>
          </a:p>
          <a:p>
            <a:pPr algn="just"/>
            <a:endParaRPr lang="en-US" sz="2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just"/>
            <a:r>
              <a:rPr lang="en-US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A login form is a web form that allows users to enter their credentials (usually a username/email and a password) to gain access to a protected system, application, or website. It acts as the gateway to ensure only authorized users can enter.</a:t>
            </a:r>
          </a:p>
          <a:p>
            <a:pPr algn="just"/>
            <a:endParaRPr lang="en-US" sz="2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305395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313EE-0576-81CC-6B80-AE05D0CEC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0" y="609600"/>
            <a:ext cx="3847760" cy="696594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PHP login form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E9474-FF9A-8945-9F7E-ECE9A14F3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1600200"/>
            <a:ext cx="6083923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6337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399C3-6E03-80E1-FA9A-85E1FB6B1F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752600"/>
            <a:ext cx="4114800" cy="457200"/>
          </a:xfrm>
        </p:spPr>
        <p:txBody>
          <a:bodyPr/>
          <a:lstStyle/>
          <a:p>
            <a:r>
              <a:rPr lang="en-US" sz="2800" dirty="0">
                <a:solidFill>
                  <a:srgbClr val="FF0000"/>
                </a:solidFill>
                <a:latin typeface="+mj-lt"/>
              </a:rPr>
              <a:t>&lt;Sample login form codes&gt;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82CEB0-37AB-A02A-05E5-45816A6CA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376" y="12405"/>
            <a:ext cx="75918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8229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19886-7DFD-7DA9-BEA8-FE6E7DD087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457200"/>
            <a:ext cx="6324600" cy="703326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login.php (Simplified PHP)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831006-E3BE-5310-886B-86D2318CF858}"/>
              </a:ext>
            </a:extLst>
          </p:cNvPr>
          <p:cNvSpPr txBox="1"/>
          <p:nvPr/>
        </p:nvSpPr>
        <p:spPr>
          <a:xfrm>
            <a:off x="762000" y="1143000"/>
            <a:ext cx="10439400" cy="563231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&lt;?php</a:t>
            </a:r>
          </a:p>
          <a:p>
            <a:r>
              <a:rPr lang="en-US" dirty="0"/>
              <a:t>include "connection.php"; // include your database connection</a:t>
            </a:r>
          </a:p>
          <a:p>
            <a:endParaRPr lang="en-US" dirty="0"/>
          </a:p>
          <a:p>
            <a:r>
              <a:rPr lang="en-US" dirty="0"/>
              <a:t>// Check if login button was clicked</a:t>
            </a:r>
          </a:p>
          <a:p>
            <a:r>
              <a:rPr lang="en-US" dirty="0"/>
              <a:t>if (</a:t>
            </a:r>
            <a:r>
              <a:rPr lang="en-US" dirty="0" err="1"/>
              <a:t>isset</a:t>
            </a:r>
            <a:r>
              <a:rPr lang="en-US" dirty="0"/>
              <a:t>($_POST['login'])) {</a:t>
            </a:r>
          </a:p>
          <a:p>
            <a:r>
              <a:rPr lang="en-US" dirty="0"/>
              <a:t>    $username = $_POST['username'];</a:t>
            </a:r>
          </a:p>
          <a:p>
            <a:r>
              <a:rPr lang="en-US" dirty="0"/>
              <a:t>    $password = $_POST['password'];</a:t>
            </a:r>
          </a:p>
          <a:p>
            <a:endParaRPr lang="en-US" dirty="0"/>
          </a:p>
          <a:p>
            <a:r>
              <a:rPr lang="en-US" dirty="0"/>
              <a:t>    // Simple query (for demo purposes)</a:t>
            </a:r>
          </a:p>
          <a:p>
            <a:r>
              <a:rPr lang="en-US" dirty="0"/>
              <a:t>    $</a:t>
            </a:r>
            <a:r>
              <a:rPr lang="en-US" dirty="0" err="1"/>
              <a:t>sql</a:t>
            </a:r>
            <a:r>
              <a:rPr lang="en-US" dirty="0"/>
              <a:t> = "SELECT * FROM users WHERE username='$username' AND password='$password'";</a:t>
            </a:r>
          </a:p>
          <a:p>
            <a:r>
              <a:rPr lang="en-US" dirty="0"/>
              <a:t>    $result = mysqli_query($connection, $</a:t>
            </a:r>
            <a:r>
              <a:rPr lang="en-US" dirty="0" err="1"/>
              <a:t>sql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   if (mysqli_num_rows($result) == 1) {</a:t>
            </a:r>
          </a:p>
          <a:p>
            <a:r>
              <a:rPr lang="en-US" dirty="0"/>
              <a:t>        echo "Login successful! Welcome, " . $username;</a:t>
            </a:r>
          </a:p>
          <a:p>
            <a:r>
              <a:rPr lang="en-US" dirty="0"/>
              <a:t>        // header("Location: </a:t>
            </a:r>
            <a:r>
              <a:rPr lang="en-US" dirty="0" err="1"/>
              <a:t>dashboard.php</a:t>
            </a:r>
            <a:r>
              <a:rPr lang="en-US" dirty="0"/>
              <a:t>"); // redirect if needed</a:t>
            </a:r>
          </a:p>
          <a:p>
            <a:r>
              <a:rPr lang="en-US" dirty="0"/>
              <a:t>    } else {</a:t>
            </a:r>
          </a:p>
          <a:p>
            <a:r>
              <a:rPr lang="en-US" dirty="0"/>
              <a:t>        echo "Invalid username or password.";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?&gt;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7904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E8C1EC70-33DE-CF93-2A04-D120A7731EA7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124200" y="2512758"/>
            <a:ext cx="6096000" cy="92333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END OF  CHAP 3</a:t>
            </a:r>
          </a:p>
        </p:txBody>
      </p:sp>
    </p:spTree>
    <p:extLst>
      <p:ext uri="{BB962C8B-B14F-4D97-AF65-F5344CB8AC3E}">
        <p14:creationId xmlns:p14="http://schemas.microsoft.com/office/powerpoint/2010/main" val="1267677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6352</TotalTime>
  <Words>2050</Words>
  <Application>Microsoft Office PowerPoint</Application>
  <PresentationFormat>Widescreen</PresentationFormat>
  <Paragraphs>331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MS PGothic</vt:lpstr>
      <vt:lpstr>Calibri</vt:lpstr>
      <vt:lpstr>Calibri-Bold</vt:lpstr>
      <vt:lpstr>Consolas</vt:lpstr>
      <vt:lpstr>Courier New</vt:lpstr>
      <vt:lpstr>Times New Roman</vt:lpstr>
      <vt:lpstr>Wingdings</vt:lpstr>
      <vt:lpstr>Wingdings-Regular</vt:lpstr>
      <vt:lpstr>Office Theme</vt:lpstr>
      <vt:lpstr>CIT83104: ADVANCED WEB DESIGN AND DEVELOPMENT</vt:lpstr>
      <vt:lpstr>CLASS INSTRUCTIONS </vt:lpstr>
      <vt:lpstr>MODULE OVERVIEW </vt:lpstr>
      <vt:lpstr>MODULE AIMS </vt:lpstr>
      <vt:lpstr>KEY TECHNOLOGIES &amp; TOOLS </vt:lpstr>
      <vt:lpstr>PowerPoint Presentation</vt:lpstr>
      <vt:lpstr> MODULE CONTENTS </vt:lpstr>
      <vt:lpstr>CHAP 3: Back-end interactivity with front-end to build web applications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Notes: in PHP, include is one of several functions you can use to bring external files into your script. Here’s a breakdown of the main ones that work like include: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Dashboard Sample codes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simple responsive dashboard with links </vt:lpstr>
      <vt:lpstr>Sample codes</vt:lpstr>
      <vt:lpstr>PowerPoint Presentation</vt:lpstr>
      <vt:lpstr>PowerPoint Presentation</vt:lpstr>
      <vt:lpstr>PowerPoint Presentation</vt:lpstr>
      <vt:lpstr>PHP login form</vt:lpstr>
      <vt:lpstr>&lt;Sample login form codes&gt;</vt:lpstr>
      <vt:lpstr>login.php (Simplified PHP)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Prince</dc:creator>
  <cp:lastModifiedBy>USER</cp:lastModifiedBy>
  <cp:revision>1025</cp:revision>
  <dcterms:created xsi:type="dcterms:W3CDTF">2021-07-23T10:02:56Z</dcterms:created>
  <dcterms:modified xsi:type="dcterms:W3CDTF">2026-04-16T14:57:42Z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2021-07-13T00:00:00Z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2021-07-23T00:00:00Z</vt:filetime>
  </property>
</Properties>
</file>