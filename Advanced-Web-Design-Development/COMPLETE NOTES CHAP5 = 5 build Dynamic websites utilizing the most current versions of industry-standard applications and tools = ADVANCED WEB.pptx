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4"/>
  </p:notesMasterIdLst>
  <p:handoutMasterIdLst>
    <p:handoutMasterId r:id="rId55"/>
  </p:handoutMasterIdLst>
  <p:sldIdLst>
    <p:sldId id="256" r:id="rId2"/>
    <p:sldId id="316" r:id="rId3"/>
    <p:sldId id="345" r:id="rId4"/>
    <p:sldId id="346" r:id="rId5"/>
    <p:sldId id="347" r:id="rId6"/>
    <p:sldId id="389" r:id="rId7"/>
    <p:sldId id="315" r:id="rId8"/>
    <p:sldId id="309" r:id="rId9"/>
    <p:sldId id="422" r:id="rId10"/>
    <p:sldId id="423" r:id="rId11"/>
    <p:sldId id="425" r:id="rId12"/>
    <p:sldId id="441" r:id="rId13"/>
    <p:sldId id="442" r:id="rId14"/>
    <p:sldId id="443" r:id="rId15"/>
    <p:sldId id="444" r:id="rId16"/>
    <p:sldId id="445" r:id="rId17"/>
    <p:sldId id="446" r:id="rId18"/>
    <p:sldId id="447" r:id="rId19"/>
    <p:sldId id="451" r:id="rId20"/>
    <p:sldId id="452" r:id="rId21"/>
    <p:sldId id="448" r:id="rId22"/>
    <p:sldId id="449" r:id="rId23"/>
    <p:sldId id="450" r:id="rId24"/>
    <p:sldId id="424" r:id="rId25"/>
    <p:sldId id="426" r:id="rId26"/>
    <p:sldId id="427" r:id="rId27"/>
    <p:sldId id="428" r:id="rId28"/>
    <p:sldId id="439" r:id="rId29"/>
    <p:sldId id="440" r:id="rId30"/>
    <p:sldId id="429" r:id="rId31"/>
    <p:sldId id="430" r:id="rId32"/>
    <p:sldId id="431" r:id="rId33"/>
    <p:sldId id="437" r:id="rId34"/>
    <p:sldId id="432" r:id="rId35"/>
    <p:sldId id="433" r:id="rId36"/>
    <p:sldId id="434" r:id="rId37"/>
    <p:sldId id="436" r:id="rId38"/>
    <p:sldId id="435" r:id="rId39"/>
    <p:sldId id="438" r:id="rId40"/>
    <p:sldId id="453" r:id="rId41"/>
    <p:sldId id="462" r:id="rId42"/>
    <p:sldId id="454" r:id="rId43"/>
    <p:sldId id="455" r:id="rId44"/>
    <p:sldId id="456" r:id="rId45"/>
    <p:sldId id="457" r:id="rId46"/>
    <p:sldId id="463" r:id="rId47"/>
    <p:sldId id="458" r:id="rId48"/>
    <p:sldId id="459" r:id="rId49"/>
    <p:sldId id="460" r:id="rId50"/>
    <p:sldId id="461" r:id="rId51"/>
    <p:sldId id="464" r:id="rId52"/>
    <p:sldId id="421" r:id="rId53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2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28"/>
    <p:restoredTop sz="93447" autoAdjust="0"/>
  </p:normalViewPr>
  <p:slideViewPr>
    <p:cSldViewPr>
      <p:cViewPr varScale="1">
        <p:scale>
          <a:sx n="56" d="100"/>
          <a:sy n="56" d="100"/>
        </p:scale>
        <p:origin x="1024" y="44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FD590B5-3698-1313-01B0-FF7A8D0451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2B5BB-5A60-4BB3-B3B0-82E1BD61AC6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4E043A-575B-404A-AF16-E1B002A1C5C6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6F3466-3914-7997-DD11-2F3AEF0E71F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257574-561C-94BC-827B-A093E6A2D88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DBD18B-D895-40D2-8E13-F8A1C5375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6634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93460-4FE2-4BFA-B61E-E766871C41D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AC896-9C5D-41ED-9FA9-751D871D5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97614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6AC896-9C5D-41ED-9FA9-751D871D5EB2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A0B3E-8783-6BDF-8EF3-8694781D68E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152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AC896-9C5D-41ED-9FA9-751D871D5EB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833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AC896-9C5D-41ED-9FA9-751D871D5EB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712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38840" y="1049274"/>
            <a:ext cx="5714321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5155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5155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5155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2191999" cy="68579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" y="0"/>
            <a:ext cx="12191999" cy="68579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53993" y="2483307"/>
            <a:ext cx="3684015" cy="788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4985" y="2157441"/>
            <a:ext cx="11260667" cy="5155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228600" y="-76200"/>
            <a:ext cx="12420600" cy="685799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1000" y="239086"/>
            <a:ext cx="11353800" cy="56618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sz="3200" b="1" dirty="0">
                <a:solidFill>
                  <a:schemeClr val="tx1"/>
                </a:solidFill>
              </a:rPr>
              <a:t>CIT83104: </a:t>
            </a:r>
            <a:r>
              <a:rPr 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ADVANCED WEB DESIGN AND </a:t>
            </a:r>
            <a:r>
              <a:rPr lang="en-US" sz="3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DEVELOPMENT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19400" y="1219200"/>
            <a:ext cx="6807326" cy="158992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5"/>
              </a:spcBef>
              <a:tabLst>
                <a:tab pos="3187700" algn="l"/>
              </a:tabLst>
            </a:pPr>
            <a:r>
              <a:rPr lang="en-US" sz="4000" dirty="0">
                <a:ln w="0">
                  <a:solidFill>
                    <a:schemeClr val="tx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/>
                <a:cs typeface="Times New Roman"/>
              </a:rPr>
              <a:t>By:</a:t>
            </a:r>
            <a:endParaRPr sz="5800" dirty="0">
              <a:ln w="0">
                <a:solidFill>
                  <a:schemeClr val="tx1"/>
                </a:solidFill>
              </a:ln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/>
              <a:cs typeface="Times New Roman"/>
            </a:endParaRPr>
          </a:p>
          <a:p>
            <a:pPr marL="307340" algn="ctr">
              <a:lnSpc>
                <a:spcPct val="150000"/>
              </a:lnSpc>
            </a:pPr>
            <a:r>
              <a:rPr lang="en-US" altLang="x-none" sz="3200" dirty="0">
                <a:ln w="0">
                  <a:solidFill>
                    <a:schemeClr val="tx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Mr. MANIRARORA Jean Marie Vianney</a:t>
            </a:r>
            <a:endParaRPr sz="3000" dirty="0">
              <a:ln w="0">
                <a:solidFill>
                  <a:schemeClr val="tx1"/>
                </a:solidFill>
              </a:ln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S PGothic"/>
              <a:cs typeface="MS P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19200" y="6323444"/>
            <a:ext cx="10287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solidFill>
                  <a:schemeClr val="bg1"/>
                </a:solidFill>
                <a:cs typeface="Calibri"/>
              </a:rPr>
              <a:t>Course</a:t>
            </a:r>
            <a:r>
              <a:rPr sz="2400" spc="240" dirty="0">
                <a:solidFill>
                  <a:schemeClr val="bg1"/>
                </a:solidFill>
                <a:cs typeface="Calibri"/>
              </a:rPr>
              <a:t> </a:t>
            </a:r>
            <a:r>
              <a:rPr sz="2400" spc="-5" dirty="0">
                <a:solidFill>
                  <a:schemeClr val="bg1"/>
                </a:solidFill>
                <a:cs typeface="Calibri"/>
              </a:rPr>
              <a:t>Code</a:t>
            </a:r>
            <a:r>
              <a:rPr lang="en-US" sz="2400" spc="-5" dirty="0">
                <a:solidFill>
                  <a:schemeClr val="bg1"/>
                </a:solidFill>
                <a:cs typeface="Calibri"/>
              </a:rPr>
              <a:t>: </a:t>
            </a:r>
            <a:r>
              <a:rPr lang="en-US" sz="2400" dirty="0">
                <a:solidFill>
                  <a:schemeClr val="bg1"/>
                </a:solidFill>
              </a:rPr>
              <a:t>CIT83104  </a:t>
            </a:r>
            <a:r>
              <a:rPr sz="2400" dirty="0">
                <a:solidFill>
                  <a:schemeClr val="bg1"/>
                </a:solidFill>
                <a:cs typeface="Calibri"/>
              </a:rPr>
              <a:t>&amp;</a:t>
            </a:r>
            <a:r>
              <a:rPr sz="2400" spc="-25" dirty="0">
                <a:solidFill>
                  <a:schemeClr val="bg1"/>
                </a:solidFill>
                <a:cs typeface="Calibri"/>
              </a:rPr>
              <a:t> </a:t>
            </a:r>
            <a:r>
              <a:rPr sz="2400" dirty="0">
                <a:solidFill>
                  <a:schemeClr val="bg1"/>
                </a:solidFill>
                <a:cs typeface="Calibri"/>
              </a:rPr>
              <a:t>Name</a:t>
            </a:r>
            <a:r>
              <a:rPr lang="en-US" sz="2400" dirty="0">
                <a:solidFill>
                  <a:schemeClr val="bg1"/>
                </a:solidFill>
                <a:cs typeface="Calibri"/>
              </a:rPr>
              <a:t>: </a:t>
            </a:r>
            <a:r>
              <a:rPr lang="en-US" sz="2400" dirty="0">
                <a:solidFill>
                  <a:schemeClr val="bg1"/>
                </a:solidFill>
              </a:rPr>
              <a:t>ADVANCED WEB DESIGN AND DEVELOPMENT</a:t>
            </a:r>
            <a:endParaRPr sz="2400" dirty="0">
              <a:solidFill>
                <a:schemeClr val="bg1"/>
              </a:solidFill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28681" y="6426504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91000" y="412898"/>
            <a:ext cx="5143160" cy="67710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  <a:sym typeface="Times New Roman"/>
              </a:rPr>
              <a:t>CLASS INSTRUCTIONS 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1676400" y="1295400"/>
            <a:ext cx="9829800" cy="51816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+mn-lt"/>
              </a:rPr>
              <a:t>Please keep your phones aside during class sessions.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+mn-lt"/>
              </a:rPr>
              <a:t>100% attendance is required for all classes.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+mn-lt"/>
              </a:rPr>
              <a:t>Students are expected to practice effective time management.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+mn-lt"/>
              </a:rPr>
              <a:t>Participation in all academic activities is mandatory, including:</a:t>
            </a:r>
          </a:p>
          <a:p>
            <a:pPr marL="1714500" lvl="3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Quizzes</a:t>
            </a:r>
          </a:p>
          <a:p>
            <a:pPr marL="1714500" lvl="3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In-class activities</a:t>
            </a:r>
          </a:p>
          <a:p>
            <a:pPr marL="1714500" lvl="3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Individual assignments</a:t>
            </a:r>
          </a:p>
          <a:p>
            <a:pPr marL="1714500" lvl="3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Group assignments</a:t>
            </a:r>
          </a:p>
          <a:p>
            <a:pPr marL="1714500" lvl="3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Presentations</a:t>
            </a:r>
          </a:p>
          <a:p>
            <a:pPr lvl="1" algn="just">
              <a:lnSpc>
                <a:spcPct val="150000"/>
              </a:lnSpc>
            </a:pPr>
            <a:r>
              <a:rPr lang="en-US" sz="2400" b="1" dirty="0">
                <a:latin typeface="+mn-lt"/>
              </a:rPr>
              <a:t>Note: </a:t>
            </a:r>
            <a:r>
              <a:rPr lang="en-US" sz="2400" dirty="0">
                <a:latin typeface="+mn-lt"/>
              </a:rPr>
              <a:t>Failure to attend or participate in these activities may affect your overall performance.</a:t>
            </a:r>
          </a:p>
          <a:p>
            <a:endParaRPr lang="en-US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74729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B04EB-1913-994F-04DA-C811BC9D04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6039" y="609601"/>
            <a:ext cx="4914561" cy="685799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MODULE OVERVIEW</a:t>
            </a:r>
            <a:br>
              <a:rPr lang="en-US" dirty="0">
                <a:solidFill>
                  <a:srgbClr val="FF0000"/>
                </a:solidFill>
                <a:latin typeface="+mj-lt"/>
              </a:rPr>
            </a:b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9345C-494B-AF39-875C-8A20D5953A2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81000" y="1447800"/>
            <a:ext cx="11506200" cy="5133136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/>
              <a:t>Module Code:</a:t>
            </a:r>
            <a:r>
              <a:rPr lang="en-US" sz="3200" b="1" dirty="0">
                <a:solidFill>
                  <a:schemeClr val="tx1"/>
                </a:solidFill>
              </a:rPr>
              <a:t> CIT83104 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/>
              <a:t>Title</a:t>
            </a:r>
            <a:r>
              <a:rPr lang="en-US" sz="3200" dirty="0"/>
              <a:t>: Advanced Web Design and Development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/>
              <a:t>Credits</a:t>
            </a:r>
            <a:r>
              <a:rPr lang="en-US" sz="3200" dirty="0"/>
              <a:t>: 15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/>
              <a:t>Year</a:t>
            </a:r>
            <a:r>
              <a:rPr lang="en-US" sz="3200" dirty="0"/>
              <a:t>: 3rd Year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/>
              <a:t>Prerequisite</a:t>
            </a:r>
            <a:r>
              <a:rPr lang="en-US" sz="3200" dirty="0"/>
              <a:t>: Introduction to Web Design and Development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/>
              <a:t>Total Study Hours</a:t>
            </a:r>
            <a:r>
              <a:rPr lang="en-US" sz="3200" dirty="0"/>
              <a:t>: 150 (</a:t>
            </a:r>
            <a:r>
              <a:rPr lang="en-US" sz="2800" dirty="0"/>
              <a:t>Lectures, Labs, Assignments, Self-study, etc.)</a:t>
            </a:r>
          </a:p>
          <a:p>
            <a:pPr>
              <a:lnSpc>
                <a:spcPct val="150000"/>
              </a:lnSpc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814515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726DB-3370-94A0-A966-68EA3FB49B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1120" y="762000"/>
            <a:ext cx="3524080" cy="644619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MODULE AIMS</a:t>
            </a:r>
            <a:br>
              <a:rPr lang="en-US" dirty="0">
                <a:solidFill>
                  <a:srgbClr val="FF0000"/>
                </a:solidFill>
                <a:latin typeface="+mj-lt"/>
              </a:rPr>
            </a:b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CBB57-C682-DC72-CF28-BD75F0432F5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81000" y="1981200"/>
            <a:ext cx="11353800" cy="3470181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Prepare students for professional web development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Blend theoretical knowledge with practical implementation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Focus on interactive, database-backed, and maintainable web applications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05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7E5ED-4ED2-6864-9AE2-BA6BB8F8D2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457200"/>
            <a:ext cx="5562600" cy="6096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+mj-lt"/>
              </a:rPr>
              <a:t>KEY TECHNOLOGIES &amp; TOOLS</a:t>
            </a:r>
            <a:br>
              <a:rPr lang="en-US" sz="3600" dirty="0">
                <a:solidFill>
                  <a:srgbClr val="FF0000"/>
                </a:solidFill>
                <a:latin typeface="+mj-lt"/>
              </a:rPr>
            </a:br>
            <a:endParaRPr lang="en-US" sz="3600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DAF4E8-0ED0-D96D-CC2B-5B55396E4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1" y="1066800"/>
            <a:ext cx="10058400" cy="5813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95273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220E190-9BF9-BEA9-63EB-6CF4032771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729733"/>
            <a:ext cx="9251327" cy="612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65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00519" y="762000"/>
            <a:ext cx="5962481" cy="67710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	MODULE CONTENTS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495298" y="1752600"/>
            <a:ext cx="11544302" cy="4955203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+mn-lt"/>
              </a:rPr>
              <a:t>HTML, CSS, JavaScript, layout techniques, and other industry-standard practices. 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/>
              <a:t>S</a:t>
            </a:r>
            <a:r>
              <a:rPr lang="en-US" sz="2800" dirty="0">
                <a:latin typeface="+mn-lt"/>
              </a:rPr>
              <a:t>cripting technologies to create dynamic and interactive websites. 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+mn-lt"/>
              </a:rPr>
              <a:t>Back-end interactivity with front-end to build web applications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/>
              <a:t>Professional quality portfolio of web design work. </a:t>
            </a:r>
            <a:endParaRPr lang="en-US" sz="2800" dirty="0">
              <a:latin typeface="+mn-lt"/>
            </a:endParaRP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+mn-lt"/>
              </a:rPr>
              <a:t>build Dynamic websites utilizing the most current versions of industry-standard applications and tools</a:t>
            </a:r>
          </a:p>
          <a:p>
            <a:pPr algn="just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81036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1204233"/>
            <a:ext cx="9677400" cy="3597908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4000" dirty="0">
                <a:solidFill>
                  <a:srgbClr val="FF0000"/>
                </a:solidFill>
                <a:latin typeface="+mj-lt"/>
              </a:rPr>
              <a:t>CHAP 5: Build Dynamic Websites Utilizing The Most Current Versions Of Industry-standard Applications And Tools</a:t>
            </a:r>
            <a:br>
              <a:rPr lang="en-US" sz="4000" dirty="0"/>
            </a:br>
            <a:endParaRPr lang="en-US" sz="4000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46408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3CB31D-5C8C-8FF4-7DA2-79196F7101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914400"/>
            <a:ext cx="8763000" cy="584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68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DCE7096-B6E2-208B-B655-3F48A457BC4F}"/>
              </a:ext>
            </a:extLst>
          </p:cNvPr>
          <p:cNvSpPr txBox="1"/>
          <p:nvPr/>
        </p:nvSpPr>
        <p:spPr>
          <a:xfrm>
            <a:off x="685800" y="1143000"/>
            <a:ext cx="61722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3600" b="1" dirty="0">
                <a:latin typeface="Calibri-Bold"/>
              </a:rPr>
              <a:t>1. Introduction to  </a:t>
            </a:r>
            <a:r>
              <a:rPr lang="en-US" sz="3600" b="1" i="0" u="none" strike="noStrike" baseline="0" dirty="0">
                <a:latin typeface="Calibri-Bold"/>
              </a:rPr>
              <a:t>REACT JS </a:t>
            </a:r>
            <a:endParaRPr lang="en-US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8DB1F4-0722-7D63-E7D6-FD9B335D4833}"/>
              </a:ext>
            </a:extLst>
          </p:cNvPr>
          <p:cNvSpPr txBox="1"/>
          <p:nvPr/>
        </p:nvSpPr>
        <p:spPr>
          <a:xfrm>
            <a:off x="838200" y="2286000"/>
            <a:ext cx="4038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What is React.js?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56709FD9-8E68-CD6F-B7CF-30DCF279B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3124200"/>
            <a:ext cx="10668000" cy="142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React.js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library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developed by Facebook for building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UIs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focuses on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 layer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the MVC architecture.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 uses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component-based architecture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virtual DOM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efficient rendering.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5EE8E5-50D9-3522-A2A2-4259DC224A74}"/>
              </a:ext>
            </a:extLst>
          </p:cNvPr>
          <p:cNvSpPr txBox="1"/>
          <p:nvPr/>
        </p:nvSpPr>
        <p:spPr>
          <a:xfrm>
            <a:off x="7696200" y="793283"/>
            <a:ext cx="4419600" cy="206210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000" b="1" i="0" u="none" strike="noStrike" baseline="0" dirty="0">
                <a:latin typeface="Calibri-Bold"/>
              </a:rPr>
              <a:t>ReactJS: </a:t>
            </a:r>
            <a:r>
              <a:rPr lang="en-US" sz="1800" b="1" i="0" u="none" strike="noStrike" baseline="0" dirty="0">
                <a:latin typeface="Calibri-Bold"/>
              </a:rPr>
              <a:t>ReactJS </a:t>
            </a:r>
            <a:r>
              <a:rPr lang="en-US" sz="1800" b="0" i="0" u="none" strike="noStrike" baseline="0" dirty="0">
                <a:latin typeface="Calibri" panose="020F0502020204030204" pitchFamily="34" charset="0"/>
              </a:rPr>
              <a:t>is an open-source popular JavaScript library for building interactive </a:t>
            </a:r>
            <a:r>
              <a:rPr lang="en-US" sz="1800" b="1" i="0" u="none" strike="noStrike" baseline="0" dirty="0">
                <a:latin typeface="Calibri-Bold"/>
              </a:rPr>
              <a:t>User</a:t>
            </a:r>
          </a:p>
          <a:p>
            <a:pPr algn="l"/>
            <a:r>
              <a:rPr lang="en-US" sz="1800" b="1" i="0" u="none" strike="noStrike" baseline="0" dirty="0">
                <a:latin typeface="Calibri-Bold"/>
              </a:rPr>
              <a:t>Interface (UI)</a:t>
            </a:r>
            <a:r>
              <a:rPr lang="en-US" sz="1800" b="0" i="0" u="none" strike="noStrike" baseline="0" dirty="0">
                <a:latin typeface="Calibri" panose="020F0502020204030204" pitchFamily="34" charset="0"/>
              </a:rPr>
              <a:t>, especially single-page applications (SPAs). It focuses on creating reusable</a:t>
            </a:r>
          </a:p>
          <a:p>
            <a:pPr algn="l"/>
            <a:r>
              <a:rPr lang="en-US" sz="1800" b="0" i="0" u="none" strike="noStrike" baseline="0" dirty="0">
                <a:latin typeface="Calibri" panose="020F0502020204030204" pitchFamily="34" charset="0"/>
              </a:rPr>
              <a:t>components and uses a virtual DOM for optimized performance.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665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BAA37B3-CDD5-F7D4-6F32-5B48CF7C9388}"/>
              </a:ext>
            </a:extLst>
          </p:cNvPr>
          <p:cNvSpPr txBox="1"/>
          <p:nvPr/>
        </p:nvSpPr>
        <p:spPr>
          <a:xfrm>
            <a:off x="1905000" y="990600"/>
            <a:ext cx="8763000" cy="4199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i="0" u="none" strike="noStrike" baseline="0" dirty="0">
                <a:solidFill>
                  <a:srgbClr val="000000"/>
                </a:solidFill>
                <a:latin typeface="+mj-lt"/>
              </a:rPr>
              <a:t>Category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+mj-lt"/>
              </a:rPr>
              <a:t>: Library (often considered a framework)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i="0" u="none" strike="noStrike" baseline="0" dirty="0">
                <a:solidFill>
                  <a:srgbClr val="000000"/>
                </a:solidFill>
                <a:latin typeface="+mj-lt"/>
              </a:rPr>
              <a:t>Developed by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+mj-lt"/>
              </a:rPr>
              <a:t>: Facebook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i="0" u="none" strike="noStrike" baseline="0" dirty="0">
                <a:solidFill>
                  <a:srgbClr val="000000"/>
                </a:solidFill>
                <a:latin typeface="+mj-lt"/>
              </a:rPr>
              <a:t>Features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+mj-lt"/>
              </a:rPr>
              <a:t>:</a:t>
            </a:r>
          </a:p>
          <a:p>
            <a:pPr marL="685800" lvl="1" indent="-2286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+mj-lt"/>
              </a:rPr>
              <a:t>Component-based architecture</a:t>
            </a:r>
          </a:p>
          <a:p>
            <a:pPr marL="685800" lvl="1" indent="-2286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000" b="0" i="0" u="none" strike="noStrike" baseline="0" dirty="0">
                <a:solidFill>
                  <a:srgbClr val="000000"/>
                </a:solidFill>
                <a:latin typeface="+mj-lt"/>
              </a:rPr>
              <a:t>Supports JSX (JavaScript XML)</a:t>
            </a:r>
          </a:p>
          <a:p>
            <a:pPr marL="685800" lvl="1" indent="-2286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+mj-lt"/>
              </a:rPr>
              <a:t>Excellent performance with Virtual DOM</a:t>
            </a:r>
          </a:p>
          <a:p>
            <a:pPr marL="685800" lvl="1" indent="-2286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+mj-lt"/>
              </a:rPr>
              <a:t>Extensive ecosystem with tools like React Router, Redux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2000" b="1" i="0" u="none" strike="noStrike" baseline="0" dirty="0">
                <a:solidFill>
                  <a:srgbClr val="000000"/>
                </a:solidFill>
                <a:latin typeface="+mj-lt"/>
              </a:rPr>
              <a:t>Use Cases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+mj-lt"/>
              </a:rPr>
              <a:t>: Web applications, dynamic UIs, large-scale applications.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i="0" u="none" strike="noStrike" baseline="0" dirty="0">
                <a:solidFill>
                  <a:srgbClr val="000000"/>
                </a:solidFill>
                <a:latin typeface="+mj-lt"/>
              </a:rPr>
              <a:t>Official Site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+mj-lt"/>
              </a:rPr>
              <a:t>: </a:t>
            </a:r>
            <a:r>
              <a:rPr lang="en-US" sz="2000" b="0" i="0" u="none" strike="noStrike" baseline="0" dirty="0">
                <a:solidFill>
                  <a:srgbClr val="0000FF"/>
                </a:solidFill>
                <a:latin typeface="+mj-lt"/>
              </a:rPr>
              <a:t>reactjs.org</a:t>
            </a: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8282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ACA59CF-7B40-3F77-14EF-9EC88EEFD939}"/>
              </a:ext>
            </a:extLst>
          </p:cNvPr>
          <p:cNvSpPr txBox="1"/>
          <p:nvPr/>
        </p:nvSpPr>
        <p:spPr>
          <a:xfrm>
            <a:off x="1447800" y="1143000"/>
            <a:ext cx="9067800" cy="280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/>
              <a:t>Quick Checklist Before Running React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effectLst/>
              </a:rPr>
              <a:t>Installed </a:t>
            </a:r>
            <a:r>
              <a:rPr lang="en-US" sz="2400" b="1" dirty="0">
                <a:effectLst/>
              </a:rPr>
              <a:t>Node.js (v16+)</a:t>
            </a:r>
            <a:r>
              <a:rPr lang="en-US" sz="2400" dirty="0">
                <a:effectLst/>
              </a:rPr>
              <a:t> and </a:t>
            </a:r>
            <a:r>
              <a:rPr lang="en-US" sz="2400" b="1" dirty="0" err="1">
                <a:effectLst/>
              </a:rPr>
              <a:t>npm</a:t>
            </a:r>
            <a:r>
              <a:rPr lang="en-US" sz="2400" b="1" dirty="0">
                <a:effectLst/>
              </a:rPr>
              <a:t>/yarn</a:t>
            </a:r>
            <a:r>
              <a:rPr lang="en-US" sz="2400" dirty="0">
                <a:effectLst/>
              </a:rPr>
              <a:t>.</a:t>
            </a:r>
            <a:endParaRPr lang="en-US" sz="2400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effectLst/>
              </a:rPr>
              <a:t>Comfortable with </a:t>
            </a:r>
            <a:r>
              <a:rPr lang="en-US" sz="2400" b="1" dirty="0">
                <a:effectLst/>
              </a:rPr>
              <a:t>HTML, CSS, and JavaScript ES6</a:t>
            </a:r>
            <a:r>
              <a:rPr lang="en-US" sz="2400" dirty="0">
                <a:effectLst/>
              </a:rPr>
              <a:t>.</a:t>
            </a:r>
            <a:endParaRPr lang="en-US" sz="2400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effectLst/>
              </a:rPr>
              <a:t>Basic understanding of </a:t>
            </a:r>
            <a:r>
              <a:rPr lang="en-US" sz="2400" b="1" dirty="0">
                <a:effectLst/>
              </a:rPr>
              <a:t>JSX and components</a:t>
            </a:r>
            <a:r>
              <a:rPr lang="en-US" sz="2400" dirty="0">
                <a:effectLst/>
              </a:rPr>
              <a:t>.</a:t>
            </a:r>
            <a:endParaRPr lang="en-US" sz="2400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effectLst/>
              </a:rPr>
              <a:t>Ready to use </a:t>
            </a:r>
            <a:r>
              <a:rPr lang="en-US" sz="2400" b="1" dirty="0">
                <a:effectLst/>
              </a:rPr>
              <a:t>Create React App or Vite</a:t>
            </a:r>
            <a:r>
              <a:rPr lang="en-US" sz="2400" dirty="0">
                <a:effectLst/>
              </a:rPr>
              <a:t> for project setup.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06699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47768BC-7AFB-1D4F-EE78-4FEF473CFF81}"/>
              </a:ext>
            </a:extLst>
          </p:cNvPr>
          <p:cNvSpPr txBox="1"/>
          <p:nvPr/>
        </p:nvSpPr>
        <p:spPr>
          <a:xfrm>
            <a:off x="2286000" y="1143000"/>
            <a:ext cx="7924800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i="0" u="none" strike="noStrike" baseline="0" dirty="0">
                <a:latin typeface="Calibri-Bold"/>
              </a:rPr>
              <a:t>Installation of NodeJS and Node Package Manager (NPM)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3FF36B-7545-6EF7-9AC8-A00D58D8F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981200"/>
            <a:ext cx="7162800" cy="3471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533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AFEA5F-9660-0979-8299-797B13070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8641"/>
            <a:ext cx="8458200" cy="5621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851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BEB802-459D-9E3A-F0F2-36FDCA822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11106150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906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F34EDF-018E-15AD-FF50-8E6E0D886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34565"/>
            <a:ext cx="6781800" cy="555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670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4170FC-4AD7-295A-0311-43A72E9EA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066801"/>
            <a:ext cx="6858000" cy="36138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052E18-5F22-0C11-5E3E-8D7A5E1A1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4705350"/>
            <a:ext cx="1438275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17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27F5C9-8F3A-7BBA-49B4-5D9A00E89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33779"/>
            <a:ext cx="6739199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903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84DCA0-6AC1-3E9E-B47A-CFE0F5AE4D73}"/>
              </a:ext>
            </a:extLst>
          </p:cNvPr>
          <p:cNvSpPr txBox="1"/>
          <p:nvPr/>
        </p:nvSpPr>
        <p:spPr>
          <a:xfrm>
            <a:off x="3962400" y="914400"/>
            <a:ext cx="7696200" cy="44012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highlight>
                  <a:srgbClr val="FFFF00"/>
                </a:highlight>
              </a:rPr>
              <a:t>A very simple example:</a:t>
            </a:r>
          </a:p>
          <a:p>
            <a:pPr>
              <a:buNone/>
            </a:pPr>
            <a:endParaRPr lang="en-US" sz="2000" b="1" dirty="0"/>
          </a:p>
          <a:p>
            <a:pPr>
              <a:buFont typeface="+mj-lt"/>
              <a:buAutoNum type="arabicPeriod"/>
            </a:pPr>
            <a:r>
              <a:rPr lang="en-US" sz="2000" dirty="0"/>
              <a:t>Open </a:t>
            </a:r>
            <a:r>
              <a:rPr lang="en-US" sz="2000" b="1" dirty="0"/>
              <a:t>Command Prompt (cmd.exe)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Go to the folder where you want to create the React project:</a:t>
            </a:r>
          </a:p>
          <a:p>
            <a:pPr rtl="0">
              <a:buNone/>
            </a:pP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</a:rPr>
              <a:t>	cd C:\Users\USER\Desktop\myreact</a:t>
            </a:r>
          </a:p>
          <a:p>
            <a:pPr>
              <a:buFont typeface="+mj-lt"/>
              <a:buAutoNum type="arabicPeriod" startAt="3"/>
            </a:pPr>
            <a:r>
              <a:rPr lang="en-US" sz="2000" dirty="0"/>
              <a:t>Create the project:</a:t>
            </a:r>
          </a:p>
          <a:p>
            <a:pPr rtl="0">
              <a:buNone/>
            </a:pP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</a:rPr>
              <a:t>	</a:t>
            </a:r>
            <a:r>
              <a:rPr lang="en-US" sz="2000" dirty="0" err="1">
                <a:solidFill>
                  <a:srgbClr val="FF0000"/>
                </a:solidFill>
                <a:latin typeface="Courier New" panose="02070309020205020404" pitchFamily="49" charset="0"/>
              </a:rPr>
              <a:t>npx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</a:rPr>
              <a:t> create-react-app </a:t>
            </a:r>
            <a:r>
              <a:rPr lang="en-US" sz="2000" dirty="0" err="1">
                <a:solidFill>
                  <a:srgbClr val="FF0000"/>
                </a:solidFill>
                <a:latin typeface="Courier New" panose="02070309020205020404" pitchFamily="49" charset="0"/>
              </a:rPr>
              <a:t>mysite</a:t>
            </a:r>
            <a:endParaRPr lang="en-US" sz="200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000" dirty="0"/>
              <a:t>This will create a folder named </a:t>
            </a:r>
            <a:r>
              <a:rPr lang="en-US" sz="2000" dirty="0" err="1">
                <a:latin typeface="Courier New" panose="02070309020205020404" pitchFamily="49" charset="0"/>
              </a:rPr>
              <a:t>mysite</a:t>
            </a:r>
            <a:r>
              <a:rPr lang="en-US" sz="2000" dirty="0"/>
              <a:t> inside 	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</a:rPr>
              <a:t>C:\Users\USER\Desktop\myreact</a:t>
            </a:r>
            <a:r>
              <a:rPr lang="en-US" sz="2000" dirty="0">
                <a:solidFill>
                  <a:srgbClr val="FF0000"/>
                </a:solidFill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000" dirty="0"/>
              <a:t>You will </a:t>
            </a:r>
            <a:r>
              <a:rPr lang="en-US" sz="2000" b="1" dirty="0"/>
              <a:t>not encounter any PowerShell script errors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 startAt="4"/>
            </a:pPr>
            <a:r>
              <a:rPr lang="en-US" sz="2000" dirty="0"/>
              <a:t>Enter the project folder and start the development server:</a:t>
            </a:r>
          </a:p>
          <a:p>
            <a:pPr lvl="2"/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</a:rPr>
              <a:t>cd </a:t>
            </a:r>
            <a:r>
              <a:rPr lang="en-US" sz="2000" dirty="0" err="1">
                <a:solidFill>
                  <a:srgbClr val="FF0000"/>
                </a:solidFill>
                <a:latin typeface="Courier New" panose="02070309020205020404" pitchFamily="49" charset="0"/>
              </a:rPr>
              <a:t>mysite</a:t>
            </a:r>
            <a:b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sz="2000" dirty="0" err="1">
                <a:solidFill>
                  <a:srgbClr val="FF0000"/>
                </a:solidFill>
                <a:latin typeface="Courier New" panose="02070309020205020404" pitchFamily="49" charset="0"/>
              </a:rPr>
              <a:t>npm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</a:rPr>
              <a:t> start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000" dirty="0"/>
              <a:t>Your browser will open at </a:t>
            </a:r>
            <a:r>
              <a:rPr lang="en-US" sz="2000" b="1" dirty="0">
                <a:hlinkClick r:id="rId3"/>
              </a:rPr>
              <a:t>http://localhost:3000</a:t>
            </a:r>
            <a:r>
              <a:rPr lang="en-US" sz="2000"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17028B-5C65-50D3-F707-E47B163D0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1371600"/>
            <a:ext cx="3657600" cy="122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8073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6A5A3C3-3083-55F0-5FD9-228422DAA6C9}"/>
              </a:ext>
            </a:extLst>
          </p:cNvPr>
          <p:cNvSpPr txBox="1"/>
          <p:nvPr/>
        </p:nvSpPr>
        <p:spPr>
          <a:xfrm>
            <a:off x="1066800" y="1066800"/>
            <a:ext cx="7239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urier New" panose="02070309020205020404" pitchFamily="49" charset="0"/>
              </a:rPr>
              <a:t>Notes: </a:t>
            </a:r>
          </a:p>
          <a:p>
            <a:endParaRPr lang="en-US" sz="32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en-US" sz="3200" dirty="0" err="1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npx</a:t>
            </a:r>
            <a:r>
              <a:rPr lang="en-US" sz="3200" dirty="0"/>
              <a:t> stands for </a:t>
            </a:r>
            <a:r>
              <a:rPr lang="en-US" sz="3200" b="1" dirty="0"/>
              <a:t>Node Package Execute</a:t>
            </a:r>
            <a:r>
              <a:rPr lang="en-US" sz="3200" dirty="0"/>
              <a:t>.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9F03AAC-45B4-444E-6863-E16B9CE19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4295" y="3124200"/>
            <a:ext cx="10591800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package runner tool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comes bundled with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npm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(Node Package Manager)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starting from version 5.2.0 and above.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Its job is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execute Node.js packages directly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without needing to install them globally.</a:t>
            </a:r>
          </a:p>
        </p:txBody>
      </p:sp>
    </p:spTree>
    <p:extLst>
      <p:ext uri="{BB962C8B-B14F-4D97-AF65-F5344CB8AC3E}">
        <p14:creationId xmlns:p14="http://schemas.microsoft.com/office/powerpoint/2010/main" val="2718341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3CEBA2-117A-335F-6A1B-42E3F7CB3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5334000" cy="6862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039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4FC000-1D28-97B1-AAFA-CD6B2E8A1113}"/>
              </a:ext>
            </a:extLst>
          </p:cNvPr>
          <p:cNvSpPr txBox="1"/>
          <p:nvPr/>
        </p:nvSpPr>
        <p:spPr>
          <a:xfrm>
            <a:off x="2971800" y="1371600"/>
            <a:ext cx="82296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u="none" strike="noStrike" baseline="0" dirty="0">
                <a:latin typeface="Calibri-Bold"/>
              </a:rPr>
              <a:t>Here’s what each folder/file represents:</a:t>
            </a:r>
          </a:p>
          <a:p>
            <a:pPr algn="l"/>
            <a:endParaRPr lang="en-US" sz="2000" b="1" i="0" u="none" strike="noStrike" baseline="0" dirty="0">
              <a:latin typeface="Calibri-Bold"/>
            </a:endParaRPr>
          </a:p>
          <a:p>
            <a:pPr algn="l"/>
            <a:r>
              <a:rPr lang="en-US" sz="1800" b="1" i="0" u="none" strike="noStrike" baseline="0" dirty="0">
                <a:latin typeface="Calibri-Bold"/>
              </a:rPr>
              <a:t>1. </a:t>
            </a:r>
            <a:r>
              <a:rPr lang="en-US" sz="1800" b="1" i="0" u="none" strike="noStrike" baseline="0" dirty="0" err="1">
                <a:latin typeface="Calibri-Bold"/>
              </a:rPr>
              <a:t>node_modules</a:t>
            </a:r>
            <a:r>
              <a:rPr lang="en-US" sz="1800" b="1" i="0" u="none" strike="noStrike" baseline="0" dirty="0">
                <a:latin typeface="Calibri-Bold"/>
              </a:rPr>
              <a:t>/</a:t>
            </a:r>
          </a:p>
          <a:p>
            <a:pPr algn="l"/>
            <a:r>
              <a:rPr lang="en-US" sz="1800" b="0" i="0" u="none" strike="noStrike" baseline="0" dirty="0">
                <a:latin typeface="Calibri" panose="020F0502020204030204" pitchFamily="34" charset="0"/>
              </a:rPr>
              <a:t>Contains all the project dependencies installed via </a:t>
            </a:r>
            <a:r>
              <a:rPr lang="en-US" sz="1800" b="0" i="0" u="none" strike="noStrike" baseline="0" dirty="0" err="1">
                <a:latin typeface="Calibri" panose="020F0502020204030204" pitchFamily="34" charset="0"/>
              </a:rPr>
              <a:t>npm</a:t>
            </a:r>
            <a:r>
              <a:rPr lang="en-US" sz="1800" b="0" i="0" u="none" strike="noStrike" baseline="0" dirty="0">
                <a:latin typeface="Calibri" panose="020F0502020204030204" pitchFamily="34" charset="0"/>
              </a:rPr>
              <a:t> or yarn.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402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695175-1E7F-6C78-511A-9A2E5E970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52399"/>
            <a:ext cx="6172200" cy="6662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3987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3CB077A-B0FF-1A03-BC37-7B60E2981366}"/>
              </a:ext>
            </a:extLst>
          </p:cNvPr>
          <p:cNvSpPr txBox="1"/>
          <p:nvPr/>
        </p:nvSpPr>
        <p:spPr>
          <a:xfrm>
            <a:off x="838200" y="1066800"/>
            <a:ext cx="5791200" cy="584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latin typeface="Calibri-Bold"/>
              </a:rPr>
              <a:t>2. Definition of key concepts</a:t>
            </a:r>
            <a:endParaRPr lang="en-US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BC9660-AB0B-B15C-EBC6-7B4E608B8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883975"/>
            <a:ext cx="7899544" cy="390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0712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0DE5F0-5701-611C-20A8-F31A6FBD1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53610"/>
            <a:ext cx="10668000" cy="600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538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F3658C-6AEA-2A43-63FC-D20FD31C2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1219200"/>
            <a:ext cx="10687050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251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64655E-86FA-B03D-1190-DB3F8A9DC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2214"/>
            <a:ext cx="4572000" cy="20383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4ABB64-D9C4-D6CF-B05B-8631EFD7F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1142214"/>
            <a:ext cx="6833066" cy="32440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329417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E09089-F8DB-FD2D-DB96-DB0E43FD1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981200"/>
            <a:ext cx="4791075" cy="30956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177FCB-B451-6167-6ABD-78947C2DC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533400"/>
            <a:ext cx="6353175" cy="50863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ABB0B1-AF01-6B21-5FD7-8C42E524F5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25" y="914400"/>
            <a:ext cx="3505200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3406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4BE2C6-23F0-78A4-61B4-9DE0622D5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52400"/>
            <a:ext cx="7941404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6779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039222-39F2-C0E2-3508-D2D54FEE6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52400"/>
            <a:ext cx="10134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1683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B362B9-05C3-10C3-8586-C7649046F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00200"/>
            <a:ext cx="10753725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8490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D0CAEA-CC16-DC33-DE52-13E514F92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712183"/>
            <a:ext cx="7677150" cy="4850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0456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A90720-9467-A37B-D7C8-FACDA572F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05" y="1035376"/>
            <a:ext cx="4160848" cy="20126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9DA288-156A-463A-AB36-548056EE6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685799"/>
            <a:ext cx="5181600" cy="44700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47781F-9269-C84D-B247-9575456F29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685800"/>
            <a:ext cx="193762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5462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BE526D-63B4-D28E-14C5-C4505A9DD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05000"/>
            <a:ext cx="10696575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4547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DD402A-8674-A508-E8FF-569FB7F36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1" y="20256"/>
            <a:ext cx="8534400" cy="5618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5362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A3461A-276D-317A-091B-11B3C2882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76200"/>
            <a:ext cx="9296400" cy="5370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3057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E190FF-1651-B1CD-E54A-791976EBC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0637"/>
            <a:ext cx="9296400" cy="563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5178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615B15-AF7D-2AB1-5217-FC00C7D2E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685800"/>
            <a:ext cx="9801225" cy="494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0057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4B0459-AE2E-578A-3062-5D56A439203D}"/>
              </a:ext>
            </a:extLst>
          </p:cNvPr>
          <p:cNvSpPr txBox="1"/>
          <p:nvPr/>
        </p:nvSpPr>
        <p:spPr>
          <a:xfrm>
            <a:off x="2057400" y="1447800"/>
            <a:ext cx="6094428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solidFill>
                  <a:srgbClr val="000000"/>
                </a:solidFill>
                <a:latin typeface="Calibri-Bold"/>
              </a:rPr>
              <a:t>Rendering a component </a:t>
            </a:r>
          </a:p>
          <a:p>
            <a:endParaRPr lang="en-US" b="1" dirty="0">
              <a:solidFill>
                <a:srgbClr val="000000"/>
              </a:solidFill>
              <a:latin typeface="Calibri-Bold"/>
            </a:endParaRP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Create a Function component called </a:t>
            </a:r>
            <a:r>
              <a:rPr lang="en-US" sz="1800" b="0" i="0" u="none" strike="noStrike" baseline="0" dirty="0">
                <a:solidFill>
                  <a:srgbClr val="DD143C"/>
                </a:solidFill>
                <a:latin typeface="Calibri" panose="020F0502020204030204" pitchFamily="34" charset="0"/>
              </a:rPr>
              <a:t>Message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C4F994-2FD3-EBB5-F882-A77B0D471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752190"/>
            <a:ext cx="3905250" cy="3038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DCBCB8-FF0A-A267-5AF7-DB4B5C624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1028700"/>
            <a:ext cx="485775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2158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095FC-A57E-3E8F-0D2F-47B715A91F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1066800"/>
            <a:ext cx="11734800" cy="457200"/>
          </a:xfrm>
        </p:spPr>
        <p:txBody>
          <a:bodyPr/>
          <a:lstStyle/>
          <a:p>
            <a:r>
              <a:rPr lang="en-US" sz="2400" dirty="0">
                <a:solidFill>
                  <a:srgbClr val="FF0000"/>
                </a:solidFill>
                <a:latin typeface="+mj-lt"/>
              </a:rPr>
              <a:t>Examples: let us design this simple interface using function-based components in react js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27F352-FB8D-D313-E5A4-AE3609EE9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099" y="1847980"/>
            <a:ext cx="10096501" cy="493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189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FCDF6DE-2890-D5C2-73E9-EDDF4A7FD9A9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447800" y="1676400"/>
            <a:ext cx="9906000" cy="3266728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+mj-lt"/>
              </a:rPr>
              <a:t>Notes: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+mj-lt"/>
              </a:rPr>
              <a:t>Our simple website consists of three main components: Header, Footer, and Content.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+mj-lt"/>
              </a:rPr>
              <a:t>To keep the structure simple and organized, you should create three separate JavaScript files (functions) for these components, as demonstrated in the </a:t>
            </a:r>
            <a:r>
              <a:rPr lang="en-US" sz="2400" dirty="0" err="1">
                <a:latin typeface="+mj-lt"/>
              </a:rPr>
              <a:t>src</a:t>
            </a:r>
            <a:r>
              <a:rPr lang="en-US" sz="2400" dirty="0">
                <a:latin typeface="+mj-lt"/>
              </a:rPr>
              <a:t> folder as shown below:</a:t>
            </a:r>
          </a:p>
        </p:txBody>
      </p:sp>
    </p:spTree>
    <p:extLst>
      <p:ext uri="{BB962C8B-B14F-4D97-AF65-F5344CB8AC3E}">
        <p14:creationId xmlns:p14="http://schemas.microsoft.com/office/powerpoint/2010/main" val="14843187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1731FB-5225-F737-DEC5-742DC864A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76200"/>
            <a:ext cx="2633133" cy="6770915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EC8D0FB0-FF7E-BE2C-EC69-4CA7B450ABA8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28600" y="1066800"/>
            <a:ext cx="4038600" cy="223452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</a:rPr>
              <a:t>This diagram illustrates how the project files are organized in a folder using VS Code as the text editor. </a:t>
            </a:r>
            <a:r>
              <a:rPr lang="en-US" sz="2800" b="1" dirty="0">
                <a:solidFill>
                  <a:srgbClr val="FF0000"/>
                </a:solidFill>
              </a:rPr>
              <a:t>&gt;&gt;&gt;&gt;&gt;&gt;&gt;&gt;&gt;&gt;</a:t>
            </a:r>
            <a:endParaRPr lang="en-US" sz="2800" b="1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467607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74117D-345E-1A52-537F-76E95BAD7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318" y="762000"/>
            <a:ext cx="7508082" cy="58560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5B2F9669-31CC-E0C5-F772-35C9CA228318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28600" y="1066800"/>
            <a:ext cx="4038600" cy="65441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rgbClr val="FF0000"/>
                </a:solidFill>
              </a:rPr>
              <a:t>heaher.js </a:t>
            </a:r>
            <a:r>
              <a:rPr lang="en-US" sz="3200" b="1" dirty="0">
                <a:solidFill>
                  <a:srgbClr val="FF0000"/>
                </a:solidFill>
              </a:rPr>
              <a:t>&gt;&gt;&gt;&gt;&gt;&gt;&gt;&gt;&gt;&gt;</a:t>
            </a:r>
            <a:endParaRPr lang="en-US" sz="3200" b="1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20431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49DD07F-DC82-5B5B-179B-A468623C9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952500"/>
            <a:ext cx="7010400" cy="53767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8BE85728-78C6-50E2-53A0-2CF039EE288A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28600" y="1066800"/>
            <a:ext cx="4038600" cy="65441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rgbClr val="FF0000"/>
                </a:solidFill>
              </a:rPr>
              <a:t>footer.js </a:t>
            </a:r>
            <a:r>
              <a:rPr lang="en-US" sz="3200" b="1" dirty="0">
                <a:solidFill>
                  <a:srgbClr val="FF0000"/>
                </a:solidFill>
              </a:rPr>
              <a:t>&gt;&gt;&gt;&gt;&gt;&gt;&gt;&gt;&gt;&gt;</a:t>
            </a:r>
            <a:endParaRPr lang="en-US" sz="3200" b="1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352989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EBE87A-9B29-73B7-7B72-31C9530B8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1742" y="-7620"/>
            <a:ext cx="5576658" cy="685800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A3CFFA82-888D-E497-20AB-3932504E933E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28600" y="1066800"/>
            <a:ext cx="4038600" cy="65441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rgbClr val="FF0000"/>
                </a:solidFill>
              </a:rPr>
              <a:t>content.js </a:t>
            </a:r>
            <a:r>
              <a:rPr lang="en-US" sz="3200" b="1" dirty="0">
                <a:solidFill>
                  <a:srgbClr val="FF0000"/>
                </a:solidFill>
              </a:rPr>
              <a:t>&gt;&gt;&gt;&gt;&gt;&gt;&gt;&gt;&gt;&gt;</a:t>
            </a:r>
            <a:endParaRPr lang="en-US" sz="3200" b="1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498682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A22D47C-D82D-CA7D-AE74-79BED9268E6C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219200" y="2057400"/>
            <a:ext cx="10363200" cy="2577629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/>
              <a:t>Note:</a:t>
            </a:r>
          </a:p>
          <a:p>
            <a:endParaRPr lang="en-US" b="1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CSS styles should be applied in the   </a:t>
            </a:r>
            <a:r>
              <a:rPr lang="en-US" dirty="0">
                <a:solidFill>
                  <a:srgbClr val="FF0000"/>
                </a:solidFill>
              </a:rPr>
              <a:t>&gt;&gt;&gt;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index.css </a:t>
            </a:r>
            <a:r>
              <a:rPr lang="en-US" dirty="0"/>
              <a:t>file to control the appearance of the website as shown below:</a:t>
            </a:r>
          </a:p>
        </p:txBody>
      </p:sp>
    </p:spTree>
    <p:extLst>
      <p:ext uri="{BB962C8B-B14F-4D97-AF65-F5344CB8AC3E}">
        <p14:creationId xmlns:p14="http://schemas.microsoft.com/office/powerpoint/2010/main" val="25204460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B2D61F-9214-0579-B40C-5C24D3EC1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0"/>
            <a:ext cx="6259286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B3CC12-D0E9-4AE8-6068-484B39D3D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736" y="0"/>
            <a:ext cx="5726017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96352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081BB6-0890-4DA4-D5E6-69F70775D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"/>
            <a:ext cx="6581775" cy="62960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2B6B31-523C-2E09-3046-DA9842C24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225" y="152400"/>
            <a:ext cx="5362575" cy="56483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718335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51D9E9-6E1A-31C9-D1BA-14B2FC922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850" y="0"/>
            <a:ext cx="9124950" cy="6197883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BB8F6125-A0CB-8033-602A-531445FAA92F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76200" y="1066801"/>
            <a:ext cx="2667000" cy="30480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rgbClr val="FF0000"/>
                </a:solidFill>
                <a:latin typeface="+mj-lt"/>
              </a:rPr>
              <a:t>All created components are imported and rendered in index.js, which then passes them to index.html for display on the user interface.  &gt;&gt;&gt;&gt;&gt;&gt;&gt;&gt;&gt;&gt;&gt;&gt;&gt;</a:t>
            </a:r>
            <a:endParaRPr lang="en-US" sz="1800" b="1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548031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A75E224C-05E7-E72E-1D7A-1F3C9AC21ED5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85800" y="1066800"/>
            <a:ext cx="11049000" cy="3276599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FF0000"/>
                </a:solidFill>
                <a:highlight>
                  <a:srgbClr val="FFFF00"/>
                </a:highlight>
              </a:rPr>
              <a:t>In React, component function names should start with a capital letter. This helps React distinguish between HTML tags and custom components.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Remember to run your React project folder using Command Prompt (CMD), as shown below: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EE6718-16AC-86FD-AD8B-D652022EA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70" y="4800600"/>
            <a:ext cx="11346877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6676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1F8A2EF-F0E5-0BF3-C7CA-1935DE929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838200"/>
            <a:ext cx="8392281" cy="53351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9099EBD6-B6D3-AD6A-AD3A-8E83A0467D3C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76200" y="1066801"/>
            <a:ext cx="2895600" cy="3178947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Task1: Let’s build this interface using React functional components. Focus on creating three main parts: a Header, a Content section, and a Footer. </a:t>
            </a:r>
            <a:r>
              <a:rPr 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</a:rPr>
              <a:t>&gt;&gt;&gt;&gt;&gt;&gt;&gt;&gt;&gt;&gt;&gt;&gt;&gt;</a:t>
            </a:r>
          </a:p>
        </p:txBody>
      </p:sp>
    </p:spTree>
    <p:extLst>
      <p:ext uri="{BB962C8B-B14F-4D97-AF65-F5344CB8AC3E}">
        <p14:creationId xmlns:p14="http://schemas.microsoft.com/office/powerpoint/2010/main" val="30604655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E8C1EC70-33DE-CF93-2A04-D120A7731EA7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124200" y="2512758"/>
            <a:ext cx="6096000" cy="92333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END OF  CHAP 5</a:t>
            </a:r>
          </a:p>
        </p:txBody>
      </p:sp>
    </p:spTree>
    <p:extLst>
      <p:ext uri="{BB962C8B-B14F-4D97-AF65-F5344CB8AC3E}">
        <p14:creationId xmlns:p14="http://schemas.microsoft.com/office/powerpoint/2010/main" val="1267677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7268</TotalTime>
  <Words>855</Words>
  <Application>Microsoft Office PowerPoint</Application>
  <PresentationFormat>Widescreen</PresentationFormat>
  <Paragraphs>102</Paragraphs>
  <Slides>52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0" baseType="lpstr">
      <vt:lpstr>MS PGothic</vt:lpstr>
      <vt:lpstr>Arial</vt:lpstr>
      <vt:lpstr>Calibri</vt:lpstr>
      <vt:lpstr>Calibri-Bold</vt:lpstr>
      <vt:lpstr>Courier New</vt:lpstr>
      <vt:lpstr>Times New Roman</vt:lpstr>
      <vt:lpstr>Wingdings</vt:lpstr>
      <vt:lpstr>Office Theme</vt:lpstr>
      <vt:lpstr>CIT83104: ADVANCED WEB DESIGN AND DEVELOPMENT</vt:lpstr>
      <vt:lpstr>CLASS INSTRUCTIONS </vt:lpstr>
      <vt:lpstr>MODULE OVERVIEW </vt:lpstr>
      <vt:lpstr>MODULE AIMS </vt:lpstr>
      <vt:lpstr>KEY TECHNOLOGIES &amp; TOOLS </vt:lpstr>
      <vt:lpstr>PowerPoint Presentation</vt:lpstr>
      <vt:lpstr> MODULE CONTENTS </vt:lpstr>
      <vt:lpstr>CHAP 5: Build Dynamic Websites Utilizing The Most Current Versions Of Industry-standard Applications And Tools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Examples: let us design this simple interface using function-based components in react js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Prince</dc:creator>
  <cp:lastModifiedBy>USER</cp:lastModifiedBy>
  <cp:revision>1139</cp:revision>
  <dcterms:created xsi:type="dcterms:W3CDTF">2021-07-23T10:02:56Z</dcterms:created>
  <dcterms:modified xsi:type="dcterms:W3CDTF">2026-03-18T14:24:52Z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2021-07-13T00:00:00Z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2021-07-23T00:00:00Z</vt:filetime>
  </property>
</Properties>
</file>