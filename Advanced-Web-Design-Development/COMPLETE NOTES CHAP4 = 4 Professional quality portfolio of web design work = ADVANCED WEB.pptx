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316" r:id="rId3"/>
    <p:sldId id="345" r:id="rId4"/>
    <p:sldId id="346" r:id="rId5"/>
    <p:sldId id="347" r:id="rId6"/>
    <p:sldId id="389" r:id="rId7"/>
    <p:sldId id="315" r:id="rId8"/>
    <p:sldId id="309" r:id="rId9"/>
    <p:sldId id="431" r:id="rId10"/>
    <p:sldId id="428" r:id="rId11"/>
    <p:sldId id="429" r:id="rId12"/>
    <p:sldId id="430" r:id="rId13"/>
    <p:sldId id="433" r:id="rId14"/>
    <p:sldId id="434" r:id="rId15"/>
    <p:sldId id="438" r:id="rId16"/>
    <p:sldId id="441" r:id="rId17"/>
    <p:sldId id="442" r:id="rId18"/>
    <p:sldId id="443" r:id="rId19"/>
    <p:sldId id="444" r:id="rId20"/>
    <p:sldId id="445" r:id="rId21"/>
    <p:sldId id="446" r:id="rId22"/>
    <p:sldId id="447" r:id="rId23"/>
    <p:sldId id="448" r:id="rId24"/>
    <p:sldId id="449" r:id="rId25"/>
    <p:sldId id="450" r:id="rId26"/>
    <p:sldId id="451" r:id="rId27"/>
    <p:sldId id="440" r:id="rId28"/>
    <p:sldId id="421" r:id="rId29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2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28"/>
    <p:restoredTop sz="93842" autoAdjust="0"/>
  </p:normalViewPr>
  <p:slideViewPr>
    <p:cSldViewPr>
      <p:cViewPr varScale="1">
        <p:scale>
          <a:sx n="60" d="100"/>
          <a:sy n="60" d="100"/>
        </p:scale>
        <p:origin x="864" y="44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FD590B5-3698-1313-01B0-FF7A8D0451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2B5BB-5A60-4BB3-B3B0-82E1BD61AC6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4E043A-575B-404A-AF16-E1B002A1C5C6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6F3466-3914-7997-DD11-2F3AEF0E71F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257574-561C-94BC-827B-A093E6A2D88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DBD18B-D895-40D2-8E13-F8A1C5375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6634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93460-4FE2-4BFA-B61E-E766871C41D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AC896-9C5D-41ED-9FA9-751D871D5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97614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6AC896-9C5D-41ED-9FA9-751D871D5EB2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A0B3E-8783-6BDF-8EF3-8694781D68E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52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38840" y="1049274"/>
            <a:ext cx="5714321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5155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5155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5155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1999" cy="68579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" y="0"/>
            <a:ext cx="12191999" cy="68579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53993" y="2483307"/>
            <a:ext cx="3684015" cy="788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985" y="2157441"/>
            <a:ext cx="11260667" cy="5155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228600" y="-76200"/>
            <a:ext cx="12420600" cy="68579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1000" y="239086"/>
            <a:ext cx="11353800" cy="56618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3200" b="1" dirty="0">
                <a:solidFill>
                  <a:schemeClr val="tx1"/>
                </a:solidFill>
              </a:rPr>
              <a:t>CIT83104: </a:t>
            </a:r>
            <a:r>
              <a:rPr 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ADVANCED WEB DESIGN AND </a:t>
            </a:r>
            <a:r>
              <a:rPr lang="en-US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DEVELOPMENT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19400" y="1219200"/>
            <a:ext cx="6807326" cy="158992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5"/>
              </a:spcBef>
              <a:tabLst>
                <a:tab pos="3187700" algn="l"/>
              </a:tabLst>
            </a:pPr>
            <a:r>
              <a:rPr lang="en-US" sz="4000" dirty="0">
                <a:ln w="0">
                  <a:solidFill>
                    <a:schemeClr val="tx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cs typeface="Times New Roman"/>
              </a:rPr>
              <a:t>By:</a:t>
            </a:r>
            <a:endParaRPr sz="5800" dirty="0">
              <a:ln w="0">
                <a:solidFill>
                  <a:schemeClr val="tx1"/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/>
              <a:cs typeface="Times New Roman"/>
            </a:endParaRPr>
          </a:p>
          <a:p>
            <a:pPr marL="307340" algn="ctr">
              <a:lnSpc>
                <a:spcPct val="150000"/>
              </a:lnSpc>
            </a:pPr>
            <a:r>
              <a:rPr lang="en-US" altLang="x-none" sz="3200" dirty="0">
                <a:ln w="0">
                  <a:solidFill>
                    <a:schemeClr val="tx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Mr. MANIRARORA Jean Marie Vianney</a:t>
            </a:r>
            <a:endParaRPr sz="3000" dirty="0">
              <a:ln w="0">
                <a:solidFill>
                  <a:schemeClr val="tx1"/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PGothic"/>
              <a:cs typeface="MS P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9200" y="6323444"/>
            <a:ext cx="10287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chemeClr val="bg1"/>
                </a:solidFill>
                <a:cs typeface="Calibri"/>
              </a:rPr>
              <a:t>Course</a:t>
            </a:r>
            <a:r>
              <a:rPr sz="2400" spc="240" dirty="0">
                <a:solidFill>
                  <a:schemeClr val="bg1"/>
                </a:solidFill>
                <a:cs typeface="Calibri"/>
              </a:rPr>
              <a:t> </a:t>
            </a:r>
            <a:r>
              <a:rPr sz="2400" spc="-5" dirty="0">
                <a:solidFill>
                  <a:schemeClr val="bg1"/>
                </a:solidFill>
                <a:cs typeface="Calibri"/>
              </a:rPr>
              <a:t>Code</a:t>
            </a:r>
            <a:r>
              <a:rPr lang="en-US" sz="2400" spc="-5" dirty="0">
                <a:solidFill>
                  <a:schemeClr val="bg1"/>
                </a:solidFill>
                <a:cs typeface="Calibri"/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CIT83104  </a:t>
            </a:r>
            <a:r>
              <a:rPr sz="2400" dirty="0">
                <a:solidFill>
                  <a:schemeClr val="bg1"/>
                </a:solidFill>
                <a:cs typeface="Calibri"/>
              </a:rPr>
              <a:t>&amp;</a:t>
            </a:r>
            <a:r>
              <a:rPr sz="2400" spc="-25" dirty="0">
                <a:solidFill>
                  <a:schemeClr val="bg1"/>
                </a:solidFill>
                <a:cs typeface="Calibri"/>
              </a:rPr>
              <a:t> </a:t>
            </a:r>
            <a:r>
              <a:rPr sz="2400" dirty="0">
                <a:solidFill>
                  <a:schemeClr val="bg1"/>
                </a:solidFill>
                <a:cs typeface="Calibri"/>
              </a:rPr>
              <a:t>Name</a:t>
            </a:r>
            <a:r>
              <a:rPr lang="en-US" sz="2400" dirty="0">
                <a:solidFill>
                  <a:schemeClr val="bg1"/>
                </a:solidFill>
                <a:cs typeface="Calibri"/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ADVANCED WEB DESIGN AND DEVELOPMENT</a:t>
            </a:r>
            <a:endParaRPr sz="2400" dirty="0">
              <a:solidFill>
                <a:schemeClr val="bg1"/>
              </a:solidFill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28681" y="6426504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91000" y="412898"/>
            <a:ext cx="5143160" cy="67710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  <a:sym typeface="Times New Roman"/>
              </a:rPr>
              <a:t>CLASS INSTRUCTIONS 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1676400" y="1295400"/>
            <a:ext cx="9829800" cy="51816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+mn-lt"/>
              </a:rPr>
              <a:t>Please keep your phones aside during class sessions.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+mn-lt"/>
              </a:rPr>
              <a:t>100% attendance is required for all classes.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+mn-lt"/>
              </a:rPr>
              <a:t>Students are expected to practice effective time management.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+mn-lt"/>
              </a:rPr>
              <a:t>Participation in all academic activities is mandatory, including:</a:t>
            </a:r>
          </a:p>
          <a:p>
            <a:pPr marL="1714500" lvl="3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Quizzes</a:t>
            </a:r>
          </a:p>
          <a:p>
            <a:pPr marL="1714500" lvl="3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In-class activities</a:t>
            </a:r>
          </a:p>
          <a:p>
            <a:pPr marL="1714500" lvl="3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Individual assignments</a:t>
            </a:r>
          </a:p>
          <a:p>
            <a:pPr marL="1714500" lvl="3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Group assignments</a:t>
            </a:r>
          </a:p>
          <a:p>
            <a:pPr marL="1714500" lvl="3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Presentations</a:t>
            </a:r>
          </a:p>
          <a:p>
            <a:pPr lvl="1" algn="just">
              <a:lnSpc>
                <a:spcPct val="150000"/>
              </a:lnSpc>
            </a:pPr>
            <a:r>
              <a:rPr lang="en-US" sz="2400" b="1" dirty="0">
                <a:latin typeface="+mn-lt"/>
              </a:rPr>
              <a:t>Note: </a:t>
            </a:r>
            <a:r>
              <a:rPr lang="en-US" sz="2400" dirty="0">
                <a:latin typeface="+mn-lt"/>
              </a:rPr>
              <a:t>Failure to attend or participate in these activities may affect your overall performance.</a:t>
            </a:r>
          </a:p>
          <a:p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74729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B04EB-1913-994F-04DA-C811BC9D0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6039" y="609601"/>
            <a:ext cx="4914561" cy="68579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MODULE OVERVIEW</a:t>
            </a:r>
            <a:br>
              <a:rPr lang="en-US" dirty="0">
                <a:solidFill>
                  <a:srgbClr val="FF0000"/>
                </a:solidFill>
                <a:latin typeface="+mj-lt"/>
              </a:rPr>
            </a:b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9345C-494B-AF39-875C-8A20D5953A2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81000" y="1447800"/>
            <a:ext cx="11506200" cy="513313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Module Code:</a:t>
            </a:r>
            <a:r>
              <a:rPr lang="en-US" sz="3200" b="1" dirty="0">
                <a:solidFill>
                  <a:schemeClr val="tx1"/>
                </a:solidFill>
              </a:rPr>
              <a:t> CIT83104 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Title</a:t>
            </a:r>
            <a:r>
              <a:rPr lang="en-US" sz="3200" dirty="0"/>
              <a:t>: Advanced Web Design and Development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Credits</a:t>
            </a:r>
            <a:r>
              <a:rPr lang="en-US" sz="3200" dirty="0"/>
              <a:t>: 15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Year</a:t>
            </a:r>
            <a:r>
              <a:rPr lang="en-US" sz="3200" dirty="0"/>
              <a:t>: 3rd Year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Prerequisite</a:t>
            </a:r>
            <a:r>
              <a:rPr lang="en-US" sz="3200" dirty="0"/>
              <a:t>: Introduction to Web Design and Development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Total Study Hours</a:t>
            </a:r>
            <a:r>
              <a:rPr lang="en-US" sz="3200" dirty="0"/>
              <a:t>: 150 (</a:t>
            </a:r>
            <a:r>
              <a:rPr lang="en-US" sz="2800" dirty="0"/>
              <a:t>Lectures, Labs, Assignments, Self-study, etc.)</a:t>
            </a:r>
          </a:p>
          <a:p>
            <a:pPr>
              <a:lnSpc>
                <a:spcPct val="150000"/>
              </a:lnSpc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14515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726DB-3370-94A0-A966-68EA3FB49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1120" y="762000"/>
            <a:ext cx="3524080" cy="64461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MODULE AIMS</a:t>
            </a:r>
            <a:br>
              <a:rPr lang="en-US" dirty="0">
                <a:solidFill>
                  <a:srgbClr val="FF0000"/>
                </a:solidFill>
                <a:latin typeface="+mj-lt"/>
              </a:rPr>
            </a:b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CBB57-C682-DC72-CF28-BD75F0432F5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81000" y="1981200"/>
            <a:ext cx="11353800" cy="3470181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Prepare students for professional web development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Blend theoretical knowledge with practical implementation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Focus on interactive, database-backed, and maintainable web applications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05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7E5ED-4ED2-6864-9AE2-BA6BB8F8D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457200"/>
            <a:ext cx="5562600" cy="6096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+mj-lt"/>
              </a:rPr>
              <a:t>KEY TECHNOLOGIES &amp; TOOLS</a:t>
            </a:r>
            <a:br>
              <a:rPr lang="en-US" sz="3600" dirty="0">
                <a:solidFill>
                  <a:srgbClr val="FF0000"/>
                </a:solidFill>
                <a:latin typeface="+mj-lt"/>
              </a:rPr>
            </a:br>
            <a:endParaRPr lang="en-US" sz="36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DAF4E8-0ED0-D96D-CC2B-5B55396E4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1" y="1066800"/>
            <a:ext cx="10058400" cy="5813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5273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220E190-9BF9-BEA9-63EB-6CF403277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729733"/>
            <a:ext cx="9251327" cy="612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65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00519" y="762000"/>
            <a:ext cx="5962481" cy="67710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	MODULE CONTENTS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495298" y="1752600"/>
            <a:ext cx="11544302" cy="495520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+mn-lt"/>
              </a:rPr>
              <a:t>HTML, CSS, JavaScript, layout techniques, and other industry-standard practices. 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/>
              <a:t>S</a:t>
            </a:r>
            <a:r>
              <a:rPr lang="en-US" sz="2800" dirty="0">
                <a:latin typeface="+mn-lt"/>
              </a:rPr>
              <a:t>cripting technologies to create dynamic and interactive websites. 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+mn-lt"/>
              </a:rPr>
              <a:t>Back-end interactivity with front-end to build web applications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/>
              <a:t>Professional quality portfolio of web design work. </a:t>
            </a:r>
            <a:endParaRPr lang="en-US" sz="2800" dirty="0">
              <a:latin typeface="+mn-lt"/>
            </a:endParaRP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+mn-lt"/>
              </a:rPr>
              <a:t>build Dynamic websites utilizing the most current versions of industry-standard applications and tools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81036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0100" y="1371599"/>
            <a:ext cx="5753100" cy="3505201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4800" dirty="0">
                <a:solidFill>
                  <a:srgbClr val="FF0000"/>
                </a:solidFill>
                <a:latin typeface="+mn-lt"/>
              </a:rPr>
              <a:t>CHAP 4: Professional quality portfolio of web design work. </a:t>
            </a:r>
            <a:br>
              <a:rPr lang="en-US" sz="4800" dirty="0"/>
            </a:br>
            <a:endParaRPr lang="en-US" sz="48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FEDB99-8601-D72A-EE4F-C070C83085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50237"/>
            <a:ext cx="5029200" cy="675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408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6364E2-580B-1722-E7B2-9885CBAC573B}"/>
              </a:ext>
            </a:extLst>
          </p:cNvPr>
          <p:cNvSpPr txBox="1"/>
          <p:nvPr/>
        </p:nvSpPr>
        <p:spPr>
          <a:xfrm>
            <a:off x="457200" y="1143000"/>
            <a:ext cx="11430000" cy="51229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dirty="0">
                <a:effectLst/>
              </a:rPr>
              <a:t>The above image is an example of a </a:t>
            </a:r>
            <a:r>
              <a:rPr lang="en-US" sz="2000" b="1" dirty="0">
                <a:effectLst/>
              </a:rPr>
              <a:t>web design portfolio layout</a:t>
            </a:r>
            <a:r>
              <a:rPr lang="en-US" sz="2000" dirty="0">
                <a:effectLst/>
              </a:rPr>
              <a:t> — it shows how a professional portfolio site might look with a header, hero section, featured projects, about me, and contact form.</a:t>
            </a:r>
            <a:endParaRPr lang="en-US" sz="2000" dirty="0"/>
          </a:p>
          <a:p>
            <a:pPr algn="just">
              <a:lnSpc>
                <a:spcPct val="150000"/>
              </a:lnSpc>
              <a:buNone/>
            </a:pPr>
            <a:r>
              <a:rPr lang="en-US" sz="2000" dirty="0">
                <a:effectLst/>
              </a:rPr>
              <a:t>You can use this kind of structure to present your own work clearly and professionally. It highlights:</a:t>
            </a:r>
            <a:endParaRPr lang="en-US" sz="2000" dirty="0"/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</a:rPr>
              <a:t>A clean </a:t>
            </a:r>
            <a:r>
              <a:rPr lang="en-US" sz="2000" b="1" dirty="0">
                <a:effectLst/>
              </a:rPr>
              <a:t>header</a:t>
            </a:r>
            <a:r>
              <a:rPr lang="en-US" sz="2000" dirty="0">
                <a:effectLst/>
              </a:rPr>
              <a:t> with navigation (Home, Portfolio, About, Contact).</a:t>
            </a:r>
            <a:endParaRPr lang="en-US" sz="2000" dirty="0"/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</a:rPr>
              <a:t>A </a:t>
            </a:r>
            <a:r>
              <a:rPr lang="en-US" sz="2000" b="1" dirty="0">
                <a:effectLst/>
              </a:rPr>
              <a:t>hero section</a:t>
            </a:r>
            <a:r>
              <a:rPr lang="en-US" sz="2000" dirty="0">
                <a:effectLst/>
              </a:rPr>
              <a:t> introducing yourself with a tagline and call‑to‑action button.</a:t>
            </a:r>
            <a:endParaRPr lang="en-US" sz="2000" dirty="0"/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</a:rPr>
              <a:t>A </a:t>
            </a:r>
            <a:r>
              <a:rPr lang="en-US" sz="2000" b="1" dirty="0">
                <a:effectLst/>
              </a:rPr>
              <a:t>Featured Projects</a:t>
            </a:r>
            <a:r>
              <a:rPr lang="en-US" sz="2000" dirty="0">
                <a:effectLst/>
              </a:rPr>
              <a:t> grid (e.g., School Management System, E‑Commerce Website, Healthcare Portal, Portfolio Redesign).</a:t>
            </a:r>
            <a:endParaRPr lang="en-US" sz="2000" dirty="0"/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</a:rPr>
              <a:t>An </a:t>
            </a:r>
            <a:r>
              <a:rPr lang="en-US" sz="2000" b="1" dirty="0">
                <a:effectLst/>
              </a:rPr>
              <a:t>About Me</a:t>
            </a:r>
            <a:r>
              <a:rPr lang="en-US" sz="2000" dirty="0">
                <a:effectLst/>
              </a:rPr>
              <a:t> section with skills icons.</a:t>
            </a:r>
            <a:endParaRPr lang="en-US" sz="2000" dirty="0"/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</a:rPr>
              <a:t>A </a:t>
            </a:r>
            <a:r>
              <a:rPr lang="en-US" sz="2000" b="1" dirty="0">
                <a:effectLst/>
              </a:rPr>
              <a:t>Contact Me</a:t>
            </a:r>
            <a:r>
              <a:rPr lang="en-US" sz="2000" dirty="0">
                <a:effectLst/>
              </a:rPr>
              <a:t> section with a simple form.</a:t>
            </a:r>
            <a:endParaRPr lang="en-US" sz="2000" dirty="0"/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</a:rPr>
              <a:t>This layout balances </a:t>
            </a:r>
            <a:r>
              <a:rPr lang="en-US" sz="2000" b="1" dirty="0">
                <a:effectLst/>
              </a:rPr>
              <a:t>visual appeal</a:t>
            </a:r>
            <a:r>
              <a:rPr lang="en-US" sz="2000" dirty="0">
                <a:effectLst/>
              </a:rPr>
              <a:t> and </a:t>
            </a:r>
            <a:r>
              <a:rPr lang="en-US" sz="2000" b="1" dirty="0">
                <a:effectLst/>
              </a:rPr>
              <a:t>functionality</a:t>
            </a:r>
            <a:r>
              <a:rPr lang="en-US" sz="2000" dirty="0">
                <a:effectLst/>
              </a:rPr>
              <a:t>, making it easy for visitors to understand your skills and reach out.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90116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857DE1-E23F-93EC-D8BC-07E47E4DAD21}"/>
              </a:ext>
            </a:extLst>
          </p:cNvPr>
          <p:cNvSpPr txBox="1"/>
          <p:nvPr/>
        </p:nvSpPr>
        <p:spPr>
          <a:xfrm>
            <a:off x="3352800" y="1143000"/>
            <a:ext cx="3733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What is WordPress?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8D6E3F2-2DA1-9D43-C85E-12DCE8C34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905000"/>
            <a:ext cx="10668000" cy="369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WordPress is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Content Management System (CMS)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used to build and manage websites.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It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open‑source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and widely used for blogs, portfolios, e‑commerce, and business sites.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dirty="0">
                <a:latin typeface="+mj-lt"/>
              </a:rPr>
              <a:t>It allows you to design, publish, and manage content without deep coding knowledge.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dirty="0">
                <a:latin typeface="+mj-lt"/>
              </a:rPr>
              <a:t>Works with </a:t>
            </a:r>
            <a:r>
              <a:rPr lang="en-US" altLang="en-US" sz="2000" b="1" dirty="0">
                <a:latin typeface="+mj-lt"/>
              </a:rPr>
              <a:t>themes</a:t>
            </a:r>
            <a:r>
              <a:rPr lang="en-US" altLang="en-US" sz="2000" dirty="0">
                <a:latin typeface="+mj-lt"/>
              </a:rPr>
              <a:t> (design) and </a:t>
            </a:r>
            <a:r>
              <a:rPr lang="en-US" altLang="en-US" sz="2000" b="1" dirty="0">
                <a:latin typeface="+mj-lt"/>
              </a:rPr>
              <a:t>plugins</a:t>
            </a:r>
            <a:r>
              <a:rPr lang="en-US" altLang="en-US" sz="2000" dirty="0">
                <a:latin typeface="+mj-lt"/>
              </a:rPr>
              <a:t> (extra features).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Comes in two versions:</a:t>
            </a:r>
          </a:p>
          <a:p>
            <a:pPr marL="800100" lvl="1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WordPress.org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→ Self‑hosted, full control, requires your own hosting.</a:t>
            </a:r>
          </a:p>
          <a:p>
            <a:pPr marL="800100" lvl="1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WordPress.com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→ Hosted service, easier setup but limited customization.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4060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D2642C-0981-A48E-709E-45F85286D7D6}"/>
              </a:ext>
            </a:extLst>
          </p:cNvPr>
          <p:cNvSpPr txBox="1"/>
          <p:nvPr/>
        </p:nvSpPr>
        <p:spPr>
          <a:xfrm>
            <a:off x="1828800" y="914400"/>
            <a:ext cx="9982200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b="1" dirty="0"/>
              <a:t>Key Features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effectLst/>
              </a:rPr>
              <a:t>Themes</a:t>
            </a:r>
            <a:r>
              <a:rPr lang="en-US" sz="2000" dirty="0">
                <a:effectLst/>
              </a:rPr>
              <a:t> → Pre‑designed templates to change the look of your site.</a:t>
            </a:r>
            <a:endParaRPr lang="en-US" sz="2000" dirty="0"/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effectLst/>
              </a:rPr>
              <a:t>Plugins</a:t>
            </a:r>
            <a:r>
              <a:rPr lang="en-US" sz="2000" dirty="0">
                <a:effectLst/>
              </a:rPr>
              <a:t> → Add extra functionality (SEO, forms, galleries, security).</a:t>
            </a:r>
            <a:endParaRPr lang="en-US" sz="2000" dirty="0"/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effectLst/>
              </a:rPr>
              <a:t>User‑friendly</a:t>
            </a:r>
            <a:r>
              <a:rPr lang="en-US" sz="2000" dirty="0">
                <a:effectLst/>
              </a:rPr>
              <a:t> → No coding required, but supports custom HTML, CSS, PHP.</a:t>
            </a:r>
            <a:endParaRPr lang="en-US" sz="2000" dirty="0"/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effectLst/>
              </a:rPr>
              <a:t>Responsive Design</a:t>
            </a:r>
            <a:r>
              <a:rPr lang="en-US" sz="2000" dirty="0">
                <a:effectLst/>
              </a:rPr>
              <a:t> → Most themes adapt to mobile and desktop automatically.</a:t>
            </a:r>
            <a:endParaRPr lang="en-US" sz="2000" dirty="0"/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effectLst/>
              </a:rPr>
              <a:t>Community Support</a:t>
            </a:r>
            <a:r>
              <a:rPr lang="en-US" sz="2000" dirty="0">
                <a:effectLst/>
              </a:rPr>
              <a:t> → Large global community, tutorials, and resources.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A72AC1-2B30-823C-9CDB-F4B38B5B7A95}"/>
              </a:ext>
            </a:extLst>
          </p:cNvPr>
          <p:cNvSpPr txBox="1"/>
          <p:nvPr/>
        </p:nvSpPr>
        <p:spPr>
          <a:xfrm>
            <a:off x="1981200" y="3814783"/>
            <a:ext cx="9525000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/>
              <a:t>Advantages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</a:rPr>
              <a:t>Easy to use for beginners.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</a:rPr>
              <a:t>Highly customizable with themes and plugins.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</a:rPr>
              <a:t>Supports multimedia (images, video, audio).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</a:rPr>
              <a:t>SEO‑friendly (with plugins like Yoast SEO).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</a:rPr>
              <a:t>Scalable — from small blogs to large business sites.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52054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771601-90BD-FAC2-C4CD-4F8B86DE9F23}"/>
              </a:ext>
            </a:extLst>
          </p:cNvPr>
          <p:cNvSpPr txBox="1"/>
          <p:nvPr/>
        </p:nvSpPr>
        <p:spPr>
          <a:xfrm>
            <a:off x="1981200" y="1295400"/>
            <a:ext cx="90678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/>
              <a:t>Common Uses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effectLst/>
              </a:rPr>
              <a:t>Personal blogs.</a:t>
            </a:r>
            <a:endParaRPr lang="en-US" sz="2800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effectLst/>
              </a:rPr>
              <a:t>Professional portfolios.</a:t>
            </a:r>
            <a:endParaRPr lang="en-US" sz="2800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effectLst/>
              </a:rPr>
              <a:t>Business websites.</a:t>
            </a:r>
            <a:endParaRPr lang="en-US" sz="2800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effectLst/>
              </a:rPr>
              <a:t>E‑commerce stores (with WooCommerce plugin).</a:t>
            </a:r>
            <a:endParaRPr lang="en-US" sz="2800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effectLst/>
              </a:rPr>
              <a:t>Educational or institutional websites.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98313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693E7A-EE98-4282-1950-AB6A21AB2351}"/>
              </a:ext>
            </a:extLst>
          </p:cNvPr>
          <p:cNvSpPr txBox="1"/>
          <p:nvPr/>
        </p:nvSpPr>
        <p:spPr>
          <a:xfrm>
            <a:off x="762000" y="1066800"/>
            <a:ext cx="9372600" cy="224676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Themes (for layout &amp; design)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b="1" dirty="0">
                <a:effectLst/>
              </a:rPr>
              <a:t>Astra</a:t>
            </a:r>
            <a:r>
              <a:rPr lang="en-US" sz="2000" dirty="0">
                <a:effectLst/>
              </a:rPr>
              <a:t> → Lightweight, responsive, and perfect for portfolios.</a:t>
            </a:r>
            <a:endParaRPr lang="en-US" sz="2000" dirty="0"/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b="1" dirty="0">
                <a:effectLst/>
              </a:rPr>
              <a:t>Neve</a:t>
            </a:r>
            <a:r>
              <a:rPr lang="en-US" sz="2000" dirty="0">
                <a:effectLst/>
              </a:rPr>
              <a:t> → Clean and modern, easy to customize.</a:t>
            </a:r>
            <a:endParaRPr lang="en-US" sz="2000" dirty="0"/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b="1" dirty="0">
                <a:effectLst/>
              </a:rPr>
              <a:t>OceanWP</a:t>
            </a:r>
            <a:r>
              <a:rPr lang="en-US" sz="2000" dirty="0">
                <a:effectLst/>
              </a:rPr>
              <a:t> → Feature‑rich with portfolio demos.</a:t>
            </a:r>
            <a:endParaRPr lang="en-US" sz="2000" dirty="0"/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b="1" dirty="0">
                <a:effectLst/>
              </a:rPr>
              <a:t>Hestia</a:t>
            </a:r>
            <a:r>
              <a:rPr lang="en-US" sz="2000" dirty="0">
                <a:effectLst/>
              </a:rPr>
              <a:t> → Stylish one‑page theme, good for student projects.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>
                <a:solidFill>
                  <a:srgbClr val="FF0000"/>
                </a:solidFill>
                <a:effectLst/>
              </a:rPr>
              <a:t>These themes give you the </a:t>
            </a:r>
            <a:r>
              <a:rPr lang="en-US" sz="2000" b="1" dirty="0">
                <a:solidFill>
                  <a:srgbClr val="FF0000"/>
                </a:solidFill>
                <a:effectLst/>
              </a:rPr>
              <a:t>structure and look</a:t>
            </a:r>
            <a:r>
              <a:rPr lang="en-US" sz="2000" dirty="0">
                <a:solidFill>
                  <a:srgbClr val="FF0000"/>
                </a:solidFill>
                <a:effectLst/>
              </a:rPr>
              <a:t> of the site.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B9882A-3B19-C256-9367-ABF57EE93BCE}"/>
              </a:ext>
            </a:extLst>
          </p:cNvPr>
          <p:cNvSpPr txBox="1"/>
          <p:nvPr/>
        </p:nvSpPr>
        <p:spPr>
          <a:xfrm>
            <a:off x="762000" y="3733800"/>
            <a:ext cx="11201400" cy="224676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Plugins (for functionality)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000" b="1" dirty="0">
                <a:effectLst/>
              </a:rPr>
              <a:t>Elementor (free)</a:t>
            </a:r>
            <a:r>
              <a:rPr lang="en-US" sz="2000" dirty="0">
                <a:effectLst/>
              </a:rPr>
              <a:t> → Drag‑and‑drop page builder to design sections like hero, projects, and about.</a:t>
            </a:r>
            <a:endParaRPr lang="en-US" sz="2000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000" b="1" dirty="0">
                <a:effectLst/>
              </a:rPr>
              <a:t>WPForms Lite</a:t>
            </a:r>
            <a:r>
              <a:rPr lang="en-US" sz="2000" dirty="0">
                <a:effectLst/>
              </a:rPr>
              <a:t> → To create the contact form (“Get In Touch”).</a:t>
            </a:r>
            <a:endParaRPr lang="en-US" sz="2000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000" b="1" dirty="0">
                <a:effectLst/>
              </a:rPr>
              <a:t>Envira Gallery Lite</a:t>
            </a:r>
            <a:r>
              <a:rPr lang="en-US" sz="2000" dirty="0">
                <a:effectLst/>
              </a:rPr>
              <a:t> → For project image galleries.</a:t>
            </a:r>
            <a:endParaRPr lang="en-US" sz="2000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000" b="1" dirty="0">
                <a:effectLst/>
              </a:rPr>
              <a:t>Yoast SEO</a:t>
            </a:r>
            <a:r>
              <a:rPr lang="en-US" sz="2000" dirty="0">
                <a:effectLst/>
              </a:rPr>
              <a:t> (optional) → For search optimization when you move online.</a:t>
            </a:r>
            <a:endParaRPr lang="en-US" sz="2000" dirty="0"/>
          </a:p>
          <a:p>
            <a:pPr lvl="1"/>
            <a:endParaRPr lang="en-US" sz="2000" dirty="0">
              <a:effectLst/>
            </a:endParaRPr>
          </a:p>
          <a:p>
            <a:pPr lvl="1"/>
            <a:r>
              <a:rPr lang="en-US" sz="2000" dirty="0">
                <a:solidFill>
                  <a:srgbClr val="FF0000"/>
                </a:solidFill>
                <a:effectLst/>
              </a:rPr>
              <a:t>These plugins add the </a:t>
            </a:r>
            <a:r>
              <a:rPr lang="en-US" sz="2000" b="1" dirty="0">
                <a:solidFill>
                  <a:srgbClr val="FF0000"/>
                </a:solidFill>
                <a:effectLst/>
              </a:rPr>
              <a:t>features</a:t>
            </a:r>
            <a:r>
              <a:rPr lang="en-US" sz="2000" dirty="0">
                <a:solidFill>
                  <a:srgbClr val="FF0000"/>
                </a:solidFill>
                <a:effectLst/>
              </a:rPr>
              <a:t> you need beyond the theme.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658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CE7F3E-9A91-56CC-5E1E-B920E9CEB7BC}"/>
              </a:ext>
            </a:extLst>
          </p:cNvPr>
          <p:cNvSpPr txBox="1"/>
          <p:nvPr/>
        </p:nvSpPr>
        <p:spPr>
          <a:xfrm>
            <a:off x="1047307" y="1219200"/>
            <a:ext cx="9448800" cy="171136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Tools for Offline Setup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effectLst/>
              </a:rPr>
              <a:t>XAMPP</a:t>
            </a:r>
            <a:r>
              <a:rPr lang="en-US" dirty="0">
                <a:effectLst/>
              </a:rPr>
              <a:t> or </a:t>
            </a:r>
            <a:r>
              <a:rPr lang="en-US" b="1" dirty="0" err="1">
                <a:effectLst/>
              </a:rPr>
              <a:t>LocalWP</a:t>
            </a:r>
            <a:r>
              <a:rPr lang="en-US" dirty="0">
                <a:effectLst/>
              </a:rPr>
              <a:t> → To run WordPress locally on your computer.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effectLst/>
              </a:rPr>
              <a:t>phpMyAdmin</a:t>
            </a:r>
            <a:r>
              <a:rPr lang="en-US" dirty="0">
                <a:effectLst/>
              </a:rPr>
              <a:t> → To create the database for WordPress.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effectLst/>
              </a:rPr>
              <a:t>WordPress core files</a:t>
            </a:r>
            <a:r>
              <a:rPr lang="en-US" dirty="0">
                <a:effectLst/>
              </a:rPr>
              <a:t> → Downloaded once from wordpress.org..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90D985-979F-E4B5-2D07-1426F3E6A7DA}"/>
              </a:ext>
            </a:extLst>
          </p:cNvPr>
          <p:cNvSpPr txBox="1"/>
          <p:nvPr/>
        </p:nvSpPr>
        <p:spPr>
          <a:xfrm>
            <a:off x="1066800" y="3202207"/>
            <a:ext cx="8458200" cy="312239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Workflow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effectLst/>
              </a:rPr>
              <a:t>Install WordPress offline (via XAMPP or </a:t>
            </a:r>
            <a:r>
              <a:rPr lang="en-US" sz="2000" dirty="0" err="1">
                <a:effectLst/>
              </a:rPr>
              <a:t>LocalWP</a:t>
            </a:r>
            <a:r>
              <a:rPr lang="en-US" sz="2000" dirty="0">
                <a:effectLst/>
              </a:rPr>
              <a:t>).</a:t>
            </a:r>
            <a:endParaRPr lang="en-US" sz="2000" dirty="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effectLst/>
              </a:rPr>
              <a:t>Upload and activate your chosen theme (e.g., Astra).</a:t>
            </a:r>
            <a:endParaRPr lang="en-US" sz="2000" dirty="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effectLst/>
              </a:rPr>
              <a:t>Install Elementor to design the layout visually.</a:t>
            </a:r>
            <a:endParaRPr lang="en-US" sz="2000" dirty="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effectLst/>
              </a:rPr>
              <a:t>Add WPForms for the contact form.</a:t>
            </a:r>
            <a:endParaRPr lang="en-US" sz="2000" dirty="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effectLst/>
              </a:rPr>
              <a:t>Use Envira Gallery for project showcases.</a:t>
            </a:r>
            <a:endParaRPr lang="en-US" sz="2000" dirty="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effectLst/>
              </a:rPr>
              <a:t>Customize colors, fonts, and images to match your design.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86959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782C05-2D2A-FD04-06BB-CF9B41368A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52400"/>
            <a:ext cx="10020300" cy="668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1687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B991CE-E0B7-609D-FE81-D56A90BDE223}"/>
              </a:ext>
            </a:extLst>
          </p:cNvPr>
          <p:cNvSpPr txBox="1"/>
          <p:nvPr/>
        </p:nvSpPr>
        <p:spPr>
          <a:xfrm>
            <a:off x="1066800" y="1030069"/>
            <a:ext cx="1082040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dirty="0"/>
              <a:t>let’s walk through a </a:t>
            </a:r>
            <a:r>
              <a:rPr lang="en-US" sz="2400" b="1" dirty="0"/>
              <a:t>step‑by‑step process to build a simple portfolio site using WordPress.org locally</a:t>
            </a:r>
            <a:r>
              <a:rPr lang="en-US" sz="2400" dirty="0"/>
              <a:t>. I’ll keep it clear and practical, and I’ll also give you a visual aid to help picture the workflow.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F8F6D7-6699-B407-98DE-D4C7E24D15B3}"/>
              </a:ext>
            </a:extLst>
          </p:cNvPr>
          <p:cNvSpPr txBox="1"/>
          <p:nvPr/>
        </p:nvSpPr>
        <p:spPr>
          <a:xfrm>
            <a:off x="1066800" y="2438400"/>
            <a:ext cx="10820400" cy="420435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latin typeface="+mj-lt"/>
              </a:rPr>
              <a:t>1. Install Local Server (XAMPP or Local by Flywheel)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effectLst/>
                <a:latin typeface="+mj-lt"/>
              </a:rPr>
              <a:t>Download and install </a:t>
            </a:r>
            <a:r>
              <a:rPr lang="en-US" b="1" dirty="0">
                <a:effectLst/>
                <a:latin typeface="+mj-lt"/>
              </a:rPr>
              <a:t>XAMPP</a:t>
            </a:r>
            <a:r>
              <a:rPr lang="en-US" dirty="0">
                <a:effectLst/>
                <a:latin typeface="+mj-lt"/>
              </a:rPr>
              <a:t> (or another local server like WAMP, MAMP, or </a:t>
            </a:r>
            <a:r>
              <a:rPr lang="en-US" dirty="0" err="1">
                <a:effectLst/>
                <a:latin typeface="+mj-lt"/>
              </a:rPr>
              <a:t>LocalWP</a:t>
            </a:r>
            <a:r>
              <a:rPr lang="en-US" dirty="0">
                <a:effectLst/>
                <a:latin typeface="+mj-lt"/>
              </a:rPr>
              <a:t>).</a:t>
            </a:r>
            <a:endParaRPr lang="en-US" dirty="0">
              <a:latin typeface="+mj-lt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effectLst/>
                <a:latin typeface="+mj-lt"/>
              </a:rPr>
              <a:t>Start </a:t>
            </a:r>
            <a:r>
              <a:rPr lang="en-US" b="1" dirty="0">
                <a:effectLst/>
                <a:latin typeface="+mj-lt"/>
              </a:rPr>
              <a:t>Apache</a:t>
            </a:r>
            <a:r>
              <a:rPr lang="en-US" dirty="0">
                <a:effectLst/>
                <a:latin typeface="+mj-lt"/>
              </a:rPr>
              <a:t> and </a:t>
            </a:r>
            <a:r>
              <a:rPr lang="en-US" b="1" dirty="0">
                <a:effectLst/>
                <a:latin typeface="+mj-lt"/>
              </a:rPr>
              <a:t>MySQL</a:t>
            </a:r>
            <a:r>
              <a:rPr lang="en-US" dirty="0">
                <a:effectLst/>
                <a:latin typeface="+mj-lt"/>
              </a:rPr>
              <a:t> services — these simulate a web server on your computer.</a:t>
            </a:r>
            <a:endParaRPr lang="en-US" dirty="0">
              <a:latin typeface="+mj-lt"/>
            </a:endParaRP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+mj-lt"/>
              </a:rPr>
              <a:t>2. Download WordPress.org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effectLst/>
                <a:latin typeface="+mj-lt"/>
              </a:rPr>
              <a:t>Go to wordpress.org and download the latest WordPress package.</a:t>
            </a:r>
            <a:endParaRPr lang="en-US" dirty="0">
              <a:latin typeface="+mj-lt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effectLst/>
                <a:latin typeface="+mj-lt"/>
              </a:rPr>
              <a:t>Extract the files into your local server’s web directory:</a:t>
            </a:r>
            <a:endParaRPr lang="en-US" dirty="0">
              <a:latin typeface="+mj-lt"/>
            </a:endParaRPr>
          </a:p>
          <a:p>
            <a:pPr lvl="2">
              <a:lnSpc>
                <a:spcPct val="150000"/>
              </a:lnSpc>
            </a:pPr>
            <a:r>
              <a:rPr lang="en-US" dirty="0">
                <a:effectLst/>
                <a:latin typeface="+mj-lt"/>
              </a:rPr>
              <a:t>For XAMPP: C:\xampp\htdocs\mysite</a:t>
            </a:r>
            <a:endParaRPr lang="en-US" dirty="0">
              <a:latin typeface="+mj-lt"/>
            </a:endParaRP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+mj-lt"/>
              </a:rPr>
              <a:t>3. Create a Database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effectLst/>
                <a:latin typeface="+mj-lt"/>
              </a:rPr>
              <a:t>Open http://localhost/phpmyadmin in your browser.</a:t>
            </a:r>
            <a:endParaRPr lang="en-US" dirty="0">
              <a:latin typeface="+mj-lt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effectLst/>
                <a:latin typeface="+mj-lt"/>
              </a:rPr>
              <a:t>Create a new database (e.g., </a:t>
            </a:r>
            <a:r>
              <a:rPr lang="en-US" dirty="0" err="1">
                <a:effectLst/>
                <a:latin typeface="+mj-lt"/>
              </a:rPr>
              <a:t>portfolio_db</a:t>
            </a:r>
            <a:r>
              <a:rPr lang="en-US" dirty="0">
                <a:effectLst/>
                <a:latin typeface="+mj-lt"/>
              </a:rPr>
              <a:t>).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20403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2C8C32-FBC8-F95E-24E8-01150BE5CAE2}"/>
              </a:ext>
            </a:extLst>
          </p:cNvPr>
          <p:cNvSpPr txBox="1"/>
          <p:nvPr/>
        </p:nvSpPr>
        <p:spPr>
          <a:xfrm>
            <a:off x="609600" y="1143000"/>
            <a:ext cx="11277600" cy="51229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+mj-lt"/>
              </a:rPr>
              <a:t>4. Run WordPress Installation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  <a:latin typeface="+mj-lt"/>
              </a:rPr>
              <a:t>Visit http://localhost/mysite in your browser.</a:t>
            </a:r>
            <a:endParaRPr lang="en-US" sz="2000" dirty="0">
              <a:latin typeface="+mj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  <a:latin typeface="+mj-lt"/>
              </a:rPr>
              <a:t>Follow the WordPress setup wizard:</a:t>
            </a:r>
            <a:endParaRPr lang="en-US" sz="2000" dirty="0">
              <a:latin typeface="+mj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effectLst/>
                <a:latin typeface="+mj-lt"/>
              </a:rPr>
              <a:t>Enter database name (</a:t>
            </a:r>
            <a:r>
              <a:rPr lang="en-US" sz="2000" dirty="0" err="1">
                <a:effectLst/>
                <a:latin typeface="+mj-lt"/>
              </a:rPr>
              <a:t>portfolio_db</a:t>
            </a:r>
            <a:r>
              <a:rPr lang="en-US" sz="2000" dirty="0">
                <a:effectLst/>
                <a:latin typeface="+mj-lt"/>
              </a:rPr>
              <a:t>), username (root), and leave password blank (default for XAMPP).</a:t>
            </a:r>
            <a:endParaRPr lang="en-US" sz="2000" dirty="0">
              <a:latin typeface="+mj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effectLst/>
                <a:latin typeface="+mj-lt"/>
              </a:rPr>
              <a:t>Choose site title, admin username, and password.</a:t>
            </a:r>
            <a:endParaRPr lang="en-US" sz="2000" dirty="0">
              <a:latin typeface="+mj-lt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+mj-lt"/>
              </a:rPr>
              <a:t>5. Choose a Theme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  <a:latin typeface="+mj-lt"/>
              </a:rPr>
              <a:t>Log into WordPress dashboard (http://localhost/mysite/wp-admin).</a:t>
            </a:r>
            <a:endParaRPr lang="en-US" sz="2000" dirty="0">
              <a:latin typeface="+mj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  <a:latin typeface="+mj-lt"/>
              </a:rPr>
              <a:t>Go to </a:t>
            </a:r>
            <a:r>
              <a:rPr lang="en-US" sz="2000" b="1" dirty="0">
                <a:effectLst/>
                <a:latin typeface="+mj-lt"/>
              </a:rPr>
              <a:t>Appearance → Themes → Add New</a:t>
            </a:r>
            <a:r>
              <a:rPr lang="en-US" sz="2000" dirty="0">
                <a:effectLst/>
                <a:latin typeface="+mj-lt"/>
              </a:rPr>
              <a:t>.</a:t>
            </a:r>
            <a:endParaRPr lang="en-US" sz="2000" dirty="0">
              <a:latin typeface="+mj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  <a:latin typeface="+mj-lt"/>
              </a:rPr>
              <a:t>Search for a portfolio theme (e.g., Astra, OceanWP, or Neve).</a:t>
            </a:r>
            <a:endParaRPr lang="en-US" sz="2000" dirty="0">
              <a:latin typeface="+mj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  <a:latin typeface="+mj-lt"/>
              </a:rPr>
              <a:t>Install and activate the theme.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30923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E64034-98E7-020D-605F-30DEDE91E426}"/>
              </a:ext>
            </a:extLst>
          </p:cNvPr>
          <p:cNvSpPr txBox="1"/>
          <p:nvPr/>
        </p:nvSpPr>
        <p:spPr>
          <a:xfrm>
            <a:off x="647700" y="1121688"/>
            <a:ext cx="10896600" cy="535531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6. Add Pages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effectLst/>
              </a:rPr>
              <a:t>Create pages like: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dirty="0">
                <a:effectLst/>
              </a:rPr>
              <a:t>Home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dirty="0">
                <a:effectLst/>
              </a:rPr>
              <a:t>About Me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dirty="0">
                <a:effectLst/>
              </a:rPr>
              <a:t>Projects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dirty="0">
                <a:effectLst/>
              </a:rPr>
              <a:t>Contact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effectLst/>
              </a:rPr>
              <a:t>Use </a:t>
            </a:r>
            <a:r>
              <a:rPr lang="en-US" b="1" dirty="0">
                <a:effectLst/>
              </a:rPr>
              <a:t>Pages → Add New</a:t>
            </a:r>
            <a:r>
              <a:rPr lang="en-US" dirty="0">
                <a:effectLst/>
              </a:rPr>
              <a:t> in the dashboard.</a:t>
            </a:r>
            <a:endParaRPr lang="en-US" dirty="0"/>
          </a:p>
          <a:p>
            <a:pPr>
              <a:buNone/>
            </a:pPr>
            <a:r>
              <a:rPr lang="en-US" b="1" dirty="0"/>
              <a:t>7. Add Content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>
                <a:effectLst/>
              </a:rPr>
              <a:t>Add text, images, and project details to each page.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>
                <a:effectLst/>
              </a:rPr>
              <a:t>Use the </a:t>
            </a:r>
            <a:r>
              <a:rPr lang="en-US" b="1" dirty="0">
                <a:effectLst/>
              </a:rPr>
              <a:t>Block Editor (Gutenberg)</a:t>
            </a:r>
            <a:r>
              <a:rPr lang="en-US" dirty="0">
                <a:effectLst/>
              </a:rPr>
              <a:t> or install a page builder plugin (like Elementor) for drag‑and‑drop design.</a:t>
            </a:r>
            <a:endParaRPr lang="en-US" dirty="0"/>
          </a:p>
          <a:p>
            <a:pPr>
              <a:buNone/>
            </a:pPr>
            <a:r>
              <a:rPr lang="en-US" b="1" dirty="0"/>
              <a:t>8. Customize Menu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>
                <a:effectLst/>
              </a:rPr>
              <a:t>Go to </a:t>
            </a:r>
            <a:r>
              <a:rPr lang="en-US" b="1" dirty="0">
                <a:effectLst/>
              </a:rPr>
              <a:t>Appearance → Menus</a:t>
            </a:r>
            <a:r>
              <a:rPr lang="en-US" dirty="0">
                <a:effectLst/>
              </a:rPr>
              <a:t>.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>
                <a:effectLst/>
              </a:rPr>
              <a:t>Add your pages to the main navigation menu.</a:t>
            </a:r>
            <a:endParaRPr lang="en-US" dirty="0"/>
          </a:p>
          <a:p>
            <a:pPr>
              <a:buNone/>
            </a:pPr>
            <a:r>
              <a:rPr lang="en-US" b="1" dirty="0"/>
              <a:t>9. Test Locally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>
                <a:effectLst/>
              </a:rPr>
              <a:t>Visit </a:t>
            </a:r>
            <a:r>
              <a:rPr lang="en-US" dirty="0">
                <a:effectLst/>
                <a:latin typeface="Courier New" panose="02070309020205020404" pitchFamily="49" charset="0"/>
              </a:rPr>
              <a:t>http://localhost/mysite</a:t>
            </a:r>
            <a:r>
              <a:rPr lang="en-US" dirty="0">
                <a:effectLst/>
              </a:rPr>
              <a:t> to see your portfolio.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>
                <a:effectLst/>
              </a:rPr>
              <a:t>Adjust design and content until satisfied.</a:t>
            </a:r>
            <a:endParaRPr lang="en-US" dirty="0"/>
          </a:p>
          <a:p>
            <a:pPr>
              <a:buNone/>
            </a:pPr>
            <a:r>
              <a:rPr lang="en-US" b="1" dirty="0"/>
              <a:t>10. (Optional) Prepare for Deployment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>
                <a:effectLst/>
              </a:rPr>
              <a:t>When ready, you can move your local WordPress site to online hosting using plugins like </a:t>
            </a:r>
            <a:r>
              <a:rPr lang="en-US" b="1" dirty="0">
                <a:effectLst/>
              </a:rPr>
              <a:t>All‑in‑One WP Migration</a:t>
            </a:r>
            <a:r>
              <a:rPr lang="en-US" dirty="0">
                <a:effectLst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3003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176F9-4A89-2D0A-9B26-BCB615A59F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" y="1295401"/>
            <a:ext cx="2133600" cy="984885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 b="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</a:rPr>
              <a:t>1. To create a new </a:t>
            </a:r>
            <a:r>
              <a:rPr lang="en-US" sz="3200" b="0" i="1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</a:rPr>
              <a:t>Page</a:t>
            </a:r>
            <a:r>
              <a:rPr lang="en-US" sz="3200" b="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5AC290-C24F-3C6D-7401-1F067C02A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76200"/>
            <a:ext cx="9677400" cy="655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667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36E00-427E-3C17-1190-2CA8E973E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400" y="685800"/>
            <a:ext cx="4685960" cy="779525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Adding a New Form</a:t>
            </a:r>
            <a:br>
              <a:rPr lang="en-US" dirty="0">
                <a:solidFill>
                  <a:srgbClr val="FF0000"/>
                </a:solidFill>
                <a:latin typeface="+mj-lt"/>
              </a:rPr>
            </a:b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D7172E-43FE-CF2C-6861-4798E2EF0B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981200"/>
            <a:ext cx="7467600" cy="46839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856023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B13424-C2A3-7C15-E545-BB2BDD30CC22}"/>
              </a:ext>
            </a:extLst>
          </p:cNvPr>
          <p:cNvSpPr txBox="1"/>
          <p:nvPr/>
        </p:nvSpPr>
        <p:spPr>
          <a:xfrm>
            <a:off x="1675514" y="990600"/>
            <a:ext cx="8459086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74151"/>
                </a:solidFill>
                <a:effectLst/>
                <a:latin typeface="GeneralSans-Variable"/>
              </a:rPr>
              <a:t>In the Setup page of the form builder, you can enter a name for your form (such as “Contact Us”) in the </a:t>
            </a:r>
            <a:r>
              <a:rPr lang="en-US" b="1" i="0" dirty="0">
                <a:solidFill>
                  <a:srgbClr val="374151"/>
                </a:solidFill>
                <a:effectLst/>
                <a:latin typeface="GeneralSans-Variable"/>
              </a:rPr>
              <a:t>Name Your Form</a:t>
            </a:r>
            <a:r>
              <a:rPr lang="en-US" b="0" i="0" dirty="0">
                <a:solidFill>
                  <a:srgbClr val="374151"/>
                </a:solidFill>
                <a:effectLst/>
                <a:latin typeface="GeneralSans-Variable"/>
              </a:rPr>
              <a:t> input field.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E0D5C0-A311-23F0-D22F-961AD914D5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133600"/>
            <a:ext cx="8153400" cy="45557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33101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123376-4039-98E4-7674-00018FA6C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914437"/>
            <a:ext cx="9305925" cy="50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1971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8FE767-CF41-957D-7D92-347F2FAA4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76200"/>
            <a:ext cx="7545324" cy="6171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3689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ACA7F2-7BDC-59E9-C2A4-5B7EDA02C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28600"/>
            <a:ext cx="9448800" cy="581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0389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515281-FCF5-BD4F-33F6-DCB613511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38200"/>
            <a:ext cx="9424988" cy="566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4169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C52832-F59E-3369-FB16-4FDA973A0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809625"/>
            <a:ext cx="8312777" cy="5438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41665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A1C4E1-91FA-2C19-258F-4E94265AB9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457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062E818-F178-FC34-0A8B-CFC66FD02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1295400"/>
            <a:ext cx="3429000" cy="196977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 b="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</a:rPr>
              <a:t>1. Task: Design a simple portfolio like this one using your own photo.</a:t>
            </a:r>
          </a:p>
        </p:txBody>
      </p:sp>
    </p:spTree>
    <p:extLst>
      <p:ext uri="{BB962C8B-B14F-4D97-AF65-F5344CB8AC3E}">
        <p14:creationId xmlns:p14="http://schemas.microsoft.com/office/powerpoint/2010/main" val="11106459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E8C1EC70-33DE-CF93-2A04-D120A7731EA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124200" y="2512758"/>
            <a:ext cx="6096000" cy="92333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END OF  CHAP 4</a:t>
            </a:r>
          </a:p>
        </p:txBody>
      </p:sp>
    </p:spTree>
    <p:extLst>
      <p:ext uri="{BB962C8B-B14F-4D97-AF65-F5344CB8AC3E}">
        <p14:creationId xmlns:p14="http://schemas.microsoft.com/office/powerpoint/2010/main" val="1267677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6947</TotalTime>
  <Words>1312</Words>
  <Application>Microsoft Office PowerPoint</Application>
  <PresentationFormat>Widescreen</PresentationFormat>
  <Paragraphs>139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MS PGothic</vt:lpstr>
      <vt:lpstr>Arial</vt:lpstr>
      <vt:lpstr>Calibri</vt:lpstr>
      <vt:lpstr>Courier New</vt:lpstr>
      <vt:lpstr>GeneralSans-Variable</vt:lpstr>
      <vt:lpstr>Times New Roman</vt:lpstr>
      <vt:lpstr>Wingdings</vt:lpstr>
      <vt:lpstr>Office Theme</vt:lpstr>
      <vt:lpstr>CIT83104: ADVANCED WEB DESIGN AND DEVELOPMENT</vt:lpstr>
      <vt:lpstr>CLASS INSTRUCTIONS </vt:lpstr>
      <vt:lpstr>MODULE OVERVIEW </vt:lpstr>
      <vt:lpstr>MODULE AIMS </vt:lpstr>
      <vt:lpstr>KEY TECHNOLOGIES &amp; TOOLS </vt:lpstr>
      <vt:lpstr>PowerPoint Presentation</vt:lpstr>
      <vt:lpstr> MODULE CONTENTS </vt:lpstr>
      <vt:lpstr>CHAP 4: Professional quality portfolio of web design work.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 To create a new Page:</vt:lpstr>
      <vt:lpstr>Adding a New Form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 Task: Design a simple portfolio like this one using your own photo.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Prince</dc:creator>
  <cp:lastModifiedBy>USER</cp:lastModifiedBy>
  <cp:revision>1060</cp:revision>
  <dcterms:created xsi:type="dcterms:W3CDTF">2021-07-23T10:02:56Z</dcterms:created>
  <dcterms:modified xsi:type="dcterms:W3CDTF">2026-03-18T12:52:00Z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2021-07-13T00:00:00Z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2021-07-23T00:00:00Z</vt:filetime>
  </property>
</Properties>
</file>