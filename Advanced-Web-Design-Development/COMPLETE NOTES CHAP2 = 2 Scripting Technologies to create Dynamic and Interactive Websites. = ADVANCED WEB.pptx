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9"/>
  </p:notesMasterIdLst>
  <p:handoutMasterIdLst>
    <p:handoutMasterId r:id="rId80"/>
  </p:handoutMasterIdLst>
  <p:sldIdLst>
    <p:sldId id="256" r:id="rId2"/>
    <p:sldId id="316" r:id="rId3"/>
    <p:sldId id="345" r:id="rId4"/>
    <p:sldId id="346" r:id="rId5"/>
    <p:sldId id="347" r:id="rId6"/>
    <p:sldId id="389" r:id="rId7"/>
    <p:sldId id="315" r:id="rId8"/>
    <p:sldId id="309" r:id="rId9"/>
    <p:sldId id="532" r:id="rId10"/>
    <p:sldId id="533" r:id="rId11"/>
    <p:sldId id="534" r:id="rId12"/>
    <p:sldId id="535" r:id="rId13"/>
    <p:sldId id="548" r:id="rId14"/>
    <p:sldId id="536" r:id="rId15"/>
    <p:sldId id="537" r:id="rId16"/>
    <p:sldId id="538" r:id="rId17"/>
    <p:sldId id="539" r:id="rId18"/>
    <p:sldId id="540" r:id="rId19"/>
    <p:sldId id="541" r:id="rId20"/>
    <p:sldId id="542" r:id="rId21"/>
    <p:sldId id="543" r:id="rId22"/>
    <p:sldId id="545" r:id="rId23"/>
    <p:sldId id="544" r:id="rId24"/>
    <p:sldId id="546" r:id="rId25"/>
    <p:sldId id="547" r:id="rId26"/>
    <p:sldId id="549" r:id="rId27"/>
    <p:sldId id="550" r:id="rId28"/>
    <p:sldId id="551" r:id="rId29"/>
    <p:sldId id="552" r:id="rId30"/>
    <p:sldId id="553" r:id="rId31"/>
    <p:sldId id="554" r:id="rId32"/>
    <p:sldId id="555" r:id="rId33"/>
    <p:sldId id="556" r:id="rId34"/>
    <p:sldId id="557" r:id="rId35"/>
    <p:sldId id="558" r:id="rId36"/>
    <p:sldId id="559" r:id="rId37"/>
    <p:sldId id="561" r:id="rId38"/>
    <p:sldId id="562" r:id="rId39"/>
    <p:sldId id="560" r:id="rId40"/>
    <p:sldId id="563" r:id="rId41"/>
    <p:sldId id="564" r:id="rId42"/>
    <p:sldId id="565" r:id="rId43"/>
    <p:sldId id="566" r:id="rId44"/>
    <p:sldId id="567" r:id="rId45"/>
    <p:sldId id="568" r:id="rId46"/>
    <p:sldId id="569" r:id="rId47"/>
    <p:sldId id="570" r:id="rId48"/>
    <p:sldId id="571" r:id="rId49"/>
    <p:sldId id="572" r:id="rId50"/>
    <p:sldId id="573" r:id="rId51"/>
    <p:sldId id="574" r:id="rId52"/>
    <p:sldId id="575" r:id="rId53"/>
    <p:sldId id="576" r:id="rId54"/>
    <p:sldId id="577" r:id="rId55"/>
    <p:sldId id="578" r:id="rId56"/>
    <p:sldId id="579" r:id="rId57"/>
    <p:sldId id="580" r:id="rId58"/>
    <p:sldId id="581" r:id="rId59"/>
    <p:sldId id="582" r:id="rId60"/>
    <p:sldId id="583" r:id="rId61"/>
    <p:sldId id="584" r:id="rId62"/>
    <p:sldId id="585" r:id="rId63"/>
    <p:sldId id="586" r:id="rId64"/>
    <p:sldId id="587" r:id="rId65"/>
    <p:sldId id="588" r:id="rId66"/>
    <p:sldId id="589" r:id="rId67"/>
    <p:sldId id="590" r:id="rId68"/>
    <p:sldId id="591" r:id="rId69"/>
    <p:sldId id="592" r:id="rId70"/>
    <p:sldId id="593" r:id="rId71"/>
    <p:sldId id="594" r:id="rId72"/>
    <p:sldId id="595" r:id="rId73"/>
    <p:sldId id="596" r:id="rId74"/>
    <p:sldId id="597" r:id="rId75"/>
    <p:sldId id="598" r:id="rId76"/>
    <p:sldId id="599" r:id="rId77"/>
    <p:sldId id="531" r:id="rId78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2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28"/>
    <p:restoredTop sz="93842" autoAdjust="0"/>
  </p:normalViewPr>
  <p:slideViewPr>
    <p:cSldViewPr>
      <p:cViewPr varScale="1">
        <p:scale>
          <a:sx n="60" d="100"/>
          <a:sy n="60" d="100"/>
        </p:scale>
        <p:origin x="864" y="44"/>
      </p:cViewPr>
      <p:guideLst>
        <p:guide orient="horz" pos="28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handoutMaster" Target="handoutMasters/handoutMaster1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FD590B5-3698-1313-01B0-FF7A8D0451C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12B5BB-5A60-4BB3-B3B0-82E1BD61AC6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4E043A-575B-404A-AF16-E1B002A1C5C6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6F3466-3914-7997-DD11-2F3AEF0E71F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257574-561C-94BC-827B-A093E6A2D88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DBD18B-D895-40D2-8E13-F8A1C5375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66344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493460-4FE2-4BFA-B61E-E766871C41DA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6AC896-9C5D-41ED-9FA9-751D871D5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97614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6AC896-9C5D-41ED-9FA9-751D871D5EB2}" type="slidenum">
              <a:rPr lang="en-US" smtClean="0"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A0B3E-8783-6BDF-8EF3-8694781D68E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152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238840" y="1049274"/>
            <a:ext cx="5714321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5155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5155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5155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12191999" cy="685799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" y="0"/>
            <a:ext cx="12191999" cy="685799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53993" y="2483307"/>
            <a:ext cx="3684015" cy="788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4985" y="2157441"/>
            <a:ext cx="11260667" cy="5155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chemeClr val="tx1"/>
                </a:solidFill>
                <a:latin typeface="MS PGothic"/>
                <a:cs typeface="MS P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4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7.pn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228600" y="-76200"/>
            <a:ext cx="12420600" cy="685799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1000" y="239086"/>
            <a:ext cx="11353800" cy="56618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lang="en-US" sz="3200" b="1" dirty="0">
                <a:solidFill>
                  <a:schemeClr val="tx1"/>
                </a:solidFill>
              </a:rPr>
              <a:t>CIT83104: </a:t>
            </a:r>
            <a:r>
              <a:rPr lang="en-US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ADVANCED WEB DESIGN AND </a:t>
            </a:r>
            <a:r>
              <a:rPr lang="en-US" sz="3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DEVELOPMENT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19400" y="1219200"/>
            <a:ext cx="6807326" cy="158992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50000"/>
              </a:lnSpc>
              <a:spcBef>
                <a:spcPts val="95"/>
              </a:spcBef>
              <a:tabLst>
                <a:tab pos="3187700" algn="l"/>
              </a:tabLst>
            </a:pPr>
            <a:r>
              <a:rPr lang="en-US" sz="4000" dirty="0">
                <a:ln w="0">
                  <a:solidFill>
                    <a:schemeClr val="tx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/>
                <a:cs typeface="Times New Roman"/>
              </a:rPr>
              <a:t>By:</a:t>
            </a:r>
            <a:endParaRPr sz="5800" dirty="0">
              <a:ln w="0">
                <a:solidFill>
                  <a:schemeClr val="tx1"/>
                </a:solidFill>
              </a:ln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/>
              <a:cs typeface="Times New Roman"/>
            </a:endParaRPr>
          </a:p>
          <a:p>
            <a:pPr marL="307340" algn="ctr">
              <a:lnSpc>
                <a:spcPct val="150000"/>
              </a:lnSpc>
            </a:pPr>
            <a:r>
              <a:rPr lang="en-US" altLang="x-none" sz="3200" dirty="0">
                <a:ln w="0">
                  <a:solidFill>
                    <a:schemeClr val="tx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Mr. MANIRARORA Jean Marie Vianney</a:t>
            </a:r>
            <a:endParaRPr sz="3000" dirty="0">
              <a:ln w="0">
                <a:solidFill>
                  <a:schemeClr val="tx1"/>
                </a:solidFill>
              </a:ln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S PGothic"/>
              <a:cs typeface="MS P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19200" y="6323444"/>
            <a:ext cx="10287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10" dirty="0">
                <a:solidFill>
                  <a:schemeClr val="bg1"/>
                </a:solidFill>
                <a:cs typeface="Calibri"/>
              </a:rPr>
              <a:t>Course</a:t>
            </a:r>
            <a:r>
              <a:rPr sz="2400" spc="240" dirty="0">
                <a:solidFill>
                  <a:schemeClr val="bg1"/>
                </a:solidFill>
                <a:cs typeface="Calibri"/>
              </a:rPr>
              <a:t> </a:t>
            </a:r>
            <a:r>
              <a:rPr sz="2400" spc="-5" dirty="0">
                <a:solidFill>
                  <a:schemeClr val="bg1"/>
                </a:solidFill>
                <a:cs typeface="Calibri"/>
              </a:rPr>
              <a:t>Code</a:t>
            </a:r>
            <a:r>
              <a:rPr lang="en-US" sz="2400" spc="-5" dirty="0">
                <a:solidFill>
                  <a:schemeClr val="bg1"/>
                </a:solidFill>
                <a:cs typeface="Calibri"/>
              </a:rPr>
              <a:t>: </a:t>
            </a:r>
            <a:r>
              <a:rPr lang="en-US" sz="2400" dirty="0">
                <a:solidFill>
                  <a:schemeClr val="bg1"/>
                </a:solidFill>
              </a:rPr>
              <a:t>CIT83104  </a:t>
            </a:r>
            <a:r>
              <a:rPr sz="2400" dirty="0">
                <a:solidFill>
                  <a:schemeClr val="bg1"/>
                </a:solidFill>
                <a:cs typeface="Calibri"/>
              </a:rPr>
              <a:t>&amp;</a:t>
            </a:r>
            <a:r>
              <a:rPr sz="2400" spc="-25" dirty="0">
                <a:solidFill>
                  <a:schemeClr val="bg1"/>
                </a:solidFill>
                <a:cs typeface="Calibri"/>
              </a:rPr>
              <a:t> </a:t>
            </a:r>
            <a:r>
              <a:rPr sz="2400" dirty="0">
                <a:solidFill>
                  <a:schemeClr val="bg1"/>
                </a:solidFill>
                <a:cs typeface="Calibri"/>
              </a:rPr>
              <a:t>Name</a:t>
            </a:r>
            <a:r>
              <a:rPr lang="en-US" sz="2400" dirty="0">
                <a:solidFill>
                  <a:schemeClr val="bg1"/>
                </a:solidFill>
                <a:cs typeface="Calibri"/>
              </a:rPr>
              <a:t>: </a:t>
            </a:r>
            <a:r>
              <a:rPr lang="en-US" sz="2400" dirty="0">
                <a:solidFill>
                  <a:schemeClr val="bg1"/>
                </a:solidFill>
              </a:rPr>
              <a:t>ADVANCED WEB DESIGN AND DEVELOPMENT</a:t>
            </a:r>
            <a:endParaRPr sz="2400" dirty="0">
              <a:solidFill>
                <a:schemeClr val="bg1"/>
              </a:solidFill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28681" y="6426504"/>
            <a:ext cx="1028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91000" y="412898"/>
            <a:ext cx="5143160" cy="677108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+mj-lt"/>
                <a:sym typeface="Times New Roman"/>
              </a:rPr>
              <a:t>CLASS INSTRUCTIONS </a:t>
            </a:r>
            <a:endParaRPr lang="en-US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1676400" y="1295400"/>
            <a:ext cx="9829800" cy="51816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+mn-lt"/>
              </a:rPr>
              <a:t>Please keep your phones aside during class sessions.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+mn-lt"/>
              </a:rPr>
              <a:t>100% attendance is required for all classes.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+mn-lt"/>
              </a:rPr>
              <a:t>Students are expected to practice effective time management.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+mn-lt"/>
              </a:rPr>
              <a:t>Participation in all academic activities is mandatory, including:</a:t>
            </a:r>
          </a:p>
          <a:p>
            <a:pPr marL="1714500" lvl="3" indent="-342900" algn="just">
              <a:buFont typeface="Wingdings" panose="05000000000000000000" pitchFamily="2" charset="2"/>
              <a:buChar char="ü"/>
            </a:pPr>
            <a:r>
              <a:rPr lang="en-US" sz="2400" dirty="0"/>
              <a:t>Quizzes</a:t>
            </a:r>
          </a:p>
          <a:p>
            <a:pPr marL="1714500" lvl="3" indent="-342900" algn="just">
              <a:buFont typeface="Wingdings" panose="05000000000000000000" pitchFamily="2" charset="2"/>
              <a:buChar char="ü"/>
            </a:pPr>
            <a:r>
              <a:rPr lang="en-US" sz="2400" dirty="0"/>
              <a:t>In-class activities</a:t>
            </a:r>
          </a:p>
          <a:p>
            <a:pPr marL="1714500" lvl="3" indent="-342900" algn="just">
              <a:buFont typeface="Wingdings" panose="05000000000000000000" pitchFamily="2" charset="2"/>
              <a:buChar char="ü"/>
            </a:pPr>
            <a:r>
              <a:rPr lang="en-US" sz="2400" dirty="0"/>
              <a:t>Individual assignments</a:t>
            </a:r>
          </a:p>
          <a:p>
            <a:pPr marL="1714500" lvl="3" indent="-342900" algn="just">
              <a:buFont typeface="Wingdings" panose="05000000000000000000" pitchFamily="2" charset="2"/>
              <a:buChar char="ü"/>
            </a:pPr>
            <a:r>
              <a:rPr lang="en-US" sz="2400" dirty="0"/>
              <a:t>Group assignments</a:t>
            </a:r>
          </a:p>
          <a:p>
            <a:pPr marL="1714500" lvl="3" indent="-342900" algn="just">
              <a:buFont typeface="Wingdings" panose="05000000000000000000" pitchFamily="2" charset="2"/>
              <a:buChar char="ü"/>
            </a:pPr>
            <a:r>
              <a:rPr lang="en-US" sz="2400" dirty="0"/>
              <a:t>Presentations</a:t>
            </a:r>
          </a:p>
          <a:p>
            <a:pPr lvl="1" algn="just">
              <a:lnSpc>
                <a:spcPct val="150000"/>
              </a:lnSpc>
            </a:pPr>
            <a:r>
              <a:rPr lang="en-US" sz="2400" b="1" dirty="0">
                <a:latin typeface="+mn-lt"/>
              </a:rPr>
              <a:t>Note: </a:t>
            </a:r>
            <a:r>
              <a:rPr lang="en-US" sz="2400" dirty="0">
                <a:latin typeface="+mn-lt"/>
              </a:rPr>
              <a:t>Failure to attend or participate in these activities may affect your overall performance.</a:t>
            </a:r>
          </a:p>
          <a:p>
            <a:endParaRPr lang="en-US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74729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B04EB-1913-994F-04DA-C811BC9D04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96039" y="609601"/>
            <a:ext cx="4914561" cy="685799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+mj-lt"/>
              </a:rPr>
              <a:t>MODULE OVERVIEW</a:t>
            </a:r>
            <a:br>
              <a:rPr lang="en-US" dirty="0">
                <a:solidFill>
                  <a:srgbClr val="FF0000"/>
                </a:solidFill>
                <a:latin typeface="+mj-lt"/>
              </a:rPr>
            </a:br>
            <a:endParaRPr lang="en-US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A9345C-494B-AF39-875C-8A20D5953A23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381000" y="1447800"/>
            <a:ext cx="11506200" cy="5133136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b="1" dirty="0"/>
              <a:t>Module Code:</a:t>
            </a:r>
            <a:r>
              <a:rPr lang="en-US" sz="3200" b="1" dirty="0">
                <a:solidFill>
                  <a:schemeClr val="tx1"/>
                </a:solidFill>
              </a:rPr>
              <a:t> CIT83104 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b="1" dirty="0"/>
              <a:t>Title</a:t>
            </a:r>
            <a:r>
              <a:rPr lang="en-US" sz="3200" dirty="0"/>
              <a:t>: Advanced Web Design and Development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b="1" dirty="0"/>
              <a:t>Credits</a:t>
            </a:r>
            <a:r>
              <a:rPr lang="en-US" sz="3200" dirty="0"/>
              <a:t>: 15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b="1" dirty="0"/>
              <a:t>Year</a:t>
            </a:r>
            <a:r>
              <a:rPr lang="en-US" sz="3200" dirty="0"/>
              <a:t>: 3rd Year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b="1" dirty="0"/>
              <a:t>Prerequisite</a:t>
            </a:r>
            <a:r>
              <a:rPr lang="en-US" sz="3200" dirty="0"/>
              <a:t>: Introduction to Web Design and Development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b="1" dirty="0"/>
              <a:t>Total Study Hours</a:t>
            </a:r>
            <a:r>
              <a:rPr lang="en-US" sz="3200" dirty="0"/>
              <a:t>: 150 (</a:t>
            </a:r>
            <a:r>
              <a:rPr lang="en-US" sz="2800" dirty="0"/>
              <a:t>Lectures, Labs, Assignments, Self-study, etc.)</a:t>
            </a:r>
          </a:p>
          <a:p>
            <a:pPr>
              <a:lnSpc>
                <a:spcPct val="150000"/>
              </a:lnSpc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814515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726DB-3370-94A0-A966-68EA3FB49B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1120" y="762000"/>
            <a:ext cx="3524080" cy="644619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+mj-lt"/>
              </a:rPr>
              <a:t>MODULE AIMS</a:t>
            </a:r>
            <a:br>
              <a:rPr lang="en-US" dirty="0">
                <a:solidFill>
                  <a:srgbClr val="FF0000"/>
                </a:solidFill>
                <a:latin typeface="+mj-lt"/>
              </a:rPr>
            </a:br>
            <a:endParaRPr lang="en-US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3CBB57-C682-DC72-CF28-BD75F0432F56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381000" y="1981200"/>
            <a:ext cx="11353800" cy="3470181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1371600" lvl="2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/>
              <a:t>Prepare students for professional web development</a:t>
            </a:r>
          </a:p>
          <a:p>
            <a:pPr marL="1371600" lvl="2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/>
              <a:t>Blend theoretical knowledge with practical implementation</a:t>
            </a:r>
          </a:p>
          <a:p>
            <a:pPr marL="1371600" lvl="2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/>
              <a:t>Focus on interactive, database-backed, and maintainable web applications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05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7E5ED-4ED2-6864-9AE2-BA6BB8F8D2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457200"/>
            <a:ext cx="5562600" cy="609600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  <a:latin typeface="+mj-lt"/>
              </a:rPr>
              <a:t>KEY TECHNOLOGIES &amp; TOOLS</a:t>
            </a:r>
            <a:br>
              <a:rPr lang="en-US" sz="3600" dirty="0">
                <a:solidFill>
                  <a:srgbClr val="FF0000"/>
                </a:solidFill>
                <a:latin typeface="+mj-lt"/>
              </a:rPr>
            </a:br>
            <a:endParaRPr lang="en-US" sz="3600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3DAF4E8-0ED0-D96D-CC2B-5B55396E4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1" y="1066800"/>
            <a:ext cx="10058400" cy="58131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95273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220E190-9BF9-BEA9-63EB-6CF4032771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729733"/>
            <a:ext cx="9251327" cy="612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65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00519" y="762000"/>
            <a:ext cx="5962481" cy="677108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+mj-lt"/>
              </a:rPr>
              <a:t>	MODULE CONTENTS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495298" y="1752600"/>
            <a:ext cx="11391901" cy="44958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+mn-lt"/>
              </a:rPr>
              <a:t>HTML, CSS, JavaScript, layout techniques, and other industry-standard practices. 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+mn-lt"/>
              </a:rPr>
              <a:t>scripting technologies to create dynamic and interactive websites. 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+mn-lt"/>
              </a:rPr>
              <a:t>Professional quality portfolio of web design work. 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+mn-lt"/>
              </a:rPr>
              <a:t>Back-end interactivity with front-end to build web applications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+mn-lt"/>
              </a:rPr>
              <a:t>build Dynamic websites utilizing the most current versions of industry-standard applications and tools</a:t>
            </a:r>
          </a:p>
          <a:p>
            <a:pPr algn="just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81036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0100" y="1828800"/>
            <a:ext cx="10591800" cy="4604017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lnSpc>
                <a:spcPct val="150000"/>
              </a:lnSpc>
            </a:pPr>
            <a:br>
              <a:rPr lang="en-US" dirty="0">
                <a:solidFill>
                  <a:srgbClr val="FF0000"/>
                </a:solidFill>
                <a:latin typeface="+mj-lt"/>
              </a:rPr>
            </a:br>
            <a:r>
              <a:rPr lang="en-US" sz="3600" dirty="0">
                <a:solidFill>
                  <a:srgbClr val="FF0000"/>
                </a:solidFill>
                <a:latin typeface="+mj-lt"/>
              </a:rPr>
              <a:t>CHAP 2: </a:t>
            </a:r>
            <a:r>
              <a:rPr lang="en-US" sz="3200" dirty="0">
                <a:solidFill>
                  <a:srgbClr val="FF0000"/>
                </a:solidFill>
                <a:latin typeface="+mj-lt"/>
              </a:rPr>
              <a:t>SCRIPTING TECHNOLOGIES TO CREATE DYNAMIC AND INTERACTIVE WEBSITES. </a:t>
            </a:r>
            <a:br>
              <a:rPr lang="en-US" sz="3600" dirty="0"/>
            </a:br>
            <a:br>
              <a:rPr lang="en-US" dirty="0">
                <a:solidFill>
                  <a:srgbClr val="FF0000"/>
                </a:solidFill>
                <a:latin typeface="+mj-lt"/>
              </a:rPr>
            </a:br>
            <a:endParaRPr lang="en-US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46408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CC61F23-9BA0-F74B-AE2B-4EF5ABA2505C}"/>
              </a:ext>
            </a:extLst>
          </p:cNvPr>
          <p:cNvSpPr txBox="1"/>
          <p:nvPr/>
        </p:nvSpPr>
        <p:spPr>
          <a:xfrm>
            <a:off x="1219200" y="534731"/>
            <a:ext cx="10820400" cy="632326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2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ighlight>
                  <a:srgbClr val="FFFF00"/>
                </a:highlight>
              </a:rPr>
              <a:t>Introduction to Scripting Technologies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1" dirty="0"/>
              <a:t>Scripting technologies</a:t>
            </a:r>
            <a:r>
              <a:rPr lang="en-US" sz="2000" dirty="0"/>
              <a:t> are programming tools used to make websites </a:t>
            </a:r>
            <a:r>
              <a:rPr lang="en-US" sz="2000" b="1" dirty="0"/>
              <a:t>dynamic and interactive</a:t>
            </a:r>
            <a:r>
              <a:rPr lang="en-US" sz="2000" dirty="0"/>
              <a:t>.</a:t>
            </a:r>
          </a:p>
          <a:p>
            <a:pPr>
              <a:lnSpc>
                <a:spcPct val="150000"/>
              </a:lnSpc>
              <a:buNone/>
            </a:pPr>
            <a:r>
              <a:rPr lang="en-US" sz="2000" dirty="0"/>
              <a:t>Instead of showing static content only, scripts allow websites to: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Respond to user actions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Validate forms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Update content without reloading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highlight>
                  <a:srgbClr val="FFFF00"/>
                </a:highlight>
              </a:rPr>
              <a:t>Communicate with servers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1" dirty="0"/>
              <a:t>Examples of scripting languages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/>
              <a:t>JavaScript</a:t>
            </a:r>
            <a:r>
              <a:rPr lang="en-US" sz="2000" dirty="0"/>
              <a:t> – runs in the browser (client-side)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>
                <a:highlight>
                  <a:srgbClr val="FFFF00"/>
                </a:highlight>
              </a:rPr>
              <a:t>PHP</a:t>
            </a:r>
            <a:r>
              <a:rPr lang="en-US" sz="2000" dirty="0">
                <a:highlight>
                  <a:srgbClr val="FFFF00"/>
                </a:highlight>
              </a:rPr>
              <a:t> – runs on the web server (server-side)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/>
              <a:t>Python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/>
              <a:t>JAVA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b="1" dirty="0"/>
              <a:t>Etc. 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95700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8DE644E-E21A-3E8F-725A-21172D2D9050}"/>
              </a:ext>
            </a:extLst>
          </p:cNvPr>
          <p:cNvSpPr txBox="1"/>
          <p:nvPr/>
        </p:nvSpPr>
        <p:spPr>
          <a:xfrm>
            <a:off x="2133600" y="1676400"/>
            <a:ext cx="8535228" cy="502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400" b="1" dirty="0"/>
              <a:t>PHP (Hypertext Preprocessor)</a:t>
            </a:r>
            <a:r>
              <a:rPr lang="en-US" sz="2400" dirty="0"/>
              <a:t> is a </a:t>
            </a:r>
            <a:r>
              <a:rPr lang="en-US" sz="2400" b="1" dirty="0"/>
              <a:t>server-side scripting language</a:t>
            </a:r>
            <a:r>
              <a:rPr lang="en-US" sz="2400" dirty="0"/>
              <a:t> used to create </a:t>
            </a:r>
            <a:r>
              <a:rPr lang="en-US" sz="2400" b="1" dirty="0"/>
              <a:t>dynamic and interactive web pages</a:t>
            </a:r>
            <a:r>
              <a:rPr lang="en-US" sz="2400" dirty="0"/>
              <a:t>.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400" dirty="0"/>
              <a:t>It runs on the </a:t>
            </a:r>
            <a:r>
              <a:rPr lang="en-US" sz="2400" b="1" dirty="0"/>
              <a:t>web server</a:t>
            </a:r>
            <a:r>
              <a:rPr lang="en-US" sz="2400" dirty="0"/>
              <a:t> and sends the result to the user's browser as </a:t>
            </a:r>
            <a:r>
              <a:rPr lang="en-US" sz="2400" b="1" dirty="0"/>
              <a:t>HTML</a:t>
            </a:r>
            <a:r>
              <a:rPr lang="en-US" sz="2400" dirty="0"/>
              <a:t>.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400" dirty="0"/>
              <a:t>PHP is commonly used for: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Web applications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Form processing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Database interaction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User authentication systems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D7CD6A-EDFC-7F9C-A495-45E2FCBFA1F1}"/>
              </a:ext>
            </a:extLst>
          </p:cNvPr>
          <p:cNvSpPr txBox="1"/>
          <p:nvPr/>
        </p:nvSpPr>
        <p:spPr>
          <a:xfrm>
            <a:off x="1981200" y="1076980"/>
            <a:ext cx="3505200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rgbClr val="FF0000"/>
                </a:solidFill>
                <a:highlight>
                  <a:srgbClr val="FFFF00"/>
                </a:highlight>
              </a:rPr>
              <a:t>1. Introduction to PHP</a:t>
            </a:r>
          </a:p>
        </p:txBody>
      </p:sp>
    </p:spTree>
    <p:extLst>
      <p:ext uri="{BB962C8B-B14F-4D97-AF65-F5344CB8AC3E}">
        <p14:creationId xmlns:p14="http://schemas.microsoft.com/office/powerpoint/2010/main" val="2253926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FB4033E-E447-B35F-4065-D1709DCA3368}"/>
              </a:ext>
            </a:extLst>
          </p:cNvPr>
          <p:cNvSpPr txBox="1"/>
          <p:nvPr/>
        </p:nvSpPr>
        <p:spPr>
          <a:xfrm>
            <a:off x="2209800" y="1371600"/>
            <a:ext cx="8077200" cy="446705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2. Features of PHP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/>
              <a:t>Main features of PHP: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Open source (free to use)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Easy to learn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Runs on many platforms (Windows, Linux, Mac)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Supports many databases (MySQL, PostgreSQL, Oracle)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Embedded in HTML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Fast execution on servers</a:t>
            </a:r>
          </a:p>
        </p:txBody>
      </p:sp>
    </p:spTree>
    <p:extLst>
      <p:ext uri="{BB962C8B-B14F-4D97-AF65-F5344CB8AC3E}">
        <p14:creationId xmlns:p14="http://schemas.microsoft.com/office/powerpoint/2010/main" val="4083820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268A35C-4A0F-2608-7ACC-1964F746CB70}"/>
              </a:ext>
            </a:extLst>
          </p:cNvPr>
          <p:cNvSpPr txBox="1"/>
          <p:nvPr/>
        </p:nvSpPr>
        <p:spPr>
          <a:xfrm>
            <a:off x="685800" y="1084451"/>
            <a:ext cx="4572000" cy="447814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3. Basic Structure of a PHP Script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/>
              <a:t>A PHP script starts with:</a:t>
            </a:r>
          </a:p>
          <a:p>
            <a:pPr>
              <a:lnSpc>
                <a:spcPct val="150000"/>
              </a:lnSpc>
              <a:buNone/>
            </a:pPr>
            <a:endParaRPr lang="en-US" sz="2400" dirty="0"/>
          </a:p>
          <a:p>
            <a:pPr lvl="2">
              <a:lnSpc>
                <a:spcPct val="150000"/>
              </a:lnSpc>
            </a:pP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</a:rPr>
              <a:t>&lt;?</a:t>
            </a:r>
            <a:r>
              <a:rPr lang="en-US" sz="2400" dirty="0" err="1">
                <a:solidFill>
                  <a:srgbClr val="FF0000"/>
                </a:solidFill>
                <a:latin typeface="Courier New" panose="02070309020205020404" pitchFamily="49" charset="0"/>
              </a:rPr>
              <a:t>php</a:t>
            </a:r>
            <a:b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</a:rPr>
              <a:t>// PHP code</a:t>
            </a:r>
            <a:b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</a:rPr>
              <a:t>?&gt;</a:t>
            </a:r>
          </a:p>
          <a:p>
            <a:pPr lvl="2">
              <a:lnSpc>
                <a:spcPct val="150000"/>
              </a:lnSpc>
            </a:pPr>
            <a:endParaRPr lang="en-US" sz="2400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 lvl="2">
              <a:lnSpc>
                <a:spcPct val="150000"/>
              </a:lnSpc>
            </a:pPr>
            <a:endParaRPr lang="en-US" sz="2400" dirty="0">
              <a:solidFill>
                <a:srgbClr val="FF0000"/>
              </a:solidFill>
              <a:latin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588CA3-F134-B2AC-C17E-6D485CA02264}"/>
              </a:ext>
            </a:extLst>
          </p:cNvPr>
          <p:cNvSpPr txBox="1"/>
          <p:nvPr/>
        </p:nvSpPr>
        <p:spPr>
          <a:xfrm>
            <a:off x="5486400" y="1107642"/>
            <a:ext cx="2971800" cy="184665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Example: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412420-ABD7-C5A5-56E0-D00C51B8BE55}"/>
              </a:ext>
            </a:extLst>
          </p:cNvPr>
          <p:cNvSpPr txBox="1"/>
          <p:nvPr/>
        </p:nvSpPr>
        <p:spPr>
          <a:xfrm>
            <a:off x="8603974" y="1084451"/>
            <a:ext cx="3383902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Example </a:t>
            </a:r>
            <a:r>
              <a:rPr lang="en-US" sz="2400" dirty="0"/>
              <a:t>inside HTML</a:t>
            </a:r>
            <a:r>
              <a:rPr lang="en-US" sz="2400" b="1" dirty="0"/>
              <a:t>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0D548A5-9DA4-7941-4489-05CB7B9532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1471" y="1676237"/>
            <a:ext cx="3186405" cy="37400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B9C0559-251A-6375-7EFB-314C381C96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700" y="1676237"/>
            <a:ext cx="262890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467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2F10516-57A3-80D6-D3A9-4B0E7E0E1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698500"/>
            <a:ext cx="8229600" cy="615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744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FEDB11E-5C5F-3923-F439-939432BEA0D2}"/>
              </a:ext>
            </a:extLst>
          </p:cNvPr>
          <p:cNvSpPr txBox="1"/>
          <p:nvPr/>
        </p:nvSpPr>
        <p:spPr>
          <a:xfrm>
            <a:off x="685800" y="1122622"/>
            <a:ext cx="54102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</a:rPr>
              <a:t>4. PHP Variables</a:t>
            </a:r>
          </a:p>
          <a:p>
            <a:pPr>
              <a:buNone/>
            </a:pPr>
            <a:r>
              <a:rPr lang="en-US" sz="2400" dirty="0">
                <a:latin typeface="+mj-lt"/>
              </a:rPr>
              <a:t>Variables store data values.</a:t>
            </a:r>
          </a:p>
          <a:p>
            <a:pPr>
              <a:buNone/>
            </a:pPr>
            <a:endParaRPr lang="en-US" sz="2400" dirty="0">
              <a:latin typeface="+mj-lt"/>
            </a:endParaRPr>
          </a:p>
          <a:p>
            <a:pPr>
              <a:buNone/>
            </a:pPr>
            <a:r>
              <a:rPr lang="en-US" sz="2400" b="1" dirty="0">
                <a:latin typeface="+mj-lt"/>
              </a:rPr>
              <a:t>Rules rename variables in PHP: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400" dirty="0">
                <a:latin typeface="+mj-lt"/>
              </a:rPr>
              <a:t>Start with </a:t>
            </a:r>
            <a:r>
              <a:rPr lang="en-US" sz="2400" b="1" dirty="0">
                <a:latin typeface="+mj-lt"/>
              </a:rPr>
              <a:t>$</a:t>
            </a:r>
            <a:endParaRPr lang="en-US" sz="2400" dirty="0">
              <a:latin typeface="+mj-lt"/>
            </a:endParaRP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400" dirty="0">
                <a:latin typeface="+mj-lt"/>
              </a:rPr>
              <a:t>Cannot start with numbers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en-US" sz="2400" dirty="0">
                <a:latin typeface="+mj-lt"/>
              </a:rPr>
              <a:t>Case-sensitive</a:t>
            </a:r>
          </a:p>
          <a:p>
            <a:pPr lvl="1"/>
            <a:endParaRPr lang="en-US" sz="2400" dirty="0">
              <a:latin typeface="+mj-lt"/>
            </a:endParaRPr>
          </a:p>
          <a:p>
            <a:pPr lvl="1"/>
            <a:endParaRPr lang="en-US" sz="2400" dirty="0">
              <a:latin typeface="+mj-lt"/>
            </a:endParaRPr>
          </a:p>
          <a:p>
            <a:pPr lvl="1"/>
            <a:endParaRPr lang="en-US" sz="2400" dirty="0">
              <a:latin typeface="+mj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CB81B0D-EFA4-9255-E921-7001D9887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5" y="3886200"/>
            <a:ext cx="5848350" cy="1295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D628588-5B93-B8A6-0AC0-BDC1A1AF4AD3}"/>
              </a:ext>
            </a:extLst>
          </p:cNvPr>
          <p:cNvSpPr txBox="1"/>
          <p:nvPr/>
        </p:nvSpPr>
        <p:spPr>
          <a:xfrm>
            <a:off x="6858000" y="1182756"/>
            <a:ext cx="4267200" cy="335906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highlight>
                  <a:srgbClr val="FFFF00"/>
                </a:highlight>
                <a:latin typeface="+mj-lt"/>
              </a:rPr>
              <a:t>Example:</a:t>
            </a:r>
          </a:p>
          <a:p>
            <a:pPr lvl="2">
              <a:lnSpc>
                <a:spcPct val="150000"/>
              </a:lnSpc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&lt;?php</a:t>
            </a:r>
            <a:br>
              <a:rPr lang="en-US" sz="2400" dirty="0">
                <a:solidFill>
                  <a:srgbClr val="FF0000"/>
                </a:solidFill>
                <a:latin typeface="+mj-lt"/>
              </a:rPr>
            </a:br>
            <a:r>
              <a:rPr lang="en-US" sz="2400" dirty="0">
                <a:solidFill>
                  <a:srgbClr val="FF0000"/>
                </a:solidFill>
                <a:latin typeface="+mj-lt"/>
              </a:rPr>
              <a:t>$name = "John";</a:t>
            </a:r>
            <a:br>
              <a:rPr lang="en-US" sz="2400" dirty="0">
                <a:solidFill>
                  <a:srgbClr val="FF0000"/>
                </a:solidFill>
                <a:latin typeface="+mj-lt"/>
              </a:rPr>
            </a:br>
            <a:r>
              <a:rPr lang="en-US" sz="2400" dirty="0">
                <a:solidFill>
                  <a:srgbClr val="FF0000"/>
                </a:solidFill>
                <a:latin typeface="+mj-lt"/>
              </a:rPr>
              <a:t>$age = 25;</a:t>
            </a:r>
            <a:br>
              <a:rPr lang="en-US" sz="2400" dirty="0">
                <a:solidFill>
                  <a:srgbClr val="FF0000"/>
                </a:solidFill>
                <a:latin typeface="+mj-lt"/>
              </a:rPr>
            </a:br>
            <a:r>
              <a:rPr lang="en-US" sz="2400" dirty="0">
                <a:solidFill>
                  <a:srgbClr val="FF0000"/>
                </a:solidFill>
                <a:latin typeface="+mj-lt"/>
              </a:rPr>
              <a:t>echo $name;</a:t>
            </a:r>
            <a:br>
              <a:rPr lang="en-US" sz="2400" dirty="0">
                <a:solidFill>
                  <a:srgbClr val="FF0000"/>
                </a:solidFill>
                <a:latin typeface="+mj-lt"/>
              </a:rPr>
            </a:br>
            <a:r>
              <a:rPr lang="en-US" sz="2400" dirty="0">
                <a:solidFill>
                  <a:srgbClr val="FF0000"/>
                </a:solidFill>
                <a:latin typeface="+mj-lt"/>
              </a:rPr>
              <a:t>?&gt;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09D108A-3BA1-609D-2CD3-8457447C5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5189517"/>
            <a:ext cx="8724900" cy="1755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0519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014FB56-D106-CC02-E473-B7D5EF2F04B7}"/>
              </a:ext>
            </a:extLst>
          </p:cNvPr>
          <p:cNvSpPr txBox="1"/>
          <p:nvPr/>
        </p:nvSpPr>
        <p:spPr>
          <a:xfrm>
            <a:off x="1447800" y="1905001"/>
            <a:ext cx="9829800" cy="268086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Calibri-Bold"/>
              </a:rPr>
              <a:t>PHP is a Loosely Typed Language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PHP is a loosely typed language, and we do not require to declare the data types of variables, rather PHP assumes it automatically by analyzing the values. The same happens while conversion.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No variables are declared before they are used.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It automatically converts types from one type to another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whenever required.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7227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E06A3C-07C1-968A-0C7C-DFFABF2BA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914400"/>
            <a:ext cx="8991600" cy="576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4530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2E163B5-FC79-9032-849D-9C97112B3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914400"/>
            <a:ext cx="8239125" cy="5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8982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85AE47D-5435-EF03-81B7-4B319E63F360}"/>
              </a:ext>
            </a:extLst>
          </p:cNvPr>
          <p:cNvSpPr txBox="1"/>
          <p:nvPr/>
        </p:nvSpPr>
        <p:spPr>
          <a:xfrm>
            <a:off x="2438400" y="1447800"/>
            <a:ext cx="8229600" cy="3913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400" b="1" i="0" u="none" strike="noStrike" baseline="0" dirty="0">
                <a:solidFill>
                  <a:srgbClr val="000000"/>
                </a:solidFill>
                <a:latin typeface="Calibri-Bold"/>
              </a:rPr>
              <a:t>Example2 :</a:t>
            </a:r>
          </a:p>
          <a:p>
            <a:pPr algn="l">
              <a:lnSpc>
                <a:spcPct val="150000"/>
              </a:lnSpc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The following example will output the sum of two variables:</a:t>
            </a:r>
          </a:p>
          <a:p>
            <a:pPr algn="l">
              <a:lnSpc>
                <a:spcPct val="150000"/>
              </a:lnSpc>
            </a:pPr>
            <a:r>
              <a:rPr lang="en-US" sz="2400" b="1" i="0" u="none" strike="noStrike" baseline="0" dirty="0">
                <a:solidFill>
                  <a:srgbClr val="FF0000"/>
                </a:solidFill>
                <a:latin typeface="Calibri-Bold"/>
              </a:rPr>
              <a:t>&lt;?</a:t>
            </a:r>
            <a:r>
              <a:rPr lang="en-US" sz="2400" b="1" i="0" u="none" strike="noStrike" baseline="0" dirty="0" err="1">
                <a:solidFill>
                  <a:srgbClr val="FF0000"/>
                </a:solidFill>
                <a:latin typeface="Calibri-Bold"/>
              </a:rPr>
              <a:t>php</a:t>
            </a:r>
            <a:endParaRPr lang="en-US" sz="2400" b="1" i="0" u="none" strike="noStrike" baseline="0" dirty="0">
              <a:solidFill>
                <a:srgbClr val="FF0000"/>
              </a:solidFill>
              <a:latin typeface="Calibri-Bold"/>
            </a:endParaRPr>
          </a:p>
          <a:p>
            <a:pPr algn="l">
              <a:lnSpc>
                <a:spcPct val="150000"/>
              </a:lnSpc>
            </a:pPr>
            <a:r>
              <a:rPr lang="en-US" sz="2400" b="1" i="0" u="none" strike="noStrike" baseline="0" dirty="0">
                <a:solidFill>
                  <a:srgbClr val="000000"/>
                </a:solidFill>
                <a:latin typeface="Calibri-Bold"/>
              </a:rPr>
              <a:t>$x = </a:t>
            </a:r>
            <a:r>
              <a:rPr lang="en-US" sz="2400" b="1" i="0" u="none" strike="noStrike" baseline="0" dirty="0">
                <a:solidFill>
                  <a:srgbClr val="FF0000"/>
                </a:solidFill>
                <a:latin typeface="Calibri-Bold"/>
              </a:rPr>
              <a:t>5</a:t>
            </a:r>
            <a:r>
              <a:rPr lang="en-US" sz="2400" b="1" i="0" u="none" strike="noStrike" baseline="0" dirty="0">
                <a:solidFill>
                  <a:srgbClr val="000000"/>
                </a:solidFill>
                <a:latin typeface="Calibri-Bold"/>
              </a:rPr>
              <a:t>;</a:t>
            </a:r>
          </a:p>
          <a:p>
            <a:pPr algn="l">
              <a:lnSpc>
                <a:spcPct val="150000"/>
              </a:lnSpc>
            </a:pPr>
            <a:r>
              <a:rPr lang="en-US" sz="2400" b="1" i="0" u="none" strike="noStrike" baseline="0" dirty="0">
                <a:solidFill>
                  <a:srgbClr val="000000"/>
                </a:solidFill>
                <a:latin typeface="Calibri-Bold"/>
              </a:rPr>
              <a:t>$y = </a:t>
            </a:r>
            <a:r>
              <a:rPr lang="en-US" sz="2400" b="1" i="0" u="none" strike="noStrike" baseline="0" dirty="0">
                <a:solidFill>
                  <a:srgbClr val="FF0000"/>
                </a:solidFill>
                <a:latin typeface="Calibri-Bold"/>
              </a:rPr>
              <a:t>4</a:t>
            </a:r>
            <a:r>
              <a:rPr lang="en-US" sz="2400" b="1" i="0" u="none" strike="noStrike" baseline="0" dirty="0">
                <a:solidFill>
                  <a:srgbClr val="000000"/>
                </a:solidFill>
                <a:latin typeface="Calibri-Bold"/>
              </a:rPr>
              <a:t>;</a:t>
            </a:r>
          </a:p>
          <a:p>
            <a:pPr algn="l">
              <a:lnSpc>
                <a:spcPct val="150000"/>
              </a:lnSpc>
            </a:pPr>
            <a:r>
              <a:rPr lang="en-US" sz="2400" b="1" i="0" u="none" strike="noStrike" baseline="0" dirty="0">
                <a:solidFill>
                  <a:srgbClr val="0000CE"/>
                </a:solidFill>
                <a:latin typeface="Calibri-Bold"/>
              </a:rPr>
              <a:t>echo </a:t>
            </a:r>
            <a:r>
              <a:rPr lang="en-US" sz="2400" b="1" i="0" u="none" strike="noStrike" baseline="0" dirty="0">
                <a:solidFill>
                  <a:srgbClr val="000000"/>
                </a:solidFill>
                <a:latin typeface="Calibri-Bold"/>
              </a:rPr>
              <a:t>$x + $y;</a:t>
            </a:r>
          </a:p>
          <a:p>
            <a:pPr algn="l">
              <a:lnSpc>
                <a:spcPct val="150000"/>
              </a:lnSpc>
            </a:pPr>
            <a:r>
              <a:rPr lang="en-US" sz="2400" b="1" i="0" u="none" strike="noStrike" baseline="0" dirty="0">
                <a:solidFill>
                  <a:srgbClr val="FF0000"/>
                </a:solidFill>
                <a:latin typeface="Calibri-Bold"/>
              </a:rPr>
              <a:t>?&gt;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4604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6560CD7-DD9B-F7A1-A1BA-409FEDC387DC}"/>
              </a:ext>
            </a:extLst>
          </p:cNvPr>
          <p:cNvSpPr txBox="1"/>
          <p:nvPr/>
        </p:nvSpPr>
        <p:spPr>
          <a:xfrm>
            <a:off x="3048828" y="889844"/>
            <a:ext cx="609765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Calibri-Bold"/>
              </a:rPr>
              <a:t>Example3:</a:t>
            </a:r>
          </a:p>
          <a:p>
            <a:pPr algn="l"/>
            <a:endParaRPr lang="en-US" sz="1800" b="1" i="0" u="none" strike="noStrike" baseline="0" dirty="0">
              <a:solidFill>
                <a:srgbClr val="000000"/>
              </a:solidFill>
              <a:latin typeface="Calibri-Bold"/>
            </a:endParaRPr>
          </a:p>
          <a:p>
            <a:pPr lvl="1"/>
            <a:r>
              <a:rPr lang="en-US" u="none" strike="noStrike" baseline="0" dirty="0">
                <a:solidFill>
                  <a:srgbClr val="FF0000"/>
                </a:solidFill>
                <a:latin typeface="Calibri-BoldItalic"/>
              </a:rPr>
              <a:t>&lt;!DOCTYPE html&gt;</a:t>
            </a:r>
          </a:p>
          <a:p>
            <a:pPr lvl="1"/>
            <a:r>
              <a:rPr lang="en-US" u="none" strike="noStrike" baseline="0" dirty="0">
                <a:solidFill>
                  <a:srgbClr val="FF0000"/>
                </a:solidFill>
                <a:latin typeface="Calibri-BoldItalic"/>
              </a:rPr>
              <a:t>&lt;html&gt;</a:t>
            </a:r>
          </a:p>
          <a:p>
            <a:pPr lvl="1"/>
            <a:r>
              <a:rPr lang="en-US" u="none" strike="noStrike" baseline="0" dirty="0">
                <a:solidFill>
                  <a:srgbClr val="FF0000"/>
                </a:solidFill>
                <a:latin typeface="Calibri-BoldItalic"/>
              </a:rPr>
              <a:t>&lt;body&gt;</a:t>
            </a:r>
          </a:p>
          <a:p>
            <a:pPr lvl="2"/>
            <a:r>
              <a:rPr lang="en-US" u="none" strike="noStrike" baseline="0" dirty="0">
                <a:solidFill>
                  <a:srgbClr val="FF0000"/>
                </a:solidFill>
                <a:latin typeface="Calibri-BoldItalic"/>
              </a:rPr>
              <a:t>&lt;?</a:t>
            </a:r>
            <a:r>
              <a:rPr lang="en-US" u="none" strike="noStrike" baseline="0" dirty="0" err="1">
                <a:solidFill>
                  <a:srgbClr val="FF0000"/>
                </a:solidFill>
                <a:latin typeface="Calibri-BoldItalic"/>
              </a:rPr>
              <a:t>php</a:t>
            </a:r>
            <a:endParaRPr lang="en-US" u="none" strike="noStrike" baseline="0" dirty="0">
              <a:solidFill>
                <a:srgbClr val="FF0000"/>
              </a:solidFill>
              <a:latin typeface="Calibri-BoldItalic"/>
            </a:endParaRPr>
          </a:p>
          <a:p>
            <a:pPr lvl="2"/>
            <a:r>
              <a:rPr lang="en-US" u="none" strike="noStrike" baseline="0" dirty="0">
                <a:solidFill>
                  <a:srgbClr val="FF0000"/>
                </a:solidFill>
                <a:latin typeface="Calibri-BoldItalic"/>
              </a:rPr>
              <a:t>$txt1 = "Learn PHP";</a:t>
            </a:r>
          </a:p>
          <a:p>
            <a:pPr lvl="2"/>
            <a:r>
              <a:rPr lang="en-US" u="none" strike="noStrike" baseline="0" dirty="0">
                <a:solidFill>
                  <a:srgbClr val="FF0000"/>
                </a:solidFill>
                <a:latin typeface="Calibri-BoldItalic"/>
              </a:rPr>
              <a:t>$txt2 = "W3Schools.com";</a:t>
            </a:r>
          </a:p>
          <a:p>
            <a:pPr lvl="2"/>
            <a:r>
              <a:rPr lang="en-US" u="none" strike="noStrike" baseline="0" dirty="0">
                <a:solidFill>
                  <a:srgbClr val="FF0000"/>
                </a:solidFill>
                <a:latin typeface="Calibri-BoldItalic"/>
              </a:rPr>
              <a:t>$x = 5;</a:t>
            </a:r>
          </a:p>
          <a:p>
            <a:pPr lvl="2"/>
            <a:r>
              <a:rPr lang="en-US" u="none" strike="noStrike" baseline="0" dirty="0">
                <a:solidFill>
                  <a:srgbClr val="FF0000"/>
                </a:solidFill>
                <a:latin typeface="Calibri-BoldItalic"/>
              </a:rPr>
              <a:t>$y = 4;</a:t>
            </a:r>
          </a:p>
          <a:p>
            <a:pPr lvl="2"/>
            <a:r>
              <a:rPr lang="en-US" u="none" strike="noStrike" baseline="0" dirty="0">
                <a:solidFill>
                  <a:srgbClr val="FF0000"/>
                </a:solidFill>
                <a:latin typeface="Calibri-BoldItalic"/>
              </a:rPr>
              <a:t>print "&lt;h2&gt;" . $txt1 . "&lt;/h2&gt;";</a:t>
            </a:r>
          </a:p>
          <a:p>
            <a:pPr lvl="2"/>
            <a:r>
              <a:rPr lang="en-US" u="none" strike="noStrike" baseline="0" dirty="0">
                <a:solidFill>
                  <a:srgbClr val="FF0000"/>
                </a:solidFill>
                <a:latin typeface="Calibri-BoldItalic"/>
              </a:rPr>
              <a:t>print "Study PHP at " . $txt2 . "&lt;</a:t>
            </a:r>
            <a:r>
              <a:rPr lang="en-US" u="none" strike="noStrike" baseline="0" dirty="0" err="1">
                <a:solidFill>
                  <a:srgbClr val="FF0000"/>
                </a:solidFill>
                <a:latin typeface="Calibri-BoldItalic"/>
              </a:rPr>
              <a:t>br</a:t>
            </a:r>
            <a:r>
              <a:rPr lang="en-US" u="none" strike="noStrike" baseline="0" dirty="0">
                <a:solidFill>
                  <a:srgbClr val="FF0000"/>
                </a:solidFill>
                <a:latin typeface="Calibri-BoldItalic"/>
              </a:rPr>
              <a:t>&gt;";</a:t>
            </a:r>
          </a:p>
          <a:p>
            <a:pPr lvl="2"/>
            <a:r>
              <a:rPr lang="en-US" u="none" strike="noStrike" baseline="0" dirty="0">
                <a:solidFill>
                  <a:srgbClr val="FF0000"/>
                </a:solidFill>
                <a:latin typeface="Calibri-BoldItalic"/>
              </a:rPr>
              <a:t>print $x + $y;</a:t>
            </a:r>
          </a:p>
          <a:p>
            <a:pPr lvl="2"/>
            <a:r>
              <a:rPr lang="en-US" u="none" strike="noStrike" baseline="0" dirty="0">
                <a:solidFill>
                  <a:srgbClr val="FF0000"/>
                </a:solidFill>
                <a:latin typeface="Calibri-BoldItalic"/>
              </a:rPr>
              <a:t>?&gt;</a:t>
            </a:r>
          </a:p>
          <a:p>
            <a:pPr lvl="1"/>
            <a:r>
              <a:rPr lang="en-US" u="none" strike="noStrike" baseline="0" dirty="0">
                <a:solidFill>
                  <a:srgbClr val="FF0000"/>
                </a:solidFill>
                <a:latin typeface="Calibri-BoldItalic"/>
              </a:rPr>
              <a:t>&lt;/body&gt;</a:t>
            </a:r>
          </a:p>
          <a:p>
            <a:pPr lvl="1"/>
            <a:r>
              <a:rPr lang="en-US" u="none" strike="noStrike" baseline="0" dirty="0">
                <a:solidFill>
                  <a:srgbClr val="FF0000"/>
                </a:solidFill>
                <a:latin typeface="Calibri-BoldItalic"/>
              </a:rPr>
              <a:t>&lt;/html&gt;</a:t>
            </a:r>
          </a:p>
          <a:p>
            <a:pPr lvl="1"/>
            <a:endParaRPr lang="en-US" u="none" strike="noStrike" baseline="0" dirty="0">
              <a:solidFill>
                <a:srgbClr val="FF0000"/>
              </a:solidFill>
              <a:latin typeface="Calibri-BoldItalic"/>
            </a:endParaRPr>
          </a:p>
          <a:p>
            <a:pPr algn="l"/>
            <a:r>
              <a:rPr lang="en-US" sz="1800" b="1" i="1" u="none" strike="noStrike" baseline="0" dirty="0">
                <a:solidFill>
                  <a:srgbClr val="000000"/>
                </a:solidFill>
                <a:latin typeface="Calibri-BoldItalic"/>
              </a:rPr>
              <a:t>Output</a:t>
            </a:r>
          </a:p>
          <a:p>
            <a:pPr algn="l"/>
            <a:r>
              <a:rPr lang="en-US" sz="1800" b="1" i="0" u="none" strike="noStrike" baseline="0" dirty="0">
                <a:solidFill>
                  <a:srgbClr val="FF0000"/>
                </a:solidFill>
                <a:latin typeface="Calibri-Bold"/>
              </a:rPr>
              <a:t>Study PHP at W3Schools.com</a:t>
            </a:r>
          </a:p>
          <a:p>
            <a:pPr algn="l"/>
            <a:r>
              <a:rPr lang="en-US" sz="1800" b="1" i="0" u="none" strike="noStrike" baseline="0" dirty="0">
                <a:solidFill>
                  <a:srgbClr val="FF0000"/>
                </a:solidFill>
                <a:latin typeface="Calibri-Bold"/>
              </a:rPr>
              <a:t>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0805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88700B4-AA81-5827-FF7A-642E4504F17F}"/>
              </a:ext>
            </a:extLst>
          </p:cNvPr>
          <p:cNvSpPr txBox="1"/>
          <p:nvPr/>
        </p:nvSpPr>
        <p:spPr>
          <a:xfrm>
            <a:off x="1752600" y="997565"/>
            <a:ext cx="9753600" cy="5416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Consolas-Bold"/>
              </a:rPr>
              <a:t>PHP Variable: Declaring string, integer and float</a:t>
            </a:r>
          </a:p>
          <a:p>
            <a:pPr algn="l"/>
            <a:endParaRPr lang="en-US" sz="2000" b="1" i="0" u="none" strike="noStrike" baseline="0" dirty="0">
              <a:solidFill>
                <a:srgbClr val="000000"/>
              </a:solidFill>
              <a:latin typeface="Consolas-Bold"/>
            </a:endParaRP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Let's see the example to store string, integer and float values in PHP variables.</a:t>
            </a: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algn="l"/>
            <a:r>
              <a:rPr lang="en-US" sz="1800" b="0" i="1" u="none" strike="noStrike" baseline="0" dirty="0">
                <a:solidFill>
                  <a:srgbClr val="000000"/>
                </a:solidFill>
                <a:latin typeface="Calibri-Italic"/>
              </a:rPr>
              <a:t>File: variable1.php</a:t>
            </a:r>
          </a:p>
          <a:p>
            <a:pPr algn="l"/>
            <a:endParaRPr lang="en-US" sz="1800" b="0" i="1" u="none" strike="noStrike" baseline="0" dirty="0">
              <a:solidFill>
                <a:srgbClr val="000000"/>
              </a:solidFill>
              <a:latin typeface="Calibri-Italic"/>
            </a:endParaRPr>
          </a:p>
          <a:p>
            <a:pPr lvl="1"/>
            <a:r>
              <a:rPr lang="en-US" b="1" i="0" u="none" strike="noStrike" baseline="0" dirty="0">
                <a:solidFill>
                  <a:srgbClr val="00669A"/>
                </a:solidFill>
                <a:latin typeface="Calibri-Bold"/>
              </a:rPr>
              <a:t>&lt;?</a:t>
            </a:r>
            <a:r>
              <a:rPr lang="en-US" b="1" i="0" u="none" strike="noStrike" baseline="0" dirty="0" err="1">
                <a:solidFill>
                  <a:srgbClr val="00669A"/>
                </a:solidFill>
                <a:latin typeface="Calibri-Bold"/>
              </a:rPr>
              <a:t>php</a:t>
            </a:r>
            <a:endParaRPr lang="en-US" b="1" i="0" u="none" strike="noStrike" baseline="0" dirty="0">
              <a:solidFill>
                <a:srgbClr val="00669A"/>
              </a:solidFill>
              <a:latin typeface="Calibri-Bold"/>
            </a:endParaRPr>
          </a:p>
          <a:p>
            <a:pPr lvl="1"/>
            <a:r>
              <a:rPr lang="en-US" b="1" i="0" u="none" strike="noStrike" baseline="0" dirty="0">
                <a:solidFill>
                  <a:srgbClr val="000000"/>
                </a:solidFill>
                <a:latin typeface="Calibri-Bold"/>
              </a:rPr>
              <a:t>$</a:t>
            </a:r>
            <a:r>
              <a:rPr lang="en-US" b="1" i="0" u="none" strike="noStrike" baseline="0" dirty="0">
                <a:solidFill>
                  <a:srgbClr val="FF0000"/>
                </a:solidFill>
                <a:latin typeface="Calibri-Bold"/>
              </a:rPr>
              <a:t>str</a:t>
            </a:r>
            <a:r>
              <a:rPr lang="en-US" b="1" i="0" u="none" strike="noStrike" baseline="0" dirty="0">
                <a:solidFill>
                  <a:srgbClr val="000000"/>
                </a:solidFill>
                <a:latin typeface="Calibri-Bold"/>
              </a:rPr>
              <a:t>=</a:t>
            </a:r>
            <a:r>
              <a:rPr lang="en-US" b="1" i="0" u="none" strike="noStrike" baseline="0" dirty="0">
                <a:solidFill>
                  <a:srgbClr val="0000FF"/>
                </a:solidFill>
                <a:latin typeface="Calibri-Bold"/>
              </a:rPr>
              <a:t>"hello string"</a:t>
            </a:r>
            <a:r>
              <a:rPr lang="en-US" b="1" i="0" u="none" strike="noStrike" baseline="0" dirty="0">
                <a:solidFill>
                  <a:srgbClr val="000000"/>
                </a:solidFill>
                <a:latin typeface="Calibri-Bold"/>
              </a:rPr>
              <a:t>;</a:t>
            </a:r>
          </a:p>
          <a:p>
            <a:pPr lvl="1"/>
            <a:r>
              <a:rPr lang="en-US" b="1" i="0" u="none" strike="noStrike" baseline="0" dirty="0">
                <a:solidFill>
                  <a:srgbClr val="000000"/>
                </a:solidFill>
                <a:latin typeface="Calibri-Bold"/>
              </a:rPr>
              <a:t>$</a:t>
            </a:r>
            <a:r>
              <a:rPr lang="en-US" b="1" i="0" u="none" strike="noStrike" baseline="0" dirty="0">
                <a:solidFill>
                  <a:srgbClr val="FF0000"/>
                </a:solidFill>
                <a:latin typeface="Calibri-Bold"/>
              </a:rPr>
              <a:t>x</a:t>
            </a:r>
            <a:r>
              <a:rPr lang="en-US" b="1" i="0" u="none" strike="noStrike" baseline="0" dirty="0">
                <a:solidFill>
                  <a:srgbClr val="000000"/>
                </a:solidFill>
                <a:latin typeface="Calibri-Bold"/>
              </a:rPr>
              <a:t>=</a:t>
            </a:r>
            <a:r>
              <a:rPr lang="en-US" b="1" i="0" u="none" strike="noStrike" baseline="0" dirty="0">
                <a:solidFill>
                  <a:srgbClr val="0000FF"/>
                </a:solidFill>
                <a:latin typeface="Calibri-Bold"/>
              </a:rPr>
              <a:t>200</a:t>
            </a:r>
            <a:r>
              <a:rPr lang="en-US" b="1" i="0" u="none" strike="noStrike" baseline="0" dirty="0">
                <a:solidFill>
                  <a:srgbClr val="000000"/>
                </a:solidFill>
                <a:latin typeface="Calibri-Bold"/>
              </a:rPr>
              <a:t>;</a:t>
            </a:r>
          </a:p>
          <a:p>
            <a:pPr lvl="1"/>
            <a:r>
              <a:rPr lang="en-US" b="1" i="0" u="none" strike="noStrike" baseline="0" dirty="0">
                <a:solidFill>
                  <a:srgbClr val="000000"/>
                </a:solidFill>
                <a:latin typeface="Calibri-Bold"/>
              </a:rPr>
              <a:t>$</a:t>
            </a:r>
            <a:r>
              <a:rPr lang="en-US" b="1" i="0" u="none" strike="noStrike" baseline="0" dirty="0">
                <a:solidFill>
                  <a:srgbClr val="FF0000"/>
                </a:solidFill>
                <a:latin typeface="Calibri-Bold"/>
              </a:rPr>
              <a:t>y</a:t>
            </a:r>
            <a:r>
              <a:rPr lang="en-US" b="1" i="0" u="none" strike="noStrike" baseline="0" dirty="0">
                <a:solidFill>
                  <a:srgbClr val="000000"/>
                </a:solidFill>
                <a:latin typeface="Calibri-Bold"/>
              </a:rPr>
              <a:t>=</a:t>
            </a:r>
            <a:r>
              <a:rPr lang="en-US" b="1" i="0" u="none" strike="noStrike" baseline="0" dirty="0">
                <a:solidFill>
                  <a:srgbClr val="0000FF"/>
                </a:solidFill>
                <a:latin typeface="Calibri-Bold"/>
              </a:rPr>
              <a:t>44</a:t>
            </a:r>
            <a:r>
              <a:rPr lang="en-US" b="1" i="0" u="none" strike="noStrike" baseline="0" dirty="0">
                <a:solidFill>
                  <a:srgbClr val="000000"/>
                </a:solidFill>
                <a:latin typeface="Calibri-Bold"/>
              </a:rPr>
              <a:t>.6;</a:t>
            </a:r>
          </a:p>
          <a:p>
            <a:pPr lvl="1"/>
            <a:r>
              <a:rPr lang="en-US" b="1" i="0" u="none" strike="noStrike" baseline="0" dirty="0">
                <a:solidFill>
                  <a:srgbClr val="000000"/>
                </a:solidFill>
                <a:latin typeface="Calibri-Bold"/>
              </a:rPr>
              <a:t>echo "string is: $str </a:t>
            </a:r>
            <a:r>
              <a:rPr lang="en-US" b="1" i="0" u="none" strike="noStrike" baseline="0" dirty="0">
                <a:solidFill>
                  <a:srgbClr val="00669A"/>
                </a:solidFill>
                <a:latin typeface="Calibri-Bold"/>
              </a:rPr>
              <a:t>&lt;</a:t>
            </a:r>
            <a:r>
              <a:rPr lang="en-US" b="1" i="0" u="none" strike="noStrike" baseline="0" dirty="0" err="1">
                <a:solidFill>
                  <a:srgbClr val="00669A"/>
                </a:solidFill>
                <a:latin typeface="Calibri-Bold"/>
              </a:rPr>
              <a:t>br</a:t>
            </a:r>
            <a:r>
              <a:rPr lang="en-US" b="1" i="0" u="none" strike="noStrike" baseline="0" dirty="0">
                <a:solidFill>
                  <a:srgbClr val="00669A"/>
                </a:solidFill>
                <a:latin typeface="Calibri-Bold"/>
              </a:rPr>
              <a:t>/&gt;</a:t>
            </a:r>
            <a:r>
              <a:rPr lang="en-US" b="1" i="0" u="none" strike="noStrike" baseline="0" dirty="0">
                <a:solidFill>
                  <a:srgbClr val="000000"/>
                </a:solidFill>
                <a:latin typeface="Calibri-Bold"/>
              </a:rPr>
              <a:t>";</a:t>
            </a:r>
          </a:p>
          <a:p>
            <a:pPr lvl="1"/>
            <a:r>
              <a:rPr lang="nl-NL" b="1" i="0" u="none" strike="noStrike" baseline="0" dirty="0">
                <a:solidFill>
                  <a:srgbClr val="000000"/>
                </a:solidFill>
                <a:latin typeface="Calibri-Bold"/>
              </a:rPr>
              <a:t>echo "integer is: $x </a:t>
            </a:r>
            <a:r>
              <a:rPr lang="nl-NL" b="1" i="0" u="none" strike="noStrike" baseline="0" dirty="0">
                <a:solidFill>
                  <a:srgbClr val="00669A"/>
                </a:solidFill>
                <a:latin typeface="Calibri-Bold"/>
              </a:rPr>
              <a:t>&lt;br/&gt;</a:t>
            </a:r>
            <a:r>
              <a:rPr lang="nl-NL" b="1" i="0" u="none" strike="noStrike" baseline="0" dirty="0">
                <a:solidFill>
                  <a:srgbClr val="000000"/>
                </a:solidFill>
                <a:latin typeface="Calibri-Bold"/>
              </a:rPr>
              <a:t>";</a:t>
            </a:r>
          </a:p>
          <a:p>
            <a:pPr lvl="1"/>
            <a:r>
              <a:rPr lang="en-US" b="1" i="0" u="none" strike="noStrike" baseline="0" dirty="0">
                <a:solidFill>
                  <a:srgbClr val="000000"/>
                </a:solidFill>
                <a:latin typeface="Calibri-Bold"/>
              </a:rPr>
              <a:t>echo "float is: $y </a:t>
            </a:r>
            <a:r>
              <a:rPr lang="en-US" b="1" i="0" u="none" strike="noStrike" baseline="0" dirty="0">
                <a:solidFill>
                  <a:srgbClr val="00669A"/>
                </a:solidFill>
                <a:latin typeface="Calibri-Bold"/>
              </a:rPr>
              <a:t>&lt;</a:t>
            </a:r>
            <a:r>
              <a:rPr lang="en-US" b="1" i="0" u="none" strike="noStrike" baseline="0" dirty="0" err="1">
                <a:solidFill>
                  <a:srgbClr val="00669A"/>
                </a:solidFill>
                <a:latin typeface="Calibri-Bold"/>
              </a:rPr>
              <a:t>br</a:t>
            </a:r>
            <a:r>
              <a:rPr lang="en-US" b="1" i="0" u="none" strike="noStrike" baseline="0" dirty="0">
                <a:solidFill>
                  <a:srgbClr val="00669A"/>
                </a:solidFill>
                <a:latin typeface="Calibri-Bold"/>
              </a:rPr>
              <a:t>/&gt;</a:t>
            </a:r>
            <a:r>
              <a:rPr lang="en-US" b="1" i="0" u="none" strike="noStrike" baseline="0" dirty="0">
                <a:solidFill>
                  <a:srgbClr val="000000"/>
                </a:solidFill>
                <a:latin typeface="Calibri-Bold"/>
              </a:rPr>
              <a:t>";</a:t>
            </a:r>
          </a:p>
          <a:p>
            <a:pPr lvl="1"/>
            <a:r>
              <a:rPr lang="en-US" b="1" i="0" u="none" strike="noStrike" baseline="0" dirty="0">
                <a:solidFill>
                  <a:srgbClr val="00669A"/>
                </a:solidFill>
                <a:latin typeface="Calibri-Bold"/>
              </a:rPr>
              <a:t>?&gt;</a:t>
            </a:r>
          </a:p>
          <a:p>
            <a:pPr lvl="1"/>
            <a:endParaRPr lang="en-US" b="1" i="0" u="none" strike="noStrike" baseline="0" dirty="0">
              <a:solidFill>
                <a:srgbClr val="00669A"/>
              </a:solidFill>
              <a:latin typeface="Calibri-Bold"/>
            </a:endParaRPr>
          </a:p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Calibri-Bold"/>
              </a:rPr>
              <a:t>Output: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Calibri-Bold"/>
              </a:rPr>
              <a:t>string is: hello string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Calibri-Bold"/>
              </a:rPr>
              <a:t>integer is: 200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Calibri-Bold"/>
              </a:rPr>
              <a:t>float is: 44.6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5127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E5024B2-EBD6-DF91-F043-8C88FC068EBD}"/>
              </a:ext>
            </a:extLst>
          </p:cNvPr>
          <p:cNvSpPr txBox="1"/>
          <p:nvPr/>
        </p:nvSpPr>
        <p:spPr>
          <a:xfrm>
            <a:off x="914400" y="1371600"/>
            <a:ext cx="110490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 u="none" strike="noStrike" baseline="0" dirty="0">
                <a:solidFill>
                  <a:srgbClr val="000000"/>
                </a:solidFill>
                <a:latin typeface="Consolas-Bold"/>
              </a:rPr>
              <a:t>PHP Variables are: case sensitive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In PHP, variable names are case sensitive. So variable name "color" is different from Color, COLOR,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COLor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etc.</a:t>
            </a: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algn="l"/>
            <a:r>
              <a:rPr lang="en-US" sz="1800" b="0" i="1" u="none" strike="noStrike" baseline="0" dirty="0">
                <a:solidFill>
                  <a:srgbClr val="000000"/>
                </a:solidFill>
                <a:latin typeface="Calibri-Italic"/>
              </a:rPr>
              <a:t>File: variable3.php</a:t>
            </a:r>
          </a:p>
          <a:p>
            <a:pPr lvl="1"/>
            <a:r>
              <a:rPr lang="en-US" b="1" i="0" u="none" strike="noStrike" baseline="0" dirty="0">
                <a:solidFill>
                  <a:srgbClr val="00669A"/>
                </a:solidFill>
                <a:latin typeface="Calibri-Bold"/>
              </a:rPr>
              <a:t>&lt;?</a:t>
            </a:r>
            <a:r>
              <a:rPr lang="en-US" b="1" i="0" u="none" strike="noStrike" baseline="0" dirty="0" err="1">
                <a:solidFill>
                  <a:srgbClr val="00669A"/>
                </a:solidFill>
                <a:latin typeface="Calibri-Bold"/>
              </a:rPr>
              <a:t>php</a:t>
            </a:r>
            <a:endParaRPr lang="en-US" b="1" i="0" u="none" strike="noStrike" baseline="0" dirty="0">
              <a:solidFill>
                <a:srgbClr val="00669A"/>
              </a:solidFill>
              <a:latin typeface="Calibri-Bold"/>
            </a:endParaRPr>
          </a:p>
          <a:p>
            <a:pPr lvl="1"/>
            <a:r>
              <a:rPr lang="en-US" b="1" i="0" u="none" strike="noStrike" baseline="0" dirty="0">
                <a:solidFill>
                  <a:srgbClr val="000000"/>
                </a:solidFill>
                <a:latin typeface="Calibri-Bold"/>
              </a:rPr>
              <a:t>$</a:t>
            </a:r>
            <a:r>
              <a:rPr lang="en-US" b="1" i="0" u="none" strike="noStrike" baseline="0" dirty="0">
                <a:solidFill>
                  <a:srgbClr val="FF0000"/>
                </a:solidFill>
                <a:latin typeface="Calibri-Bold"/>
              </a:rPr>
              <a:t>color</a:t>
            </a:r>
            <a:r>
              <a:rPr lang="en-US" b="1" i="0" u="none" strike="noStrike" baseline="0" dirty="0">
                <a:solidFill>
                  <a:srgbClr val="000000"/>
                </a:solidFill>
                <a:latin typeface="Calibri-Bold"/>
              </a:rPr>
              <a:t>=</a:t>
            </a:r>
            <a:r>
              <a:rPr lang="en-US" b="1" i="0" u="none" strike="noStrike" baseline="0" dirty="0">
                <a:solidFill>
                  <a:srgbClr val="0000FF"/>
                </a:solidFill>
                <a:latin typeface="Calibri-Bold"/>
              </a:rPr>
              <a:t>"red"</a:t>
            </a:r>
            <a:r>
              <a:rPr lang="en-US" b="1" i="0" u="none" strike="noStrike" baseline="0" dirty="0">
                <a:solidFill>
                  <a:srgbClr val="000000"/>
                </a:solidFill>
                <a:latin typeface="Calibri-Bold"/>
              </a:rPr>
              <a:t>;</a:t>
            </a:r>
          </a:p>
          <a:p>
            <a:pPr lvl="1"/>
            <a:r>
              <a:rPr lang="en-US" b="1" i="0" u="none" strike="noStrike" baseline="0" dirty="0">
                <a:solidFill>
                  <a:srgbClr val="000000"/>
                </a:solidFill>
                <a:latin typeface="Calibri-Bold"/>
              </a:rPr>
              <a:t>echo "My car is " . $color . "</a:t>
            </a:r>
            <a:r>
              <a:rPr lang="en-US" b="1" i="0" u="none" strike="noStrike" baseline="0" dirty="0">
                <a:solidFill>
                  <a:srgbClr val="00669A"/>
                </a:solidFill>
                <a:latin typeface="Calibri-Bold"/>
              </a:rPr>
              <a:t>&lt;</a:t>
            </a:r>
            <a:r>
              <a:rPr lang="en-US" b="1" i="0" u="none" strike="noStrike" baseline="0" dirty="0" err="1">
                <a:solidFill>
                  <a:srgbClr val="00669A"/>
                </a:solidFill>
                <a:latin typeface="Calibri-Bold"/>
              </a:rPr>
              <a:t>br</a:t>
            </a:r>
            <a:r>
              <a:rPr lang="en-US" b="1" i="0" u="none" strike="noStrike" baseline="0" dirty="0">
                <a:solidFill>
                  <a:srgbClr val="00669A"/>
                </a:solidFill>
                <a:latin typeface="Calibri-Bold"/>
              </a:rPr>
              <a:t>&gt;</a:t>
            </a:r>
            <a:r>
              <a:rPr lang="en-US" b="1" i="0" u="none" strike="noStrike" baseline="0" dirty="0">
                <a:solidFill>
                  <a:srgbClr val="000000"/>
                </a:solidFill>
                <a:latin typeface="Calibri-Bold"/>
              </a:rPr>
              <a:t>";</a:t>
            </a:r>
          </a:p>
          <a:p>
            <a:pPr lvl="1"/>
            <a:r>
              <a:rPr lang="en-US" b="1" i="0" u="none" strike="noStrike" baseline="0" dirty="0">
                <a:solidFill>
                  <a:srgbClr val="000000"/>
                </a:solidFill>
                <a:latin typeface="Calibri-Bold"/>
              </a:rPr>
              <a:t>echo "My house is " . $COLOR . "</a:t>
            </a:r>
            <a:r>
              <a:rPr lang="en-US" b="1" i="0" u="none" strike="noStrike" baseline="0" dirty="0">
                <a:solidFill>
                  <a:srgbClr val="00669A"/>
                </a:solidFill>
                <a:latin typeface="Calibri-Bold"/>
              </a:rPr>
              <a:t>&lt;</a:t>
            </a:r>
            <a:r>
              <a:rPr lang="en-US" b="1" i="0" u="none" strike="noStrike" baseline="0" dirty="0" err="1">
                <a:solidFill>
                  <a:srgbClr val="00669A"/>
                </a:solidFill>
                <a:latin typeface="Calibri-Bold"/>
              </a:rPr>
              <a:t>br</a:t>
            </a:r>
            <a:r>
              <a:rPr lang="en-US" b="1" i="0" u="none" strike="noStrike" baseline="0" dirty="0">
                <a:solidFill>
                  <a:srgbClr val="00669A"/>
                </a:solidFill>
                <a:latin typeface="Calibri-Bold"/>
              </a:rPr>
              <a:t>&gt;</a:t>
            </a:r>
            <a:r>
              <a:rPr lang="en-US" b="1" i="0" u="none" strike="noStrike" baseline="0" dirty="0">
                <a:solidFill>
                  <a:srgbClr val="000000"/>
                </a:solidFill>
                <a:latin typeface="Calibri-Bold"/>
              </a:rPr>
              <a:t>";</a:t>
            </a:r>
          </a:p>
          <a:p>
            <a:pPr lvl="1"/>
            <a:r>
              <a:rPr lang="en-US" b="1" i="0" u="none" strike="noStrike" baseline="0" dirty="0">
                <a:solidFill>
                  <a:srgbClr val="000000"/>
                </a:solidFill>
                <a:latin typeface="Calibri-Bold"/>
              </a:rPr>
              <a:t>echo "My boat is " . $</a:t>
            </a:r>
            <a:r>
              <a:rPr lang="en-US" b="1" i="0" u="none" strike="noStrike" baseline="0" dirty="0" err="1">
                <a:solidFill>
                  <a:srgbClr val="000000"/>
                </a:solidFill>
                <a:latin typeface="Calibri-Bold"/>
              </a:rPr>
              <a:t>coLOR</a:t>
            </a:r>
            <a:r>
              <a:rPr lang="en-US" b="1" i="0" u="none" strike="noStrike" baseline="0" dirty="0">
                <a:solidFill>
                  <a:srgbClr val="000000"/>
                </a:solidFill>
                <a:latin typeface="Calibri-Bold"/>
              </a:rPr>
              <a:t> . "</a:t>
            </a:r>
            <a:r>
              <a:rPr lang="en-US" b="1" i="0" u="none" strike="noStrike" baseline="0" dirty="0">
                <a:solidFill>
                  <a:srgbClr val="00669A"/>
                </a:solidFill>
                <a:latin typeface="Calibri-Bold"/>
              </a:rPr>
              <a:t>&lt;</a:t>
            </a:r>
            <a:r>
              <a:rPr lang="en-US" b="1" i="0" u="none" strike="noStrike" baseline="0" dirty="0" err="1">
                <a:solidFill>
                  <a:srgbClr val="00669A"/>
                </a:solidFill>
                <a:latin typeface="Calibri-Bold"/>
              </a:rPr>
              <a:t>br</a:t>
            </a:r>
            <a:r>
              <a:rPr lang="en-US" b="1" i="0" u="none" strike="noStrike" baseline="0" dirty="0">
                <a:solidFill>
                  <a:srgbClr val="00669A"/>
                </a:solidFill>
                <a:latin typeface="Calibri-Bold"/>
              </a:rPr>
              <a:t>&gt;</a:t>
            </a:r>
            <a:r>
              <a:rPr lang="en-US" b="1" i="0" u="none" strike="noStrike" baseline="0" dirty="0">
                <a:solidFill>
                  <a:srgbClr val="000000"/>
                </a:solidFill>
                <a:latin typeface="Calibri-Bold"/>
              </a:rPr>
              <a:t>";</a:t>
            </a:r>
          </a:p>
          <a:p>
            <a:pPr lvl="1"/>
            <a:r>
              <a:rPr lang="en-US" b="1" i="0" u="none" strike="noStrike" baseline="0" dirty="0">
                <a:solidFill>
                  <a:srgbClr val="00669A"/>
                </a:solidFill>
                <a:latin typeface="Calibri-Bold"/>
              </a:rPr>
              <a:t>?&gt;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Calibri-Bold"/>
              </a:rPr>
              <a:t>Output:</a:t>
            </a:r>
          </a:p>
          <a:p>
            <a:pPr algn="l"/>
            <a:endParaRPr lang="en-US" sz="1800" b="1" i="0" u="none" strike="noStrike" baseline="0" dirty="0">
              <a:solidFill>
                <a:srgbClr val="000000"/>
              </a:solidFill>
              <a:latin typeface="Calibri-Bold"/>
            </a:endParaRPr>
          </a:p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Calibri-Bold"/>
              </a:rPr>
              <a:t>My car is red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Calibri-Bold"/>
              </a:rPr>
              <a:t>Notice: Undefined variable: COLOR in C:\wamp\www\variable.php on line 4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Calibri-Bold"/>
              </a:rPr>
              <a:t>My house is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Calibri-Bold"/>
              </a:rPr>
              <a:t>Notice: Undefined variable: </a:t>
            </a:r>
            <a:r>
              <a:rPr lang="en-US" sz="1800" b="1" i="0" u="none" strike="noStrike" baseline="0" dirty="0" err="1">
                <a:solidFill>
                  <a:srgbClr val="000000"/>
                </a:solidFill>
                <a:latin typeface="Calibri-Bold"/>
              </a:rPr>
              <a:t>coLOR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Calibri-Bold"/>
              </a:rPr>
              <a:t> in C:\wamp\www\variable.php on line 5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Calibri-Bold"/>
              </a:rPr>
              <a:t>My boat 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84491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7E03675-8C3E-0D81-9795-C02D4D4A6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143000"/>
            <a:ext cx="4814292" cy="50637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C34E810-EFBC-3F6A-40F0-63241D183E71}"/>
              </a:ext>
            </a:extLst>
          </p:cNvPr>
          <p:cNvSpPr txBox="1"/>
          <p:nvPr/>
        </p:nvSpPr>
        <p:spPr>
          <a:xfrm>
            <a:off x="609600" y="1447800"/>
            <a:ext cx="2667000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5. PHP Data Types:</a:t>
            </a:r>
          </a:p>
        </p:txBody>
      </p:sp>
    </p:spTree>
    <p:extLst>
      <p:ext uri="{BB962C8B-B14F-4D97-AF65-F5344CB8AC3E}">
        <p14:creationId xmlns:p14="http://schemas.microsoft.com/office/powerpoint/2010/main" val="16250561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E5A8143-0AA6-478D-DFEA-D1A364A4A070}"/>
              </a:ext>
            </a:extLst>
          </p:cNvPr>
          <p:cNvSpPr txBox="1"/>
          <p:nvPr/>
        </p:nvSpPr>
        <p:spPr>
          <a:xfrm>
            <a:off x="1447800" y="990600"/>
            <a:ext cx="2743200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i="0" u="none" strike="noStrike" baseline="0" dirty="0">
                <a:solidFill>
                  <a:srgbClr val="FF0000"/>
                </a:solidFill>
                <a:highlight>
                  <a:srgbClr val="FFFF00"/>
                </a:highlight>
                <a:latin typeface="Calibri-Bold"/>
              </a:rPr>
              <a:t>6. PHP Operators</a:t>
            </a:r>
            <a:endParaRPr lang="en-US" sz="24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0C6D63-BA84-7F6A-5FBA-661EBCBA3A54}"/>
              </a:ext>
            </a:extLst>
          </p:cNvPr>
          <p:cNvSpPr txBox="1"/>
          <p:nvPr/>
        </p:nvSpPr>
        <p:spPr>
          <a:xfrm>
            <a:off x="1431235" y="1600200"/>
            <a:ext cx="9982200" cy="50335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PHP Operator is a symbol which is used to perform operations on operands.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b="1" i="0" u="none" strike="noStrike" baseline="0" dirty="0">
                <a:solidFill>
                  <a:srgbClr val="000000"/>
                </a:solidFill>
                <a:latin typeface="Calibri-Bold"/>
              </a:rPr>
              <a:t>Operators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are used to perform operations on variables and values.</a:t>
            </a:r>
          </a:p>
          <a:p>
            <a:pPr algn="l">
              <a:lnSpc>
                <a:spcPct val="150000"/>
              </a:lnSpc>
            </a:pPr>
            <a:r>
              <a:rPr lang="en-US" sz="1800" b="1" i="0" u="none" strike="noStrike" baseline="0" dirty="0">
                <a:solidFill>
                  <a:srgbClr val="000000"/>
                </a:solidFill>
                <a:latin typeface="Calibri-Bold"/>
              </a:rPr>
              <a:t>For example:</a:t>
            </a:r>
          </a:p>
          <a:p>
            <a:pPr algn="l">
              <a:lnSpc>
                <a:spcPct val="150000"/>
              </a:lnSpc>
            </a:pPr>
            <a:r>
              <a:rPr lang="en-US" sz="1800" b="0" i="0" u="none" strike="noStrike" baseline="0" dirty="0">
                <a:solidFill>
                  <a:srgbClr val="FF0000"/>
                </a:solidFill>
                <a:latin typeface="Calibri" panose="020F0502020204030204" pitchFamily="34" charset="0"/>
              </a:rPr>
              <a:t>$num=10+20; //+ is the operator and 10,20 are operands</a:t>
            </a:r>
          </a:p>
          <a:p>
            <a:pPr algn="l">
              <a:lnSpc>
                <a:spcPct val="150000"/>
              </a:lnSpc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PHP divides the operators in the following groups:</a:t>
            </a:r>
          </a:p>
          <a:p>
            <a:pPr algn="l">
              <a:lnSpc>
                <a:spcPct val="150000"/>
              </a:lnSpc>
            </a:pPr>
            <a:r>
              <a:rPr lang="en-US" sz="1800" b="0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Wingdings-Regular"/>
              </a:rPr>
              <a:t> </a:t>
            </a:r>
            <a:r>
              <a:rPr lang="en-US" sz="1800" b="1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Calibri-Bold"/>
              </a:rPr>
              <a:t>Arithmetic operators</a:t>
            </a:r>
          </a:p>
          <a:p>
            <a:pPr algn="l">
              <a:lnSpc>
                <a:spcPct val="150000"/>
              </a:lnSpc>
            </a:pPr>
            <a:r>
              <a:rPr lang="en-US" sz="1800" b="0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Wingdings-Regular"/>
              </a:rPr>
              <a:t> </a:t>
            </a:r>
            <a:r>
              <a:rPr lang="en-US" sz="1800" b="1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Calibri-Bold"/>
              </a:rPr>
              <a:t>Assignment operators</a:t>
            </a:r>
          </a:p>
          <a:p>
            <a:pPr algn="l">
              <a:lnSpc>
                <a:spcPct val="150000"/>
              </a:lnSpc>
            </a:pPr>
            <a:r>
              <a:rPr lang="en-US" sz="1800" b="0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Wingdings-Regular"/>
              </a:rPr>
              <a:t> </a:t>
            </a:r>
            <a:r>
              <a:rPr lang="en-US" sz="1800" b="1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Calibri-Bold"/>
              </a:rPr>
              <a:t>Comparison operators</a:t>
            </a:r>
          </a:p>
          <a:p>
            <a:pPr algn="l">
              <a:lnSpc>
                <a:spcPct val="150000"/>
              </a:lnSpc>
            </a:pPr>
            <a:r>
              <a:rPr lang="en-US" sz="1800" b="0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Wingdings-Regular"/>
              </a:rPr>
              <a:t> </a:t>
            </a:r>
            <a:r>
              <a:rPr lang="en-US" sz="1800" b="1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Calibri-Bold"/>
              </a:rPr>
              <a:t>Increment/Decrement operators</a:t>
            </a:r>
          </a:p>
          <a:p>
            <a:pPr algn="l">
              <a:lnSpc>
                <a:spcPct val="150000"/>
              </a:lnSpc>
            </a:pPr>
            <a:r>
              <a:rPr lang="en-US" sz="1800" b="0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Wingdings-Regular"/>
              </a:rPr>
              <a:t> </a:t>
            </a:r>
            <a:r>
              <a:rPr lang="en-US" sz="1800" b="1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Calibri-Bold"/>
              </a:rPr>
              <a:t>Logical operators</a:t>
            </a:r>
          </a:p>
          <a:p>
            <a:pPr algn="l">
              <a:lnSpc>
                <a:spcPct val="150000"/>
              </a:lnSpc>
            </a:pPr>
            <a:r>
              <a:rPr lang="en-US" sz="1800" b="0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Wingdings-Regular"/>
              </a:rPr>
              <a:t> </a:t>
            </a:r>
            <a:r>
              <a:rPr lang="en-US" sz="1800" b="1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Calibri-Bold"/>
              </a:rPr>
              <a:t>String operators</a:t>
            </a:r>
          </a:p>
          <a:p>
            <a:pPr algn="l">
              <a:lnSpc>
                <a:spcPct val="150000"/>
              </a:lnSpc>
            </a:pPr>
            <a:r>
              <a:rPr lang="en-US" sz="1800" b="0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Wingdings-Regular"/>
              </a:rPr>
              <a:t> </a:t>
            </a:r>
            <a:r>
              <a:rPr lang="en-US" sz="1800" b="1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Calibri-Bold"/>
              </a:rPr>
              <a:t>Array operators</a:t>
            </a:r>
            <a:endParaRPr 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923168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D37791E-C68E-3D91-41C8-C7A0FCFB2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10972800" cy="16097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88A0F1-0EE2-47F4-83E3-51B81ADCF8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971800"/>
            <a:ext cx="8610099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6516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BD6BA-AAFE-E037-4AC8-CE11EF02D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762000"/>
            <a:ext cx="9922964" cy="2362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5B494E-3398-D713-09E4-872C9719A0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3200400"/>
            <a:ext cx="9277350" cy="3372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5249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E51A1F82-669A-A5AB-F9F2-BB23DF1964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5FBAFE-779E-2DA3-466E-496680E61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685800"/>
            <a:ext cx="2114550" cy="602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5564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A6053C5-249C-8A1C-1FBC-26BFD9858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1" y="33131"/>
            <a:ext cx="8991600" cy="13277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DB03789-421D-97D8-174F-A3A41EC265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53" y="1557130"/>
            <a:ext cx="7349762" cy="53008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1D56D59-B7A4-C8E9-E8F0-5DD3A8C7EC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583634"/>
            <a:ext cx="3672585" cy="45123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450473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435C63F-67FD-26D1-3759-1641A4868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914400"/>
            <a:ext cx="8915400" cy="5663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4783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1D03CEC-82ED-29AF-E54B-A53058E050B4}"/>
              </a:ext>
            </a:extLst>
          </p:cNvPr>
          <p:cNvSpPr txBox="1"/>
          <p:nvPr/>
        </p:nvSpPr>
        <p:spPr>
          <a:xfrm>
            <a:off x="4686300" y="2438400"/>
            <a:ext cx="2819400" cy="415498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2400" i="0" u="none" strike="noStrike" baseline="0" dirty="0">
                <a:solidFill>
                  <a:srgbClr val="000000"/>
                </a:solidFill>
                <a:latin typeface="+mj-lt"/>
              </a:rPr>
              <a:t>&lt;!DOCTYPE html&gt;</a:t>
            </a:r>
          </a:p>
          <a:p>
            <a:pPr algn="l"/>
            <a:r>
              <a:rPr lang="en-US" sz="2400" i="0" u="none" strike="noStrike" baseline="0" dirty="0">
                <a:solidFill>
                  <a:srgbClr val="000000"/>
                </a:solidFill>
                <a:latin typeface="+mj-lt"/>
              </a:rPr>
              <a:t>&lt;html&gt;</a:t>
            </a:r>
          </a:p>
          <a:p>
            <a:pPr algn="l"/>
            <a:r>
              <a:rPr lang="en-US" sz="2400" i="0" u="none" strike="noStrike" baseline="0" dirty="0">
                <a:solidFill>
                  <a:srgbClr val="000000"/>
                </a:solidFill>
                <a:latin typeface="+mj-lt"/>
              </a:rPr>
              <a:t>&lt;body&gt;</a:t>
            </a:r>
          </a:p>
          <a:p>
            <a:pPr lvl="1"/>
            <a:r>
              <a:rPr lang="en-US" sz="2400" i="0" u="none" strike="noStrike" baseline="0" dirty="0">
                <a:solidFill>
                  <a:srgbClr val="000000"/>
                </a:solidFill>
                <a:latin typeface="+mj-lt"/>
              </a:rPr>
              <a:t>&lt;?php</a:t>
            </a:r>
          </a:p>
          <a:p>
            <a:pPr lvl="1"/>
            <a:r>
              <a:rPr lang="en-US" sz="2400" i="0" u="none" strike="noStrike" baseline="0" dirty="0">
                <a:solidFill>
                  <a:srgbClr val="000000"/>
                </a:solidFill>
                <a:latin typeface="+mj-lt"/>
              </a:rPr>
              <a:t>$x = 10;</a:t>
            </a:r>
          </a:p>
          <a:p>
            <a:pPr lvl="1"/>
            <a:r>
              <a:rPr lang="en-US" sz="2400" i="0" u="none" strike="noStrike" baseline="0" dirty="0">
                <a:solidFill>
                  <a:srgbClr val="000000"/>
                </a:solidFill>
                <a:latin typeface="+mj-lt"/>
              </a:rPr>
              <a:t>echo $x++;</a:t>
            </a:r>
          </a:p>
          <a:p>
            <a:pPr lvl="1"/>
            <a:r>
              <a:rPr lang="en-US" sz="2400" i="0" u="none" strike="noStrike" baseline="0" dirty="0">
                <a:solidFill>
                  <a:srgbClr val="000000"/>
                </a:solidFill>
                <a:latin typeface="+mj-lt"/>
              </a:rPr>
              <a:t>?&gt;</a:t>
            </a:r>
          </a:p>
          <a:p>
            <a:pPr algn="l"/>
            <a:r>
              <a:rPr lang="en-US" sz="2400" i="0" u="none" strike="noStrike" baseline="0" dirty="0">
                <a:solidFill>
                  <a:srgbClr val="000000"/>
                </a:solidFill>
                <a:latin typeface="+mj-lt"/>
              </a:rPr>
              <a:t>&lt;/body&gt;</a:t>
            </a:r>
          </a:p>
          <a:p>
            <a:pPr algn="l"/>
            <a:r>
              <a:rPr lang="en-US" sz="2400" i="0" u="none" strike="noStrike" baseline="0" dirty="0">
                <a:solidFill>
                  <a:srgbClr val="000000"/>
                </a:solidFill>
                <a:latin typeface="+mj-lt"/>
              </a:rPr>
              <a:t>&lt;/html&gt;</a:t>
            </a:r>
          </a:p>
          <a:p>
            <a:pPr algn="l"/>
            <a:endParaRPr lang="en-US" sz="2400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algn="l"/>
            <a:r>
              <a:rPr lang="en-US" sz="2400" b="1" i="0" u="none" strike="noStrike" baseline="0" dirty="0">
                <a:solidFill>
                  <a:srgbClr val="FF0000"/>
                </a:solidFill>
                <a:latin typeface="+mj-lt"/>
              </a:rPr>
              <a:t>Output: 10</a:t>
            </a:r>
            <a:endParaRPr lang="en-US" sz="2400" dirty="0"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5A8A87-B9A9-F2C0-01C8-70E61AA16D94}"/>
              </a:ext>
            </a:extLst>
          </p:cNvPr>
          <p:cNvSpPr txBox="1"/>
          <p:nvPr/>
        </p:nvSpPr>
        <p:spPr>
          <a:xfrm>
            <a:off x="609600" y="1811953"/>
            <a:ext cx="1905000" cy="489364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2400" i="0" u="none" strike="noStrike" baseline="0" dirty="0">
                <a:solidFill>
                  <a:srgbClr val="000000"/>
                </a:solidFill>
                <a:latin typeface="+mj-lt"/>
              </a:rPr>
              <a:t>&lt;!DOCTYPE html&gt;</a:t>
            </a:r>
          </a:p>
          <a:p>
            <a:pPr algn="l"/>
            <a:r>
              <a:rPr lang="en-US" sz="2400" i="0" u="none" strike="noStrike" baseline="0" dirty="0">
                <a:solidFill>
                  <a:srgbClr val="000000"/>
                </a:solidFill>
                <a:latin typeface="+mj-lt"/>
              </a:rPr>
              <a:t>&lt;html&gt;</a:t>
            </a:r>
          </a:p>
          <a:p>
            <a:pPr algn="l"/>
            <a:r>
              <a:rPr lang="en-US" sz="2400" i="0" u="none" strike="noStrike" baseline="0" dirty="0">
                <a:solidFill>
                  <a:srgbClr val="000000"/>
                </a:solidFill>
                <a:latin typeface="+mj-lt"/>
              </a:rPr>
              <a:t>&lt;body&gt;</a:t>
            </a:r>
          </a:p>
          <a:p>
            <a:pPr lvl="1"/>
            <a:r>
              <a:rPr lang="en-US" sz="2400" i="0" u="none" strike="noStrike" baseline="0" dirty="0">
                <a:solidFill>
                  <a:srgbClr val="000000"/>
                </a:solidFill>
                <a:latin typeface="+mj-lt"/>
              </a:rPr>
              <a:t>&lt;?php</a:t>
            </a:r>
          </a:p>
          <a:p>
            <a:pPr lvl="1"/>
            <a:r>
              <a:rPr lang="en-US" sz="2400" i="0" u="none" strike="noStrike" baseline="0" dirty="0">
                <a:solidFill>
                  <a:srgbClr val="000000"/>
                </a:solidFill>
                <a:latin typeface="+mj-lt"/>
              </a:rPr>
              <a:t>$x = 10;</a:t>
            </a:r>
          </a:p>
          <a:p>
            <a:pPr lvl="1"/>
            <a:r>
              <a:rPr lang="en-US" sz="2400" i="0" u="none" strike="noStrike" baseline="0" dirty="0">
                <a:solidFill>
                  <a:srgbClr val="000000"/>
                </a:solidFill>
                <a:latin typeface="+mj-lt"/>
              </a:rPr>
              <a:t>echo ++$x;</a:t>
            </a:r>
          </a:p>
          <a:p>
            <a:pPr lvl="1"/>
            <a:r>
              <a:rPr lang="en-US" sz="2400" i="0" u="none" strike="noStrike" baseline="0" dirty="0">
                <a:solidFill>
                  <a:srgbClr val="000000"/>
                </a:solidFill>
                <a:latin typeface="+mj-lt"/>
              </a:rPr>
              <a:t>?&gt;</a:t>
            </a:r>
          </a:p>
          <a:p>
            <a:pPr algn="l"/>
            <a:r>
              <a:rPr lang="en-US" sz="2400" i="0" u="none" strike="noStrike" baseline="0" dirty="0">
                <a:solidFill>
                  <a:srgbClr val="000000"/>
                </a:solidFill>
                <a:latin typeface="+mj-lt"/>
              </a:rPr>
              <a:t>&lt;/body&gt;</a:t>
            </a:r>
          </a:p>
          <a:p>
            <a:pPr algn="l"/>
            <a:r>
              <a:rPr lang="en-US" sz="2400" i="0" u="none" strike="noStrike" baseline="0" dirty="0">
                <a:solidFill>
                  <a:srgbClr val="000000"/>
                </a:solidFill>
                <a:latin typeface="+mj-lt"/>
              </a:rPr>
              <a:t>&lt;/html&gt;</a:t>
            </a:r>
          </a:p>
          <a:p>
            <a:pPr algn="l"/>
            <a:endParaRPr lang="en-US" sz="2400" b="1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algn="l"/>
            <a:r>
              <a:rPr lang="en-US" sz="2400" b="1" i="0" u="none" strike="noStrike" baseline="0" dirty="0">
                <a:solidFill>
                  <a:srgbClr val="FF0000"/>
                </a:solidFill>
                <a:latin typeface="+mj-lt"/>
              </a:rPr>
              <a:t>Output: 11</a:t>
            </a:r>
            <a:endParaRPr lang="en-US" sz="2400" dirty="0">
              <a:latin typeface="+mj-lt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CBE30013-25ED-DB4B-CD5F-0281014AF98A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616226" y="914400"/>
            <a:ext cx="2209800" cy="602974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Examples: </a:t>
            </a:r>
          </a:p>
        </p:txBody>
      </p:sp>
    </p:spTree>
    <p:extLst>
      <p:ext uri="{BB962C8B-B14F-4D97-AF65-F5344CB8AC3E}">
        <p14:creationId xmlns:p14="http://schemas.microsoft.com/office/powerpoint/2010/main" val="1474546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40B7DC4-858E-9E43-7A1D-CE5C15E08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138237"/>
            <a:ext cx="11239500" cy="458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1978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D49FCFF-C7D2-FC7D-B1F8-4D5070FBFCFF}"/>
              </a:ext>
            </a:extLst>
          </p:cNvPr>
          <p:cNvSpPr txBox="1"/>
          <p:nvPr/>
        </p:nvSpPr>
        <p:spPr>
          <a:xfrm>
            <a:off x="990600" y="1136064"/>
            <a:ext cx="6097656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 u="none" strike="noStrike" baseline="0" dirty="0">
                <a:solidFill>
                  <a:srgbClr val="000000"/>
                </a:solidFill>
                <a:latin typeface="+mj-lt"/>
              </a:rPr>
              <a:t>Example:</a:t>
            </a:r>
          </a:p>
          <a:p>
            <a:pPr algn="l"/>
            <a:endParaRPr lang="en-US" sz="2000" b="1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algn="l"/>
            <a:r>
              <a:rPr lang="en-US" sz="2000" i="0" u="none" strike="noStrike" baseline="0" dirty="0">
                <a:solidFill>
                  <a:srgbClr val="000000"/>
                </a:solidFill>
                <a:latin typeface="+mj-lt"/>
              </a:rPr>
              <a:t>&lt;!DOCTYPE html&gt;</a:t>
            </a:r>
          </a:p>
          <a:p>
            <a:pPr algn="l"/>
            <a:r>
              <a:rPr lang="en-US" sz="2000" i="0" u="none" strike="noStrike" baseline="0" dirty="0">
                <a:solidFill>
                  <a:srgbClr val="000000"/>
                </a:solidFill>
                <a:latin typeface="+mj-lt"/>
              </a:rPr>
              <a:t>&lt;html&gt;</a:t>
            </a:r>
          </a:p>
          <a:p>
            <a:pPr algn="l"/>
            <a:r>
              <a:rPr lang="en-US" sz="2000" i="0" u="none" strike="noStrike" baseline="0" dirty="0">
                <a:solidFill>
                  <a:srgbClr val="000000"/>
                </a:solidFill>
                <a:latin typeface="+mj-lt"/>
              </a:rPr>
              <a:t>&lt;body&gt;</a:t>
            </a:r>
          </a:p>
          <a:p>
            <a:pPr algn="l"/>
            <a:r>
              <a:rPr lang="en-US" sz="2000" i="0" u="none" strike="noStrike" baseline="0" dirty="0">
                <a:solidFill>
                  <a:srgbClr val="000000"/>
                </a:solidFill>
                <a:latin typeface="+mj-lt"/>
              </a:rPr>
              <a:t>&lt;h1&gt;The and Operator&lt;/h1&gt;</a:t>
            </a:r>
          </a:p>
          <a:p>
            <a:pPr algn="l"/>
            <a:r>
              <a:rPr lang="en-US" sz="2000" i="0" u="none" strike="noStrike" baseline="0" dirty="0">
                <a:solidFill>
                  <a:srgbClr val="000000"/>
                </a:solidFill>
                <a:latin typeface="+mj-lt"/>
              </a:rPr>
              <a:t>&lt;p&gt;Write a message if both conditions are true.&lt;/p&gt;</a:t>
            </a:r>
          </a:p>
          <a:p>
            <a:pPr lvl="1"/>
            <a:r>
              <a:rPr lang="en-US" sz="2000" i="0" u="none" strike="noStrike" baseline="0" dirty="0">
                <a:solidFill>
                  <a:srgbClr val="000000"/>
                </a:solidFill>
                <a:latin typeface="+mj-lt"/>
              </a:rPr>
              <a:t>&lt;?php</a:t>
            </a:r>
          </a:p>
          <a:p>
            <a:pPr lvl="1"/>
            <a:r>
              <a:rPr lang="en-US" sz="2000" i="0" u="none" strike="noStrike" baseline="0" dirty="0">
                <a:solidFill>
                  <a:srgbClr val="000000"/>
                </a:solidFill>
                <a:latin typeface="+mj-lt"/>
              </a:rPr>
              <a:t>$x = 100;</a:t>
            </a:r>
          </a:p>
          <a:p>
            <a:pPr lvl="1"/>
            <a:r>
              <a:rPr lang="en-US" sz="2000" i="0" u="none" strike="noStrike" baseline="0" dirty="0">
                <a:solidFill>
                  <a:srgbClr val="000000"/>
                </a:solidFill>
                <a:latin typeface="+mj-lt"/>
              </a:rPr>
              <a:t>$y = 50;</a:t>
            </a:r>
          </a:p>
          <a:p>
            <a:pPr lvl="1"/>
            <a:r>
              <a:rPr lang="en-US" sz="2000" i="0" u="none" strike="noStrike" baseline="0" dirty="0">
                <a:solidFill>
                  <a:srgbClr val="000000"/>
                </a:solidFill>
                <a:latin typeface="+mj-lt"/>
              </a:rPr>
              <a:t>if ($x == 100 and $y == 50) {</a:t>
            </a:r>
          </a:p>
          <a:p>
            <a:pPr lvl="1"/>
            <a:r>
              <a:rPr lang="en-US" sz="2000" i="0" u="none" strike="noStrike" baseline="0" dirty="0">
                <a:solidFill>
                  <a:srgbClr val="000000"/>
                </a:solidFill>
                <a:latin typeface="+mj-lt"/>
              </a:rPr>
              <a:t>echo "Hello world!";</a:t>
            </a:r>
          </a:p>
          <a:p>
            <a:pPr lvl="1"/>
            <a:r>
              <a:rPr lang="en-US" sz="2000" i="0" u="none" strike="noStrike" baseline="0" dirty="0">
                <a:solidFill>
                  <a:srgbClr val="000000"/>
                </a:solidFill>
                <a:latin typeface="+mj-lt"/>
              </a:rPr>
              <a:t>}</a:t>
            </a:r>
          </a:p>
          <a:p>
            <a:pPr lvl="1"/>
            <a:r>
              <a:rPr lang="en-US" sz="2000" i="0" u="none" strike="noStrike" baseline="0" dirty="0">
                <a:solidFill>
                  <a:srgbClr val="000000"/>
                </a:solidFill>
                <a:latin typeface="+mj-lt"/>
              </a:rPr>
              <a:t>?&gt;</a:t>
            </a:r>
          </a:p>
          <a:p>
            <a:pPr algn="l"/>
            <a:r>
              <a:rPr lang="en-US" sz="2000" i="0" u="none" strike="noStrike" baseline="0" dirty="0">
                <a:solidFill>
                  <a:srgbClr val="000000"/>
                </a:solidFill>
                <a:latin typeface="+mj-lt"/>
              </a:rPr>
              <a:t>&lt;/body&gt;</a:t>
            </a:r>
          </a:p>
          <a:p>
            <a:pPr algn="l"/>
            <a:r>
              <a:rPr lang="en-US" sz="2000" i="0" u="none" strike="noStrike" baseline="0" dirty="0">
                <a:solidFill>
                  <a:srgbClr val="000000"/>
                </a:solidFill>
                <a:latin typeface="+mj-lt"/>
              </a:rPr>
              <a:t>&lt;/html&gt;</a:t>
            </a:r>
            <a:endParaRPr lang="en-US" sz="2000" dirty="0"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155EAD-B91C-7824-788B-19BDDF598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0" y="838200"/>
            <a:ext cx="4048125" cy="15906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761217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F91FD8F-796B-5518-5D03-E4503F819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66800"/>
            <a:ext cx="9763125" cy="5198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3299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873A881-43D8-3796-1483-3669DECA96B9}"/>
              </a:ext>
            </a:extLst>
          </p:cNvPr>
          <p:cNvSpPr txBox="1"/>
          <p:nvPr/>
        </p:nvSpPr>
        <p:spPr>
          <a:xfrm>
            <a:off x="914400" y="1219200"/>
            <a:ext cx="2971800" cy="501675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2000" b="1" i="0" u="none" strike="noStrike" baseline="0" dirty="0">
                <a:solidFill>
                  <a:srgbClr val="000000"/>
                </a:solidFill>
                <a:latin typeface="+mj-lt"/>
              </a:rPr>
              <a:t>Examples:</a:t>
            </a:r>
          </a:p>
          <a:p>
            <a:pPr algn="l"/>
            <a:endParaRPr lang="en-US" sz="2000" b="1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algn="l"/>
            <a:r>
              <a:rPr lang="en-US" sz="2000" u="none" strike="noStrike" baseline="0" dirty="0">
                <a:solidFill>
                  <a:srgbClr val="000000"/>
                </a:solidFill>
                <a:latin typeface="+mj-lt"/>
              </a:rPr>
              <a:t>&lt;!DOCTYPE html&gt;</a:t>
            </a:r>
          </a:p>
          <a:p>
            <a:pPr algn="l"/>
            <a:r>
              <a:rPr lang="en-US" sz="2000" u="none" strike="noStrike" baseline="0" dirty="0">
                <a:solidFill>
                  <a:srgbClr val="000000"/>
                </a:solidFill>
                <a:latin typeface="+mj-lt"/>
              </a:rPr>
              <a:t>&lt;html&gt;</a:t>
            </a:r>
          </a:p>
          <a:p>
            <a:pPr algn="l"/>
            <a:r>
              <a:rPr lang="en-US" sz="2000" u="none" strike="noStrike" baseline="0" dirty="0">
                <a:solidFill>
                  <a:srgbClr val="000000"/>
                </a:solidFill>
                <a:latin typeface="+mj-lt"/>
              </a:rPr>
              <a:t>&lt;body&gt;</a:t>
            </a:r>
          </a:p>
          <a:p>
            <a:pPr lvl="1"/>
            <a:r>
              <a:rPr lang="en-US" sz="2000" u="none" strike="noStrike" baseline="0" dirty="0">
                <a:solidFill>
                  <a:srgbClr val="000000"/>
                </a:solidFill>
                <a:latin typeface="+mj-lt"/>
              </a:rPr>
              <a:t>&lt;?php</a:t>
            </a:r>
          </a:p>
          <a:p>
            <a:pPr lvl="1"/>
            <a:r>
              <a:rPr lang="en-US" sz="2000" u="none" strike="noStrike" baseline="0" dirty="0">
                <a:solidFill>
                  <a:srgbClr val="000000"/>
                </a:solidFill>
                <a:latin typeface="+mj-lt"/>
              </a:rPr>
              <a:t>$txt1 = "Hello";</a:t>
            </a:r>
          </a:p>
          <a:p>
            <a:pPr lvl="1"/>
            <a:r>
              <a:rPr lang="en-US" sz="2000" u="none" strike="noStrike" baseline="0" dirty="0">
                <a:solidFill>
                  <a:srgbClr val="000000"/>
                </a:solidFill>
                <a:latin typeface="+mj-lt"/>
              </a:rPr>
              <a:t>$txt2 = " world!";</a:t>
            </a:r>
          </a:p>
          <a:p>
            <a:pPr lvl="1"/>
            <a:r>
              <a:rPr lang="en-US" sz="2000" u="none" strike="noStrike" baseline="0" dirty="0">
                <a:solidFill>
                  <a:srgbClr val="000000"/>
                </a:solidFill>
                <a:latin typeface="+mj-lt"/>
              </a:rPr>
              <a:t>$txt1 .= $txt2;</a:t>
            </a:r>
          </a:p>
          <a:p>
            <a:pPr lvl="1"/>
            <a:r>
              <a:rPr lang="en-US" sz="2000" u="none" strike="noStrike" baseline="0" dirty="0">
                <a:solidFill>
                  <a:srgbClr val="000000"/>
                </a:solidFill>
                <a:latin typeface="+mj-lt"/>
              </a:rPr>
              <a:t>echo $txt1;</a:t>
            </a:r>
          </a:p>
          <a:p>
            <a:pPr lvl="1"/>
            <a:r>
              <a:rPr lang="en-US" sz="2000" u="none" strike="noStrike" baseline="0" dirty="0">
                <a:solidFill>
                  <a:srgbClr val="000000"/>
                </a:solidFill>
                <a:latin typeface="+mj-lt"/>
              </a:rPr>
              <a:t>?&gt;</a:t>
            </a:r>
          </a:p>
          <a:p>
            <a:pPr algn="l"/>
            <a:r>
              <a:rPr lang="en-US" sz="2000" u="none" strike="noStrike" baseline="0" dirty="0">
                <a:solidFill>
                  <a:srgbClr val="000000"/>
                </a:solidFill>
                <a:latin typeface="+mj-lt"/>
              </a:rPr>
              <a:t>&lt;/body&gt;</a:t>
            </a:r>
          </a:p>
          <a:p>
            <a:pPr algn="l"/>
            <a:r>
              <a:rPr lang="en-US" sz="2000" u="none" strike="noStrike" baseline="0" dirty="0">
                <a:solidFill>
                  <a:srgbClr val="000000"/>
                </a:solidFill>
                <a:latin typeface="+mj-lt"/>
              </a:rPr>
              <a:t>&lt;/html&gt;</a:t>
            </a:r>
          </a:p>
          <a:p>
            <a:pPr algn="l"/>
            <a:endParaRPr lang="en-US" sz="2000" u="none" strike="noStrike" baseline="0" dirty="0">
              <a:solidFill>
                <a:srgbClr val="000000"/>
              </a:solidFill>
              <a:latin typeface="+mj-lt"/>
            </a:endParaRPr>
          </a:p>
          <a:p>
            <a:pPr algn="l"/>
            <a:r>
              <a:rPr lang="en-US" sz="2000" b="1" i="0" u="none" strike="noStrike" baseline="0" dirty="0">
                <a:solidFill>
                  <a:srgbClr val="000000"/>
                </a:solidFill>
                <a:latin typeface="+mj-lt"/>
              </a:rPr>
              <a:t>Output:</a:t>
            </a:r>
          </a:p>
          <a:p>
            <a:pPr algn="l"/>
            <a:r>
              <a:rPr lang="en-US" sz="2000" b="1" i="0" u="none" strike="noStrike" baseline="0" dirty="0">
                <a:solidFill>
                  <a:srgbClr val="FF0000"/>
                </a:solidFill>
                <a:latin typeface="+mj-lt"/>
              </a:rPr>
              <a:t>Hello world!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EBF416-A3AD-3A40-11B0-F06E29911936}"/>
              </a:ext>
            </a:extLst>
          </p:cNvPr>
          <p:cNvSpPr txBox="1"/>
          <p:nvPr/>
        </p:nvSpPr>
        <p:spPr>
          <a:xfrm>
            <a:off x="5638800" y="1560027"/>
            <a:ext cx="6097656" cy="419961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000" u="none" strike="noStrike" baseline="0" dirty="0">
                <a:solidFill>
                  <a:srgbClr val="000000"/>
                </a:solidFill>
                <a:latin typeface="Calibri-BoldItalic"/>
              </a:rPr>
              <a:t>&lt;?php</a:t>
            </a:r>
          </a:p>
          <a:p>
            <a:pPr algn="l">
              <a:lnSpc>
                <a:spcPct val="150000"/>
              </a:lnSpc>
            </a:pPr>
            <a:r>
              <a:rPr lang="en-US" sz="2000" u="none" strike="noStrike" baseline="0" dirty="0">
                <a:solidFill>
                  <a:srgbClr val="000000"/>
                </a:solidFill>
                <a:latin typeface="Calibri-BoldItalic"/>
              </a:rPr>
              <a:t>$name="John";</a:t>
            </a:r>
          </a:p>
          <a:p>
            <a:pPr algn="l">
              <a:lnSpc>
                <a:spcPct val="150000"/>
              </a:lnSpc>
            </a:pPr>
            <a:r>
              <a:rPr lang="en-US" sz="2000" u="none" strike="noStrike" baseline="0" dirty="0">
                <a:solidFill>
                  <a:srgbClr val="000000"/>
                </a:solidFill>
                <a:latin typeface="Calibri-BoldItalic"/>
              </a:rPr>
              <a:t>$lastName="Travolta";</a:t>
            </a:r>
          </a:p>
          <a:p>
            <a:pPr algn="l">
              <a:lnSpc>
                <a:spcPct val="150000"/>
              </a:lnSpc>
            </a:pPr>
            <a:r>
              <a:rPr lang="en-US" sz="2000" u="none" strike="noStrike" baseline="0" dirty="0">
                <a:solidFill>
                  <a:srgbClr val="000000"/>
                </a:solidFill>
                <a:latin typeface="Calibri-BoldItalic"/>
              </a:rPr>
              <a:t>echo $name." ".$lastName; // Outputs John Travolta</a:t>
            </a:r>
          </a:p>
          <a:p>
            <a:pPr algn="l">
              <a:lnSpc>
                <a:spcPct val="150000"/>
              </a:lnSpc>
            </a:pPr>
            <a:r>
              <a:rPr lang="en-US" sz="2000" u="none" strike="noStrike" baseline="0" dirty="0">
                <a:solidFill>
                  <a:srgbClr val="000000"/>
                </a:solidFill>
                <a:latin typeface="Calibri-BoldItalic"/>
              </a:rPr>
              <a:t>$a="Hello";</a:t>
            </a:r>
          </a:p>
          <a:p>
            <a:pPr algn="l">
              <a:lnSpc>
                <a:spcPct val="150000"/>
              </a:lnSpc>
            </a:pPr>
            <a:r>
              <a:rPr lang="en-US" sz="2000" u="none" strike="noStrike" baseline="0" dirty="0">
                <a:solidFill>
                  <a:srgbClr val="000000"/>
                </a:solidFill>
                <a:latin typeface="Calibri-BoldItalic"/>
              </a:rPr>
              <a:t>$a .= " John!";</a:t>
            </a:r>
          </a:p>
          <a:p>
            <a:pPr algn="l">
              <a:lnSpc>
                <a:spcPct val="150000"/>
              </a:lnSpc>
            </a:pPr>
            <a:r>
              <a:rPr lang="en-US" sz="2000" u="none" strike="noStrike" baseline="0" dirty="0">
                <a:solidFill>
                  <a:srgbClr val="000000"/>
                </a:solidFill>
                <a:latin typeface="Calibri-BoldItalic"/>
              </a:rPr>
              <a:t>echo $a; </a:t>
            </a:r>
          </a:p>
          <a:p>
            <a:pPr algn="l">
              <a:lnSpc>
                <a:spcPct val="150000"/>
              </a:lnSpc>
            </a:pPr>
            <a:r>
              <a:rPr lang="en-US" sz="2000" u="none" strike="noStrike" baseline="0" dirty="0">
                <a:solidFill>
                  <a:srgbClr val="FF0000"/>
                </a:solidFill>
                <a:latin typeface="Calibri-BoldItalic"/>
              </a:rPr>
              <a:t>// Outputs Hello John!</a:t>
            </a:r>
          </a:p>
          <a:p>
            <a:pPr algn="l">
              <a:lnSpc>
                <a:spcPct val="150000"/>
              </a:lnSpc>
            </a:pPr>
            <a:r>
              <a:rPr lang="en-US" sz="2000" u="none" strike="noStrike" baseline="0" dirty="0">
                <a:solidFill>
                  <a:srgbClr val="000000"/>
                </a:solidFill>
                <a:latin typeface="Calibri-BoldItalic"/>
              </a:rPr>
              <a:t>?&gt;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167601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1585D76-16E8-1AB5-8FA8-E2C0A01CD05D}"/>
              </a:ext>
            </a:extLst>
          </p:cNvPr>
          <p:cNvSpPr txBox="1"/>
          <p:nvPr/>
        </p:nvSpPr>
        <p:spPr>
          <a:xfrm>
            <a:off x="304800" y="1143000"/>
            <a:ext cx="2895600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b="1" i="0" u="none" strike="noStrike" baseline="0" dirty="0">
                <a:solidFill>
                  <a:srgbClr val="FF0000"/>
                </a:solidFill>
                <a:latin typeface="Calibri-Bold"/>
              </a:rPr>
              <a:t>7. PHP Comments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299E72-70A3-88E1-1A07-2DE7479C855E}"/>
              </a:ext>
            </a:extLst>
          </p:cNvPr>
          <p:cNvSpPr txBox="1"/>
          <p:nvPr/>
        </p:nvSpPr>
        <p:spPr>
          <a:xfrm>
            <a:off x="304800" y="1981200"/>
            <a:ext cx="11811000" cy="3359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i="0" u="none" strike="noStrike" baseline="0" dirty="0">
                <a:solidFill>
                  <a:srgbClr val="FF0000"/>
                </a:solidFill>
                <a:highlight>
                  <a:srgbClr val="FFFF00"/>
                </a:highlight>
                <a:latin typeface="Calibri" panose="020F0502020204030204" pitchFamily="34" charset="0"/>
              </a:rPr>
              <a:t>A comment 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is simply text that is ignored by the PHP engine.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The purpose of comments is to make the code more readable.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PHP comments can be used to describe any line of code so that other developer can</a:t>
            </a:r>
          </a:p>
          <a:p>
            <a:pPr lvl="1" algn="just">
              <a:lnSpc>
                <a:spcPct val="150000"/>
              </a:lnSpc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understand the code easily.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It can also be used to hide any code.</a:t>
            </a:r>
          </a:p>
          <a:p>
            <a:pPr marL="742950" lvl="1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We use comments to understand the functionality of the codes in a program.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818524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8010B4-696A-1A24-2317-2E4C3C2F1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27353"/>
            <a:ext cx="9092589" cy="5930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5578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02E7D47-5D01-35C1-CB1C-EAFBAB1FA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914400"/>
            <a:ext cx="10829925" cy="1714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DA31232-6E77-A41C-6B5D-000DEDC14A13}"/>
              </a:ext>
            </a:extLst>
          </p:cNvPr>
          <p:cNvSpPr txBox="1"/>
          <p:nvPr/>
        </p:nvSpPr>
        <p:spPr>
          <a:xfrm>
            <a:off x="457200" y="2667000"/>
            <a:ext cx="609765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u="none" strike="noStrike" baseline="0" dirty="0">
                <a:solidFill>
                  <a:srgbClr val="000000"/>
                </a:solidFill>
                <a:latin typeface="+mj-lt"/>
              </a:rPr>
              <a:t>Example:</a:t>
            </a:r>
          </a:p>
          <a:p>
            <a:pPr algn="l"/>
            <a:endParaRPr lang="en-US" sz="2400" b="1" i="0" u="none" strike="noStrike" baseline="0" dirty="0">
              <a:solidFill>
                <a:srgbClr val="000000"/>
              </a:solidFill>
              <a:latin typeface="+mj-lt"/>
            </a:endParaRPr>
          </a:p>
          <a:p>
            <a:pPr algn="l"/>
            <a:r>
              <a:rPr lang="en-US" sz="2400" b="1" i="0" u="none" strike="noStrike" baseline="0" dirty="0">
                <a:solidFill>
                  <a:srgbClr val="000000"/>
                </a:solidFill>
                <a:latin typeface="+mj-lt"/>
              </a:rPr>
              <a:t>Run this code »</a:t>
            </a:r>
          </a:p>
          <a:p>
            <a:pPr lvl="1"/>
            <a:r>
              <a:rPr lang="en-US" sz="2400" i="0" u="none" strike="noStrike" baseline="0" dirty="0">
                <a:solidFill>
                  <a:srgbClr val="000000"/>
                </a:solidFill>
                <a:latin typeface="+mj-lt"/>
              </a:rPr>
              <a:t>&lt;?php</a:t>
            </a:r>
          </a:p>
          <a:p>
            <a:pPr lvl="1"/>
            <a:r>
              <a:rPr lang="en-US" sz="2400" i="0" u="none" strike="noStrike" baseline="0" dirty="0">
                <a:solidFill>
                  <a:srgbClr val="000000"/>
                </a:solidFill>
                <a:latin typeface="+mj-lt"/>
              </a:rPr>
              <a:t>/*</a:t>
            </a:r>
          </a:p>
          <a:p>
            <a:pPr lvl="1"/>
            <a:r>
              <a:rPr lang="en-US" sz="2400" i="0" u="none" strike="noStrike" baseline="0" dirty="0">
                <a:solidFill>
                  <a:srgbClr val="000000"/>
                </a:solidFill>
                <a:latin typeface="+mj-lt"/>
              </a:rPr>
              <a:t>This is a multiple line comment block</a:t>
            </a:r>
          </a:p>
          <a:p>
            <a:pPr lvl="1"/>
            <a:r>
              <a:rPr lang="en-US" sz="2400" i="0" u="none" strike="noStrike" baseline="0" dirty="0">
                <a:solidFill>
                  <a:srgbClr val="000000"/>
                </a:solidFill>
                <a:latin typeface="+mj-lt"/>
              </a:rPr>
              <a:t>that spans across more than</a:t>
            </a:r>
          </a:p>
          <a:p>
            <a:pPr lvl="1"/>
            <a:r>
              <a:rPr lang="en-US" sz="2400" i="0" u="none" strike="noStrike" baseline="0" dirty="0">
                <a:solidFill>
                  <a:srgbClr val="000000"/>
                </a:solidFill>
                <a:latin typeface="+mj-lt"/>
              </a:rPr>
              <a:t>one line</a:t>
            </a:r>
          </a:p>
          <a:p>
            <a:pPr lvl="1"/>
            <a:r>
              <a:rPr lang="en-US" sz="2400" i="0" u="none" strike="noStrike" baseline="0" dirty="0">
                <a:solidFill>
                  <a:srgbClr val="000000"/>
                </a:solidFill>
                <a:latin typeface="+mj-lt"/>
              </a:rPr>
              <a:t>*/</a:t>
            </a:r>
          </a:p>
          <a:p>
            <a:pPr lvl="1"/>
            <a:r>
              <a:rPr lang="en-US" sz="2400" i="0" u="none" strike="noStrike" baseline="0" dirty="0">
                <a:solidFill>
                  <a:srgbClr val="000000"/>
                </a:solidFill>
                <a:latin typeface="+mj-lt"/>
              </a:rPr>
              <a:t>echo "Hello, world!";</a:t>
            </a:r>
          </a:p>
          <a:p>
            <a:pPr lvl="1"/>
            <a:r>
              <a:rPr lang="en-US" sz="2400" i="0" u="none" strike="noStrike" baseline="0" dirty="0">
                <a:solidFill>
                  <a:srgbClr val="000000"/>
                </a:solidFill>
                <a:latin typeface="+mj-lt"/>
              </a:rPr>
              <a:t>?&gt;</a:t>
            </a:r>
            <a:endParaRPr lang="en-US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215831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8720563-AFD9-A027-92FB-BA59834DC5C2}"/>
              </a:ext>
            </a:extLst>
          </p:cNvPr>
          <p:cNvSpPr txBox="1"/>
          <p:nvPr/>
        </p:nvSpPr>
        <p:spPr>
          <a:xfrm>
            <a:off x="457200" y="1143000"/>
            <a:ext cx="3048000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i="0" u="none" strike="noStrike" baseline="0" dirty="0">
                <a:solidFill>
                  <a:srgbClr val="FF0000"/>
                </a:solidFill>
                <a:latin typeface="Calibri-Bold"/>
              </a:rPr>
              <a:t>8. PHP date and time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CA2BAE-60AD-9435-D5AC-96B2F2BE2B12}"/>
              </a:ext>
            </a:extLst>
          </p:cNvPr>
          <p:cNvSpPr txBox="1"/>
          <p:nvPr/>
        </p:nvSpPr>
        <p:spPr>
          <a:xfrm>
            <a:off x="304800" y="1752600"/>
            <a:ext cx="4038600" cy="286232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b="0" i="0" u="none" strike="noStrike" baseline="0" dirty="0">
                <a:latin typeface="Calibri" panose="020F0502020204030204" pitchFamily="34" charset="0"/>
              </a:rPr>
              <a:t>The PHP date() function is used to format a date and/or a time</a:t>
            </a:r>
          </a:p>
          <a:p>
            <a:pPr algn="just"/>
            <a:r>
              <a:rPr lang="en-US" sz="2000" b="0" i="0" u="none" strike="noStrike" baseline="0" dirty="0">
                <a:latin typeface="Calibri" panose="020F0502020204030204" pitchFamily="34" charset="0"/>
              </a:rPr>
              <a:t> == </a:t>
            </a:r>
            <a:r>
              <a:rPr lang="en-US" sz="2000" dirty="0"/>
              <a:t>built-in PHP function that formats the current date and time.</a:t>
            </a:r>
            <a:r>
              <a:rPr lang="en-US" sz="2000" b="0" i="0" u="none" strike="noStrike" baseline="0" dirty="0">
                <a:latin typeface="Calibri" panose="020F0502020204030204" pitchFamily="34" charset="0"/>
              </a:rPr>
              <a:t>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b="0" i="0" u="none" strike="noStrike" baseline="0" dirty="0">
              <a:latin typeface="Calibri" panose="020F050202020403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b="1" i="0" u="none" strike="noStrike" baseline="0" dirty="0">
                <a:latin typeface="Consolas-Bold"/>
              </a:rPr>
              <a:t>The PHP date() function formats a timestamp to a more readable</a:t>
            </a:r>
            <a:r>
              <a:rPr lang="en-US" sz="2000" b="1" dirty="0">
                <a:latin typeface="Consolas-Bold"/>
              </a:rPr>
              <a:t> </a:t>
            </a:r>
            <a:r>
              <a:rPr lang="en-US" sz="2000" b="1" i="0" u="none" strike="noStrike" baseline="0" dirty="0">
                <a:latin typeface="Consolas-Bold"/>
              </a:rPr>
              <a:t>date and time.</a:t>
            </a:r>
            <a:endParaRPr lang="en-US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0A3BE6-D094-DDA0-CA81-294159B1E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1567" y="762000"/>
            <a:ext cx="7326497" cy="5334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53739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D339F3-1480-8774-DD26-2DB6BEA06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4" y="1147762"/>
            <a:ext cx="11015773" cy="471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171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8E2D45B-1B6D-F7FB-E59B-A6077D022AC5}"/>
              </a:ext>
            </a:extLst>
          </p:cNvPr>
          <p:cNvSpPr txBox="1"/>
          <p:nvPr/>
        </p:nvSpPr>
        <p:spPr>
          <a:xfrm>
            <a:off x="2514600" y="4648200"/>
            <a:ext cx="6097656" cy="147732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Example Output (Assuming today is March 8, 2026, Sunday)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Today is 2026/03/08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Today is 2026.03.08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Today is 2026-03-08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Today is Sunday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2968-D32A-AD29-F1CA-DF1F23507612}"/>
              </a:ext>
            </a:extLst>
          </p:cNvPr>
          <p:cNvSpPr txBox="1"/>
          <p:nvPr/>
        </p:nvSpPr>
        <p:spPr>
          <a:xfrm>
            <a:off x="2512944" y="726281"/>
            <a:ext cx="6097656" cy="369331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&lt;?php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echo "Today is " . date("Y/m/d") . "&lt;</a:t>
            </a:r>
            <a:r>
              <a:rPr lang="en-US" dirty="0" err="1">
                <a:latin typeface="Courier New" panose="02070309020205020404" pitchFamily="49" charset="0"/>
              </a:rPr>
              <a:t>br</a:t>
            </a:r>
            <a:r>
              <a:rPr lang="en-US" dirty="0">
                <a:latin typeface="Courier New" panose="02070309020205020404" pitchFamily="49" charset="0"/>
              </a:rPr>
              <a:t>&gt;";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echo "Today is " . date("</a:t>
            </a:r>
            <a:r>
              <a:rPr lang="en-US" dirty="0" err="1">
                <a:latin typeface="Courier New" panose="02070309020205020404" pitchFamily="49" charset="0"/>
              </a:rPr>
              <a:t>Y.m.d</a:t>
            </a:r>
            <a:r>
              <a:rPr lang="en-US" dirty="0">
                <a:latin typeface="Courier New" panose="02070309020205020404" pitchFamily="49" charset="0"/>
              </a:rPr>
              <a:t>") . "&lt;</a:t>
            </a:r>
            <a:r>
              <a:rPr lang="en-US" dirty="0" err="1">
                <a:latin typeface="Courier New" panose="02070309020205020404" pitchFamily="49" charset="0"/>
              </a:rPr>
              <a:t>br</a:t>
            </a:r>
            <a:r>
              <a:rPr lang="en-US" dirty="0">
                <a:latin typeface="Courier New" panose="02070309020205020404" pitchFamily="49" charset="0"/>
              </a:rPr>
              <a:t>&gt;";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echo "Today is " . date("Y-m-d") . "&lt;</a:t>
            </a:r>
            <a:r>
              <a:rPr lang="en-US" dirty="0" err="1">
                <a:latin typeface="Courier New" panose="02070309020205020404" pitchFamily="49" charset="0"/>
              </a:rPr>
              <a:t>br</a:t>
            </a:r>
            <a:r>
              <a:rPr lang="en-US" dirty="0">
                <a:latin typeface="Courier New" panose="02070309020205020404" pitchFamily="49" charset="0"/>
              </a:rPr>
              <a:t>&gt;";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echo "Today is " . date("l");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?&gt;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Format characters used: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Y</a:t>
            </a:r>
            <a:r>
              <a:rPr lang="en-US" dirty="0"/>
              <a:t> → 4-digit year (e.g., 2026)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m</a:t>
            </a:r>
            <a:r>
              <a:rPr lang="en-US" dirty="0"/>
              <a:t> → 2-digit month (01–12)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d</a:t>
            </a:r>
            <a:r>
              <a:rPr lang="en-US" dirty="0"/>
              <a:t> → 2-digit day of the month (01–31)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l</a:t>
            </a:r>
            <a:r>
              <a:rPr lang="en-US" dirty="0"/>
              <a:t> → full textual representation of the day of the week (e.g., Monday)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latin typeface="Courier New" panose="02070309020205020404" pitchFamily="49" charset="0"/>
              </a:rPr>
              <a:t>&lt;</a:t>
            </a:r>
            <a:r>
              <a:rPr lang="en-US" dirty="0" err="1">
                <a:latin typeface="Courier New" panose="02070309020205020404" pitchFamily="49" charset="0"/>
              </a:rPr>
              <a:t>br</a:t>
            </a:r>
            <a:r>
              <a:rPr lang="en-US" dirty="0">
                <a:latin typeface="Courier New" panose="02070309020205020404" pitchFamily="49" charset="0"/>
              </a:rPr>
              <a:t>&gt;</a:t>
            </a:r>
            <a:r>
              <a:rPr lang="en-US" dirty="0"/>
              <a:t> → adds a line break in HTML</a:t>
            </a:r>
          </a:p>
        </p:txBody>
      </p:sp>
    </p:spTree>
    <p:extLst>
      <p:ext uri="{BB962C8B-B14F-4D97-AF65-F5344CB8AC3E}">
        <p14:creationId xmlns:p14="http://schemas.microsoft.com/office/powerpoint/2010/main" val="27319016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20C2B3D-90CF-2BCD-1531-420E66627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219200"/>
            <a:ext cx="9868339" cy="47672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832153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A7977EC-4778-C48F-516D-8C8319E7C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524000"/>
            <a:ext cx="10650692" cy="3733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907943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2B9A9A9-BE99-A8A7-F0CF-6E315C7832D8}"/>
              </a:ext>
            </a:extLst>
          </p:cNvPr>
          <p:cNvSpPr txBox="1"/>
          <p:nvPr/>
        </p:nvSpPr>
        <p:spPr>
          <a:xfrm>
            <a:off x="589324" y="990600"/>
            <a:ext cx="4495800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+mj-lt"/>
              </a:rPr>
              <a:t>9. </a:t>
            </a:r>
            <a:r>
              <a:rPr lang="en-US" sz="2400" b="1" i="0" u="none" strike="noStrike" baseline="0" dirty="0">
                <a:solidFill>
                  <a:srgbClr val="FF0000"/>
                </a:solidFill>
                <a:latin typeface="+mj-lt"/>
              </a:rPr>
              <a:t>PHP Conditional Statements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F7AD1B-27FB-A896-A036-581AE1DF2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600200"/>
            <a:ext cx="9590943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3162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B65CED-3C7B-B25C-5B8A-FC843B555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371600"/>
            <a:ext cx="8592424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2293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2EC3F9-60EB-8859-461B-4B1E41757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143000"/>
            <a:ext cx="7381013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1034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657D5EE-1D2E-E070-9533-57BC44C8D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11029950" cy="13906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B70384-0341-3E1B-5D61-A48FE6ED9A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667000"/>
            <a:ext cx="6172200" cy="253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8212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FE3C1E4-3F5E-1FE1-DD36-6571069E59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295400"/>
            <a:ext cx="7725267" cy="28654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0560CB-08EB-204A-35CE-DEEED6E6A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950" y="1219200"/>
            <a:ext cx="3295650" cy="286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3945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575466-6CA5-65EC-B117-90A906533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143000"/>
            <a:ext cx="9229725" cy="1066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916C2A-E4E9-DD1A-BD57-28F6236F2F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0"/>
            <a:ext cx="5410200" cy="4490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24985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0FFE6CB-BD22-7E0E-4E89-0CE16A7DC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" y="1143000"/>
            <a:ext cx="10953750" cy="534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8846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DE53DB2-F412-37CB-4FDF-03F2BF194F54}"/>
              </a:ext>
            </a:extLst>
          </p:cNvPr>
          <p:cNvSpPr txBox="1"/>
          <p:nvPr/>
        </p:nvSpPr>
        <p:spPr>
          <a:xfrm>
            <a:off x="6520072" y="3886200"/>
            <a:ext cx="51816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 i="0" u="none" strike="noStrike" baseline="0" dirty="0">
                <a:solidFill>
                  <a:srgbClr val="00669A"/>
                </a:solidFill>
                <a:latin typeface="SegoeUI-Bold"/>
              </a:rPr>
              <a:t>else if </a:t>
            </a:r>
            <a:r>
              <a:rPr lang="en-US" sz="1600" b="0" i="0" u="none" strike="noStrike" baseline="0" dirty="0">
                <a:solidFill>
                  <a:srgbClr val="000000"/>
                </a:solidFill>
                <a:latin typeface="SegoeUI"/>
              </a:rPr>
              <a:t>($marks&gt;=90 &amp;&amp; $marks&lt;100) {</a:t>
            </a:r>
          </a:p>
          <a:p>
            <a:pPr algn="l"/>
            <a:r>
              <a:rPr lang="en-US" sz="1600" b="0" i="0" u="none" strike="noStrike" baseline="0" dirty="0">
                <a:solidFill>
                  <a:srgbClr val="000000"/>
                </a:solidFill>
                <a:latin typeface="SegoeUI"/>
              </a:rPr>
              <a:t>echo </a:t>
            </a:r>
            <a:r>
              <a:rPr lang="en-US" sz="1600" b="0" i="0" u="none" strike="noStrike" baseline="0" dirty="0">
                <a:solidFill>
                  <a:srgbClr val="0000FF"/>
                </a:solidFill>
                <a:latin typeface="SegoeUI"/>
              </a:rPr>
              <a:t>"A+ grade"</a:t>
            </a:r>
            <a:r>
              <a:rPr lang="en-US" sz="1600" b="0" i="0" u="none" strike="noStrike" baseline="0" dirty="0">
                <a:solidFill>
                  <a:srgbClr val="000000"/>
                </a:solidFill>
                <a:latin typeface="SegoeUI"/>
              </a:rPr>
              <a:t>;</a:t>
            </a:r>
          </a:p>
          <a:p>
            <a:pPr algn="l"/>
            <a:r>
              <a:rPr lang="en-US" sz="1600" b="0" i="0" u="none" strike="noStrike" baseline="0" dirty="0">
                <a:solidFill>
                  <a:srgbClr val="000000"/>
                </a:solidFill>
                <a:latin typeface="SegoeUI"/>
              </a:rPr>
              <a:t>}</a:t>
            </a:r>
          </a:p>
          <a:p>
            <a:pPr algn="l"/>
            <a:r>
              <a:rPr lang="en-US" sz="1600" b="1" i="0" u="none" strike="noStrike" baseline="0" dirty="0">
                <a:solidFill>
                  <a:srgbClr val="00669A"/>
                </a:solidFill>
                <a:latin typeface="SegoeUI-Bold"/>
              </a:rPr>
              <a:t>else </a:t>
            </a:r>
            <a:r>
              <a:rPr lang="en-US" sz="1600" b="0" i="0" u="none" strike="noStrike" baseline="0" dirty="0">
                <a:solidFill>
                  <a:srgbClr val="000000"/>
                </a:solidFill>
                <a:latin typeface="SegoeUI"/>
              </a:rPr>
              <a:t>{</a:t>
            </a:r>
          </a:p>
          <a:p>
            <a:pPr algn="l"/>
            <a:r>
              <a:rPr lang="en-US" sz="1600" b="0" i="0" u="none" strike="noStrike" baseline="0" dirty="0">
                <a:solidFill>
                  <a:srgbClr val="000000"/>
                </a:solidFill>
                <a:latin typeface="SegoeUI"/>
              </a:rPr>
              <a:t>echo </a:t>
            </a:r>
            <a:r>
              <a:rPr lang="en-US" sz="1600" b="0" i="0" u="none" strike="noStrike" baseline="0" dirty="0">
                <a:solidFill>
                  <a:srgbClr val="0000FF"/>
                </a:solidFill>
                <a:latin typeface="SegoeUI"/>
              </a:rPr>
              <a:t>"Invalid input"</a:t>
            </a:r>
            <a:r>
              <a:rPr lang="en-US" sz="1600" b="0" i="0" u="none" strike="noStrike" baseline="0" dirty="0">
                <a:solidFill>
                  <a:srgbClr val="000000"/>
                </a:solidFill>
                <a:latin typeface="SegoeUI"/>
              </a:rPr>
              <a:t>;</a:t>
            </a:r>
          </a:p>
          <a:p>
            <a:pPr algn="l"/>
            <a:r>
              <a:rPr lang="en-US" sz="1600" b="0" i="0" u="none" strike="noStrike" baseline="0" dirty="0">
                <a:solidFill>
                  <a:srgbClr val="000000"/>
                </a:solidFill>
                <a:latin typeface="SegoeUI"/>
              </a:rPr>
              <a:t>}</a:t>
            </a:r>
          </a:p>
          <a:p>
            <a:pPr algn="l"/>
            <a:r>
              <a:rPr lang="en-US" sz="1600" b="0" i="0" u="none" strike="noStrike" baseline="0" dirty="0">
                <a:solidFill>
                  <a:srgbClr val="000000"/>
                </a:solidFill>
                <a:latin typeface="SegoeUI"/>
              </a:rPr>
              <a:t>?&gt;</a:t>
            </a:r>
          </a:p>
          <a:p>
            <a:pPr algn="l"/>
            <a:r>
              <a:rPr lang="en-US" sz="1600" b="1" i="0" u="none" strike="noStrike" baseline="0" dirty="0">
                <a:solidFill>
                  <a:srgbClr val="FF0000"/>
                </a:solidFill>
                <a:latin typeface="SegoeUI-Bold"/>
              </a:rPr>
              <a:t>Output: </a:t>
            </a:r>
            <a:r>
              <a:rPr lang="en-US" sz="16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B Grade</a:t>
            </a:r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24CB48-DEA5-EDF6-69B1-BAB9F8D66125}"/>
              </a:ext>
            </a:extLst>
          </p:cNvPr>
          <p:cNvSpPr txBox="1"/>
          <p:nvPr/>
        </p:nvSpPr>
        <p:spPr>
          <a:xfrm>
            <a:off x="762000" y="1219200"/>
            <a:ext cx="46482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i="0" u="none" strike="noStrike" baseline="0" dirty="0">
                <a:solidFill>
                  <a:srgbClr val="000000"/>
                </a:solidFill>
                <a:latin typeface="Calibri-Bold"/>
              </a:rPr>
              <a:t>Example2:</a:t>
            </a:r>
          </a:p>
          <a:p>
            <a:pPr algn="l"/>
            <a:endParaRPr lang="en-US" sz="1800" b="1" i="0" u="none" strike="noStrike" baseline="0" dirty="0">
              <a:solidFill>
                <a:srgbClr val="000000"/>
              </a:solidFill>
              <a:latin typeface="Calibri-Bold"/>
            </a:endParaRP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SegoeUI"/>
              </a:rPr>
              <a:t>&lt;?php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SegoeUI"/>
              </a:rPr>
              <a:t>$marks=69;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669A"/>
                </a:solidFill>
                <a:latin typeface="SegoeUI-Bold"/>
              </a:rPr>
              <a:t>if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egoeUI"/>
              </a:rPr>
              <a:t>($marks&lt;33){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SegoeUI"/>
              </a:rPr>
              <a:t>echo </a:t>
            </a:r>
            <a:r>
              <a:rPr lang="en-US" sz="1800" b="0" i="0" u="none" strike="noStrike" baseline="0" dirty="0">
                <a:solidFill>
                  <a:srgbClr val="0000FF"/>
                </a:solidFill>
                <a:latin typeface="SegoeUI"/>
              </a:rPr>
              <a:t>"fail"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egoeUI"/>
              </a:rPr>
              <a:t>;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SegoeUI"/>
              </a:rPr>
              <a:t>}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669A"/>
                </a:solidFill>
                <a:latin typeface="SegoeUI-Bold"/>
              </a:rPr>
              <a:t>else if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egoeUI"/>
              </a:rPr>
              <a:t>($marks&gt;=34 &amp;&amp; $marks&lt;50) {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SegoeUI"/>
              </a:rPr>
              <a:t>echo </a:t>
            </a:r>
            <a:r>
              <a:rPr lang="en-US" sz="1800" b="0" i="0" u="none" strike="noStrike" baseline="0" dirty="0">
                <a:solidFill>
                  <a:srgbClr val="0000FF"/>
                </a:solidFill>
                <a:latin typeface="SegoeUI"/>
              </a:rPr>
              <a:t>"D grade"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egoeUI"/>
              </a:rPr>
              <a:t>;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SegoeUI"/>
              </a:rPr>
              <a:t>}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669A"/>
                </a:solidFill>
                <a:latin typeface="SegoeUI-Bold"/>
              </a:rPr>
              <a:t>else if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egoeUI"/>
              </a:rPr>
              <a:t>($marks&gt;=50 &amp;&amp; $marks&lt;65) {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SegoeUI"/>
              </a:rPr>
              <a:t>echo </a:t>
            </a:r>
            <a:r>
              <a:rPr lang="en-US" sz="1800" b="0" i="0" u="none" strike="noStrike" baseline="0" dirty="0">
                <a:solidFill>
                  <a:srgbClr val="0000FF"/>
                </a:solidFill>
                <a:latin typeface="SegoeUI"/>
              </a:rPr>
              <a:t>"C grade"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egoeUI"/>
              </a:rPr>
              <a:t>;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SegoeUI"/>
              </a:rPr>
              <a:t>}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669A"/>
                </a:solidFill>
                <a:latin typeface="SegoeUI-Bold"/>
              </a:rPr>
              <a:t>else if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egoeUI"/>
              </a:rPr>
              <a:t>($marks&gt;=65 &amp;&amp; $marks&lt;80) {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SegoeUI"/>
              </a:rPr>
              <a:t>echo </a:t>
            </a:r>
            <a:r>
              <a:rPr lang="en-US" sz="1800" b="0" i="0" u="none" strike="noStrike" baseline="0" dirty="0">
                <a:solidFill>
                  <a:srgbClr val="0000FF"/>
                </a:solidFill>
                <a:latin typeface="SegoeUI"/>
              </a:rPr>
              <a:t>"B grade"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egoeUI"/>
              </a:rPr>
              <a:t>;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SegoeUI"/>
              </a:rPr>
              <a:t>}</a:t>
            </a:r>
          </a:p>
          <a:p>
            <a:pPr algn="l"/>
            <a:r>
              <a:rPr lang="en-US" sz="1800" b="1" i="0" u="none" strike="noStrike" baseline="0" dirty="0">
                <a:solidFill>
                  <a:srgbClr val="00669A"/>
                </a:solidFill>
                <a:latin typeface="SegoeUI-Bold"/>
              </a:rPr>
              <a:t>else if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egoeUI"/>
              </a:rPr>
              <a:t>($marks&gt;=80 &amp;&amp; $marks&lt;90) {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SegoeUI"/>
              </a:rPr>
              <a:t>echo </a:t>
            </a:r>
            <a:r>
              <a:rPr lang="en-US" sz="1800" b="0" i="0" u="none" strike="noStrike" baseline="0" dirty="0">
                <a:solidFill>
                  <a:srgbClr val="0000FF"/>
                </a:solidFill>
                <a:latin typeface="SegoeUI"/>
              </a:rPr>
              <a:t>"A grade"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SegoeUI"/>
              </a:rPr>
              <a:t>;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SegoeUI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622484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1561936-75B4-F6A9-9B71-846148B3D6D9}"/>
              </a:ext>
            </a:extLst>
          </p:cNvPr>
          <p:cNvSpPr txBox="1"/>
          <p:nvPr/>
        </p:nvSpPr>
        <p:spPr>
          <a:xfrm>
            <a:off x="990600" y="1143000"/>
            <a:ext cx="33528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u="none" strike="noStrike" baseline="0" dirty="0">
                <a:solidFill>
                  <a:srgbClr val="FF0000"/>
                </a:solidFill>
                <a:latin typeface="Consolas-Bold"/>
              </a:rPr>
              <a:t>4. PHP switch Statement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143BF3-F635-D28C-20FF-E53859316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1" y="1752600"/>
            <a:ext cx="7848600" cy="5012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93477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58B4DA-A160-831E-9C3E-9DE306BF1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1066800"/>
            <a:ext cx="6112029" cy="5634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11876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06F4F2C-4A1C-6335-4CD6-46F7314C9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0"/>
            <a:ext cx="4876800" cy="681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23983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E4F7B66-6AF9-F8B5-9CFB-35F84E6C012D}"/>
              </a:ext>
            </a:extLst>
          </p:cNvPr>
          <p:cNvSpPr txBox="1"/>
          <p:nvPr/>
        </p:nvSpPr>
        <p:spPr>
          <a:xfrm>
            <a:off x="457200" y="1143000"/>
            <a:ext cx="2209800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i="0" u="none" strike="noStrike" baseline="0" dirty="0">
                <a:solidFill>
                  <a:srgbClr val="FF0000"/>
                </a:solidFill>
                <a:latin typeface="Calibri-Bold"/>
              </a:rPr>
              <a:t>10. PHP Arrays</a:t>
            </a:r>
            <a:endParaRPr lang="en-US" sz="2400" dirty="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6E5260-B30A-8DE9-D523-8E6C99CE9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752600"/>
            <a:ext cx="11001375" cy="43910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4386332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6814F8-0D3A-B211-DC47-C73D01D05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0"/>
            <a:ext cx="5419908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6339348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58746F-443D-BBCD-7812-862A22160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152399"/>
            <a:ext cx="9677400" cy="6498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51536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E3296F4-659E-7CE2-624E-F9E89C103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90600"/>
            <a:ext cx="11039475" cy="1676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F7C1BC-8763-D8E6-9F04-310C09098B3D}"/>
              </a:ext>
            </a:extLst>
          </p:cNvPr>
          <p:cNvSpPr txBox="1"/>
          <p:nvPr/>
        </p:nvSpPr>
        <p:spPr>
          <a:xfrm>
            <a:off x="762000" y="2819400"/>
            <a:ext cx="609765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u="none" strike="noStrike" baseline="0" dirty="0">
                <a:solidFill>
                  <a:srgbClr val="000000"/>
                </a:solidFill>
                <a:latin typeface="Calibri-BoldItalic"/>
              </a:rPr>
              <a:t>Example:</a:t>
            </a:r>
          </a:p>
          <a:p>
            <a:pPr lvl="1"/>
            <a:r>
              <a:rPr lang="en-US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&lt;?php</a:t>
            </a:r>
          </a:p>
          <a:p>
            <a:pPr lvl="1"/>
            <a:r>
              <a:rPr lang="en-US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// Multidimensional array</a:t>
            </a:r>
          </a:p>
          <a:p>
            <a:pPr lvl="1"/>
            <a:r>
              <a:rPr lang="en-US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$products = array(</a:t>
            </a:r>
          </a:p>
          <a:p>
            <a:pPr lvl="1"/>
            <a:r>
              <a:rPr lang="en-US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array("Laptop", "HP", 1000),</a:t>
            </a:r>
          </a:p>
          <a:p>
            <a:pPr lvl="1"/>
            <a:r>
              <a:rPr lang="en-US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array("Phone", "Samsung", 700),</a:t>
            </a:r>
          </a:p>
          <a:p>
            <a:pPr lvl="1"/>
            <a:r>
              <a:rPr lang="en-US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array("Tablet", "Apple", 800)</a:t>
            </a:r>
          </a:p>
          <a:p>
            <a:pPr lvl="1"/>
            <a:r>
              <a:rPr lang="en-US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);</a:t>
            </a:r>
          </a:p>
          <a:p>
            <a:pPr lvl="1"/>
            <a:r>
              <a:rPr lang="en-US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// Accessing multidimensional array elements</a:t>
            </a:r>
          </a:p>
          <a:p>
            <a:pPr lvl="1"/>
            <a:r>
              <a:rPr lang="en-US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echo $products[0][0]; // Output: Laptop</a:t>
            </a:r>
          </a:p>
          <a:p>
            <a:pPr lvl="1"/>
            <a:r>
              <a:rPr lang="en-US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echo $products[1][1]; // Output: Samsung</a:t>
            </a:r>
          </a:p>
          <a:p>
            <a:pPr lvl="1"/>
            <a:r>
              <a:rPr lang="en-US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echo $products[2][2]; // Output: 800</a:t>
            </a:r>
          </a:p>
          <a:p>
            <a:pPr lvl="1"/>
            <a:r>
              <a:rPr lang="en-US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?&gt;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300927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81FF70-CD4E-E434-9064-2469F41A6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816" y="1447800"/>
            <a:ext cx="10632367" cy="3429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1791593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FC2AE2-19B4-E62E-9B0F-1D2067FA0D3F}"/>
              </a:ext>
            </a:extLst>
          </p:cNvPr>
          <p:cNvSpPr txBox="1"/>
          <p:nvPr/>
        </p:nvSpPr>
        <p:spPr>
          <a:xfrm>
            <a:off x="457200" y="1143000"/>
            <a:ext cx="7010400" cy="58477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3200" b="1" i="0" u="none" strike="noStrike" baseline="0" dirty="0">
                <a:solidFill>
                  <a:srgbClr val="FF0000"/>
                </a:solidFill>
                <a:latin typeface="Calibri-Bold"/>
              </a:rPr>
              <a:t>11. PHP </a:t>
            </a:r>
            <a:r>
              <a:rPr lang="en-US" sz="3200" b="1" dirty="0">
                <a:solidFill>
                  <a:srgbClr val="FF0000"/>
                </a:solidFill>
              </a:rPr>
              <a:t>Loops -PHP Iterative statements</a:t>
            </a:r>
            <a:endParaRPr lang="en-US" sz="3200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3E4601-8838-FAFE-34BF-89B6014C5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085975"/>
            <a:ext cx="10877550" cy="13430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C445F5D-0B18-F6AA-96F6-1B0D4F067B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562350"/>
            <a:ext cx="3810000" cy="28384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5749823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C4AD64C-D188-7A7D-D742-6A567BA1B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0"/>
            <a:ext cx="9067800" cy="6480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97065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CB68FB-B95E-3330-E04E-38A4262BF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905000"/>
            <a:ext cx="10893579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55292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35FC9D-56C2-98A8-C563-3B1F079ED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399" y="152400"/>
            <a:ext cx="9265417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56177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ED9DE6-F7A4-ED7C-4EE1-010CD12D9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7443" y="76200"/>
            <a:ext cx="9684557" cy="5962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82189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5681C0-E762-98BE-D0DF-D7148A39C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762000"/>
            <a:ext cx="10439400" cy="5689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79967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DBEBB51-31A2-8C87-A04C-230D51EA7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201975"/>
            <a:ext cx="7239000" cy="612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5201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DF91A20-479E-A9FF-C101-3CEF00CE546F}"/>
              </a:ext>
            </a:extLst>
          </p:cNvPr>
          <p:cNvSpPr txBox="1"/>
          <p:nvPr/>
        </p:nvSpPr>
        <p:spPr>
          <a:xfrm>
            <a:off x="457200" y="1066800"/>
            <a:ext cx="3276600" cy="58477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3200" b="1" i="0" u="none" strike="noStrike" baseline="0" dirty="0">
                <a:solidFill>
                  <a:srgbClr val="FF0000"/>
                </a:solidFill>
                <a:latin typeface="Calibri-Bold"/>
              </a:rPr>
              <a:t>12. </a:t>
            </a:r>
            <a:r>
              <a:rPr lang="en-US" sz="3200" b="1" dirty="0">
                <a:solidFill>
                  <a:srgbClr val="FF0000"/>
                </a:solidFill>
                <a:latin typeface="Calibri-Bold"/>
              </a:rPr>
              <a:t>PHP Function</a:t>
            </a:r>
            <a:endParaRPr lang="en-US" sz="3200" dirty="0">
              <a:solidFill>
                <a:srgbClr val="FF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B166D2-4A0A-01D6-9354-B0979A34E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509" y="1752600"/>
            <a:ext cx="7988924" cy="4876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1883306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84B4553-C363-2E29-2AE4-09D9A3F18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75" y="1752600"/>
            <a:ext cx="11058525" cy="310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02828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7F6B141-F06B-F157-4EC4-FCC96513C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524000"/>
            <a:ext cx="7600950" cy="233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2378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4EFC4D3-07AF-40D6-18F7-4ADDDB6FD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914400"/>
            <a:ext cx="8839200" cy="5566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46758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4E6428B-D18F-AD98-99DF-03C202556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143000"/>
            <a:ext cx="6477000" cy="5247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84451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CE5F7F-E218-6AD4-3910-AC331D3F9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19200"/>
            <a:ext cx="10220325" cy="1295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7BE23A-C07E-A8E1-F2FB-E89BD4154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0"/>
            <a:ext cx="2818903" cy="3467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805B263-7CF0-BDAD-1473-22021A0959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2400" y="2667000"/>
            <a:ext cx="7467600" cy="35837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2233873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EDFC58E-B185-E542-4B7C-A200BA03E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66800"/>
            <a:ext cx="6572250" cy="1371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9F5BEC-739F-D9DB-7910-BEAA4DF0C8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819400"/>
            <a:ext cx="6665089" cy="304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D976386-927F-1FE6-3404-918520D28A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0976" y="2276475"/>
            <a:ext cx="4247600" cy="366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84468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57547-1A8F-9C96-DEB4-9F588467E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352960" cy="677108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+mj-lt"/>
              </a:rPr>
              <a:t>13. PHP Superglobal Variables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00810F-23D1-26C3-B07C-BB7BEE314075}"/>
              </a:ext>
            </a:extLst>
          </p:cNvPr>
          <p:cNvSpPr txBox="1"/>
          <p:nvPr/>
        </p:nvSpPr>
        <p:spPr>
          <a:xfrm>
            <a:off x="685800" y="2438400"/>
            <a:ext cx="11157527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b="1" dirty="0"/>
              <a:t>What are Superglobal Variables?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1" dirty="0"/>
              <a:t>Superglobal variables</a:t>
            </a:r>
            <a:r>
              <a:rPr lang="en-US" dirty="0"/>
              <a:t> are </a:t>
            </a:r>
            <a:r>
              <a:rPr lang="en-US" b="1" dirty="0"/>
              <a:t>built-in PHP variables</a:t>
            </a:r>
            <a:r>
              <a:rPr lang="en-US" dirty="0"/>
              <a:t> that are </a:t>
            </a:r>
            <a:r>
              <a:rPr lang="en-US" b="1" dirty="0"/>
              <a:t>accessible from anywhere in a script</a:t>
            </a:r>
            <a:r>
              <a:rPr lang="en-US" dirty="0"/>
              <a:t> (inside functions, classes, and global scope) without needing to declare them as global.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They are mainly used to </a:t>
            </a:r>
            <a:r>
              <a:rPr lang="en-US" b="1" dirty="0"/>
              <a:t>collect data from forms, sessions, cookies, and server information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0192207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926B1C4-4511-0330-FD69-785CD303EFEA}"/>
              </a:ext>
            </a:extLst>
          </p:cNvPr>
          <p:cNvSpPr txBox="1"/>
          <p:nvPr/>
        </p:nvSpPr>
        <p:spPr>
          <a:xfrm>
            <a:off x="1143000" y="528935"/>
            <a:ext cx="8886825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Here is a </a:t>
            </a:r>
            <a:r>
              <a:rPr lang="en-US" sz="24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clear summary table</a:t>
            </a:r>
            <a:r>
              <a:rPr lang="en-US" sz="2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for the PHP superglobals variables </a:t>
            </a:r>
            <a:endParaRPr lang="en-US" sz="2400" dirty="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30D499-B5E7-EBEF-020A-7B830D8F7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19200"/>
            <a:ext cx="9582150" cy="545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85761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B1C11C9-E15C-9F69-E073-7C304028F7C6}"/>
              </a:ext>
            </a:extLst>
          </p:cNvPr>
          <p:cNvSpPr txBox="1"/>
          <p:nvPr/>
        </p:nvSpPr>
        <p:spPr>
          <a:xfrm>
            <a:off x="6324600" y="1648637"/>
            <a:ext cx="5772727" cy="254236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>
                <a:highlight>
                  <a:srgbClr val="FFFF00"/>
                </a:highlight>
              </a:rPr>
              <a:t>Quick memory tip (for exams):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GET → URL data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POST → Form data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SESSION → Server storage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COOKIE → Browser storage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/>
              <a:t>REQUEST → Combination of GET + POST + COOKIE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3DD8BE-A5D3-8C9E-5675-7A328B965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64" y="1600200"/>
            <a:ext cx="5664708" cy="3200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0511327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9707F72-9130-341C-579A-C24658D84B88}"/>
              </a:ext>
            </a:extLst>
          </p:cNvPr>
          <p:cNvSpPr txBox="1"/>
          <p:nvPr/>
        </p:nvSpPr>
        <p:spPr>
          <a:xfrm>
            <a:off x="76200" y="1295400"/>
            <a:ext cx="3733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highlight>
                  <a:srgbClr val="FFFF00"/>
                </a:highlight>
              </a:rPr>
              <a:t>Complete Example: Receiving User Input in PHP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7DB528-6F68-11A2-A427-778FA06F18CC}"/>
              </a:ext>
            </a:extLst>
          </p:cNvPr>
          <p:cNvSpPr txBox="1"/>
          <p:nvPr/>
        </p:nvSpPr>
        <p:spPr>
          <a:xfrm>
            <a:off x="152400" y="2590800"/>
            <a:ext cx="243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File name: </a:t>
            </a:r>
            <a:r>
              <a:rPr lang="en-US" dirty="0">
                <a:latin typeface="Courier New" panose="02070309020205020404" pitchFamily="49" charset="0"/>
              </a:rPr>
              <a:t>form.php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19581E-3309-9AFC-E9F2-0C824AE68998}"/>
              </a:ext>
            </a:extLst>
          </p:cNvPr>
          <p:cNvSpPr txBox="1"/>
          <p:nvPr/>
        </p:nvSpPr>
        <p:spPr>
          <a:xfrm>
            <a:off x="7573818" y="457200"/>
            <a:ext cx="4038600" cy="581697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US" sz="1200" dirty="0"/>
          </a:p>
          <a:p>
            <a:r>
              <a:rPr lang="en-US" sz="1200" dirty="0"/>
              <a:t>&lt;!DOCTYPE html&gt;</a:t>
            </a:r>
          </a:p>
          <a:p>
            <a:r>
              <a:rPr lang="en-US" sz="1200" dirty="0"/>
              <a:t>&lt;html&gt;</a:t>
            </a:r>
          </a:p>
          <a:p>
            <a:r>
              <a:rPr lang="en-US" sz="1200" dirty="0"/>
              <a:t>&lt;head&gt;</a:t>
            </a:r>
          </a:p>
          <a:p>
            <a:r>
              <a:rPr lang="en-US" sz="1200" dirty="0"/>
              <a:t>&lt;title&gt;PHP User Input Example&lt;/title&gt;</a:t>
            </a:r>
          </a:p>
          <a:p>
            <a:r>
              <a:rPr lang="en-US" sz="1200" dirty="0"/>
              <a:t>&lt;/head&gt;</a:t>
            </a:r>
          </a:p>
          <a:p>
            <a:endParaRPr lang="en-US" sz="1200" dirty="0"/>
          </a:p>
          <a:p>
            <a:r>
              <a:rPr lang="en-US" sz="1200" dirty="0"/>
              <a:t>&lt;body&gt;</a:t>
            </a:r>
          </a:p>
          <a:p>
            <a:endParaRPr lang="en-US" sz="1200" dirty="0"/>
          </a:p>
          <a:p>
            <a:r>
              <a:rPr lang="en-US" sz="1200" dirty="0"/>
              <a:t>&lt;h2&gt;User Registration Form&lt;/h2&gt;</a:t>
            </a:r>
          </a:p>
          <a:p>
            <a:endParaRPr lang="en-US" sz="1200" dirty="0"/>
          </a:p>
          <a:p>
            <a:r>
              <a:rPr lang="en-US" sz="1200" dirty="0"/>
              <a:t>&lt;form method="post"&gt;</a:t>
            </a:r>
          </a:p>
          <a:p>
            <a:endParaRPr lang="en-US" sz="1200" dirty="0"/>
          </a:p>
          <a:p>
            <a:r>
              <a:rPr lang="en-US" sz="1200" dirty="0"/>
              <a:t>Name:</a:t>
            </a:r>
          </a:p>
          <a:p>
            <a:r>
              <a:rPr lang="en-US" sz="1200" dirty="0"/>
              <a:t>&lt;input type="text" name="name" required&gt;</a:t>
            </a:r>
          </a:p>
          <a:p>
            <a:r>
              <a:rPr lang="en-US" sz="1200" dirty="0"/>
              <a:t>&lt;</a:t>
            </a:r>
            <a:r>
              <a:rPr lang="en-US" sz="1200" dirty="0" err="1"/>
              <a:t>br</a:t>
            </a:r>
            <a:r>
              <a:rPr lang="en-US" sz="1200" dirty="0"/>
              <a:t>&gt;&lt;</a:t>
            </a:r>
            <a:r>
              <a:rPr lang="en-US" sz="1200" dirty="0" err="1"/>
              <a:t>br</a:t>
            </a:r>
            <a:r>
              <a:rPr lang="en-US" sz="1200" dirty="0"/>
              <a:t>&gt;</a:t>
            </a:r>
          </a:p>
          <a:p>
            <a:endParaRPr lang="en-US" sz="1200" dirty="0"/>
          </a:p>
          <a:p>
            <a:r>
              <a:rPr lang="en-US" sz="1200" dirty="0"/>
              <a:t>Email:</a:t>
            </a:r>
          </a:p>
          <a:p>
            <a:r>
              <a:rPr lang="en-US" sz="1200" dirty="0"/>
              <a:t>&lt;input type="email" name="email" required&gt;</a:t>
            </a:r>
          </a:p>
          <a:p>
            <a:r>
              <a:rPr lang="en-US" sz="1200" dirty="0"/>
              <a:t>&lt;</a:t>
            </a:r>
            <a:r>
              <a:rPr lang="en-US" sz="1200" dirty="0" err="1"/>
              <a:t>br</a:t>
            </a:r>
            <a:r>
              <a:rPr lang="en-US" sz="1200" dirty="0"/>
              <a:t>&gt;&lt;</a:t>
            </a:r>
            <a:r>
              <a:rPr lang="en-US" sz="1200" dirty="0" err="1"/>
              <a:t>br</a:t>
            </a:r>
            <a:r>
              <a:rPr lang="en-US" sz="1200" dirty="0"/>
              <a:t>&gt;</a:t>
            </a:r>
          </a:p>
          <a:p>
            <a:endParaRPr lang="en-US" sz="1200" dirty="0"/>
          </a:p>
          <a:p>
            <a:r>
              <a:rPr lang="en-US" sz="1200" dirty="0"/>
              <a:t>Age:</a:t>
            </a:r>
          </a:p>
          <a:p>
            <a:r>
              <a:rPr lang="en-US" sz="1200" dirty="0"/>
              <a:t>&lt;input type="number" name="age" required&gt;</a:t>
            </a:r>
          </a:p>
          <a:p>
            <a:r>
              <a:rPr lang="en-US" sz="1200" dirty="0"/>
              <a:t>&lt;</a:t>
            </a:r>
            <a:r>
              <a:rPr lang="en-US" sz="1200" dirty="0" err="1"/>
              <a:t>br</a:t>
            </a:r>
            <a:r>
              <a:rPr lang="en-US" sz="1200" dirty="0"/>
              <a:t>&gt;&lt;</a:t>
            </a:r>
            <a:r>
              <a:rPr lang="en-US" sz="1200" dirty="0" err="1"/>
              <a:t>br</a:t>
            </a:r>
            <a:r>
              <a:rPr lang="en-US" sz="1200" dirty="0"/>
              <a:t>&gt;</a:t>
            </a:r>
          </a:p>
          <a:p>
            <a:endParaRPr lang="en-US" sz="1200" dirty="0"/>
          </a:p>
          <a:p>
            <a:r>
              <a:rPr lang="en-US" sz="1200" dirty="0"/>
              <a:t>&lt;input type="submit" name="submit" value="Submit"&gt;</a:t>
            </a:r>
          </a:p>
          <a:p>
            <a:endParaRPr lang="en-US" sz="1200" dirty="0"/>
          </a:p>
          <a:p>
            <a:r>
              <a:rPr lang="en-US" sz="1200" dirty="0"/>
              <a:t>&lt;/form&gt;</a:t>
            </a:r>
          </a:p>
          <a:p>
            <a:endParaRPr lang="en-US" sz="1200" dirty="0"/>
          </a:p>
          <a:p>
            <a:r>
              <a:rPr lang="en-US" sz="1200" dirty="0"/>
              <a:t>&lt;/body&gt;</a:t>
            </a:r>
          </a:p>
          <a:p>
            <a:r>
              <a:rPr lang="en-US" sz="1200" dirty="0"/>
              <a:t>&lt;/html&gt;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CB2E3D-150D-8134-6CC2-F653D3D9E4DC}"/>
              </a:ext>
            </a:extLst>
          </p:cNvPr>
          <p:cNvSpPr txBox="1"/>
          <p:nvPr/>
        </p:nvSpPr>
        <p:spPr>
          <a:xfrm>
            <a:off x="2895600" y="2213759"/>
            <a:ext cx="3886200" cy="403187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/>
              <a:t>&lt;?php</a:t>
            </a:r>
          </a:p>
          <a:p>
            <a:r>
              <a:rPr lang="en-US" sz="1600" dirty="0"/>
              <a:t>// Check if the form was submitted</a:t>
            </a:r>
          </a:p>
          <a:p>
            <a:r>
              <a:rPr lang="en-US" sz="1600" dirty="0"/>
              <a:t>if(</a:t>
            </a:r>
            <a:r>
              <a:rPr lang="en-US" sz="1600" dirty="0" err="1"/>
              <a:t>isset</a:t>
            </a:r>
            <a:r>
              <a:rPr lang="en-US" sz="1600" dirty="0"/>
              <a:t>($_POST['submit'])){</a:t>
            </a:r>
          </a:p>
          <a:p>
            <a:endParaRPr lang="en-US" sz="1600" dirty="0"/>
          </a:p>
          <a:p>
            <a:r>
              <a:rPr lang="en-US" sz="1600" dirty="0"/>
              <a:t>    // Receive user inputs</a:t>
            </a:r>
          </a:p>
          <a:p>
            <a:r>
              <a:rPr lang="en-US" sz="1600" dirty="0"/>
              <a:t>    $name = $_POST['name'];</a:t>
            </a:r>
          </a:p>
          <a:p>
            <a:r>
              <a:rPr lang="en-US" sz="1600" dirty="0"/>
              <a:t>    $email = $_POST['email'];</a:t>
            </a:r>
          </a:p>
          <a:p>
            <a:r>
              <a:rPr lang="en-US" sz="1600" dirty="0"/>
              <a:t>    $age = $_POST['age'];</a:t>
            </a:r>
          </a:p>
          <a:p>
            <a:endParaRPr lang="en-US" sz="1600" dirty="0"/>
          </a:p>
          <a:p>
            <a:r>
              <a:rPr lang="en-US" sz="1600" dirty="0"/>
              <a:t>    // Display the inputs</a:t>
            </a:r>
          </a:p>
          <a:p>
            <a:r>
              <a:rPr lang="en-US" sz="1600" dirty="0"/>
              <a:t>    echo "&lt;h3&gt;User Information&lt;/h3&gt;";</a:t>
            </a:r>
          </a:p>
          <a:p>
            <a:r>
              <a:rPr lang="en-US" sz="1600" dirty="0"/>
              <a:t>    echo "Name: " . $name . "&lt;</a:t>
            </a:r>
            <a:r>
              <a:rPr lang="en-US" sz="1600" dirty="0" err="1"/>
              <a:t>br</a:t>
            </a:r>
            <a:r>
              <a:rPr lang="en-US" sz="1600" dirty="0"/>
              <a:t>&gt;";</a:t>
            </a:r>
          </a:p>
          <a:p>
            <a:r>
              <a:rPr lang="en-US" sz="1600" dirty="0"/>
              <a:t>    echo "Email: " . $email . "&lt;</a:t>
            </a:r>
            <a:r>
              <a:rPr lang="en-US" sz="1600" dirty="0" err="1"/>
              <a:t>br</a:t>
            </a:r>
            <a:r>
              <a:rPr lang="en-US" sz="1600" dirty="0"/>
              <a:t>&gt;";</a:t>
            </a:r>
          </a:p>
          <a:p>
            <a:r>
              <a:rPr lang="en-US" sz="1600" dirty="0"/>
              <a:t>    echo "Age: " . $age . "&lt;</a:t>
            </a:r>
            <a:r>
              <a:rPr lang="en-US" sz="1600" dirty="0" err="1"/>
              <a:t>br</a:t>
            </a:r>
            <a:r>
              <a:rPr lang="en-US" sz="1600" dirty="0"/>
              <a:t>&gt;&lt;</a:t>
            </a:r>
            <a:r>
              <a:rPr lang="en-US" sz="1600" dirty="0" err="1"/>
              <a:t>br</a:t>
            </a:r>
            <a:r>
              <a:rPr lang="en-US" sz="1600" dirty="0"/>
              <a:t>&gt;";</a:t>
            </a:r>
          </a:p>
          <a:p>
            <a:r>
              <a:rPr lang="en-US" sz="1600" dirty="0"/>
              <a:t>}</a:t>
            </a:r>
          </a:p>
          <a:p>
            <a:r>
              <a:rPr lang="en-US" sz="1600" dirty="0"/>
              <a:t>?&gt;</a:t>
            </a:r>
          </a:p>
        </p:txBody>
      </p:sp>
    </p:spTree>
    <p:extLst>
      <p:ext uri="{BB962C8B-B14F-4D97-AF65-F5344CB8AC3E}">
        <p14:creationId xmlns:p14="http://schemas.microsoft.com/office/powerpoint/2010/main" val="245656309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1A425DB-2AFE-1A15-F011-D80CFB209F9A}"/>
              </a:ext>
            </a:extLst>
          </p:cNvPr>
          <p:cNvSpPr txBox="1"/>
          <p:nvPr/>
        </p:nvSpPr>
        <p:spPr>
          <a:xfrm>
            <a:off x="304800" y="1219200"/>
            <a:ext cx="4419600" cy="95410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Example: Check User Age Using </a:t>
            </a:r>
            <a:r>
              <a:rPr lang="en-US" sz="2800" dirty="0">
                <a:solidFill>
                  <a:srgbClr val="FF0000"/>
                </a:solidFill>
                <a:latin typeface="Courier New" panose="02070309020205020404" pitchFamily="49" charset="0"/>
              </a:rPr>
              <a:t>if...else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3E4FCF-0E03-9781-7580-5D48BB80F20D}"/>
              </a:ext>
            </a:extLst>
          </p:cNvPr>
          <p:cNvSpPr txBox="1"/>
          <p:nvPr/>
        </p:nvSpPr>
        <p:spPr>
          <a:xfrm>
            <a:off x="6172200" y="609600"/>
            <a:ext cx="4800600" cy="533992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&lt;?php</a:t>
            </a:r>
          </a:p>
          <a:p>
            <a:r>
              <a:rPr lang="en-US" sz="1100" dirty="0">
                <a:solidFill>
                  <a:srgbClr val="FF0000"/>
                </a:solidFill>
              </a:rPr>
              <a:t>if(</a:t>
            </a:r>
            <a:r>
              <a:rPr lang="en-US" sz="1100" dirty="0" err="1">
                <a:solidFill>
                  <a:srgbClr val="FF0000"/>
                </a:solidFill>
              </a:rPr>
              <a:t>isset</a:t>
            </a:r>
            <a:r>
              <a:rPr lang="en-US" sz="1100" dirty="0">
                <a:solidFill>
                  <a:srgbClr val="FF0000"/>
                </a:solidFill>
              </a:rPr>
              <a:t>($_POST['submit'])){</a:t>
            </a:r>
          </a:p>
          <a:p>
            <a:endParaRPr lang="en-US" sz="1100" dirty="0">
              <a:solidFill>
                <a:srgbClr val="FF0000"/>
              </a:solidFill>
            </a:endParaRPr>
          </a:p>
          <a:p>
            <a:r>
              <a:rPr lang="en-US" sz="1100" dirty="0">
                <a:solidFill>
                  <a:srgbClr val="FF0000"/>
                </a:solidFill>
              </a:rPr>
              <a:t>    $age = $_POST['age'];</a:t>
            </a:r>
          </a:p>
          <a:p>
            <a:endParaRPr lang="en-US" sz="1100" dirty="0">
              <a:solidFill>
                <a:srgbClr val="FF0000"/>
              </a:solidFill>
            </a:endParaRPr>
          </a:p>
          <a:p>
            <a:r>
              <a:rPr lang="en-US" sz="1100" dirty="0">
                <a:solidFill>
                  <a:srgbClr val="FF0000"/>
                </a:solidFill>
              </a:rPr>
              <a:t>    if($age &gt;= 18){</a:t>
            </a:r>
          </a:p>
          <a:p>
            <a:r>
              <a:rPr lang="en-US" sz="1100" dirty="0">
                <a:solidFill>
                  <a:srgbClr val="FF0000"/>
                </a:solidFill>
              </a:rPr>
              <a:t>        echo "You are an Adult";</a:t>
            </a:r>
          </a:p>
          <a:p>
            <a:r>
              <a:rPr lang="en-US" sz="1100" dirty="0">
                <a:solidFill>
                  <a:srgbClr val="FF0000"/>
                </a:solidFill>
              </a:rPr>
              <a:t>    } else {</a:t>
            </a:r>
          </a:p>
          <a:p>
            <a:r>
              <a:rPr lang="en-US" sz="1100" dirty="0">
                <a:solidFill>
                  <a:srgbClr val="FF0000"/>
                </a:solidFill>
              </a:rPr>
              <a:t>        echo "You are a Minor";</a:t>
            </a:r>
          </a:p>
          <a:p>
            <a:r>
              <a:rPr lang="en-US" sz="1100" dirty="0">
                <a:solidFill>
                  <a:srgbClr val="FF0000"/>
                </a:solidFill>
              </a:rPr>
              <a:t>    }</a:t>
            </a:r>
          </a:p>
          <a:p>
            <a:endParaRPr lang="en-US" sz="1100" dirty="0">
              <a:solidFill>
                <a:srgbClr val="FF0000"/>
              </a:solidFill>
            </a:endParaRPr>
          </a:p>
          <a:p>
            <a:r>
              <a:rPr lang="en-US" sz="1100" dirty="0">
                <a:solidFill>
                  <a:srgbClr val="FF0000"/>
                </a:solidFill>
              </a:rPr>
              <a:t>}</a:t>
            </a:r>
          </a:p>
          <a:p>
            <a:r>
              <a:rPr lang="en-US" sz="1100" dirty="0">
                <a:solidFill>
                  <a:srgbClr val="FF0000"/>
                </a:solidFill>
              </a:rPr>
              <a:t>?&gt;</a:t>
            </a:r>
          </a:p>
          <a:p>
            <a:endParaRPr lang="en-US" sz="1100" dirty="0">
              <a:solidFill>
                <a:srgbClr val="FF0000"/>
              </a:solidFill>
            </a:endParaRPr>
          </a:p>
          <a:p>
            <a:r>
              <a:rPr lang="en-US" sz="1100" dirty="0">
                <a:solidFill>
                  <a:srgbClr val="FF0000"/>
                </a:solidFill>
              </a:rPr>
              <a:t>&lt;!DOCTYPE html&gt;</a:t>
            </a:r>
          </a:p>
          <a:p>
            <a:r>
              <a:rPr lang="en-US" sz="1100" dirty="0">
                <a:solidFill>
                  <a:srgbClr val="FF0000"/>
                </a:solidFill>
              </a:rPr>
              <a:t>&lt;html&gt;</a:t>
            </a:r>
          </a:p>
          <a:p>
            <a:r>
              <a:rPr lang="en-US" sz="1100" dirty="0">
                <a:solidFill>
                  <a:srgbClr val="FF0000"/>
                </a:solidFill>
              </a:rPr>
              <a:t>&lt;body&gt;</a:t>
            </a:r>
          </a:p>
          <a:p>
            <a:endParaRPr lang="en-US" sz="1100" dirty="0">
              <a:solidFill>
                <a:srgbClr val="FF0000"/>
              </a:solidFill>
            </a:endParaRPr>
          </a:p>
          <a:p>
            <a:r>
              <a:rPr lang="en-US" sz="1100" dirty="0">
                <a:solidFill>
                  <a:srgbClr val="FF0000"/>
                </a:solidFill>
              </a:rPr>
              <a:t>&lt;h2&gt;Age Checker&lt;/h2&gt;</a:t>
            </a:r>
          </a:p>
          <a:p>
            <a:endParaRPr lang="en-US" sz="1100" dirty="0">
              <a:solidFill>
                <a:srgbClr val="FF0000"/>
              </a:solidFill>
            </a:endParaRPr>
          </a:p>
          <a:p>
            <a:r>
              <a:rPr lang="en-US" sz="1100" dirty="0">
                <a:solidFill>
                  <a:srgbClr val="FF0000"/>
                </a:solidFill>
              </a:rPr>
              <a:t>&lt;form method="post"&gt;</a:t>
            </a:r>
          </a:p>
          <a:p>
            <a:r>
              <a:rPr lang="en-US" sz="1100" dirty="0">
                <a:solidFill>
                  <a:srgbClr val="FF0000"/>
                </a:solidFill>
              </a:rPr>
              <a:t>Age:</a:t>
            </a:r>
          </a:p>
          <a:p>
            <a:r>
              <a:rPr lang="en-US" sz="1100" dirty="0">
                <a:solidFill>
                  <a:srgbClr val="FF0000"/>
                </a:solidFill>
              </a:rPr>
              <a:t>&lt;input type="number" name="age" required&gt;</a:t>
            </a:r>
          </a:p>
          <a:p>
            <a:r>
              <a:rPr lang="en-US" sz="1100" dirty="0">
                <a:solidFill>
                  <a:srgbClr val="FF0000"/>
                </a:solidFill>
              </a:rPr>
              <a:t>&lt;</a:t>
            </a:r>
            <a:r>
              <a:rPr lang="en-US" sz="1100" dirty="0" err="1">
                <a:solidFill>
                  <a:srgbClr val="FF0000"/>
                </a:solidFill>
              </a:rPr>
              <a:t>br</a:t>
            </a:r>
            <a:r>
              <a:rPr lang="en-US" sz="1100" dirty="0">
                <a:solidFill>
                  <a:srgbClr val="FF0000"/>
                </a:solidFill>
              </a:rPr>
              <a:t>&gt;&lt;</a:t>
            </a:r>
            <a:r>
              <a:rPr lang="en-US" sz="1100" dirty="0" err="1">
                <a:solidFill>
                  <a:srgbClr val="FF0000"/>
                </a:solidFill>
              </a:rPr>
              <a:t>br</a:t>
            </a:r>
            <a:r>
              <a:rPr lang="en-US" sz="1100" dirty="0">
                <a:solidFill>
                  <a:srgbClr val="FF0000"/>
                </a:solidFill>
              </a:rPr>
              <a:t>&gt;</a:t>
            </a:r>
          </a:p>
          <a:p>
            <a:endParaRPr lang="en-US" sz="1100" dirty="0">
              <a:solidFill>
                <a:srgbClr val="FF0000"/>
              </a:solidFill>
            </a:endParaRPr>
          </a:p>
          <a:p>
            <a:r>
              <a:rPr lang="en-US" sz="1100" dirty="0">
                <a:solidFill>
                  <a:srgbClr val="FF0000"/>
                </a:solidFill>
              </a:rPr>
              <a:t>&lt;input type="submit" name="submit" value="Check Age"&gt;</a:t>
            </a:r>
          </a:p>
          <a:p>
            <a:endParaRPr lang="en-US" sz="1100" dirty="0">
              <a:solidFill>
                <a:srgbClr val="FF0000"/>
              </a:solidFill>
            </a:endParaRPr>
          </a:p>
          <a:p>
            <a:r>
              <a:rPr lang="en-US" sz="1100" dirty="0">
                <a:solidFill>
                  <a:srgbClr val="FF0000"/>
                </a:solidFill>
              </a:rPr>
              <a:t>&lt;/form&gt;</a:t>
            </a:r>
          </a:p>
          <a:p>
            <a:endParaRPr lang="en-US" sz="1100" dirty="0">
              <a:solidFill>
                <a:srgbClr val="FF0000"/>
              </a:solidFill>
            </a:endParaRPr>
          </a:p>
          <a:p>
            <a:r>
              <a:rPr lang="en-US" sz="1100" dirty="0">
                <a:solidFill>
                  <a:srgbClr val="FF0000"/>
                </a:solidFill>
              </a:rPr>
              <a:t>&lt;/body&gt;</a:t>
            </a:r>
          </a:p>
          <a:p>
            <a:r>
              <a:rPr lang="en-US" sz="1100" dirty="0">
                <a:solidFill>
                  <a:srgbClr val="FF0000"/>
                </a:solidFill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113246026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BB88DA3-9624-6608-2C5E-EC0A290D98E3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3276600" y="2590800"/>
            <a:ext cx="6096000" cy="92333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sz="6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END OF  CHAP 2</a:t>
            </a:r>
          </a:p>
        </p:txBody>
      </p:sp>
    </p:spTree>
    <p:extLst>
      <p:ext uri="{BB962C8B-B14F-4D97-AF65-F5344CB8AC3E}">
        <p14:creationId xmlns:p14="http://schemas.microsoft.com/office/powerpoint/2010/main" val="2458116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5509</TotalTime>
  <Words>2230</Words>
  <Application>Microsoft Office PowerPoint</Application>
  <PresentationFormat>Widescreen</PresentationFormat>
  <Paragraphs>404</Paragraphs>
  <Slides>77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91" baseType="lpstr">
      <vt:lpstr>MS PGothic</vt:lpstr>
      <vt:lpstr>Arial</vt:lpstr>
      <vt:lpstr>Calibri</vt:lpstr>
      <vt:lpstr>Calibri-Bold</vt:lpstr>
      <vt:lpstr>Calibri-BoldItalic</vt:lpstr>
      <vt:lpstr>Calibri-Italic</vt:lpstr>
      <vt:lpstr>Consolas-Bold</vt:lpstr>
      <vt:lpstr>Courier New</vt:lpstr>
      <vt:lpstr>SegoeUI</vt:lpstr>
      <vt:lpstr>SegoeUI-Bold</vt:lpstr>
      <vt:lpstr>Times New Roman</vt:lpstr>
      <vt:lpstr>Wingdings</vt:lpstr>
      <vt:lpstr>Wingdings-Regular</vt:lpstr>
      <vt:lpstr>Office Theme</vt:lpstr>
      <vt:lpstr>CIT83104: ADVANCED WEB DESIGN AND DEVELOPMENT</vt:lpstr>
      <vt:lpstr>CLASS INSTRUCTIONS </vt:lpstr>
      <vt:lpstr>MODULE OVERVIEW </vt:lpstr>
      <vt:lpstr>MODULE AIMS </vt:lpstr>
      <vt:lpstr>KEY TECHNOLOGIES &amp; TOOLS </vt:lpstr>
      <vt:lpstr>PowerPoint Presentation</vt:lpstr>
      <vt:lpstr> MODULE CONTENTS </vt:lpstr>
      <vt:lpstr> CHAP 2: SCRIPTING TECHNOLOGIES TO CREATE DYNAMIC AND INTERACTIVE WEBSITES.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13. PHP Superglobal Variables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Prince</dc:creator>
  <cp:lastModifiedBy>USER</cp:lastModifiedBy>
  <cp:revision>934</cp:revision>
  <dcterms:created xsi:type="dcterms:W3CDTF">2021-07-23T10:02:56Z</dcterms:created>
  <dcterms:modified xsi:type="dcterms:W3CDTF">2026-03-18T14:26:35Z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2021-07-13T00:00:00Z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2021-07-23T00:00:00Z</vt:filetime>
  </property>
</Properties>
</file>