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257" r:id="rId3"/>
    <p:sldId id="411" r:id="rId4"/>
    <p:sldId id="434" r:id="rId5"/>
    <p:sldId id="417" r:id="rId6"/>
    <p:sldId id="449" r:id="rId7"/>
    <p:sldId id="450" r:id="rId8"/>
    <p:sldId id="414" r:id="rId9"/>
    <p:sldId id="415" r:id="rId10"/>
    <p:sldId id="442" r:id="rId11"/>
    <p:sldId id="441" r:id="rId12"/>
    <p:sldId id="419" r:id="rId13"/>
    <p:sldId id="443" r:id="rId14"/>
    <p:sldId id="444" r:id="rId15"/>
    <p:sldId id="445" r:id="rId16"/>
    <p:sldId id="422" r:id="rId17"/>
    <p:sldId id="436" r:id="rId18"/>
    <p:sldId id="447" r:id="rId19"/>
    <p:sldId id="448" r:id="rId20"/>
    <p:sldId id="430" r:id="rId21"/>
    <p:sldId id="432" r:id="rId22"/>
    <p:sldId id="31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59EB8-F0F6-4DC6-A647-6A5C1CFF84A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58CC0-D8AB-4D70-B3A7-EFDBBA065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83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7527788-7DA8-48F7-A7B7-918F09194536}" type="slidenum">
              <a:rPr lang="en-CA" sz="1200" smtClean="0"/>
              <a:pPr/>
              <a:t>20</a:t>
            </a:fld>
            <a:endParaRPr lang="en-CA" sz="1200"/>
          </a:p>
        </p:txBody>
      </p:sp>
    </p:spTree>
    <p:extLst>
      <p:ext uri="{BB962C8B-B14F-4D97-AF65-F5344CB8AC3E}">
        <p14:creationId xmlns:p14="http://schemas.microsoft.com/office/powerpoint/2010/main" val="582187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E42F-2F17-4DD7-8DFC-FAC4895B1DCE}" type="datetime1">
              <a:rPr lang="en-GB" smtClean="0"/>
              <a:t>07/03/2026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16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5135-96B0-4D59-9477-C1C029711266}" type="datetime1">
              <a:rPr lang="en-GB" smtClean="0"/>
              <a:t>07/03/2026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893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16361-7B81-44C5-9A3A-71D6D100AD56}" type="datetime1">
              <a:rPr lang="en-GB" smtClean="0"/>
              <a:t>07/03/2026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145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118-AD8C-45DB-8E9A-71884D9D7FC1}" type="datetime1">
              <a:rPr lang="en-GB" smtClean="0"/>
              <a:t>07/03/2026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CFC8-89B1-4D57-A51F-48F51F844B81}" type="datetime1">
              <a:rPr lang="en-GB" smtClean="0"/>
              <a:t>07/03/2026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149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FA51-64D4-4EB8-BFEE-804D4C829154}" type="datetime1">
              <a:rPr lang="en-GB" smtClean="0"/>
              <a:t>07/03/2026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627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4CCD-74AE-4BD3-AC04-46933177CAC8}" type="datetime1">
              <a:rPr lang="en-GB" smtClean="0"/>
              <a:t>07/03/2026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41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1212-F654-46B9-975F-0DD54868612F}" type="datetime1">
              <a:rPr lang="en-GB" smtClean="0"/>
              <a:t>07/03/2026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170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23D7-5D51-46E5-A289-80F4A83CCE3E}" type="datetime1">
              <a:rPr lang="en-GB" smtClean="0"/>
              <a:t>07/03/2026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533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BE30-9A89-4B91-A84C-4D4D55CA1321}" type="datetime1">
              <a:rPr lang="en-GB" smtClean="0"/>
              <a:t>07/03/2026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182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3C09-AE49-422C-81E3-52DA06B4BA2B}" type="datetime1">
              <a:rPr lang="en-GB" smtClean="0"/>
              <a:t>07/03/2026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91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05659" y="1270457"/>
            <a:ext cx="798068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8D21-266C-455A-8CEC-12FEFF750694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07/03/2026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369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F6960-003F-4D8C-B8AC-3E1FC3BD80D6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07/03/2026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7389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47835-96A5-46B5-A6A8-AF6AD0478162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07/03/2026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48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611C2-7913-467E-A42C-29D9E21C6938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07/03/2026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014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lang="en-US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C551E-F4C7-4FD6-86C5-A4F3C46DF6D9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07/03/2026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7151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4A620-4D63-450A-BD74-3876FFB6A025}" type="datetime1">
              <a:rPr lang="en-GB" smtClean="0"/>
              <a:t>07/03/2026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1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2191999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3403" y="999490"/>
            <a:ext cx="7505192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588" y="2027047"/>
            <a:ext cx="1076282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14587" y="6464680"/>
            <a:ext cx="91694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0E563-AC30-4883-9709-5124BD668EAD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07/03/2026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2077" y="6464680"/>
            <a:ext cx="30903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620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ecomputernotes.com/fundamental/input-output-and-memory/what-is-a-printer-and-what-are-the-different-types-of-printers" TargetMode="Externa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-348661"/>
            <a:ext cx="12191999" cy="334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230"/>
              </a:lnSpc>
              <a:spcBef>
                <a:spcPts val="100"/>
              </a:spcBef>
            </a:pPr>
            <a:br>
              <a:rPr lang="en-GB" b="1" dirty="0">
                <a:solidFill>
                  <a:schemeClr val="bg1"/>
                </a:solidFill>
                <a:latin typeface="Gill Sans MT" panose="020B0502020104020203" pitchFamily="34" charset="0"/>
              </a:rPr>
            </a:br>
            <a:r>
              <a:rPr lang="en-GB" b="1" dirty="0">
                <a:solidFill>
                  <a:schemeClr val="bg1"/>
                </a:solidFill>
                <a:latin typeface="Gill Sans MT" panose="020B0502020104020203" pitchFamily="34" charset="0"/>
              </a:rPr>
              <a:t>Server and Systems Administration</a:t>
            </a:r>
            <a:br>
              <a:rPr lang="en-US" b="1" dirty="0">
                <a:solidFill>
                  <a:schemeClr val="bg1"/>
                </a:solidFill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chemeClr val="bg1"/>
                </a:solidFill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Module Code : CSC3504 </a:t>
            </a:r>
            <a:br>
              <a:rPr lang="en-US" dirty="0">
                <a:solidFill>
                  <a:schemeClr val="accent1"/>
                </a:solidFill>
                <a:latin typeface="Gill Sans MT" panose="020B0502020104020203" pitchFamily="34" charset="0"/>
              </a:rPr>
            </a:br>
            <a:endParaRPr sz="4400" dirty="0">
              <a:latin typeface="Gill Sans MT" panose="020B0502020104020203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5461" y="2529031"/>
            <a:ext cx="50292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3200" b="1" dirty="0">
                <a:solidFill>
                  <a:srgbClr val="FFC000"/>
                </a:solidFill>
                <a:latin typeface="MS PGothic"/>
                <a:cs typeface="MS PGothic"/>
              </a:rPr>
              <a:t>Simeon </a:t>
            </a:r>
            <a:r>
              <a:rPr lang="en-US" sz="3200" b="1" dirty="0">
                <a:solidFill>
                  <a:srgbClr val="FFC000"/>
                </a:solidFill>
                <a:latin typeface="Gill Sans MT" panose="020B0502020104020203" pitchFamily="34" charset="0"/>
                <a:cs typeface="MS PGothic"/>
              </a:rPr>
              <a:t>NDAYAMBAJE</a:t>
            </a:r>
            <a:endParaRPr sz="3200" b="1" dirty="0">
              <a:latin typeface="Gill Sans MT" panose="020B0502020104020203" pitchFamily="34" charset="0"/>
              <a:cs typeface="MS P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7083" y="6426504"/>
            <a:ext cx="33259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1200" b="1" dirty="0">
                <a:solidFill>
                  <a:schemeClr val="bg1"/>
                </a:solidFill>
              </a:rPr>
              <a:t>Server and Systems Administration , </a:t>
            </a:r>
            <a:r>
              <a:rPr lang="en-US" sz="1200" dirty="0">
                <a:solidFill>
                  <a:schemeClr val="bg1"/>
                </a:solidFill>
              </a:rPr>
              <a:t>CSC3504 </a:t>
            </a:r>
            <a:endParaRPr sz="1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28681" y="6426504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11202077" y="6464680"/>
            <a:ext cx="309033" cy="153888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5668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560945" y="2145206"/>
            <a:ext cx="951239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x-none" sz="4000" b="1" dirty="0">
                <a:solidFill>
                  <a:srgbClr val="C00000"/>
                </a:solidFill>
                <a:latin typeface="Gill Sans MT" panose="020B0502020104020203" pitchFamily="34" charset="0"/>
              </a:rPr>
              <a:t>Chapter 1</a:t>
            </a:r>
          </a:p>
          <a:p>
            <a:pPr algn="ctr"/>
            <a:endParaRPr lang="en-US" altLang="x-none" sz="4000" b="1" dirty="0">
              <a:solidFill>
                <a:srgbClr val="C00000"/>
              </a:solidFill>
              <a:latin typeface="Gill Sans MT" panose="020B0502020104020203" pitchFamily="34" charset="0"/>
            </a:endParaRPr>
          </a:p>
          <a:p>
            <a:pPr algn="ctr"/>
            <a:r>
              <a:rPr lang="en-US" altLang="x-none" sz="4000" b="1" dirty="0">
                <a:latin typeface="Gill Sans MT" panose="020B0502020104020203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4987274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546754" y="1027364"/>
            <a:ext cx="10331777" cy="677108"/>
          </a:xfrm>
        </p:spPr>
        <p:txBody>
          <a:bodyPr/>
          <a:lstStyle/>
          <a:p>
            <a:r>
              <a:rPr lang="en-US" sz="4400" dirty="0">
                <a:latin typeface="Gill Sans MT" panose="020B0502020104020203" pitchFamily="34" charset="0"/>
              </a:rPr>
              <a:t>What is server?  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46756" y="1527142"/>
            <a:ext cx="6052007" cy="5139869"/>
          </a:xfrm>
        </p:spPr>
        <p:txBody>
          <a:bodyPr/>
          <a:lstStyle/>
          <a:p>
            <a:pPr>
              <a:defRPr/>
            </a:pPr>
            <a:endParaRPr lang="en-US" dirty="0">
              <a:latin typeface="Gill Sans MT" panose="020B05020201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Gill Sans MT" panose="020B0502020104020203" pitchFamily="34" charset="0"/>
              </a:rPr>
              <a:t>A server </a:t>
            </a:r>
            <a:r>
              <a:rPr lang="en-US" sz="3000" dirty="0">
                <a:latin typeface="Gill Sans MT" panose="020B0502020104020203" pitchFamily="34" charset="0"/>
              </a:rPr>
              <a:t>is a computer, a device or a program that is dedicated to managing network resources.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Gill Sans MT" panose="020B0502020104020203" pitchFamily="34" charset="0"/>
              </a:rPr>
              <a:t>A server is a computer used in a network and which provides a service to a client.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Gill Sans MT" panose="020B0502020104020203" pitchFamily="34" charset="0"/>
              </a:rPr>
              <a:t>Servers usually have more </a:t>
            </a:r>
            <a:r>
              <a:rPr lang="en-US" sz="3000" dirty="0"/>
              <a:t>processing power, memory and storage than client computers.</a:t>
            </a:r>
          </a:p>
          <a:p>
            <a:pPr>
              <a:defRPr/>
            </a:pPr>
            <a:endParaRPr lang="en-US" b="1" dirty="0"/>
          </a:p>
        </p:txBody>
      </p:sp>
      <p:pic>
        <p:nvPicPr>
          <p:cNvPr id="2052" name="Picture 4" descr="Ser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763" y="2266068"/>
            <a:ext cx="5156462" cy="3563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7399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18474" y="1275279"/>
            <a:ext cx="10583159" cy="1231106"/>
          </a:xfrm>
        </p:spPr>
        <p:txBody>
          <a:bodyPr/>
          <a:lstStyle/>
          <a:p>
            <a:r>
              <a:rPr lang="en-US" b="1" dirty="0">
                <a:latin typeface="Gill Sans MT" panose="020B0502020104020203" pitchFamily="34" charset="0"/>
              </a:rPr>
              <a:t>How dedicated server(Hardware) look like?</a:t>
            </a:r>
          </a:p>
        </p:txBody>
      </p:sp>
      <p:pic>
        <p:nvPicPr>
          <p:cNvPr id="9219" name="Picture 6" descr="Image result for serve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4832" y="2458123"/>
            <a:ext cx="5226050" cy="24304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8" descr="Image result for serv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766" y="1939093"/>
            <a:ext cx="5165725" cy="516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40512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735" y="905222"/>
            <a:ext cx="11172612" cy="1231106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What is a Network Operating System?</a:t>
            </a:r>
            <a:br>
              <a:rPr lang="en-US" dirty="0">
                <a:latin typeface="Gill Sans MT" panose="020B0502020104020203" pitchFamily="34" charset="0"/>
              </a:rPr>
            </a:b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645" y="1979629"/>
            <a:ext cx="4751109" cy="4924425"/>
          </a:xfrm>
        </p:spPr>
        <p:txBody>
          <a:bodyPr/>
          <a:lstStyle/>
          <a:p>
            <a:r>
              <a:rPr lang="en-US" b="1" dirty="0">
                <a:latin typeface="Gill Sans MT" panose="020B0502020104020203" pitchFamily="34" charset="0"/>
              </a:rPr>
              <a:t>A Network Operating System (NOS) </a:t>
            </a:r>
            <a:r>
              <a:rPr lang="en-US" dirty="0">
                <a:latin typeface="Gill Sans MT" panose="020B0502020104020203" pitchFamily="34" charset="0"/>
              </a:rPr>
              <a:t>is a particular type of operating system that includes necessary software and protocols to enable communication with other independent computers over a network.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5</a:t>
            </a:fld>
            <a:endParaRPr lang="en-US" dirty="0"/>
          </a:p>
        </p:txBody>
      </p:sp>
      <p:pic>
        <p:nvPicPr>
          <p:cNvPr id="5122" name="Picture 2" descr="https://lh4.googleusercontent.com/YwC-H2-9lqT-lrvaMD1n-PnSlSVJdo4yzDsq1w1WMd6VPhHRVK3hPjuAmGewkHnuVRGuY1FdGsuiY-X5xl9S0Z-_Vy_hvoNg6RhdbgBqxNiGTA1gWek3V9WmH8yF0p6WCCzNBCpS2tQEsfVns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918" y="1639204"/>
            <a:ext cx="5891977" cy="418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0449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Network Operating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76141" y="1813005"/>
            <a:ext cx="108565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Gill Sans MT" panose="020B0502020104020203" pitchFamily="34" charset="0"/>
              </a:rPr>
              <a:t>A NOS coordinates the activities of multiple computers across a network ( </a:t>
            </a:r>
            <a:r>
              <a:rPr lang="en-US" sz="3200" dirty="0" err="1">
                <a:latin typeface="Gill Sans MT" panose="020B0502020104020203" pitchFamily="34" charset="0"/>
              </a:rPr>
              <a:t>eg</a:t>
            </a:r>
            <a:r>
              <a:rPr lang="en-US" sz="3200" dirty="0">
                <a:latin typeface="Gill Sans MT" panose="020B0502020104020203" pitchFamily="34" charset="0"/>
              </a:rPr>
              <a:t>: PCs, printers, file servers and databases connected to a local network).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Gill Sans MT" panose="020B0502020104020203" pitchFamily="34" charset="0"/>
              </a:rPr>
              <a:t>Modern examples of network operating systems include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Gill Sans MT" panose="020B0502020104020203" pitchFamily="34" charset="0"/>
              </a:rPr>
              <a:t>Microsoft Windows Server,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Gill Sans MT" panose="020B0502020104020203" pitchFamily="34" charset="0"/>
              </a:rPr>
              <a:t>Linux distributions configured for network services (such as Ubuntu Server or CentOS),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Gill Sans MT" panose="020B0502020104020203" pitchFamily="34" charset="0"/>
              </a:rPr>
              <a:t>macOS</a:t>
            </a:r>
            <a:r>
              <a:rPr lang="en-US" sz="3200" dirty="0">
                <a:latin typeface="Gill Sans MT" panose="020B0502020104020203" pitchFamily="34" charset="0"/>
              </a:rPr>
              <a:t> Server.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959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656761" y="1106716"/>
            <a:ext cx="8839200" cy="615553"/>
          </a:xfrm>
        </p:spPr>
        <p:txBody>
          <a:bodyPr/>
          <a:lstStyle/>
          <a:p>
            <a:pPr eaLnBrk="1" hangingPunct="1"/>
            <a:r>
              <a:rPr lang="en-US" dirty="0">
                <a:latin typeface="Gill Sans MT" panose="020B0502020104020203" pitchFamily="34" charset="0"/>
              </a:rPr>
              <a:t>What is System administration?</a:t>
            </a:r>
            <a:endParaRPr lang="en-CA" dirty="0">
              <a:latin typeface="Gill Sans MT" panose="020B0502020104020203" pitchFamily="34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5292" y="2554664"/>
            <a:ext cx="5646654" cy="4034672"/>
          </a:xfrm>
        </p:spPr>
        <p:txBody>
          <a:bodyPr/>
          <a:lstStyle/>
          <a:p>
            <a:r>
              <a:rPr lang="en-US" sz="4000" dirty="0"/>
              <a:t>System administration refers to the management of one or more hardware and software systems.</a:t>
            </a:r>
            <a:endParaRPr lang="en-CA" sz="2800" dirty="0"/>
          </a:p>
        </p:txBody>
      </p:sp>
      <p:pic>
        <p:nvPicPr>
          <p:cNvPr id="5124" name="Picture 3" descr="Image result for what is server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070" y="2253006"/>
            <a:ext cx="5392420" cy="3380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41990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546754" y="1027364"/>
            <a:ext cx="10331777" cy="1354217"/>
          </a:xfrm>
        </p:spPr>
        <p:txBody>
          <a:bodyPr/>
          <a:lstStyle/>
          <a:p>
            <a:r>
              <a:rPr lang="en-US" sz="4400" dirty="0">
                <a:latin typeface="Gill Sans MT" panose="020B0502020104020203" pitchFamily="34" charset="0"/>
              </a:rPr>
              <a:t>Who perform System Administration? 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46756" y="1527142"/>
            <a:ext cx="6495068" cy="5416868"/>
          </a:xfrm>
        </p:spPr>
        <p:txBody>
          <a:bodyPr/>
          <a:lstStyle/>
          <a:p>
            <a:pPr>
              <a:defRPr/>
            </a:pPr>
            <a:endParaRPr lang="en-US" dirty="0">
              <a:latin typeface="Gill Sans MT" panose="020B0502020104020203" pitchFamily="34" charset="0"/>
            </a:endParaRPr>
          </a:p>
          <a:p>
            <a:pPr>
              <a:buFont typeface="Wingdings" panose="05000000000000000000" pitchFamily="2" charset="2"/>
              <a:buChar char="v"/>
              <a:defRPr/>
            </a:pPr>
            <a:r>
              <a:rPr lang="en-US" dirty="0">
                <a:latin typeface="Gill Sans MT" panose="020B0502020104020203" pitchFamily="34" charset="0"/>
              </a:rPr>
              <a:t>Done by a </a:t>
            </a:r>
            <a:r>
              <a:rPr lang="en-US" b="1" dirty="0">
                <a:latin typeface="Gill Sans MT" panose="020B0502020104020203" pitchFamily="34" charset="0"/>
              </a:rPr>
              <a:t>system administrator</a:t>
            </a:r>
            <a:r>
              <a:rPr lang="en-US" dirty="0">
                <a:latin typeface="Gill Sans MT" panose="020B0502020104020203" pitchFamily="34" charset="0"/>
              </a:rPr>
              <a:t>. </a:t>
            </a:r>
          </a:p>
          <a:p>
            <a:pPr>
              <a:buFont typeface="Wingdings" panose="05000000000000000000" pitchFamily="2" charset="2"/>
              <a:buChar char="v"/>
              <a:defRPr/>
            </a:pPr>
            <a:r>
              <a:rPr lang="en-US" dirty="0">
                <a:latin typeface="Gill Sans MT" panose="020B0502020104020203" pitchFamily="34" charset="0"/>
              </a:rPr>
              <a:t>He/she is responsible of: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Gill Sans MT" panose="020B0502020104020203" pitchFamily="34" charset="0"/>
              </a:rPr>
              <a:t>Monitors system health, 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Gill Sans MT" panose="020B0502020104020203" pitchFamily="34" charset="0"/>
              </a:rPr>
              <a:t>Allocates system resources ,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Gill Sans MT" panose="020B0502020104020203" pitchFamily="34" charset="0"/>
              </a:rPr>
              <a:t>performs backups, 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Gill Sans MT" panose="020B0502020104020203" pitchFamily="34" charset="0"/>
              </a:rPr>
              <a:t>Provides user access, 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Gill Sans MT" panose="020B0502020104020203" pitchFamily="34" charset="0"/>
              </a:rPr>
              <a:t>Manages user accounts, 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Gill Sans MT" panose="020B0502020104020203" pitchFamily="34" charset="0"/>
              </a:rPr>
              <a:t>Monitors system security and 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Gill Sans MT" panose="020B0502020104020203" pitchFamily="34" charset="0"/>
              </a:rPr>
              <a:t>Performs many other functions</a:t>
            </a:r>
          </a:p>
          <a:p>
            <a:pPr>
              <a:defRPr/>
            </a:pPr>
            <a:endParaRPr lang="en-US" b="1" dirty="0"/>
          </a:p>
        </p:txBody>
      </p:sp>
      <p:pic>
        <p:nvPicPr>
          <p:cNvPr id="1026" name="Picture 2" descr="https://www.softxpert.com/wp-content/uploads/2018/03/network-administrato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175" y="1527142"/>
            <a:ext cx="3533281" cy="475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05489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3403" y="999490"/>
            <a:ext cx="7505192" cy="1231106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Architectural model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588" y="2027047"/>
            <a:ext cx="10762825" cy="3447098"/>
          </a:xfrm>
        </p:spPr>
        <p:txBody>
          <a:bodyPr/>
          <a:lstStyle/>
          <a:p>
            <a:r>
              <a:rPr lang="en-US" b="1" dirty="0"/>
              <a:t>How Network and computing Devices communicate?</a:t>
            </a:r>
          </a:p>
          <a:p>
            <a:endParaRPr lang="en-US" dirty="0"/>
          </a:p>
          <a:p>
            <a:r>
              <a:rPr lang="en-US" dirty="0"/>
              <a:t>Network and computing Devices can communicate by using one of the bellow Architecture model: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 dirty="0">
                <a:latin typeface="Gill Sans MT" panose="020B0502020104020203" pitchFamily="34" charset="0"/>
              </a:rPr>
              <a:t>Peer-to-peer (P2P)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 dirty="0">
                <a:latin typeface="Gill Sans MT" panose="020B0502020104020203" pitchFamily="34" charset="0"/>
              </a:rPr>
              <a:t>Client-Server</a:t>
            </a:r>
            <a:endParaRPr lang="en-US" sz="3200" b="1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770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34484" y="1451728"/>
            <a:ext cx="7176626" cy="4431983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  <a:defRPr/>
            </a:pPr>
            <a:r>
              <a:rPr lang="en-US" b="1" dirty="0">
                <a:latin typeface="Gill Sans MT" panose="020B0502020104020203" pitchFamily="34" charset="0"/>
              </a:rPr>
              <a:t>Peer-to-peer (P2P): each device in this network </a:t>
            </a:r>
            <a:r>
              <a:rPr lang="en-US" dirty="0">
                <a:latin typeface="Gill Sans MT" panose="020B0502020104020203" pitchFamily="34" charset="0"/>
              </a:rPr>
              <a:t>called </a:t>
            </a:r>
            <a:r>
              <a:rPr lang="en-US" b="1" dirty="0">
                <a:latin typeface="Gill Sans MT" panose="020B0502020104020203" pitchFamily="34" charset="0"/>
              </a:rPr>
              <a:t>peers</a:t>
            </a:r>
            <a:r>
              <a:rPr lang="en-US" dirty="0">
                <a:latin typeface="Gill Sans MT" panose="020B0502020104020203" pitchFamily="34" charset="0"/>
              </a:rPr>
              <a:t>, interact directly with each other without needing a central authority or server. </a:t>
            </a:r>
          </a:p>
          <a:p>
            <a:pPr marL="457200" indent="-457200">
              <a:buFont typeface="Wingdings" panose="05000000000000000000" pitchFamily="2" charset="2"/>
              <a:buChar char="q"/>
              <a:defRPr/>
            </a:pPr>
            <a:r>
              <a:rPr lang="en-US" dirty="0">
                <a:latin typeface="Gill Sans MT" panose="020B0502020104020203" pitchFamily="34" charset="0"/>
              </a:rPr>
              <a:t>In a </a:t>
            </a:r>
            <a:r>
              <a:rPr lang="en-US" b="1" dirty="0">
                <a:latin typeface="Gill Sans MT" panose="020B0502020104020203" pitchFamily="34" charset="0"/>
              </a:rPr>
              <a:t>P2P</a:t>
            </a:r>
            <a:r>
              <a:rPr lang="en-US" dirty="0">
                <a:latin typeface="Gill Sans MT" panose="020B0502020104020203" pitchFamily="34" charset="0"/>
              </a:rPr>
              <a:t> network, each participant acts as both a client and a server, enabling them to share resources and services directly with other peers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22" y="1230010"/>
            <a:ext cx="3834862" cy="463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45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2895600" y="876693"/>
            <a:ext cx="7772400" cy="615553"/>
          </a:xfrm>
        </p:spPr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P2P Network architect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755" y="1564849"/>
            <a:ext cx="10435472" cy="3447098"/>
          </a:xfrm>
        </p:spPr>
        <p:txBody>
          <a:bodyPr/>
          <a:lstStyle/>
          <a:p>
            <a:pPr lvl="2">
              <a:defRPr/>
            </a:pPr>
            <a:r>
              <a:rPr lang="en-US" sz="3200" dirty="0">
                <a:latin typeface="Gill Sans MT" panose="020B0502020104020203" pitchFamily="34" charset="0"/>
              </a:rPr>
              <a:t>In P2P Network architect:</a:t>
            </a:r>
          </a:p>
          <a:p>
            <a:pPr lvl="2">
              <a:defRPr/>
            </a:pPr>
            <a:endParaRPr lang="en-US" sz="3200" dirty="0">
              <a:latin typeface="Gill Sans MT" panose="020B0502020104020203" pitchFamily="34" charset="0"/>
            </a:endParaRPr>
          </a:p>
          <a:p>
            <a:pPr marL="1828800" lvl="3" indent="-457200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Gill Sans MT" panose="020B0502020104020203" pitchFamily="34" charset="0"/>
              </a:rPr>
              <a:t>P2P use a distributed architecture.  </a:t>
            </a:r>
          </a:p>
          <a:p>
            <a:pPr marL="1828800" lvl="3" indent="-457200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Gill Sans MT" panose="020B0502020104020203" pitchFamily="34" charset="0"/>
              </a:rPr>
              <a:t>The computers or devices that are part of a peer-to-peer network are called </a:t>
            </a:r>
            <a:r>
              <a:rPr lang="en-US" sz="3200" b="1" dirty="0">
                <a:latin typeface="Gill Sans MT" panose="020B0502020104020203" pitchFamily="34" charset="0"/>
              </a:rPr>
              <a:t>peers</a:t>
            </a:r>
            <a:r>
              <a:rPr lang="en-US" sz="3200" dirty="0">
                <a:latin typeface="Gill Sans MT" panose="020B0502020104020203" pitchFamily="34" charset="0"/>
              </a:rPr>
              <a:t>. </a:t>
            </a:r>
          </a:p>
          <a:p>
            <a:pPr marL="1828800" lvl="3" indent="-457200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Gill Sans MT" panose="020B0502020104020203" pitchFamily="34" charset="0"/>
              </a:rPr>
              <a:t>Files can be shared directly, There are no privileged peers, and there is no central administrator device</a:t>
            </a:r>
          </a:p>
        </p:txBody>
      </p:sp>
    </p:spTree>
    <p:extLst>
      <p:ext uri="{BB962C8B-B14F-4D97-AF65-F5344CB8AC3E}">
        <p14:creationId xmlns:p14="http://schemas.microsoft.com/office/powerpoint/2010/main" val="11918262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46" y="999490"/>
            <a:ext cx="11340446" cy="1231106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Advantages of a peer-to-peer network</a:t>
            </a:r>
            <a:br>
              <a:rPr lang="en-US" dirty="0">
                <a:latin typeface="Gill Sans MT" panose="020B0502020104020203" pitchFamily="34" charset="0"/>
              </a:rPr>
            </a:b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588" y="1668544"/>
            <a:ext cx="10993503" cy="5847755"/>
          </a:xfrm>
        </p:spPr>
        <p:txBody>
          <a:bodyPr/>
          <a:lstStyle/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It is less expensive, there not require to use the dedicated server computer. Any computer on the network can function as both a network server and a user workstation.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It is very easy to install or setup user needs means that you can spend less time and effort in the configuration and implementation.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Each user has to manage its own PC so there is no need for a network manager.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Gill Sans MT" panose="020B0502020104020203" pitchFamily="34" charset="0"/>
              </a:rPr>
              <a:t>There is less traffic than another network.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000" dirty="0">
                <a:latin typeface="Gill Sans MT" panose="020B0502020104020203" pitchFamily="34" charset="0"/>
              </a:rPr>
              <a:t>The loss of a single node does not bring down the entire network</a:t>
            </a:r>
            <a:endParaRPr lang="en-US" sz="30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sz="25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endParaRPr lang="en-US" sz="2500" dirty="0">
              <a:latin typeface="Gill Sans MT" panose="020B05020201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0258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47306" y="1132362"/>
            <a:ext cx="10466895" cy="615553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Disadvantages of peer to peer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07" y="2021264"/>
            <a:ext cx="9144000" cy="5562600"/>
          </a:xfrm>
        </p:spPr>
        <p:txBody>
          <a:bodyPr>
            <a:normAutofit fontScale="92500"/>
          </a:bodyPr>
          <a:lstStyle/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Gill Sans MT" panose="020B0502020104020203" pitchFamily="34" charset="0"/>
              </a:rPr>
              <a:t>A computer can be accessed anytime.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Gill Sans MT" panose="020B0502020104020203" pitchFamily="34" charset="0"/>
              </a:rPr>
              <a:t>More vulnerable to remote attacks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Gill Sans MT" panose="020B0502020104020203" pitchFamily="34" charset="0"/>
              </a:rPr>
              <a:t>Network security has to be applied to each computer separately.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Gill Sans MT" panose="020B0502020104020203" pitchFamily="34" charset="0"/>
              </a:rPr>
              <a:t>Backup has to be performed on each computer separately.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Gill Sans MT" panose="020B0502020104020203" pitchFamily="34" charset="0"/>
              </a:rPr>
              <a:t>To manage and control the access is very complex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Gill Sans MT" panose="020B0502020104020203" pitchFamily="34" charset="0"/>
              </a:rPr>
              <a:t>Users have to use separate passwords on each computer in the network.</a:t>
            </a:r>
          </a:p>
          <a:p>
            <a:pPr>
              <a:defRPr/>
            </a:pPr>
            <a:endParaRPr lang="en-US" dirty="0">
              <a:latin typeface="Gill Sans MT" panose="020B0502020104020203" pitchFamily="34" charset="0"/>
            </a:endParaRPr>
          </a:p>
          <a:p>
            <a:pPr>
              <a:buFont typeface="Wingdings" panose="05000000000000000000" pitchFamily="2" charset="2"/>
              <a:buChar char="v"/>
              <a:defRPr/>
            </a:pPr>
            <a:endParaRPr lang="en-US" dirty="0">
              <a:latin typeface="Gill Sans MT" panose="020B0502020104020203" pitchFamily="34" charset="0"/>
            </a:endParaRPr>
          </a:p>
          <a:p>
            <a:pPr>
              <a:defRPr/>
            </a:pPr>
            <a:r>
              <a:rPr lang="en-US" dirty="0">
                <a:latin typeface="Gill Sans MT" panose="020B0502020104020203" pitchFamily="34" charset="0"/>
              </a:rPr>
              <a:t>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29480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47306" y="1132362"/>
            <a:ext cx="10466895" cy="615553"/>
          </a:xfrm>
        </p:spPr>
        <p:txBody>
          <a:bodyPr/>
          <a:lstStyle/>
          <a:p>
            <a:pPr fontAlgn="base"/>
            <a:r>
              <a:rPr lang="en-US" dirty="0">
                <a:latin typeface="Gill Sans MT" panose="020B0502020104020203" pitchFamily="34" charset="0"/>
              </a:rPr>
              <a:t>Applications of P2P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06" y="2021264"/>
            <a:ext cx="10721419" cy="5562600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en-US" sz="4100" dirty="0">
                <a:latin typeface="Gill Sans MT" panose="020B0502020104020203" pitchFamily="34" charset="0"/>
              </a:rPr>
              <a:t>Below are some of the common uses of P2P network: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4100" b="1" dirty="0">
                <a:latin typeface="Gill Sans MT" panose="020B0502020104020203" pitchFamily="34" charset="0"/>
              </a:rPr>
              <a:t>File sharing: </a:t>
            </a:r>
            <a:r>
              <a:rPr lang="en-US" sz="4100" dirty="0">
                <a:latin typeface="Gill Sans MT" panose="020B0502020104020203" pitchFamily="34" charset="0"/>
              </a:rPr>
              <a:t>Using this type of network there is no need for intermediate servers to transfer the file. 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4100" b="1" dirty="0">
                <a:latin typeface="Gill Sans MT" panose="020B0502020104020203" pitchFamily="34" charset="0"/>
              </a:rPr>
              <a:t>Block chain: </a:t>
            </a:r>
            <a:r>
              <a:rPr lang="en-US" sz="4100" dirty="0">
                <a:latin typeface="Gill Sans MT" panose="020B0502020104020203" pitchFamily="34" charset="0"/>
              </a:rPr>
              <a:t>The P2P architecture is based on the concept of decentralization.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4100" b="1" dirty="0">
                <a:latin typeface="Gill Sans MT" panose="020B0502020104020203" pitchFamily="34" charset="0"/>
              </a:rPr>
              <a:t>Direct messaging: </a:t>
            </a:r>
            <a:r>
              <a:rPr lang="en-US" sz="4100" dirty="0">
                <a:latin typeface="Gill Sans MT" panose="020B0502020104020203" pitchFamily="34" charset="0"/>
              </a:rPr>
              <a:t>P2P network provides a secure, quick, and efficient way to communicate. 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4100" b="1" dirty="0">
                <a:latin typeface="Gill Sans MT" panose="020B0502020104020203" pitchFamily="34" charset="0"/>
              </a:rPr>
              <a:t>Collaboration: </a:t>
            </a:r>
            <a:r>
              <a:rPr lang="en-US" sz="4100" dirty="0">
                <a:latin typeface="Gill Sans MT" panose="020B0502020104020203" pitchFamily="34" charset="0"/>
              </a:rPr>
              <a:t>The easy file sharing also helps to build collaboration among other peers in the network. 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4100" b="1" dirty="0">
                <a:latin typeface="Gill Sans MT" panose="020B0502020104020203" pitchFamily="34" charset="0"/>
              </a:rPr>
              <a:t>File sharing networks: </a:t>
            </a:r>
            <a:r>
              <a:rPr lang="en-US" sz="4100" dirty="0">
                <a:latin typeface="Gill Sans MT" panose="020B0502020104020203" pitchFamily="34" charset="0"/>
              </a:rPr>
              <a:t> Peer-to-Peer technologies simplify file sharing 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4100" b="1" dirty="0">
                <a:latin typeface="Gill Sans MT" panose="020B0502020104020203" pitchFamily="34" charset="0"/>
              </a:rPr>
              <a:t>IP Telephony: </a:t>
            </a:r>
            <a:r>
              <a:rPr lang="en-US" sz="4100" dirty="0">
                <a:latin typeface="Gill Sans MT" panose="020B0502020104020203" pitchFamily="34" charset="0"/>
              </a:rPr>
              <a:t>Skype is one good example of a P2P application in VoIP. </a:t>
            </a:r>
          </a:p>
          <a:p>
            <a:pPr>
              <a:defRPr/>
            </a:pPr>
            <a:endParaRPr lang="en-US" dirty="0">
              <a:latin typeface="Gill Sans MT" panose="020B0502020104020203" pitchFamily="34" charset="0"/>
            </a:endParaRPr>
          </a:p>
          <a:p>
            <a:pPr>
              <a:buFont typeface="Wingdings" panose="05000000000000000000" pitchFamily="2" charset="2"/>
              <a:buChar char="v"/>
              <a:defRPr/>
            </a:pPr>
            <a:endParaRPr lang="en-US" dirty="0">
              <a:latin typeface="Gill Sans MT" panose="020B0502020104020203" pitchFamily="34" charset="0"/>
            </a:endParaRPr>
          </a:p>
          <a:p>
            <a:pPr>
              <a:defRPr/>
            </a:pPr>
            <a:r>
              <a:rPr lang="en-US" dirty="0">
                <a:latin typeface="Gill Sans MT" panose="020B0502020104020203" pitchFamily="34" charset="0"/>
              </a:rPr>
              <a:t>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560717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2485534" y="835266"/>
            <a:ext cx="8458200" cy="615553"/>
          </a:xfrm>
        </p:spPr>
        <p:txBody>
          <a:bodyPr/>
          <a:lstStyle/>
          <a:p>
            <a:r>
              <a:rPr lang="en-US" b="1" dirty="0">
                <a:latin typeface="Gill Sans MT" panose="020B0502020104020203" pitchFamily="34" charset="0"/>
              </a:rPr>
              <a:t>Client-Server Network </a:t>
            </a:r>
          </a:p>
        </p:txBody>
      </p:sp>
      <p:sp>
        <p:nvSpPr>
          <p:cNvPr id="2" name="Rectangle 1"/>
          <p:cNvSpPr/>
          <p:nvPr/>
        </p:nvSpPr>
        <p:spPr>
          <a:xfrm>
            <a:off x="5806911" y="2036984"/>
            <a:ext cx="552410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Gill Sans MT" panose="020B0502020104020203" pitchFamily="34" charset="0"/>
              </a:rPr>
              <a:t>A Computer networking model where one or more powerful computers (servers) provide network services and all other computers (clients) access those services to perform user's tasks.</a:t>
            </a:r>
          </a:p>
        </p:txBody>
      </p:sp>
      <p:pic>
        <p:nvPicPr>
          <p:cNvPr id="2050" name="Picture 2" descr="Network 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047" y="2036984"/>
            <a:ext cx="4048125" cy="395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1838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9540" y="869231"/>
            <a:ext cx="7505192" cy="615553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Client-Server Description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16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254523" y="1824149"/>
            <a:ext cx="11623250" cy="5373216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q"/>
              <a:defRPr/>
            </a:pPr>
            <a:r>
              <a:rPr lang="en-US" dirty="0">
                <a:latin typeface="Gill Sans MT" panose="020B0502020104020203" pitchFamily="34" charset="0"/>
              </a:rPr>
              <a:t>A server is a specialized computer that controls the network resources and provides services (files, directories, applications &amp; shared devices like </a:t>
            </a:r>
            <a:r>
              <a:rPr lang="en-US" dirty="0">
                <a:latin typeface="Gill Sans MT" panose="020B0502020104020203" pitchFamily="34" charset="0"/>
                <a:hlinkClick r:id="rId2" tooltip="Printers are Output devices used to prepare permanent Output devices on paper."/>
              </a:rPr>
              <a:t>printer</a:t>
            </a:r>
            <a:r>
              <a:rPr lang="en-US" dirty="0">
                <a:latin typeface="Gill Sans MT" panose="020B0502020104020203" pitchFamily="34" charset="0"/>
              </a:rPr>
              <a:t>) to other computers in the network. </a:t>
            </a:r>
          </a:p>
          <a:p>
            <a:pPr marL="457200" indent="-457200">
              <a:buFont typeface="Wingdings" panose="05000000000000000000" pitchFamily="2" charset="2"/>
              <a:buChar char="q"/>
              <a:defRPr/>
            </a:pPr>
            <a:r>
              <a:rPr lang="en-US" dirty="0">
                <a:latin typeface="Gill Sans MT" panose="020B0502020104020203" pitchFamily="34" charset="0"/>
              </a:rPr>
              <a:t>A server performs all the major operations like security and network management. </a:t>
            </a:r>
          </a:p>
          <a:p>
            <a:pPr marL="457200" indent="-457200">
              <a:buFont typeface="Wingdings" panose="05000000000000000000" pitchFamily="2" charset="2"/>
              <a:buChar char="q"/>
              <a:defRPr/>
            </a:pPr>
            <a:r>
              <a:rPr lang="en-US" dirty="0">
                <a:latin typeface="Gill Sans MT" panose="020B0502020104020203" pitchFamily="34" charset="0"/>
              </a:rPr>
              <a:t>If any of the clients wants to access these services, it first seeks permission from the server by sending a request.</a:t>
            </a:r>
          </a:p>
          <a:p>
            <a:pPr marL="457200" indent="-457200">
              <a:buFont typeface="Wingdings" panose="05000000000000000000" pitchFamily="2" charset="2"/>
              <a:buChar char="q"/>
              <a:defRPr/>
            </a:pPr>
            <a:r>
              <a:rPr lang="en-US" dirty="0">
                <a:latin typeface="Gill Sans MT" panose="020B0502020104020203" pitchFamily="34" charset="0"/>
              </a:rPr>
              <a:t>When a client requests a connection with a server, the server has the option of accepting or rejecting the request.</a:t>
            </a:r>
          </a:p>
          <a:p>
            <a:pPr marL="457200" indent="-457200">
              <a:buFont typeface="Wingdings" panose="05000000000000000000" pitchFamily="2" charset="2"/>
              <a:buChar char="q"/>
              <a:defRPr/>
            </a:pPr>
            <a:endParaRPr lang="en-US" dirty="0">
              <a:latin typeface="Gill Sans MT" panose="020B0502020104020203" pitchFamily="34" charset="0"/>
            </a:endParaRPr>
          </a:p>
          <a:p>
            <a:pPr>
              <a:defRPr/>
            </a:pP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8092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264" y="886369"/>
            <a:ext cx="10435472" cy="1846659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Advantages of Client-server networks:</a:t>
            </a:r>
            <a:br>
              <a:rPr lang="en-US" dirty="0">
                <a:latin typeface="Gill Sans MT" panose="020B0502020104020203" pitchFamily="34" charset="0"/>
              </a:rPr>
            </a:b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588" y="1508289"/>
            <a:ext cx="11040637" cy="640175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Centralized:</a:t>
            </a:r>
            <a:r>
              <a:rPr lang="en-US" dirty="0">
                <a:latin typeface="Gill Sans MT" panose="020B0502020104020203" pitchFamily="34" charset="0"/>
              </a:rPr>
              <a:t> Centralized back-up is possible in client-server networks.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Single repository: </a:t>
            </a:r>
            <a:r>
              <a:rPr lang="en-US" dirty="0">
                <a:latin typeface="Gill Sans MT" panose="020B0502020104020203" pitchFamily="34" charset="0"/>
              </a:rPr>
              <a:t>Centralized system with all data in a single place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Security:</a:t>
            </a:r>
            <a:r>
              <a:rPr lang="en-US" dirty="0">
                <a:latin typeface="Gill Sans MT" panose="020B0502020104020203" pitchFamily="34" charset="0"/>
              </a:rPr>
              <a:t> All the shared resources are centrally administered.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Performance:</a:t>
            </a:r>
            <a:r>
              <a:rPr lang="en-US" dirty="0">
                <a:latin typeface="Gill Sans MT" panose="020B0502020104020203" pitchFamily="34" charset="0"/>
              </a:rPr>
              <a:t> This increases the performance of the overall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Scalability:</a:t>
            </a:r>
            <a:r>
              <a:rPr lang="en-US" dirty="0">
                <a:latin typeface="Gill Sans MT" panose="020B0502020104020203" pitchFamily="34" charset="0"/>
              </a:rPr>
              <a:t> the new element can be added at any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Simplify Update</a:t>
            </a:r>
            <a:r>
              <a:rPr lang="en-US" dirty="0">
                <a:latin typeface="Gill Sans MT" panose="020B0502020104020203" pitchFamily="34" charset="0"/>
              </a:rPr>
              <a:t>: System as soon as new version of OS and application software comes out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0035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781" y="795941"/>
            <a:ext cx="9860437" cy="1231106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Disadvantages of Client-Server network:</a:t>
            </a:r>
            <a:br>
              <a:rPr lang="en-US" dirty="0">
                <a:latin typeface="Gill Sans MT" panose="020B0502020104020203" pitchFamily="34" charset="0"/>
              </a:rPr>
            </a:b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586" y="1527427"/>
            <a:ext cx="10762825" cy="590931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Traffic Congestion</a:t>
            </a:r>
            <a:r>
              <a:rPr lang="en-US" dirty="0">
                <a:latin typeface="Gill Sans MT" panose="020B0502020104020203" pitchFamily="34" charset="0"/>
              </a:rPr>
              <a:t> : When a large number of clients send requests to the same server may cause the problem of Traffic congestion.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Fail of Server: </a:t>
            </a:r>
            <a:r>
              <a:rPr lang="en-US" dirty="0">
                <a:latin typeface="Gill Sans MT" panose="020B0502020104020203" pitchFamily="34" charset="0"/>
              </a:rPr>
              <a:t>when the server is down, it will affect entire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Specialized servers: </a:t>
            </a:r>
            <a:r>
              <a:rPr lang="en-US" dirty="0">
                <a:latin typeface="Gill Sans MT" panose="020B0502020104020203" pitchFamily="34" charset="0"/>
              </a:rPr>
              <a:t>It requires specialized servers(Hardware) with large memory and secondary storage. This leads to increase in the cost.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Dedicated network administrator: </a:t>
            </a:r>
            <a:r>
              <a:rPr lang="en-US" dirty="0">
                <a:latin typeface="Gill Sans MT" panose="020B0502020104020203" pitchFamily="34" charset="0"/>
              </a:rPr>
              <a:t>Qualified person is needed to handle administration.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4079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187777" y="848903"/>
            <a:ext cx="9678186" cy="744226"/>
          </a:xfrm>
        </p:spPr>
        <p:txBody>
          <a:bodyPr>
            <a:normAutofit fontScale="90000"/>
          </a:bodyPr>
          <a:lstStyle/>
          <a:p>
            <a:pPr marL="342900" indent="-342900"/>
            <a:r>
              <a:rPr lang="en-US" b="1" dirty="0">
                <a:latin typeface="Gill Sans MT" panose="020B0502020104020203" pitchFamily="34" charset="0"/>
              </a:rPr>
              <a:t> </a:t>
            </a:r>
            <a:r>
              <a:rPr lang="en-US" sz="3800" dirty="0">
                <a:latin typeface="Gill Sans MT" panose="020B0502020104020203" pitchFamily="34" charset="0"/>
              </a:rPr>
              <a:t>Network operating system Process Life Cycle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3074" name="Picture 2" descr="process st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909" y="1743959"/>
            <a:ext cx="6525477" cy="4295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3408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700216" y="952107"/>
            <a:ext cx="8945438" cy="145372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Gill Sans MT" panose="020B0502020104020203" pitchFamily="34" charset="0"/>
              </a:rPr>
              <a:t>States of machines or Process Life Cycle</a:t>
            </a:r>
            <a:br>
              <a:rPr lang="en-US" dirty="0">
                <a:latin typeface="Gill Sans MT" panose="020B0502020104020203" pitchFamily="34" charset="0"/>
              </a:rPr>
            </a:b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80767" y="1889448"/>
            <a:ext cx="10164887" cy="49685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9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Start</a:t>
            </a:r>
            <a:r>
              <a:rPr lang="en-US" sz="2900" dirty="0">
                <a:solidFill>
                  <a:schemeClr val="accent1"/>
                </a:solidFill>
                <a:latin typeface="Gill Sans MT" panose="020B0502020104020203" pitchFamily="34" charset="0"/>
              </a:rPr>
              <a:t>: </a:t>
            </a:r>
            <a:r>
              <a:rPr lang="en-US" sz="2900" dirty="0">
                <a:latin typeface="Gill Sans MT" panose="020B0502020104020203" pitchFamily="34" charset="0"/>
              </a:rPr>
              <a:t>This is the initial state when a process is first started/created.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Ready</a:t>
            </a:r>
            <a:r>
              <a:rPr lang="en-US" sz="2900" dirty="0">
                <a:solidFill>
                  <a:schemeClr val="accent1"/>
                </a:solidFill>
                <a:latin typeface="Gill Sans MT" panose="020B0502020104020203" pitchFamily="34" charset="0"/>
              </a:rPr>
              <a:t>: </a:t>
            </a:r>
            <a:r>
              <a:rPr lang="en-US" sz="2900" dirty="0">
                <a:latin typeface="Gill Sans MT" panose="020B0502020104020203" pitchFamily="34" charset="0"/>
              </a:rPr>
              <a:t>The process is waiting to be assigned to a processor.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Running</a:t>
            </a:r>
            <a:r>
              <a:rPr lang="en-US" sz="2900" dirty="0">
                <a:solidFill>
                  <a:schemeClr val="accent1"/>
                </a:solidFill>
                <a:latin typeface="Gill Sans MT" panose="020B0502020104020203" pitchFamily="34" charset="0"/>
              </a:rPr>
              <a:t>: </a:t>
            </a:r>
            <a:r>
              <a:rPr lang="en-US" sz="2900" dirty="0">
                <a:latin typeface="Gill Sans MT" panose="020B0502020104020203" pitchFamily="34" charset="0"/>
              </a:rPr>
              <a:t>processor executes its instructions.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Waiting</a:t>
            </a:r>
            <a:r>
              <a:rPr lang="en-US" sz="2900" dirty="0">
                <a:solidFill>
                  <a:schemeClr val="accent1"/>
                </a:solidFill>
                <a:latin typeface="Gill Sans MT" panose="020B0502020104020203" pitchFamily="34" charset="0"/>
              </a:rPr>
              <a:t>: </a:t>
            </a:r>
            <a:r>
              <a:rPr lang="en-US" sz="2900" dirty="0">
                <a:latin typeface="Gill Sans MT" panose="020B0502020104020203" pitchFamily="34" charset="0"/>
              </a:rPr>
              <a:t>Process moves into the waiting state if it needs to wait for a resource, such as waiting for user input, or waiting for a file to become available.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9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Terminated or Exit</a:t>
            </a:r>
            <a:r>
              <a:rPr lang="en-US" sz="2900" dirty="0">
                <a:solidFill>
                  <a:schemeClr val="accent1"/>
                </a:solidFill>
                <a:latin typeface="Gill Sans MT" panose="020B0502020104020203" pitchFamily="34" charset="0"/>
              </a:rPr>
              <a:t>: </a:t>
            </a:r>
            <a:r>
              <a:rPr lang="en-US" sz="2900" dirty="0">
                <a:latin typeface="Gill Sans MT" panose="020B0502020104020203" pitchFamily="34" charset="0"/>
              </a:rPr>
              <a:t>the process is moved to the terminated state where it waits to be removed from main memory.</a:t>
            </a:r>
          </a:p>
          <a:p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403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14495" y="2483307"/>
            <a:ext cx="276288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5000" b="0" dirty="0">
                <a:solidFill>
                  <a:srgbClr val="FFFFFF"/>
                </a:solidFill>
              </a:rPr>
              <a:t>Thank</a:t>
            </a:r>
            <a:r>
              <a:rPr sz="5000" b="0" spc="-70" dirty="0">
                <a:solidFill>
                  <a:srgbClr val="FFFFFF"/>
                </a:solidFill>
              </a:rPr>
              <a:t> </a:t>
            </a:r>
            <a:r>
              <a:rPr sz="5000" b="0" dirty="0">
                <a:solidFill>
                  <a:srgbClr val="FFFFFF"/>
                </a:solidFill>
              </a:rPr>
              <a:t>you</a:t>
            </a:r>
            <a:endParaRPr sz="5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02077" y="6464680"/>
            <a:ext cx="309033" cy="153888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075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6152</TotalTime>
  <Words>1059</Words>
  <Application>Microsoft Office PowerPoint</Application>
  <PresentationFormat>Widescreen</PresentationFormat>
  <Paragraphs>114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MS PGothic</vt:lpstr>
      <vt:lpstr>Arial</vt:lpstr>
      <vt:lpstr>Calibri</vt:lpstr>
      <vt:lpstr>Calibri Light</vt:lpstr>
      <vt:lpstr>Gill Sans MT</vt:lpstr>
      <vt:lpstr>Times New Roman</vt:lpstr>
      <vt:lpstr>Wingdings</vt:lpstr>
      <vt:lpstr>Office Theme</vt:lpstr>
      <vt:lpstr>1_Office Theme</vt:lpstr>
      <vt:lpstr> Server and Systems Administration  Module Code : CSC3504  </vt:lpstr>
      <vt:lpstr>PowerPoint Presentation</vt:lpstr>
      <vt:lpstr>What is server?  </vt:lpstr>
      <vt:lpstr>How dedicated server(Hardware) look like?</vt:lpstr>
      <vt:lpstr>What is a Network Operating System? </vt:lpstr>
      <vt:lpstr>Network Operating System</vt:lpstr>
      <vt:lpstr>What is System administration?</vt:lpstr>
      <vt:lpstr>Who perform System Administration? </vt:lpstr>
      <vt:lpstr>Architectural model </vt:lpstr>
      <vt:lpstr>PowerPoint Presentation</vt:lpstr>
      <vt:lpstr>P2P Network architect</vt:lpstr>
      <vt:lpstr>Advantages of a peer-to-peer network </vt:lpstr>
      <vt:lpstr>Disadvantages of peer to peer network</vt:lpstr>
      <vt:lpstr>Applications of P2P Network</vt:lpstr>
      <vt:lpstr>Client-Server Network </vt:lpstr>
      <vt:lpstr>Client-Server Description</vt:lpstr>
      <vt:lpstr>Advantages of Client-server networks: </vt:lpstr>
      <vt:lpstr>Disadvantages of Client-Server network: </vt:lpstr>
      <vt:lpstr> Network operating system Process Life Cycle</vt:lpstr>
      <vt:lpstr>States of machines or Process Life Cycle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INEZA</dc:creator>
  <cp:lastModifiedBy>Simeon NDAYAMBAJE</cp:lastModifiedBy>
  <cp:revision>127</cp:revision>
  <dcterms:created xsi:type="dcterms:W3CDTF">2021-09-06T15:03:47Z</dcterms:created>
  <dcterms:modified xsi:type="dcterms:W3CDTF">2026-03-07T14:34:40Z</dcterms:modified>
</cp:coreProperties>
</file>