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369" r:id="rId2"/>
    <p:sldId id="332" r:id="rId3"/>
    <p:sldId id="333" r:id="rId4"/>
    <p:sldId id="350" r:id="rId5"/>
    <p:sldId id="353" r:id="rId6"/>
    <p:sldId id="354" r:id="rId7"/>
    <p:sldId id="355" r:id="rId8"/>
    <p:sldId id="359" r:id="rId9"/>
    <p:sldId id="360" r:id="rId10"/>
    <p:sldId id="357" r:id="rId11"/>
    <p:sldId id="358" r:id="rId12"/>
    <p:sldId id="361" r:id="rId13"/>
    <p:sldId id="364" r:id="rId14"/>
    <p:sldId id="362" r:id="rId15"/>
    <p:sldId id="365" r:id="rId16"/>
    <p:sldId id="366" r:id="rId17"/>
    <p:sldId id="367" r:id="rId18"/>
    <p:sldId id="28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3" d="100"/>
          <a:sy n="63" d="100"/>
        </p:scale>
        <p:origin x="138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EF6059-BEE4-404B-AC42-6E9BC39B45FB}" type="datetimeFigureOut">
              <a:rPr lang="en-US" smtClean="0"/>
              <a:t>3/27/2025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E9E16E-C3A5-4C1B-B87F-6FD03AA084D6}" type="slidenum">
              <a:rPr lang="en-US" smtClean="0"/>
              <a:t>‹#›</a:t>
            </a:fld>
            <a:endParaRPr lang="en-US"/>
          </a:p>
        </p:txBody>
      </p:sp>
    </p:spTree>
    <p:extLst>
      <p:ext uri="{BB962C8B-B14F-4D97-AF65-F5344CB8AC3E}">
        <p14:creationId xmlns:p14="http://schemas.microsoft.com/office/powerpoint/2010/main" val="156062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6/25/2021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a:t>
            </a:fld>
            <a:endParaRPr lang="en-US"/>
          </a:p>
        </p:txBody>
      </p:sp>
      <p:sp>
        <p:nvSpPr>
          <p:cNvPr id="7" name="Title 1"/>
          <p:cNvSpPr>
            <a:spLocks noGrp="1"/>
          </p:cNvSpPr>
          <p:nvPr>
            <p:ph type="title"/>
          </p:nvPr>
        </p:nvSpPr>
        <p:spPr>
          <a:xfrm>
            <a:off x="533400" y="1066800"/>
            <a:ext cx="8001000" cy="1143000"/>
          </a:xfrm>
        </p:spPr>
        <p:txBody>
          <a:bodyPr/>
          <a:lstStyle>
            <a:lvl1pPr>
              <a:defRPr>
                <a:solidFill>
                  <a:srgbClr val="C00000"/>
                </a:solidFill>
              </a:defRPr>
            </a:lvl1pPr>
          </a:lstStyle>
          <a:p>
            <a:r>
              <a:rPr lang="en-US" dirty="0"/>
              <a:t>Click to edit Master title style</a:t>
            </a:r>
          </a:p>
        </p:txBody>
      </p:sp>
      <p:sp>
        <p:nvSpPr>
          <p:cNvPr id="8" name="Content Placeholder 2"/>
          <p:cNvSpPr>
            <a:spLocks noGrp="1"/>
          </p:cNvSpPr>
          <p:nvPr>
            <p:ph idx="1"/>
          </p:nvPr>
        </p:nvSpPr>
        <p:spPr>
          <a:xfrm>
            <a:off x="457200" y="2362200"/>
            <a:ext cx="8229600" cy="3763963"/>
          </a:xfrm>
        </p:spPr>
        <p:txBody>
          <a:bodyPr/>
          <a:lstStyle>
            <a:lvl1pPr marL="457200" indent="-457200" algn="l">
              <a:buFont typeface="Arial" pitchFamily="34" charset="0"/>
              <a:buChar char="•"/>
              <a:defRPr>
                <a:solidFill>
                  <a:schemeClr val="tx1"/>
                </a:solidFill>
              </a:defRPr>
            </a:lvl1pPr>
          </a:lstStyle>
          <a:p>
            <a:pPr lvl="0"/>
            <a:r>
              <a:rPr lang="en-US" dirty="0"/>
              <a:t>Click to edit Master text styles</a:t>
            </a:r>
          </a:p>
          <a:p>
            <a:pPr lvl="0"/>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4165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UoK PPT Template">
    <p:bg>
      <p:bgPr>
        <a:blipFill dpi="0" rotWithShape="1">
          <a:blip r:embed="rId2">
            <a:lum/>
          </a:blip>
          <a:srcRect/>
          <a:stretch>
            <a:fillRect t="-1000" b="-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1066800"/>
            <a:ext cx="8001000" cy="1143000"/>
          </a:xfrm>
        </p:spPr>
        <p:txBody>
          <a:bodyPr/>
          <a:lstStyle>
            <a:lvl1pPr>
              <a:defRPr>
                <a:solidFill>
                  <a:srgbClr val="C00000"/>
                </a:solidFill>
              </a:defRPr>
            </a:lvl1pPr>
          </a:lstStyle>
          <a:p>
            <a:r>
              <a:rPr lang="en-US" dirty="0"/>
              <a:t>Click to edit Master title style</a:t>
            </a:r>
          </a:p>
        </p:txBody>
      </p:sp>
      <p:sp>
        <p:nvSpPr>
          <p:cNvPr id="3" name="Content Placeholder 2"/>
          <p:cNvSpPr>
            <a:spLocks noGrp="1"/>
          </p:cNvSpPr>
          <p:nvPr>
            <p:ph idx="1"/>
          </p:nvPr>
        </p:nvSpPr>
        <p:spPr>
          <a:xfrm>
            <a:off x="457200" y="2362200"/>
            <a:ext cx="8229600" cy="3763963"/>
          </a:xfrm>
        </p:spPr>
        <p:txBody>
          <a:bodyPr/>
          <a:lstStyle>
            <a:lvl1pPr marL="457200" indent="-457200" algn="l">
              <a:buFont typeface="Arial" pitchFamily="34" charset="0"/>
              <a:buChar cha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US"/>
              <a:t>6/25/2021</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a:t>
            </a:fld>
            <a:endParaRPr lang="en-US"/>
          </a:p>
        </p:txBody>
      </p:sp>
    </p:spTree>
    <p:extLst>
      <p:ext uri="{BB962C8B-B14F-4D97-AF65-F5344CB8AC3E}">
        <p14:creationId xmlns:p14="http://schemas.microsoft.com/office/powerpoint/2010/main" val="16582199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CA"/>
          </a:p>
        </p:txBody>
      </p:sp>
      <p:sp>
        <p:nvSpPr>
          <p:cNvPr id="4" name="Rectangle 5"/>
          <p:cNvSpPr>
            <a:spLocks noGrp="1" noChangeArrowheads="1"/>
          </p:cNvSpPr>
          <p:nvPr>
            <p:ph type="ftr" sz="quarter" idx="11"/>
          </p:nvPr>
        </p:nvSpPr>
        <p:spPr>
          <a:ln/>
        </p:spPr>
        <p:txBody>
          <a:bodyPr/>
          <a:lstStyle>
            <a:lvl1pPr>
              <a:defRPr/>
            </a:lvl1pPr>
          </a:lstStyle>
          <a:p>
            <a:pPr>
              <a:defRPr/>
            </a:pPr>
            <a:endParaRPr lang="en-CA"/>
          </a:p>
        </p:txBody>
      </p:sp>
      <p:sp>
        <p:nvSpPr>
          <p:cNvPr id="5" name="Rectangle 6"/>
          <p:cNvSpPr>
            <a:spLocks noGrp="1" noChangeArrowheads="1"/>
          </p:cNvSpPr>
          <p:nvPr>
            <p:ph type="sldNum" sz="quarter" idx="12"/>
          </p:nvPr>
        </p:nvSpPr>
        <p:spPr>
          <a:ln/>
        </p:spPr>
        <p:txBody>
          <a:bodyPr/>
          <a:lstStyle>
            <a:lvl1pPr>
              <a:defRPr/>
            </a:lvl1pPr>
          </a:lstStyle>
          <a:p>
            <a:pPr>
              <a:defRPr/>
            </a:pPr>
            <a:fld id="{9313E91D-9E9A-4298-8B09-FF352AD26DA7}" type="slidenum">
              <a:rPr lang="en-CA"/>
              <a:pPr>
                <a:defRPr/>
              </a:pPr>
              <a:t>‹#›</a:t>
            </a:fld>
            <a:endParaRPr lang="en-CA"/>
          </a:p>
        </p:txBody>
      </p:sp>
    </p:spTree>
    <p:extLst>
      <p:ext uri="{BB962C8B-B14F-4D97-AF65-F5344CB8AC3E}">
        <p14:creationId xmlns:p14="http://schemas.microsoft.com/office/powerpoint/2010/main" val="5140144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1"/>
            <a:ext cx="8229600" cy="1828800"/>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6/25/2021</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41F4DA-9457-4AC0-93DE-AA43A38104B7}" type="slidenum">
              <a:rPr lang="en-US" smtClean="0"/>
              <a:t>‹#›</a:t>
            </a:fld>
            <a:endParaRPr lang="en-US"/>
          </a:p>
        </p:txBody>
      </p:sp>
    </p:spTree>
    <p:extLst>
      <p:ext uri="{BB962C8B-B14F-4D97-AF65-F5344CB8AC3E}">
        <p14:creationId xmlns:p14="http://schemas.microsoft.com/office/powerpoint/2010/main" val="23665475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p:txStyles>
    <p:titleStyle>
      <a:lvl1pPr algn="ctr" defTabSz="914400" rtl="0" eaLnBrk="1" latinLnBrk="0" hangingPunct="1">
        <a:spcBef>
          <a:spcPct val="0"/>
        </a:spcBef>
        <a:buNone/>
        <a:defRPr sz="4400" kern="1200">
          <a:solidFill>
            <a:schemeClr val="bg1"/>
          </a:solidFill>
          <a:latin typeface="Adobe Garamond Pro Bold" pitchFamily="18" charset="0"/>
          <a:ea typeface="+mj-ea"/>
          <a:cs typeface="+mj-cs"/>
        </a:defRPr>
      </a:lvl1pPr>
    </p:titleStyle>
    <p:bodyStyle>
      <a:lvl1pPr marL="342900" indent="-342900" algn="ctr" defTabSz="914400" rtl="0" eaLnBrk="1" latinLnBrk="0" hangingPunct="1">
        <a:spcBef>
          <a:spcPct val="20000"/>
        </a:spcBef>
        <a:buFont typeface="Arial" pitchFamily="34" charset="0"/>
        <a:buChar char="•"/>
        <a:defRPr sz="3200" kern="1200">
          <a:solidFill>
            <a:srgbClr val="FFC000"/>
          </a:solidFill>
          <a:latin typeface="Adobe Fan Heiti Std B" pitchFamily="34" charset="-128"/>
          <a:ea typeface="Adobe Fan Heiti Std B" pitchFamily="34" charset="-128"/>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javatpoint.com/linux-ifplugstatus" TargetMode="External"/><Relationship Id="rId2" Type="http://schemas.openxmlformats.org/officeDocument/2006/relationships/hyperlink" Target="https://www.javatpoint.com/linux-whois" TargetMode="External"/><Relationship Id="rId1" Type="http://schemas.openxmlformats.org/officeDocument/2006/relationships/slideLayout" Target="../slideLayouts/slideLayout2.xml"/><Relationship Id="rId4" Type="http://schemas.openxmlformats.org/officeDocument/2006/relationships/hyperlink" Target="https://www.javatpoint.com/linux-hostname"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javatpoint.com/linux-traceroute" TargetMode="External"/><Relationship Id="rId2" Type="http://schemas.openxmlformats.org/officeDocument/2006/relationships/hyperlink" Target="https://www.javatpoint.com/linux-ifconfig" TargetMode="External"/><Relationship Id="rId1" Type="http://schemas.openxmlformats.org/officeDocument/2006/relationships/slideLayout" Target="../slideLayouts/slideLayout2.xml"/><Relationship Id="rId5" Type="http://schemas.openxmlformats.org/officeDocument/2006/relationships/hyperlink" Target="https://www.javatpoint.com/linux-nslookup" TargetMode="External"/><Relationship Id="rId4" Type="http://schemas.openxmlformats.org/officeDocument/2006/relationships/hyperlink" Target="https://www.javatpoint.com/linux-ping"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www.javatpoint.com/linux-netstat" TargetMode="External"/><Relationship Id="rId2" Type="http://schemas.openxmlformats.org/officeDocument/2006/relationships/hyperlink" Target="https://www.javatpoint.com/linux-host" TargetMode="External"/><Relationship Id="rId1" Type="http://schemas.openxmlformats.org/officeDocument/2006/relationships/slideLayout" Target="../slideLayouts/slideLayout2.xml"/><Relationship Id="rId4" Type="http://schemas.openxmlformats.org/officeDocument/2006/relationships/hyperlink" Target="https://www.javatpoint.com/linux-rout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uok.ac.rw/"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uok.ac.r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857250"/>
            <a:ext cx="9144000" cy="5143497"/>
          </a:xfrm>
          <a:prstGeom prst="rect">
            <a:avLst/>
          </a:prstGeom>
        </p:spPr>
      </p:pic>
      <p:sp>
        <p:nvSpPr>
          <p:cNvPr id="3" name="object 3"/>
          <p:cNvSpPr txBox="1">
            <a:spLocks noGrp="1"/>
          </p:cNvSpPr>
          <p:nvPr>
            <p:ph type="title"/>
          </p:nvPr>
        </p:nvSpPr>
        <p:spPr>
          <a:xfrm>
            <a:off x="1" y="345686"/>
            <a:ext cx="9143999" cy="3010440"/>
          </a:xfrm>
          <a:prstGeom prst="rect">
            <a:avLst/>
          </a:prstGeom>
        </p:spPr>
        <p:txBody>
          <a:bodyPr vert="horz" wrap="square" lIns="0" tIns="9525" rIns="0" bIns="0" rtlCol="0" anchor="ctr">
            <a:spAutoFit/>
          </a:bodyPr>
          <a:lstStyle/>
          <a:p>
            <a:pPr>
              <a:lnSpc>
                <a:spcPts val="3923"/>
              </a:lnSpc>
              <a:spcBef>
                <a:spcPts val="75"/>
              </a:spcBef>
            </a:pPr>
            <a:r>
              <a:rPr lang="en-GB" b="1" dirty="0" smtClean="0">
                <a:solidFill>
                  <a:schemeClr val="bg1"/>
                </a:solidFill>
                <a:latin typeface="Gill Sans MT" panose="020B0502020104020203" pitchFamily="34" charset="0"/>
              </a:rPr>
              <a:t/>
            </a:r>
            <a:br>
              <a:rPr lang="en-GB" b="1" dirty="0" smtClean="0">
                <a:solidFill>
                  <a:schemeClr val="bg1"/>
                </a:solidFill>
                <a:latin typeface="Gill Sans MT" panose="020B0502020104020203" pitchFamily="34" charset="0"/>
              </a:rPr>
            </a:br>
            <a:r>
              <a:rPr lang="en-GB" b="1" dirty="0" smtClean="0">
                <a:solidFill>
                  <a:schemeClr val="bg1"/>
                </a:solidFill>
                <a:latin typeface="Gill Sans MT" panose="020B0502020104020203" pitchFamily="34" charset="0"/>
              </a:rPr>
              <a:t>Server </a:t>
            </a:r>
            <a:r>
              <a:rPr lang="en-GB" b="1" dirty="0">
                <a:solidFill>
                  <a:schemeClr val="bg1"/>
                </a:solidFill>
                <a:latin typeface="Gill Sans MT" panose="020B0502020104020203" pitchFamily="34" charset="0"/>
              </a:rPr>
              <a:t>and Systems Administration</a:t>
            </a:r>
            <a: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t/>
            </a:r>
            <a:br>
              <a:rPr lang="en-US" b="1" dirty="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b="1" dirty="0" smtClean="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t/>
            </a:r>
            <a:br>
              <a:rPr lang="en-US" b="1" dirty="0" smtClean="0">
                <a:solidFill>
                  <a:schemeClr val="bg1"/>
                </a:solidFill>
                <a:latin typeface="Gill Sans MT" panose="020B0502020104020203" pitchFamily="34" charset="0"/>
                <a:ea typeface="Times New Roman" panose="02020603050405020304" pitchFamily="18" charset="0"/>
                <a:cs typeface="Times New Roman" panose="02020603050405020304" pitchFamily="18" charset="0"/>
              </a:rPr>
            </a:br>
            <a:r>
              <a:rPr lang="en-US" dirty="0" smtClean="0">
                <a:solidFill>
                  <a:schemeClr val="bg1"/>
                </a:solidFill>
                <a:latin typeface="Gill Sans MT" panose="020B0502020104020203" pitchFamily="34" charset="0"/>
              </a:rPr>
              <a:t>Module Code : CSC3504 </a:t>
            </a:r>
            <a:r>
              <a:rPr lang="en-US" dirty="0" smtClean="0">
                <a:solidFill>
                  <a:schemeClr val="accent1"/>
                </a:solidFill>
                <a:latin typeface="Gill Sans MT" panose="020B0502020104020203" pitchFamily="34" charset="0"/>
              </a:rPr>
              <a:t/>
            </a:r>
            <a:br>
              <a:rPr lang="en-US" dirty="0" smtClean="0">
                <a:solidFill>
                  <a:schemeClr val="accent1"/>
                </a:solidFill>
                <a:latin typeface="Gill Sans MT" panose="020B0502020104020203" pitchFamily="34" charset="0"/>
              </a:rPr>
            </a:br>
            <a:endParaRPr sz="3300" dirty="0">
              <a:latin typeface="Gill Sans MT" panose="020B0502020104020203" pitchFamily="34" charset="0"/>
            </a:endParaRPr>
          </a:p>
        </p:txBody>
      </p:sp>
      <p:sp>
        <p:nvSpPr>
          <p:cNvPr id="4" name="object 4"/>
          <p:cNvSpPr txBox="1"/>
          <p:nvPr/>
        </p:nvSpPr>
        <p:spPr>
          <a:xfrm>
            <a:off x="2996596" y="2754024"/>
            <a:ext cx="3771900" cy="379431"/>
          </a:xfrm>
          <a:prstGeom prst="rect">
            <a:avLst/>
          </a:prstGeom>
        </p:spPr>
        <p:txBody>
          <a:bodyPr vert="horz" wrap="square" lIns="0" tIns="10001" rIns="0" bIns="0" rtlCol="0">
            <a:spAutoFit/>
          </a:bodyPr>
          <a:lstStyle/>
          <a:p>
            <a:pPr marL="9525">
              <a:spcBef>
                <a:spcPts val="79"/>
              </a:spcBef>
            </a:pPr>
            <a:r>
              <a:rPr lang="en-US" sz="2400" b="1" dirty="0">
                <a:solidFill>
                  <a:srgbClr val="FFC000"/>
                </a:solidFill>
                <a:latin typeface="MS PGothic"/>
                <a:cs typeface="MS PGothic"/>
              </a:rPr>
              <a:t>Simeon </a:t>
            </a:r>
            <a:r>
              <a:rPr lang="en-US" sz="2400" b="1" dirty="0">
                <a:solidFill>
                  <a:srgbClr val="FFC000"/>
                </a:solidFill>
                <a:latin typeface="Gill Sans MT" panose="020B0502020104020203" pitchFamily="34" charset="0"/>
                <a:cs typeface="MS PGothic"/>
              </a:rPr>
              <a:t>NDAYAMBAJE</a:t>
            </a:r>
            <a:endParaRPr sz="2400" b="1" dirty="0">
              <a:latin typeface="Gill Sans MT" panose="020B0502020104020203" pitchFamily="34" charset="0"/>
              <a:cs typeface="MS PGothic"/>
            </a:endParaRPr>
          </a:p>
        </p:txBody>
      </p:sp>
      <p:sp>
        <p:nvSpPr>
          <p:cNvPr id="6" name="object 6"/>
          <p:cNvSpPr txBox="1"/>
          <p:nvPr/>
        </p:nvSpPr>
        <p:spPr>
          <a:xfrm>
            <a:off x="3635312" y="5677129"/>
            <a:ext cx="2494467" cy="148117"/>
          </a:xfrm>
          <a:prstGeom prst="rect">
            <a:avLst/>
          </a:prstGeom>
        </p:spPr>
        <p:txBody>
          <a:bodyPr vert="horz" wrap="square" lIns="0" tIns="9525" rIns="0" bIns="0" rtlCol="0">
            <a:spAutoFit/>
          </a:bodyPr>
          <a:lstStyle/>
          <a:p>
            <a:pPr marL="9525">
              <a:spcBef>
                <a:spcPts val="75"/>
              </a:spcBef>
            </a:pPr>
            <a:r>
              <a:rPr lang="en-GB" sz="900" b="1" dirty="0">
                <a:solidFill>
                  <a:schemeClr val="bg1"/>
                </a:solidFill>
              </a:rPr>
              <a:t>Server and Systems Administration , </a:t>
            </a:r>
            <a:r>
              <a:rPr lang="en-US" sz="900" dirty="0">
                <a:solidFill>
                  <a:schemeClr val="bg1"/>
                </a:solidFill>
              </a:rPr>
              <a:t>CSC3504 </a:t>
            </a:r>
            <a:endParaRPr sz="900" dirty="0">
              <a:solidFill>
                <a:schemeClr val="bg1"/>
              </a:solidFill>
              <a:latin typeface="Calibri"/>
              <a:cs typeface="Calibri"/>
            </a:endParaRPr>
          </a:p>
        </p:txBody>
      </p:sp>
      <p:sp>
        <p:nvSpPr>
          <p:cNvPr id="7" name="object 7"/>
          <p:cNvSpPr txBox="1"/>
          <p:nvPr/>
        </p:nvSpPr>
        <p:spPr>
          <a:xfrm>
            <a:off x="7521511" y="5677129"/>
            <a:ext cx="77153" cy="148117"/>
          </a:xfrm>
          <a:prstGeom prst="rect">
            <a:avLst/>
          </a:prstGeom>
        </p:spPr>
        <p:txBody>
          <a:bodyPr vert="horz" wrap="square" lIns="0" tIns="9525" rIns="0" bIns="0" rtlCol="0">
            <a:spAutoFit/>
          </a:bodyPr>
          <a:lstStyle/>
          <a:p>
            <a:pPr marL="9525">
              <a:spcBef>
                <a:spcPts val="75"/>
              </a:spcBef>
            </a:pPr>
            <a:r>
              <a:rPr sz="900" dirty="0">
                <a:solidFill>
                  <a:srgbClr val="888888"/>
                </a:solidFill>
                <a:latin typeface="Calibri"/>
                <a:cs typeface="Calibri"/>
              </a:rPr>
              <a:t>1</a:t>
            </a:r>
            <a:endParaRPr sz="900">
              <a:latin typeface="Calibri"/>
              <a:cs typeface="Calibri"/>
            </a:endParaRPr>
          </a:p>
        </p:txBody>
      </p:sp>
      <p:sp>
        <p:nvSpPr>
          <p:cNvPr id="9" name="Slide Number Placeholder 8"/>
          <p:cNvSpPr>
            <a:spLocks noGrp="1"/>
          </p:cNvSpPr>
          <p:nvPr>
            <p:ph type="sldNum" sz="quarter" idx="4294967295"/>
          </p:nvPr>
        </p:nvSpPr>
        <p:spPr>
          <a:xfrm>
            <a:off x="8401558" y="5705760"/>
            <a:ext cx="231775" cy="115416"/>
          </a:xfrm>
          <a:prstGeom prst="rect">
            <a:avLst/>
          </a:prstGeom>
        </p:spPr>
        <p:txBody>
          <a:bodyPr/>
          <a:lstStyle/>
          <a:p>
            <a:pPr marL="28575">
              <a:lnSpc>
                <a:spcPts val="930"/>
              </a:lnSpc>
            </a:pPr>
            <a:fld id="{81D60167-4931-47E6-BA6A-407CBD079E47}" type="slidenum">
              <a:rPr lang="en-US" smtClean="0"/>
              <a:pPr marL="28575">
                <a:lnSpc>
                  <a:spcPts val="930"/>
                </a:lnSpc>
              </a:pPr>
              <a:t>1</a:t>
            </a:fld>
            <a:endParaRPr lang="en-US" dirty="0"/>
          </a:p>
        </p:txBody>
      </p:sp>
    </p:spTree>
    <p:extLst>
      <p:ext uri="{BB962C8B-B14F-4D97-AF65-F5344CB8AC3E}">
        <p14:creationId xmlns:p14="http://schemas.microsoft.com/office/powerpoint/2010/main" val="1422414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0"/>
            <a:ext cx="9144000" cy="2286000"/>
          </a:xfrm>
        </p:spPr>
        <p:txBody>
          <a:bodyPr>
            <a:normAutofit fontScale="90000"/>
          </a:bodyPr>
          <a:lstStyle/>
          <a:p>
            <a:r>
              <a:rPr lang="en-US" altLang="en-US" b="1" dirty="0" smtClean="0">
                <a:latin typeface="Gill Sans MT" panose="020B0502020104020203" pitchFamily="34" charset="0"/>
              </a:rPr>
              <a:t/>
            </a:r>
            <a:br>
              <a:rPr lang="en-US" altLang="en-US" b="1" dirty="0" smtClean="0">
                <a:latin typeface="Gill Sans MT" panose="020B0502020104020203" pitchFamily="34" charset="0"/>
              </a:rPr>
            </a:br>
            <a:r>
              <a:rPr lang="en-US" altLang="en-US" b="1" dirty="0" smtClean="0">
                <a:latin typeface="Gill Sans MT" panose="020B0502020104020203" pitchFamily="34" charset="0"/>
              </a:rPr>
              <a:t/>
            </a:r>
            <a:br>
              <a:rPr lang="en-US" altLang="en-US" b="1" dirty="0" smtClean="0">
                <a:latin typeface="Gill Sans MT" panose="020B0502020104020203" pitchFamily="34" charset="0"/>
              </a:rPr>
            </a:br>
            <a:r>
              <a:rPr lang="en-US" altLang="en-US" b="1" dirty="0" smtClean="0">
                <a:latin typeface="Gill Sans MT" panose="020B0502020104020203" pitchFamily="34" charset="0"/>
              </a:rPr>
              <a:t> </a:t>
            </a:r>
            <a:br>
              <a:rPr lang="en-US" altLang="en-US" b="1" dirty="0" smtClean="0">
                <a:latin typeface="Gill Sans MT" panose="020B0502020104020203" pitchFamily="34" charset="0"/>
              </a:rPr>
            </a:br>
            <a:r>
              <a:rPr lang="en-US" altLang="en-US" b="1" dirty="0" smtClean="0">
                <a:latin typeface="Gill Sans MT" panose="020B0502020104020203" pitchFamily="34" charset="0"/>
              </a:rPr>
              <a:t>Maintenance </a:t>
            </a:r>
            <a:br>
              <a:rPr lang="en-US" altLang="en-US" b="1" dirty="0" smtClean="0">
                <a:latin typeface="Gill Sans MT" panose="020B0502020104020203" pitchFamily="34" charset="0"/>
              </a:rPr>
            </a:br>
            <a:r>
              <a:rPr lang="en-US" altLang="en-US" b="1" dirty="0" smtClean="0">
                <a:latin typeface="Gill Sans MT" panose="020B0502020104020203" pitchFamily="34" charset="0"/>
              </a:rPr>
              <a:t>and troubleshooting </a:t>
            </a:r>
            <a:br>
              <a:rPr lang="en-US" altLang="en-US" b="1" dirty="0" smtClean="0">
                <a:latin typeface="Gill Sans MT" panose="020B0502020104020203" pitchFamily="34" charset="0"/>
              </a:rPr>
            </a:br>
            <a:r>
              <a:rPr lang="en-US" altLang="en-US" b="1" dirty="0" smtClean="0">
                <a:latin typeface="Gill Sans MT" panose="020B0502020104020203" pitchFamily="34" charset="0"/>
              </a:rPr>
              <a:t>Command</a:t>
            </a:r>
            <a:br>
              <a:rPr lang="en-US" altLang="en-US" b="1" dirty="0" smtClean="0">
                <a:latin typeface="Gill Sans MT" panose="020B0502020104020203" pitchFamily="34" charset="0"/>
              </a:rPr>
            </a:br>
            <a:r>
              <a:rPr lang="en-US" altLang="en-US" b="1" dirty="0" smtClean="0">
                <a:latin typeface="Gill Sans MT" panose="020B0502020104020203" pitchFamily="34" charset="0"/>
              </a:rPr>
              <a:t> </a:t>
            </a:r>
            <a:endParaRPr lang="en-US" dirty="0">
              <a:latin typeface="Gill Sans MT" panose="020B0502020104020203" pitchFamily="34" charset="0"/>
            </a:endParaRPr>
          </a:p>
        </p:txBody>
      </p:sp>
      <p:sp>
        <p:nvSpPr>
          <p:cNvPr id="6" name="Slide Number Placeholder 5"/>
          <p:cNvSpPr>
            <a:spLocks noGrp="1"/>
          </p:cNvSpPr>
          <p:nvPr>
            <p:ph type="sldNum" sz="quarter" idx="12"/>
          </p:nvPr>
        </p:nvSpPr>
        <p:spPr/>
        <p:txBody>
          <a:bodyPr/>
          <a:lstStyle/>
          <a:p>
            <a:fld id="{F941F4DA-9457-4AC0-93DE-AA43A38104B7}" type="slidenum">
              <a:rPr lang="en-US" smtClean="0"/>
              <a:t>2</a:t>
            </a:fld>
            <a:endParaRPr lang="en-US"/>
          </a:p>
        </p:txBody>
      </p:sp>
    </p:spTree>
    <p:extLst>
      <p:ext uri="{BB962C8B-B14F-4D97-AF65-F5344CB8AC3E}">
        <p14:creationId xmlns:p14="http://schemas.microsoft.com/office/powerpoint/2010/main" val="695242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2607"/>
            <a:ext cx="8001000" cy="1143000"/>
          </a:xfrm>
        </p:spPr>
        <p:txBody>
          <a:bodyPr/>
          <a:lstStyle/>
          <a:p>
            <a:r>
              <a:rPr lang="en-US" b="1" dirty="0">
                <a:latin typeface="Gill Sans MT" panose="020B0502020104020203" pitchFamily="34" charset="0"/>
              </a:rPr>
              <a:t>What is a Network?</a:t>
            </a:r>
          </a:p>
        </p:txBody>
      </p:sp>
      <p:sp>
        <p:nvSpPr>
          <p:cNvPr id="3" name="Content Placeholder 2"/>
          <p:cNvSpPr>
            <a:spLocks noGrp="1"/>
          </p:cNvSpPr>
          <p:nvPr>
            <p:ph idx="1"/>
          </p:nvPr>
        </p:nvSpPr>
        <p:spPr>
          <a:xfrm>
            <a:off x="457200" y="1447800"/>
            <a:ext cx="8229600" cy="3763963"/>
          </a:xfrm>
        </p:spPr>
        <p:txBody>
          <a:bodyPr>
            <a:normAutofit fontScale="92500"/>
          </a:bodyPr>
          <a:lstStyle/>
          <a:p>
            <a:r>
              <a:rPr lang="en-US" dirty="0" smtClean="0">
                <a:latin typeface="Gill Sans MT" panose="020B0502020104020203" pitchFamily="34" charset="0"/>
              </a:rPr>
              <a:t>A </a:t>
            </a:r>
            <a:r>
              <a:rPr lang="en-US" dirty="0">
                <a:latin typeface="Gill Sans MT" panose="020B0502020104020203" pitchFamily="34" charset="0"/>
              </a:rPr>
              <a:t>network consists of two or more computers that are linked in order to share resources. </a:t>
            </a:r>
            <a:endParaRPr lang="en-US" dirty="0" smtClean="0">
              <a:latin typeface="Gill Sans MT" panose="020B0502020104020203" pitchFamily="34" charset="0"/>
            </a:endParaRPr>
          </a:p>
          <a:p>
            <a:r>
              <a:rPr lang="en-US" dirty="0" err="1" smtClean="0">
                <a:latin typeface="Gill Sans MT" panose="020B0502020104020203" pitchFamily="34" charset="0"/>
              </a:rPr>
              <a:t>Eg</a:t>
            </a:r>
            <a:r>
              <a:rPr lang="en-US" dirty="0">
                <a:latin typeface="Gill Sans MT" panose="020B0502020104020203" pitchFamily="34" charset="0"/>
              </a:rPr>
              <a:t>:  exchange files, or allow electronic communications. </a:t>
            </a:r>
            <a:endParaRPr lang="en-US" dirty="0" smtClean="0">
              <a:latin typeface="Gill Sans MT" panose="020B0502020104020203" pitchFamily="34" charset="0"/>
            </a:endParaRPr>
          </a:p>
          <a:p>
            <a:r>
              <a:rPr lang="en-US" dirty="0" smtClean="0">
                <a:latin typeface="Gill Sans MT" panose="020B0502020104020203" pitchFamily="34" charset="0"/>
              </a:rPr>
              <a:t>The </a:t>
            </a:r>
            <a:r>
              <a:rPr lang="en-US" dirty="0">
                <a:latin typeface="Gill Sans MT" panose="020B0502020104020203" pitchFamily="34" charset="0"/>
              </a:rPr>
              <a:t>computers on a network may be linked through cables, telephone lines, radio waves, satellites, or infrared light beams.</a:t>
            </a:r>
          </a:p>
          <a:p>
            <a:endParaRPr lang="en-US" dirty="0">
              <a:latin typeface="Gill Sans MT" panose="020B0502020104020203" pitchFamily="34" charset="0"/>
            </a:endParaRPr>
          </a:p>
          <a:p>
            <a:endParaRPr lang="en-US" dirty="0">
              <a:latin typeface="Gill Sans MT" panose="020B0502020104020203" pitchFamily="34" charset="0"/>
            </a:endParaRPr>
          </a:p>
        </p:txBody>
      </p:sp>
      <p:sp>
        <p:nvSpPr>
          <p:cNvPr id="6" name="Slide Number Placeholder 5"/>
          <p:cNvSpPr>
            <a:spLocks noGrp="1"/>
          </p:cNvSpPr>
          <p:nvPr>
            <p:ph type="sldNum" sz="quarter" idx="12"/>
          </p:nvPr>
        </p:nvSpPr>
        <p:spPr/>
        <p:txBody>
          <a:bodyPr/>
          <a:lstStyle/>
          <a:p>
            <a:fld id="{F941F4DA-9457-4AC0-93DE-AA43A38104B7}" type="slidenum">
              <a:rPr lang="en-US" smtClean="0"/>
              <a:t>3</a:t>
            </a:fld>
            <a:endParaRPr lang="en-US"/>
          </a:p>
        </p:txBody>
      </p:sp>
    </p:spTree>
    <p:extLst>
      <p:ext uri="{BB962C8B-B14F-4D97-AF65-F5344CB8AC3E}">
        <p14:creationId xmlns:p14="http://schemas.microsoft.com/office/powerpoint/2010/main" val="35615304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Gill Sans MT" panose="020B0502020104020203" pitchFamily="34" charset="0"/>
              </a:rPr>
              <a:t>Maintaining and Troubleshoot </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4</a:t>
            </a:fld>
            <a:endParaRPr lang="en-US"/>
          </a:p>
        </p:txBody>
      </p:sp>
      <p:sp>
        <p:nvSpPr>
          <p:cNvPr id="9" name="AutoShape 6" descr="Network Definition - What is a network?"/>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indent="0">
              <a:buNone/>
            </a:pPr>
            <a:r>
              <a:rPr lang="en-US" dirty="0">
                <a:latin typeface="Gill Sans MT" panose="020B0502020104020203" pitchFamily="34" charset="0"/>
              </a:rPr>
              <a:t>Maintaining a system's network is a task of System/Network administrator. Their task includes network configuration and troubleshooting.</a:t>
            </a:r>
          </a:p>
          <a:p>
            <a:endParaRPr lang="en-US" dirty="0"/>
          </a:p>
        </p:txBody>
      </p:sp>
    </p:spTree>
    <p:extLst>
      <p:ext uri="{BB962C8B-B14F-4D97-AF65-F5344CB8AC3E}">
        <p14:creationId xmlns:p14="http://schemas.microsoft.com/office/powerpoint/2010/main" val="17316286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Gill Sans MT" panose="020B0502020104020203" pitchFamily="34" charset="0"/>
              </a:rPr>
              <a:t>Linux Network commands</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29353477"/>
              </p:ext>
            </p:extLst>
          </p:nvPr>
        </p:nvGraphicFramePr>
        <p:xfrm>
          <a:off x="76200" y="2438400"/>
          <a:ext cx="9067800" cy="3066415"/>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1019977235"/>
                    </a:ext>
                  </a:extLst>
                </a:gridCol>
                <a:gridCol w="6019800">
                  <a:extLst>
                    <a:ext uri="{9D8B030D-6E8A-4147-A177-3AD203B41FA5}">
                      <a16:colId xmlns:a16="http://schemas.microsoft.com/office/drawing/2014/main" val="2168520660"/>
                    </a:ext>
                  </a:extLst>
                </a:gridCol>
              </a:tblGrid>
              <a:tr h="0">
                <a:tc>
                  <a:txBody>
                    <a:bodyPr/>
                    <a:lstStyle/>
                    <a:p>
                      <a:pPr algn="l">
                        <a:lnSpc>
                          <a:spcPct val="107000"/>
                        </a:lnSpc>
                        <a:spcAft>
                          <a:spcPts val="0"/>
                        </a:spcAft>
                      </a:pPr>
                      <a:r>
                        <a:rPr lang="en-US" sz="3200" u="sng">
                          <a:effectLst/>
                          <a:latin typeface="Gill Sans MT" panose="020B0502020104020203" pitchFamily="34" charset="0"/>
                          <a:hlinkClick r:id="rId2"/>
                        </a:rPr>
                        <a:t>whois</a:t>
                      </a:r>
                      <a:endParaRPr lang="en-US" sz="320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l">
                        <a:lnSpc>
                          <a:spcPct val="107000"/>
                        </a:lnSpc>
                        <a:spcAft>
                          <a:spcPts val="0"/>
                        </a:spcAft>
                      </a:pPr>
                      <a:r>
                        <a:rPr lang="en-US" sz="3200" b="0" dirty="0">
                          <a:solidFill>
                            <a:schemeClr val="tx1"/>
                          </a:solidFill>
                          <a:effectLst/>
                          <a:latin typeface="Gill Sans MT" panose="020B0502020104020203" pitchFamily="34" charset="0"/>
                        </a:rPr>
                        <a:t>Will tell you about the website's </a:t>
                      </a:r>
                      <a:r>
                        <a:rPr lang="en-US" sz="3200" b="0" dirty="0" err="1">
                          <a:solidFill>
                            <a:schemeClr val="tx1"/>
                          </a:solidFill>
                          <a:effectLst/>
                          <a:latin typeface="Gill Sans MT" panose="020B0502020104020203" pitchFamily="34" charset="0"/>
                        </a:rPr>
                        <a:t>whois</a:t>
                      </a:r>
                      <a:r>
                        <a:rPr lang="en-US" sz="3200" b="0" dirty="0">
                          <a:solidFill>
                            <a:schemeClr val="tx1"/>
                          </a:solidFill>
                          <a:effectLst/>
                          <a:latin typeface="Gill Sans MT" panose="020B0502020104020203" pitchFamily="34" charset="0"/>
                        </a:rPr>
                        <a:t>.</a:t>
                      </a:r>
                      <a:endParaRPr lang="en-US" sz="3200" b="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2651414849"/>
                  </a:ext>
                </a:extLst>
              </a:tr>
              <a:tr h="183515">
                <a:tc>
                  <a:txBody>
                    <a:bodyPr/>
                    <a:lstStyle/>
                    <a:p>
                      <a:pPr algn="l">
                        <a:lnSpc>
                          <a:spcPct val="107000"/>
                        </a:lnSpc>
                        <a:spcAft>
                          <a:spcPts val="0"/>
                        </a:spcAft>
                      </a:pPr>
                      <a:r>
                        <a:rPr lang="en-US" sz="3200" u="sng" dirty="0" err="1">
                          <a:effectLst/>
                          <a:latin typeface="Gill Sans MT" panose="020B0502020104020203" pitchFamily="34" charset="0"/>
                          <a:hlinkClick r:id="rId3"/>
                        </a:rPr>
                        <a:t>ifplugstatus</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l">
                        <a:lnSpc>
                          <a:spcPct val="107000"/>
                        </a:lnSpc>
                        <a:spcAft>
                          <a:spcPts val="0"/>
                        </a:spcAft>
                      </a:pPr>
                      <a:r>
                        <a:rPr lang="en-US" sz="3200" dirty="0">
                          <a:solidFill>
                            <a:schemeClr val="tx1"/>
                          </a:solidFill>
                          <a:effectLst/>
                          <a:latin typeface="Gill Sans MT" panose="020B0502020104020203" pitchFamily="34" charset="0"/>
                        </a:rPr>
                        <a:t>Tells whether a cable is plugged in or not.</a:t>
                      </a:r>
                      <a:endParaRPr lang="en-US" sz="320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344243773"/>
                  </a:ext>
                </a:extLst>
              </a:tr>
              <a:tr h="183515">
                <a:tc>
                  <a:txBody>
                    <a:bodyPr/>
                    <a:lstStyle/>
                    <a:p>
                      <a:pPr algn="l">
                        <a:lnSpc>
                          <a:spcPct val="107000"/>
                        </a:lnSpc>
                        <a:spcAft>
                          <a:spcPts val="0"/>
                        </a:spcAft>
                      </a:pPr>
                      <a:r>
                        <a:rPr lang="en-US" sz="3200" u="sng">
                          <a:effectLst/>
                          <a:latin typeface="Gill Sans MT" panose="020B0502020104020203" pitchFamily="34" charset="0"/>
                          <a:hlinkClick r:id="rId4"/>
                        </a:rPr>
                        <a:t>hostname</a:t>
                      </a:r>
                      <a:endParaRPr lang="en-US" sz="320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l">
                        <a:lnSpc>
                          <a:spcPct val="107000"/>
                        </a:lnSpc>
                        <a:spcAft>
                          <a:spcPts val="0"/>
                        </a:spcAft>
                      </a:pPr>
                      <a:r>
                        <a:rPr lang="en-US" sz="3200" dirty="0">
                          <a:solidFill>
                            <a:schemeClr val="tx1"/>
                          </a:solidFill>
                          <a:effectLst/>
                          <a:latin typeface="Gill Sans MT" panose="020B0502020104020203" pitchFamily="34" charset="0"/>
                        </a:rPr>
                        <a:t>To identify a network name.</a:t>
                      </a:r>
                      <a:endParaRPr lang="en-US" sz="320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3953322964"/>
                  </a:ext>
                </a:extLst>
              </a:tr>
            </a:tbl>
          </a:graphicData>
        </a:graphic>
      </p:graphicFrame>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5</a:t>
            </a:fld>
            <a:endParaRPr lang="en-US"/>
          </a:p>
        </p:txBody>
      </p:sp>
    </p:spTree>
    <p:extLst>
      <p:ext uri="{BB962C8B-B14F-4D97-AF65-F5344CB8AC3E}">
        <p14:creationId xmlns:p14="http://schemas.microsoft.com/office/powerpoint/2010/main" val="6813063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176058910"/>
              </p:ext>
            </p:extLst>
          </p:nvPr>
        </p:nvGraphicFramePr>
        <p:xfrm>
          <a:off x="99060" y="2367026"/>
          <a:ext cx="9144000" cy="3740658"/>
        </p:xfrm>
        <a:graphic>
          <a:graphicData uri="http://schemas.openxmlformats.org/drawingml/2006/table">
            <a:tbl>
              <a:tblPr firstRow="1" firstCol="1" bandRow="1">
                <a:tableStyleId>{5C22544A-7EE6-4342-B048-85BDC9FD1C3A}</a:tableStyleId>
              </a:tblPr>
              <a:tblGrid>
                <a:gridCol w="2895600">
                  <a:extLst>
                    <a:ext uri="{9D8B030D-6E8A-4147-A177-3AD203B41FA5}">
                      <a16:colId xmlns:a16="http://schemas.microsoft.com/office/drawing/2014/main" val="3428486295"/>
                    </a:ext>
                  </a:extLst>
                </a:gridCol>
                <a:gridCol w="6248400">
                  <a:extLst>
                    <a:ext uri="{9D8B030D-6E8A-4147-A177-3AD203B41FA5}">
                      <a16:colId xmlns:a16="http://schemas.microsoft.com/office/drawing/2014/main" val="3779092460"/>
                    </a:ext>
                  </a:extLst>
                </a:gridCol>
              </a:tblGrid>
              <a:tr h="0">
                <a:tc>
                  <a:txBody>
                    <a:bodyPr/>
                    <a:lstStyle/>
                    <a:p>
                      <a:pPr algn="just">
                        <a:lnSpc>
                          <a:spcPct val="107000"/>
                        </a:lnSpc>
                        <a:spcAft>
                          <a:spcPts val="0"/>
                        </a:spcAft>
                      </a:pPr>
                      <a:r>
                        <a:rPr lang="en-US" sz="3200" u="sng" dirty="0" err="1">
                          <a:solidFill>
                            <a:schemeClr val="tx1"/>
                          </a:solidFill>
                          <a:effectLst/>
                          <a:latin typeface="Gill Sans MT" panose="020B0502020104020203" pitchFamily="34" charset="0"/>
                          <a:hlinkClick r:id="rId2"/>
                        </a:rPr>
                        <a:t>ifconfig</a:t>
                      </a:r>
                      <a:endParaRPr lang="en-US" sz="320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b="0" dirty="0">
                          <a:solidFill>
                            <a:schemeClr val="tx1"/>
                          </a:solidFill>
                          <a:effectLst/>
                          <a:latin typeface="Gill Sans MT" panose="020B0502020104020203" pitchFamily="34" charset="0"/>
                        </a:rPr>
                        <a:t>Display and manipulate route and network interfaces.</a:t>
                      </a:r>
                      <a:endParaRPr lang="en-US" sz="3200" b="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554121967"/>
                  </a:ext>
                </a:extLst>
              </a:tr>
              <a:tr h="0">
                <a:tc>
                  <a:txBody>
                    <a:bodyPr/>
                    <a:lstStyle/>
                    <a:p>
                      <a:pPr algn="just">
                        <a:lnSpc>
                          <a:spcPct val="107000"/>
                        </a:lnSpc>
                        <a:spcAft>
                          <a:spcPts val="0"/>
                        </a:spcAft>
                      </a:pPr>
                      <a:r>
                        <a:rPr lang="en-US" sz="3200" u="sng" dirty="0">
                          <a:effectLst/>
                          <a:latin typeface="Gill Sans MT" panose="020B0502020104020203" pitchFamily="34" charset="0"/>
                          <a:hlinkClick r:id="rId3"/>
                        </a:rPr>
                        <a:t>traceroute</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a:effectLst/>
                          <a:latin typeface="Gill Sans MT" panose="020B0502020104020203" pitchFamily="34" charset="0"/>
                        </a:rPr>
                        <a:t>Network troubleshooting utility.</a:t>
                      </a:r>
                      <a:endParaRPr lang="en-US" sz="320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3531590333"/>
                  </a:ext>
                </a:extLst>
              </a:tr>
              <a:tr h="0">
                <a:tc>
                  <a:txBody>
                    <a:bodyPr/>
                    <a:lstStyle/>
                    <a:p>
                      <a:pPr algn="just">
                        <a:lnSpc>
                          <a:spcPct val="107000"/>
                        </a:lnSpc>
                        <a:spcAft>
                          <a:spcPts val="0"/>
                        </a:spcAft>
                      </a:pPr>
                      <a:r>
                        <a:rPr lang="en-US" sz="3200" u="sng" dirty="0">
                          <a:effectLst/>
                          <a:latin typeface="Gill Sans MT" panose="020B0502020104020203" pitchFamily="34" charset="0"/>
                          <a:hlinkClick r:id="rId4"/>
                        </a:rPr>
                        <a:t>ping</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dirty="0">
                          <a:effectLst/>
                          <a:latin typeface="Gill Sans MT" panose="020B0502020104020203" pitchFamily="34" charset="0"/>
                        </a:rPr>
                        <a:t>To check connectivity between two nodes.</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2128710016"/>
                  </a:ext>
                </a:extLst>
              </a:tr>
              <a:tr h="0">
                <a:tc>
                  <a:txBody>
                    <a:bodyPr/>
                    <a:lstStyle/>
                    <a:p>
                      <a:pPr algn="just">
                        <a:lnSpc>
                          <a:spcPct val="107000"/>
                        </a:lnSpc>
                        <a:spcAft>
                          <a:spcPts val="0"/>
                        </a:spcAft>
                      </a:pPr>
                      <a:r>
                        <a:rPr lang="en-US" sz="3200" u="sng">
                          <a:effectLst/>
                          <a:latin typeface="Gill Sans MT" panose="020B0502020104020203" pitchFamily="34" charset="0"/>
                          <a:hlinkClick r:id="rId5"/>
                        </a:rPr>
                        <a:t>nslookup</a:t>
                      </a:r>
                      <a:endParaRPr lang="en-US" sz="320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dirty="0">
                          <a:effectLst/>
                          <a:latin typeface="Gill Sans MT" panose="020B0502020104020203" pitchFamily="34" charset="0"/>
                        </a:rPr>
                        <a:t>Find DNS related query.</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2186183277"/>
                  </a:ext>
                </a:extLst>
              </a:tr>
            </a:tbl>
          </a:graphicData>
        </a:graphic>
      </p:graphicFrame>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6</a:t>
            </a:fld>
            <a:endParaRPr lang="en-US"/>
          </a:p>
        </p:txBody>
      </p:sp>
      <p:sp>
        <p:nvSpPr>
          <p:cNvPr id="9" name="Title 1"/>
          <p:cNvSpPr>
            <a:spLocks noGrp="1"/>
          </p:cNvSpPr>
          <p:nvPr>
            <p:ph type="title"/>
          </p:nvPr>
        </p:nvSpPr>
        <p:spPr>
          <a:xfrm>
            <a:off x="670560" y="914400"/>
            <a:ext cx="8001000" cy="1143000"/>
          </a:xfrm>
        </p:spPr>
        <p:txBody>
          <a:bodyPr/>
          <a:lstStyle/>
          <a:p>
            <a:r>
              <a:rPr lang="en-US" dirty="0" smtClean="0">
                <a:latin typeface="Gill Sans MT" panose="020B0502020104020203" pitchFamily="34" charset="0"/>
              </a:rPr>
              <a:t>Linux Network commands</a:t>
            </a:r>
            <a:endParaRPr lang="en-US" dirty="0">
              <a:latin typeface="Gill Sans MT" panose="020B0502020104020203" pitchFamily="34" charset="0"/>
            </a:endParaRPr>
          </a:p>
        </p:txBody>
      </p:sp>
    </p:spTree>
    <p:extLst>
      <p:ext uri="{BB962C8B-B14F-4D97-AF65-F5344CB8AC3E}">
        <p14:creationId xmlns:p14="http://schemas.microsoft.com/office/powerpoint/2010/main" val="37175709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613809493"/>
              </p:ext>
            </p:extLst>
          </p:nvPr>
        </p:nvGraphicFramePr>
        <p:xfrm>
          <a:off x="20320" y="2743200"/>
          <a:ext cx="9144000" cy="2022729"/>
        </p:xfrm>
        <a:graphic>
          <a:graphicData uri="http://schemas.openxmlformats.org/drawingml/2006/table">
            <a:tbl>
              <a:tblPr firstRow="1" firstCol="1" bandRow="1">
                <a:tableStyleId>{5C22544A-7EE6-4342-B048-85BDC9FD1C3A}</a:tableStyleId>
              </a:tblPr>
              <a:tblGrid>
                <a:gridCol w="1960880">
                  <a:extLst>
                    <a:ext uri="{9D8B030D-6E8A-4147-A177-3AD203B41FA5}">
                      <a16:colId xmlns:a16="http://schemas.microsoft.com/office/drawing/2014/main" val="3428486295"/>
                    </a:ext>
                  </a:extLst>
                </a:gridCol>
                <a:gridCol w="7183120">
                  <a:extLst>
                    <a:ext uri="{9D8B030D-6E8A-4147-A177-3AD203B41FA5}">
                      <a16:colId xmlns:a16="http://schemas.microsoft.com/office/drawing/2014/main" val="3779092460"/>
                    </a:ext>
                  </a:extLst>
                </a:gridCol>
              </a:tblGrid>
              <a:tr h="0">
                <a:tc>
                  <a:txBody>
                    <a:bodyPr/>
                    <a:lstStyle/>
                    <a:p>
                      <a:pPr algn="just">
                        <a:lnSpc>
                          <a:spcPct val="107000"/>
                        </a:lnSpc>
                        <a:spcAft>
                          <a:spcPts val="0"/>
                        </a:spcAft>
                      </a:pPr>
                      <a:r>
                        <a:rPr lang="en-US" sz="3200" u="sng" dirty="0">
                          <a:effectLst/>
                          <a:latin typeface="Gill Sans MT" panose="020B0502020104020203" pitchFamily="34" charset="0"/>
                          <a:hlinkClick r:id="rId2"/>
                        </a:rPr>
                        <a:t>host</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b="0" dirty="0">
                          <a:solidFill>
                            <a:schemeClr val="tx1"/>
                          </a:solidFill>
                          <a:effectLst/>
                          <a:latin typeface="Gill Sans MT" panose="020B0502020104020203" pitchFamily="34" charset="0"/>
                        </a:rPr>
                        <a:t>Performs DNS lookups.</a:t>
                      </a:r>
                      <a:endParaRPr lang="en-US" sz="3200" b="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751761739"/>
                  </a:ext>
                </a:extLst>
              </a:tr>
              <a:tr h="0">
                <a:tc>
                  <a:txBody>
                    <a:bodyPr/>
                    <a:lstStyle/>
                    <a:p>
                      <a:pPr algn="just">
                        <a:lnSpc>
                          <a:spcPct val="107000"/>
                        </a:lnSpc>
                        <a:spcAft>
                          <a:spcPts val="0"/>
                        </a:spcAft>
                      </a:pPr>
                      <a:r>
                        <a:rPr lang="en-US" sz="3200" u="sng">
                          <a:effectLst/>
                          <a:latin typeface="Gill Sans MT" panose="020B0502020104020203" pitchFamily="34" charset="0"/>
                          <a:hlinkClick r:id="rId3"/>
                        </a:rPr>
                        <a:t>netstat</a:t>
                      </a:r>
                      <a:endParaRPr lang="en-US" sz="320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b="0">
                          <a:solidFill>
                            <a:schemeClr val="tx1"/>
                          </a:solidFill>
                          <a:effectLst/>
                          <a:latin typeface="Gill Sans MT" panose="020B0502020104020203" pitchFamily="34" charset="0"/>
                        </a:rPr>
                        <a:t>Display connection information.</a:t>
                      </a:r>
                      <a:endParaRPr lang="en-US" sz="3200" b="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1481057547"/>
                  </a:ext>
                </a:extLst>
              </a:tr>
              <a:tr h="0">
                <a:tc>
                  <a:txBody>
                    <a:bodyPr/>
                    <a:lstStyle/>
                    <a:p>
                      <a:pPr algn="just">
                        <a:lnSpc>
                          <a:spcPct val="107000"/>
                        </a:lnSpc>
                        <a:spcAft>
                          <a:spcPts val="0"/>
                        </a:spcAft>
                      </a:pPr>
                      <a:r>
                        <a:rPr lang="en-US" sz="3200" u="sng" dirty="0">
                          <a:effectLst/>
                          <a:latin typeface="Gill Sans MT" panose="020B0502020104020203" pitchFamily="34" charset="0"/>
                          <a:hlinkClick r:id="rId4"/>
                        </a:rPr>
                        <a:t>route</a:t>
                      </a:r>
                      <a:endParaRPr lang="en-US" sz="3200" dirty="0">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tc>
                  <a:txBody>
                    <a:bodyPr/>
                    <a:lstStyle/>
                    <a:p>
                      <a:pPr algn="just">
                        <a:lnSpc>
                          <a:spcPct val="107000"/>
                        </a:lnSpc>
                        <a:spcAft>
                          <a:spcPts val="0"/>
                        </a:spcAft>
                      </a:pPr>
                      <a:r>
                        <a:rPr lang="en-US" sz="3200" b="0" dirty="0">
                          <a:solidFill>
                            <a:schemeClr val="tx1"/>
                          </a:solidFill>
                          <a:effectLst/>
                          <a:latin typeface="Gill Sans MT" panose="020B0502020104020203" pitchFamily="34" charset="0"/>
                        </a:rPr>
                        <a:t>Shows and manipulate IP routing table.</a:t>
                      </a:r>
                      <a:endParaRPr lang="en-US" sz="3200" b="0" dirty="0">
                        <a:solidFill>
                          <a:schemeClr val="tx1"/>
                        </a:solidFill>
                        <a:effectLst/>
                        <a:latin typeface="Gill Sans MT" panose="020B0502020104020203" pitchFamily="34" charset="0"/>
                        <a:ea typeface="Calibri" panose="020F0502020204030204" pitchFamily="34" charset="0"/>
                        <a:cs typeface="Times New Roman" panose="02020603050405020304" pitchFamily="18" charset="0"/>
                      </a:endParaRPr>
                    </a:p>
                  </a:txBody>
                  <a:tcPr marL="76200" marR="76200" marT="76200" marB="76200">
                    <a:solidFill>
                      <a:schemeClr val="bg2">
                        <a:lumMod val="90000"/>
                      </a:schemeClr>
                    </a:solidFill>
                  </a:tcPr>
                </a:tc>
                <a:extLst>
                  <a:ext uri="{0D108BD9-81ED-4DB2-BD59-A6C34878D82A}">
                    <a16:rowId xmlns:a16="http://schemas.microsoft.com/office/drawing/2014/main" val="1825501281"/>
                  </a:ext>
                </a:extLst>
              </a:tr>
            </a:tbl>
          </a:graphicData>
        </a:graphic>
      </p:graphicFrame>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7</a:t>
            </a:fld>
            <a:endParaRPr lang="en-US"/>
          </a:p>
        </p:txBody>
      </p:sp>
      <p:sp>
        <p:nvSpPr>
          <p:cNvPr id="8" name="Title 1"/>
          <p:cNvSpPr>
            <a:spLocks noGrp="1"/>
          </p:cNvSpPr>
          <p:nvPr>
            <p:ph type="title"/>
          </p:nvPr>
        </p:nvSpPr>
        <p:spPr>
          <a:xfrm>
            <a:off x="695960" y="1066800"/>
            <a:ext cx="8001000" cy="1143000"/>
          </a:xfrm>
        </p:spPr>
        <p:txBody>
          <a:bodyPr/>
          <a:lstStyle/>
          <a:p>
            <a:r>
              <a:rPr lang="en-US" dirty="0" smtClean="0">
                <a:latin typeface="Gill Sans MT" panose="020B0502020104020203" pitchFamily="34" charset="0"/>
              </a:rPr>
              <a:t>Linux Network commands</a:t>
            </a:r>
            <a:endParaRPr lang="en-US" dirty="0">
              <a:latin typeface="Gill Sans MT" panose="020B0502020104020203" pitchFamily="34" charset="0"/>
            </a:endParaRPr>
          </a:p>
        </p:txBody>
      </p:sp>
    </p:spTree>
    <p:extLst>
      <p:ext uri="{BB962C8B-B14F-4D97-AF65-F5344CB8AC3E}">
        <p14:creationId xmlns:p14="http://schemas.microsoft.com/office/powerpoint/2010/main" val="3881480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Gill Sans MT" panose="020B0502020104020203" pitchFamily="34" charset="0"/>
              </a:rPr>
              <a:t>host Command</a:t>
            </a:r>
            <a:br>
              <a:rPr lang="en-US" b="1" dirty="0">
                <a:latin typeface="Gill Sans MT" panose="020B0502020104020203" pitchFamily="34" charset="0"/>
              </a:rPr>
            </a:br>
            <a:endParaRPr lang="en-US" dirty="0">
              <a:latin typeface="Gill Sans MT" panose="020B0502020104020203" pitchFamily="34" charset="0"/>
            </a:endParaRPr>
          </a:p>
        </p:txBody>
      </p:sp>
      <p:sp>
        <p:nvSpPr>
          <p:cNvPr id="3" name="Content Placeholder 2"/>
          <p:cNvSpPr>
            <a:spLocks noGrp="1"/>
          </p:cNvSpPr>
          <p:nvPr>
            <p:ph idx="1"/>
          </p:nvPr>
        </p:nvSpPr>
        <p:spPr>
          <a:xfrm>
            <a:off x="76200" y="1676400"/>
            <a:ext cx="8839200" cy="4449763"/>
          </a:xfrm>
        </p:spPr>
        <p:txBody>
          <a:bodyPr>
            <a:normAutofit/>
          </a:bodyPr>
          <a:lstStyle/>
          <a:p>
            <a:r>
              <a:rPr lang="en-US" dirty="0" smtClean="0">
                <a:latin typeface="Gill Sans MT" panose="020B0502020104020203" pitchFamily="34" charset="0"/>
              </a:rPr>
              <a:t>Linux </a:t>
            </a:r>
            <a:r>
              <a:rPr lang="en-US" dirty="0">
                <a:latin typeface="Gill Sans MT" panose="020B0502020104020203" pitchFamily="34" charset="0"/>
              </a:rPr>
              <a:t>host command displays domain name for given IP address or vice-versa. </a:t>
            </a:r>
            <a:endParaRPr lang="en-US" dirty="0" smtClean="0">
              <a:latin typeface="Gill Sans MT" panose="020B0502020104020203" pitchFamily="34" charset="0"/>
            </a:endParaRPr>
          </a:p>
          <a:p>
            <a:r>
              <a:rPr lang="en-US" dirty="0" smtClean="0">
                <a:latin typeface="Gill Sans MT" panose="020B0502020104020203" pitchFamily="34" charset="0"/>
              </a:rPr>
              <a:t>It </a:t>
            </a:r>
            <a:r>
              <a:rPr lang="en-US" dirty="0">
                <a:latin typeface="Gill Sans MT" panose="020B0502020104020203" pitchFamily="34" charset="0"/>
              </a:rPr>
              <a:t>also performs DNS lookups related to the DNS query. </a:t>
            </a:r>
            <a:endParaRPr lang="en-US" dirty="0" smtClean="0">
              <a:latin typeface="Gill Sans MT" panose="020B0502020104020203" pitchFamily="34" charset="0"/>
            </a:endParaRPr>
          </a:p>
          <a:p>
            <a:r>
              <a:rPr lang="en-US" b="1" dirty="0" smtClean="0">
                <a:latin typeface="Gill Sans MT" panose="020B0502020104020203" pitchFamily="34" charset="0"/>
              </a:rPr>
              <a:t>Syntax</a:t>
            </a:r>
            <a:r>
              <a:rPr lang="en-US" b="1" dirty="0">
                <a:latin typeface="Gill Sans MT" panose="020B0502020104020203" pitchFamily="34" charset="0"/>
              </a:rPr>
              <a:t>: </a:t>
            </a:r>
            <a:r>
              <a:rPr lang="en-US" dirty="0">
                <a:solidFill>
                  <a:srgbClr val="C00000"/>
                </a:solidFill>
                <a:latin typeface="Gill Sans MT" panose="020B0502020104020203" pitchFamily="34" charset="0"/>
              </a:rPr>
              <a:t>host</a:t>
            </a:r>
            <a:r>
              <a:rPr lang="en-US" dirty="0">
                <a:latin typeface="Gill Sans MT" panose="020B0502020104020203" pitchFamily="34" charset="0"/>
              </a:rPr>
              <a:t> &lt;name&gt;  Eg1:  host </a:t>
            </a:r>
            <a:r>
              <a:rPr lang="en-US" dirty="0" smtClean="0">
                <a:latin typeface="Gill Sans MT" panose="020B0502020104020203" pitchFamily="34" charset="0"/>
              </a:rPr>
              <a:t>uok.ac.rw</a:t>
            </a:r>
            <a:endParaRPr lang="en-US" dirty="0">
              <a:latin typeface="Gill Sans MT" panose="020B0502020104020203" pitchFamily="34" charset="0"/>
            </a:endParaRPr>
          </a:p>
          <a:p>
            <a:r>
              <a:rPr lang="en-US" b="1" dirty="0">
                <a:latin typeface="Gill Sans MT" panose="020B0502020104020203" pitchFamily="34" charset="0"/>
              </a:rPr>
              <a:t>Eg2:  </a:t>
            </a:r>
            <a:r>
              <a:rPr lang="en-US">
                <a:solidFill>
                  <a:srgbClr val="C00000"/>
                </a:solidFill>
                <a:latin typeface="Gill Sans MT" panose="020B0502020104020203" pitchFamily="34" charset="0"/>
              </a:rPr>
              <a:t>host</a:t>
            </a:r>
            <a:r>
              <a:rPr lang="en-US">
                <a:latin typeface="Gill Sans MT" panose="020B0502020104020203" pitchFamily="34" charset="0"/>
              </a:rPr>
              <a:t> </a:t>
            </a:r>
            <a:r>
              <a:rPr lang="en-US" smtClean="0">
                <a:latin typeface="Gill Sans MT" panose="020B0502020104020203" pitchFamily="34" charset="0"/>
              </a:rPr>
              <a:t>mis.uok.ac.rw</a:t>
            </a:r>
            <a:endParaRPr lang="en-US" dirty="0">
              <a:latin typeface="Gill Sans MT" panose="020B0502020104020203" pitchFamily="34" charset="0"/>
            </a:endParaRPr>
          </a:p>
          <a:p>
            <a:pPr marL="0" indent="0">
              <a:buNone/>
            </a:pPr>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8</a:t>
            </a:fld>
            <a:endParaRPr lang="en-US"/>
          </a:p>
        </p:txBody>
      </p:sp>
    </p:spTree>
    <p:extLst>
      <p:ext uri="{BB962C8B-B14F-4D97-AF65-F5344CB8AC3E}">
        <p14:creationId xmlns:p14="http://schemas.microsoft.com/office/powerpoint/2010/main" val="33287976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latin typeface="Gill Sans MT" panose="020B0502020104020203" pitchFamily="34" charset="0"/>
              </a:rPr>
              <a:t>whois</a:t>
            </a:r>
            <a:r>
              <a:rPr lang="en-US" b="1" dirty="0" smtClean="0">
                <a:latin typeface="Gill Sans MT" panose="020B0502020104020203" pitchFamily="34" charset="0"/>
              </a:rPr>
              <a:t> command</a:t>
            </a:r>
            <a:r>
              <a:rPr lang="en-US" dirty="0">
                <a:latin typeface="Gill Sans MT" panose="020B0502020104020203" pitchFamily="34" charset="0"/>
              </a:rPr>
              <a:t/>
            </a:r>
            <a:br>
              <a:rPr lang="en-US" dirty="0">
                <a:latin typeface="Gill Sans MT" panose="020B0502020104020203" pitchFamily="34" charset="0"/>
              </a:rPr>
            </a:br>
            <a:endParaRPr lang="en-US" dirty="0">
              <a:latin typeface="Gill Sans MT" panose="020B0502020104020203" pitchFamily="34" charset="0"/>
            </a:endParaRPr>
          </a:p>
        </p:txBody>
      </p:sp>
      <p:sp>
        <p:nvSpPr>
          <p:cNvPr id="3" name="Content Placeholder 2"/>
          <p:cNvSpPr>
            <a:spLocks noGrp="1"/>
          </p:cNvSpPr>
          <p:nvPr>
            <p:ph idx="1"/>
          </p:nvPr>
        </p:nvSpPr>
        <p:spPr>
          <a:xfrm>
            <a:off x="457200" y="1905000"/>
            <a:ext cx="8229600" cy="4221163"/>
          </a:xfrm>
        </p:spPr>
        <p:txBody>
          <a:bodyPr>
            <a:normAutofit/>
          </a:bodyPr>
          <a:lstStyle/>
          <a:p>
            <a:r>
              <a:rPr lang="en-US" dirty="0" smtClean="0">
                <a:latin typeface="Gill Sans MT" panose="020B0502020104020203" pitchFamily="34" charset="0"/>
              </a:rPr>
              <a:t>The </a:t>
            </a:r>
            <a:r>
              <a:rPr lang="en-US" dirty="0" err="1">
                <a:solidFill>
                  <a:srgbClr val="C00000"/>
                </a:solidFill>
                <a:latin typeface="Gill Sans MT" panose="020B0502020104020203" pitchFamily="34" charset="0"/>
              </a:rPr>
              <a:t>whois</a:t>
            </a:r>
            <a:r>
              <a:rPr lang="en-US" dirty="0">
                <a:latin typeface="Gill Sans MT" panose="020B0502020104020203" pitchFamily="34" charset="0"/>
              </a:rPr>
              <a:t> command displays information about a website's record. </a:t>
            </a:r>
            <a:endParaRPr lang="en-US" dirty="0" smtClean="0">
              <a:latin typeface="Gill Sans MT" panose="020B0502020104020203" pitchFamily="34" charset="0"/>
            </a:endParaRPr>
          </a:p>
          <a:p>
            <a:r>
              <a:rPr lang="en-US" dirty="0" smtClean="0">
                <a:latin typeface="Gill Sans MT" panose="020B0502020104020203" pitchFamily="34" charset="0"/>
              </a:rPr>
              <a:t>You </a:t>
            </a:r>
            <a:r>
              <a:rPr lang="en-US" dirty="0">
                <a:latin typeface="Gill Sans MT" panose="020B0502020104020203" pitchFamily="34" charset="0"/>
              </a:rPr>
              <a:t>may get all the information about a website regarding its registration and owner's information.</a:t>
            </a:r>
          </a:p>
          <a:p>
            <a:r>
              <a:rPr lang="en-US" b="1" dirty="0">
                <a:latin typeface="Gill Sans MT" panose="020B0502020104020203" pitchFamily="34" charset="0"/>
              </a:rPr>
              <a:t>Syntax:</a:t>
            </a:r>
            <a:r>
              <a:rPr lang="en-US" dirty="0">
                <a:latin typeface="Gill Sans MT" panose="020B0502020104020203" pitchFamily="34" charset="0"/>
              </a:rPr>
              <a:t> </a:t>
            </a:r>
            <a:r>
              <a:rPr lang="en-US" dirty="0" err="1">
                <a:solidFill>
                  <a:srgbClr val="C00000"/>
                </a:solidFill>
                <a:latin typeface="Gill Sans MT" panose="020B0502020104020203" pitchFamily="34" charset="0"/>
              </a:rPr>
              <a:t>whois</a:t>
            </a:r>
            <a:r>
              <a:rPr lang="en-US" dirty="0">
                <a:solidFill>
                  <a:srgbClr val="C00000"/>
                </a:solidFill>
                <a:latin typeface="Gill Sans MT" panose="020B0502020104020203" pitchFamily="34" charset="0"/>
              </a:rPr>
              <a:t> </a:t>
            </a:r>
            <a:r>
              <a:rPr lang="en-US" b="1" dirty="0">
                <a:latin typeface="Gill Sans MT" panose="020B0502020104020203" pitchFamily="34" charset="0"/>
              </a:rPr>
              <a:t>&lt;</a:t>
            </a:r>
            <a:r>
              <a:rPr lang="en-US" b="1" dirty="0" err="1">
                <a:latin typeface="Gill Sans MT" panose="020B0502020104020203" pitchFamily="34" charset="0"/>
              </a:rPr>
              <a:t>websiteName</a:t>
            </a:r>
            <a:r>
              <a:rPr lang="en-US" b="1" dirty="0">
                <a:latin typeface="Gill Sans MT" panose="020B0502020104020203" pitchFamily="34" charset="0"/>
              </a:rPr>
              <a:t>&gt;</a:t>
            </a:r>
            <a:r>
              <a:rPr lang="en-US" dirty="0">
                <a:latin typeface="Gill Sans MT" panose="020B0502020104020203" pitchFamily="34" charset="0"/>
              </a:rPr>
              <a:t> </a:t>
            </a:r>
          </a:p>
          <a:p>
            <a:r>
              <a:rPr lang="en-US" dirty="0" err="1">
                <a:latin typeface="Gill Sans MT" panose="020B0502020104020203" pitchFamily="34" charset="0"/>
              </a:rPr>
              <a:t>Eg</a:t>
            </a:r>
            <a:r>
              <a:rPr lang="en-US" dirty="0">
                <a:latin typeface="Gill Sans MT" panose="020B0502020104020203" pitchFamily="34" charset="0"/>
              </a:rPr>
              <a:t>: </a:t>
            </a:r>
            <a:r>
              <a:rPr lang="en-US" dirty="0" err="1">
                <a:solidFill>
                  <a:srgbClr val="C00000"/>
                </a:solidFill>
                <a:latin typeface="Gill Sans MT" panose="020B0502020104020203" pitchFamily="34" charset="0"/>
              </a:rPr>
              <a:t>whois</a:t>
            </a:r>
            <a:r>
              <a:rPr lang="en-US" dirty="0">
                <a:solidFill>
                  <a:srgbClr val="C00000"/>
                </a:solidFill>
                <a:latin typeface="Gill Sans MT" panose="020B0502020104020203" pitchFamily="34" charset="0"/>
              </a:rPr>
              <a:t> </a:t>
            </a:r>
            <a:r>
              <a:rPr lang="en-US" dirty="0">
                <a:latin typeface="Gill Sans MT" panose="020B0502020104020203" pitchFamily="34" charset="0"/>
              </a:rPr>
              <a:t>uok.ac.rw </a:t>
            </a: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9</a:t>
            </a:fld>
            <a:endParaRPr lang="en-US"/>
          </a:p>
        </p:txBody>
      </p:sp>
    </p:spTree>
    <p:extLst>
      <p:ext uri="{BB962C8B-B14F-4D97-AF65-F5344CB8AC3E}">
        <p14:creationId xmlns:p14="http://schemas.microsoft.com/office/powerpoint/2010/main" val="34983958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Ifplugstatus</a:t>
            </a:r>
            <a:r>
              <a:rPr lang="en-US" b="1" dirty="0"/>
              <a:t> command</a:t>
            </a:r>
            <a:br>
              <a:rPr lang="en-US" b="1" dirty="0"/>
            </a:br>
            <a:endParaRPr lang="en-US" dirty="0"/>
          </a:p>
        </p:txBody>
      </p:sp>
      <p:sp>
        <p:nvSpPr>
          <p:cNvPr id="3" name="Content Placeholder 2"/>
          <p:cNvSpPr>
            <a:spLocks noGrp="1"/>
          </p:cNvSpPr>
          <p:nvPr>
            <p:ph idx="1"/>
          </p:nvPr>
        </p:nvSpPr>
        <p:spPr>
          <a:xfrm>
            <a:off x="0" y="1828800"/>
            <a:ext cx="9144000" cy="4297363"/>
          </a:xfrm>
        </p:spPr>
        <p:txBody>
          <a:bodyPr>
            <a:normAutofit/>
          </a:bodyPr>
          <a:lstStyle/>
          <a:p>
            <a:r>
              <a:rPr lang="en-US" dirty="0">
                <a:latin typeface="Gill Sans MT" panose="020B0502020104020203" pitchFamily="34" charset="0"/>
              </a:rPr>
              <a:t>The </a:t>
            </a:r>
            <a:r>
              <a:rPr lang="en-US" dirty="0" err="1">
                <a:solidFill>
                  <a:srgbClr val="C00000"/>
                </a:solidFill>
                <a:latin typeface="Gill Sans MT" panose="020B0502020104020203" pitchFamily="34" charset="0"/>
              </a:rPr>
              <a:t>ifplugstatus</a:t>
            </a:r>
            <a:r>
              <a:rPr lang="en-US" dirty="0">
                <a:latin typeface="Gill Sans MT" panose="020B0502020104020203" pitchFamily="34" charset="0"/>
              </a:rPr>
              <a:t> command is a simple utility to check the network interface status.</a:t>
            </a:r>
            <a:endParaRPr lang="en-US" dirty="0" smtClean="0">
              <a:latin typeface="Gill Sans MT" panose="020B0502020104020203" pitchFamily="34" charset="0"/>
            </a:endParaRPr>
          </a:p>
          <a:p>
            <a:r>
              <a:rPr lang="en-US" dirty="0" smtClean="0">
                <a:latin typeface="Gill Sans MT" panose="020B0502020104020203" pitchFamily="34" charset="0"/>
              </a:rPr>
              <a:t>This </a:t>
            </a:r>
            <a:r>
              <a:rPr lang="en-US" dirty="0">
                <a:latin typeface="Gill Sans MT" panose="020B0502020104020203" pitchFamily="34" charset="0"/>
              </a:rPr>
              <a:t>command tells us whether a </a:t>
            </a:r>
            <a:r>
              <a:rPr lang="en-US" dirty="0" smtClean="0">
                <a:latin typeface="Gill Sans MT" panose="020B0502020104020203" pitchFamily="34" charset="0"/>
              </a:rPr>
              <a:t>network media is connected to our </a:t>
            </a:r>
            <a:r>
              <a:rPr lang="en-US" dirty="0">
                <a:latin typeface="Gill Sans MT" panose="020B0502020104020203" pitchFamily="34" charset="0"/>
              </a:rPr>
              <a:t>network interface or not. </a:t>
            </a:r>
            <a:endParaRPr lang="en-US" dirty="0" smtClean="0">
              <a:latin typeface="Gill Sans MT" panose="020B0502020104020203" pitchFamily="34" charset="0"/>
            </a:endParaRPr>
          </a:p>
          <a:p>
            <a:r>
              <a:rPr lang="en-US" dirty="0">
                <a:latin typeface="Gill Sans MT" panose="020B0502020104020203" pitchFamily="34" charset="0"/>
              </a:rPr>
              <a:t>Use </a:t>
            </a:r>
            <a:r>
              <a:rPr lang="en-US" dirty="0" err="1">
                <a:latin typeface="Gill Sans MT" panose="020B0502020104020203" pitchFamily="34" charset="0"/>
              </a:rPr>
              <a:t>ifplugstatus</a:t>
            </a:r>
            <a:r>
              <a:rPr lang="en-US" dirty="0">
                <a:latin typeface="Gill Sans MT" panose="020B0502020104020203" pitchFamily="34" charset="0"/>
              </a:rPr>
              <a:t> to check a network's physical link, especially after changes to the network interface.</a:t>
            </a:r>
            <a:endParaRPr lang="en-US" dirty="0" smtClean="0">
              <a:latin typeface="Gill Sans MT" panose="020B0502020104020203" pitchFamily="34" charset="0"/>
            </a:endParaRP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10</a:t>
            </a:fld>
            <a:endParaRPr lang="en-US"/>
          </a:p>
        </p:txBody>
      </p:sp>
    </p:spTree>
    <p:extLst>
      <p:ext uri="{BB962C8B-B14F-4D97-AF65-F5344CB8AC3E}">
        <p14:creationId xmlns:p14="http://schemas.microsoft.com/office/powerpoint/2010/main" val="19319673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t>Ifplugstatus</a:t>
            </a:r>
            <a:r>
              <a:rPr lang="en-US" b="1" dirty="0"/>
              <a:t> command</a:t>
            </a:r>
            <a:br>
              <a:rPr lang="en-US" b="1" dirty="0"/>
            </a:br>
            <a:endParaRPr lang="en-US" dirty="0"/>
          </a:p>
        </p:txBody>
      </p:sp>
      <p:sp>
        <p:nvSpPr>
          <p:cNvPr id="3" name="Content Placeholder 2"/>
          <p:cNvSpPr>
            <a:spLocks noGrp="1"/>
          </p:cNvSpPr>
          <p:nvPr>
            <p:ph idx="1"/>
          </p:nvPr>
        </p:nvSpPr>
        <p:spPr>
          <a:xfrm>
            <a:off x="0" y="1828800"/>
            <a:ext cx="9144000" cy="4297363"/>
          </a:xfrm>
        </p:spPr>
        <p:txBody>
          <a:bodyPr>
            <a:normAutofit/>
          </a:bodyPr>
          <a:lstStyle/>
          <a:p>
            <a:r>
              <a:rPr lang="en-US" dirty="0" smtClean="0">
                <a:latin typeface="Gill Sans MT" panose="020B0502020104020203" pitchFamily="34" charset="0"/>
              </a:rPr>
              <a:t>By default </a:t>
            </a:r>
            <a:r>
              <a:rPr lang="en-US" dirty="0" err="1">
                <a:solidFill>
                  <a:srgbClr val="C00000"/>
                </a:solidFill>
                <a:latin typeface="Gill Sans MT" panose="020B0502020104020203" pitchFamily="34" charset="0"/>
              </a:rPr>
              <a:t>ifplugstatus</a:t>
            </a:r>
            <a:r>
              <a:rPr lang="en-US" dirty="0">
                <a:latin typeface="Gill Sans MT" panose="020B0502020104020203" pitchFamily="34" charset="0"/>
              </a:rPr>
              <a:t> command </a:t>
            </a:r>
            <a:r>
              <a:rPr lang="en-US" dirty="0" smtClean="0">
                <a:latin typeface="Gill Sans MT" panose="020B0502020104020203" pitchFamily="34" charset="0"/>
              </a:rPr>
              <a:t>, </a:t>
            </a:r>
            <a:r>
              <a:rPr lang="en-US" dirty="0">
                <a:latin typeface="Gill Sans MT" panose="020B0502020104020203" pitchFamily="34" charset="0"/>
              </a:rPr>
              <a:t>it is not installed in Ubuntu, to install it use command </a:t>
            </a:r>
            <a:r>
              <a:rPr lang="en-US" b="1" dirty="0" err="1">
                <a:latin typeface="Gill Sans MT" panose="020B0502020104020203" pitchFamily="34" charset="0"/>
              </a:rPr>
              <a:t>sudo</a:t>
            </a:r>
            <a:r>
              <a:rPr lang="en-US" b="1" dirty="0">
                <a:latin typeface="Gill Sans MT" panose="020B0502020104020203" pitchFamily="34" charset="0"/>
              </a:rPr>
              <a:t> apt-get install </a:t>
            </a:r>
            <a:r>
              <a:rPr lang="en-US" b="1" dirty="0" err="1">
                <a:latin typeface="Gill Sans MT" panose="020B0502020104020203" pitchFamily="34" charset="0"/>
              </a:rPr>
              <a:t>ifplugd</a:t>
            </a:r>
            <a:r>
              <a:rPr lang="en-US" b="1" dirty="0">
                <a:latin typeface="Gill Sans MT" panose="020B0502020104020203" pitchFamily="34" charset="0"/>
              </a:rPr>
              <a:t>.</a:t>
            </a:r>
            <a:endParaRPr lang="en-US" dirty="0">
              <a:latin typeface="Gill Sans MT" panose="020B0502020104020203" pitchFamily="34" charset="0"/>
            </a:endParaRPr>
          </a:p>
          <a:p>
            <a:pPr lvl="0"/>
            <a:r>
              <a:rPr lang="en-US" b="1" dirty="0">
                <a:latin typeface="Gill Sans MT" panose="020B0502020104020203" pitchFamily="34" charset="0"/>
              </a:rPr>
              <a:t>Syntax :</a:t>
            </a:r>
            <a:r>
              <a:rPr lang="en-US" dirty="0">
                <a:latin typeface="Gill Sans MT" panose="020B0502020104020203" pitchFamily="34" charset="0"/>
              </a:rPr>
              <a:t> </a:t>
            </a:r>
            <a:r>
              <a:rPr lang="en-US" dirty="0" err="1">
                <a:latin typeface="Gill Sans MT" panose="020B0502020104020203" pitchFamily="34" charset="0"/>
              </a:rPr>
              <a:t>ifplugstus</a:t>
            </a:r>
            <a:endParaRPr lang="en-US" dirty="0">
              <a:latin typeface="Gill Sans MT" panose="020B0502020104020203" pitchFamily="34" charset="0"/>
            </a:endParaRPr>
          </a:p>
          <a:p>
            <a:pPr lvl="0"/>
            <a:r>
              <a:rPr lang="en-US" b="1" dirty="0" err="1">
                <a:latin typeface="Gill Sans MT" panose="020B0502020104020203" pitchFamily="34" charset="0"/>
              </a:rPr>
              <a:t>Eg</a:t>
            </a:r>
            <a:r>
              <a:rPr lang="en-US" b="1" dirty="0">
                <a:latin typeface="Gill Sans MT" panose="020B0502020104020203" pitchFamily="34" charset="0"/>
              </a:rPr>
              <a:t>:</a:t>
            </a:r>
            <a:r>
              <a:rPr lang="en-US" dirty="0">
                <a:latin typeface="Gill Sans MT" panose="020B0502020104020203" pitchFamily="34" charset="0"/>
              </a:rPr>
              <a:t> now you can check if your computer is connected by using </a:t>
            </a:r>
            <a:r>
              <a:rPr lang="en-US" dirty="0" err="1">
                <a:solidFill>
                  <a:srgbClr val="C00000"/>
                </a:solidFill>
                <a:latin typeface="Gill Sans MT" panose="020B0502020104020203" pitchFamily="34" charset="0"/>
              </a:rPr>
              <a:t>ifplugstatus</a:t>
            </a:r>
            <a:r>
              <a:rPr lang="en-US" dirty="0">
                <a:latin typeface="Gill Sans MT" panose="020B0502020104020203" pitchFamily="34" charset="0"/>
              </a:rPr>
              <a:t>  </a:t>
            </a: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11</a:t>
            </a:fld>
            <a:endParaRPr lang="en-US"/>
          </a:p>
        </p:txBody>
      </p:sp>
    </p:spTree>
    <p:extLst>
      <p:ext uri="{BB962C8B-B14F-4D97-AF65-F5344CB8AC3E}">
        <p14:creationId xmlns:p14="http://schemas.microsoft.com/office/powerpoint/2010/main" val="3852800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a:latin typeface="Gill Sans MT" panose="020B0502020104020203" pitchFamily="34" charset="0"/>
              </a:rPr>
              <a:t>nslookup</a:t>
            </a:r>
            <a:r>
              <a:rPr lang="en-US" b="1" dirty="0">
                <a:latin typeface="Gill Sans MT" panose="020B0502020104020203" pitchFamily="34" charset="0"/>
              </a:rPr>
              <a:t> command</a:t>
            </a:r>
            <a:br>
              <a:rPr lang="en-US" b="1" dirty="0">
                <a:latin typeface="Gill Sans MT" panose="020B0502020104020203" pitchFamily="34" charset="0"/>
              </a:rPr>
            </a:br>
            <a:endParaRPr lang="en-US" dirty="0">
              <a:latin typeface="Gill Sans MT" panose="020B0502020104020203" pitchFamily="34" charset="0"/>
            </a:endParaRPr>
          </a:p>
        </p:txBody>
      </p:sp>
      <p:sp>
        <p:nvSpPr>
          <p:cNvPr id="3" name="Content Placeholder 2"/>
          <p:cNvSpPr>
            <a:spLocks noGrp="1"/>
          </p:cNvSpPr>
          <p:nvPr>
            <p:ph idx="1"/>
          </p:nvPr>
        </p:nvSpPr>
        <p:spPr/>
        <p:txBody>
          <a:bodyPr/>
          <a:lstStyle/>
          <a:p>
            <a:r>
              <a:rPr lang="en-US" dirty="0" smtClean="0">
                <a:latin typeface="Gill Sans MT" panose="020B0502020104020203" pitchFamily="34" charset="0"/>
              </a:rPr>
              <a:t>This </a:t>
            </a:r>
            <a:r>
              <a:rPr lang="en-US" dirty="0">
                <a:latin typeface="Gill Sans MT" panose="020B0502020104020203" pitchFamily="34" charset="0"/>
              </a:rPr>
              <a:t>command is also used to find DNS related query.</a:t>
            </a:r>
          </a:p>
          <a:p>
            <a:pPr lvl="0"/>
            <a:r>
              <a:rPr lang="en-US" b="1" dirty="0">
                <a:latin typeface="Gill Sans MT" panose="020B0502020104020203" pitchFamily="34" charset="0"/>
              </a:rPr>
              <a:t>Syntax:</a:t>
            </a:r>
            <a:r>
              <a:rPr lang="en-US" dirty="0">
                <a:latin typeface="Gill Sans MT" panose="020B0502020104020203" pitchFamily="34" charset="0"/>
              </a:rPr>
              <a:t> </a:t>
            </a:r>
            <a:r>
              <a:rPr lang="en-US" dirty="0" err="1">
                <a:solidFill>
                  <a:srgbClr val="C00000"/>
                </a:solidFill>
                <a:latin typeface="Gill Sans MT" panose="020B0502020104020203" pitchFamily="34" charset="0"/>
              </a:rPr>
              <a:t>nslookup</a:t>
            </a:r>
            <a:r>
              <a:rPr lang="en-US" dirty="0">
                <a:latin typeface="Gill Sans MT" panose="020B0502020104020203" pitchFamily="34" charset="0"/>
              </a:rPr>
              <a:t> </a:t>
            </a:r>
            <a:r>
              <a:rPr lang="en-US" b="1" dirty="0">
                <a:latin typeface="Gill Sans MT" panose="020B0502020104020203" pitchFamily="34" charset="0"/>
              </a:rPr>
              <a:t>&lt;</a:t>
            </a:r>
            <a:r>
              <a:rPr lang="en-US" b="1" dirty="0" err="1">
                <a:latin typeface="Gill Sans MT" panose="020B0502020104020203" pitchFamily="34" charset="0"/>
              </a:rPr>
              <a:t>domainName</a:t>
            </a:r>
            <a:r>
              <a:rPr lang="en-US" b="1" dirty="0">
                <a:latin typeface="Gill Sans MT" panose="020B0502020104020203" pitchFamily="34" charset="0"/>
              </a:rPr>
              <a:t>&gt;</a:t>
            </a:r>
            <a:r>
              <a:rPr lang="en-US" dirty="0">
                <a:latin typeface="Gill Sans MT" panose="020B0502020104020203" pitchFamily="34" charset="0"/>
              </a:rPr>
              <a:t>  </a:t>
            </a:r>
          </a:p>
          <a:p>
            <a:pPr lvl="0"/>
            <a:r>
              <a:rPr lang="en-US" b="1" dirty="0">
                <a:latin typeface="Gill Sans MT" panose="020B0502020104020203" pitchFamily="34" charset="0"/>
              </a:rPr>
              <a:t>Example:</a:t>
            </a:r>
            <a:r>
              <a:rPr lang="en-US" dirty="0">
                <a:latin typeface="Gill Sans MT" panose="020B0502020104020203" pitchFamily="34" charset="0"/>
              </a:rPr>
              <a:t> </a:t>
            </a:r>
            <a:r>
              <a:rPr lang="en-US" dirty="0" err="1">
                <a:solidFill>
                  <a:srgbClr val="C00000"/>
                </a:solidFill>
                <a:latin typeface="Gill Sans MT" panose="020B0502020104020203" pitchFamily="34" charset="0"/>
              </a:rPr>
              <a:t>nslookup</a:t>
            </a:r>
            <a:r>
              <a:rPr lang="en-US" dirty="0">
                <a:latin typeface="Gill Sans MT" panose="020B0502020104020203" pitchFamily="34" charset="0"/>
              </a:rPr>
              <a:t> www.uok.ac.rw</a:t>
            </a: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12</a:t>
            </a:fld>
            <a:endParaRPr lang="en-US"/>
          </a:p>
        </p:txBody>
      </p:sp>
    </p:spTree>
    <p:extLst>
      <p:ext uri="{BB962C8B-B14F-4D97-AF65-F5344CB8AC3E}">
        <p14:creationId xmlns:p14="http://schemas.microsoft.com/office/powerpoint/2010/main" val="392852289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685800"/>
            <a:ext cx="8001000" cy="1143000"/>
          </a:xfrm>
        </p:spPr>
        <p:txBody>
          <a:bodyPr>
            <a:normAutofit fontScale="90000"/>
          </a:bodyPr>
          <a:lstStyle/>
          <a:p>
            <a:r>
              <a:rPr lang="en-US" dirty="0">
                <a:latin typeface="Gill Sans MT" panose="020B0502020104020203" pitchFamily="34" charset="0"/>
              </a:rPr>
              <a:t>ping Command</a:t>
            </a:r>
            <a:r>
              <a:rPr lang="en-US" b="1" dirty="0">
                <a:latin typeface="Gill Sans MT" panose="020B0502020104020203" pitchFamily="34" charset="0"/>
              </a:rPr>
              <a:t/>
            </a:r>
            <a:br>
              <a:rPr lang="en-US" b="1" dirty="0">
                <a:latin typeface="Gill Sans MT" panose="020B0502020104020203" pitchFamily="34" charset="0"/>
              </a:rPr>
            </a:br>
            <a:endParaRPr lang="en-US" dirty="0">
              <a:latin typeface="Gill Sans MT" panose="020B0502020104020203" pitchFamily="34" charset="0"/>
            </a:endParaRPr>
          </a:p>
        </p:txBody>
      </p:sp>
      <p:sp>
        <p:nvSpPr>
          <p:cNvPr id="3" name="Content Placeholder 2"/>
          <p:cNvSpPr>
            <a:spLocks noGrp="1"/>
          </p:cNvSpPr>
          <p:nvPr>
            <p:ph idx="1"/>
          </p:nvPr>
        </p:nvSpPr>
        <p:spPr>
          <a:xfrm>
            <a:off x="0" y="1447800"/>
            <a:ext cx="9144000" cy="4678363"/>
          </a:xfrm>
        </p:spPr>
        <p:txBody>
          <a:bodyPr>
            <a:normAutofit/>
          </a:bodyPr>
          <a:lstStyle/>
          <a:p>
            <a:r>
              <a:rPr lang="en-US" dirty="0" smtClean="0">
                <a:solidFill>
                  <a:srgbClr val="C00000"/>
                </a:solidFill>
                <a:latin typeface="Gill Sans MT" panose="020B0502020104020203" pitchFamily="34" charset="0"/>
              </a:rPr>
              <a:t>ping</a:t>
            </a:r>
            <a:r>
              <a:rPr lang="en-US" dirty="0" smtClean="0">
                <a:latin typeface="Gill Sans MT" panose="020B0502020104020203" pitchFamily="34" charset="0"/>
              </a:rPr>
              <a:t> </a:t>
            </a:r>
            <a:r>
              <a:rPr lang="en-US" dirty="0">
                <a:latin typeface="Gill Sans MT" panose="020B0502020104020203" pitchFamily="34" charset="0"/>
              </a:rPr>
              <a:t>command stands for (Packet Internet Groper). </a:t>
            </a:r>
            <a:endParaRPr lang="en-US" dirty="0" smtClean="0">
              <a:latin typeface="Gill Sans MT" panose="020B0502020104020203" pitchFamily="34" charset="0"/>
            </a:endParaRPr>
          </a:p>
          <a:p>
            <a:r>
              <a:rPr lang="en-US" dirty="0" smtClean="0">
                <a:latin typeface="Gill Sans MT" panose="020B0502020104020203" pitchFamily="34" charset="0"/>
              </a:rPr>
              <a:t>It </a:t>
            </a:r>
            <a:r>
              <a:rPr lang="en-US" dirty="0">
                <a:latin typeface="Gill Sans MT" panose="020B0502020104020203" pitchFamily="34" charset="0"/>
              </a:rPr>
              <a:t>checks connectivity between two nodes to see if a server is available.</a:t>
            </a:r>
          </a:p>
          <a:p>
            <a:pPr lvl="0"/>
            <a:r>
              <a:rPr lang="en-US" b="1" dirty="0">
                <a:latin typeface="Gill Sans MT" panose="020B0502020104020203" pitchFamily="34" charset="0"/>
              </a:rPr>
              <a:t>Syntax:</a:t>
            </a:r>
            <a:r>
              <a:rPr lang="en-US" dirty="0">
                <a:latin typeface="Gill Sans MT" panose="020B0502020104020203" pitchFamily="34" charset="0"/>
              </a:rPr>
              <a:t> </a:t>
            </a:r>
            <a:r>
              <a:rPr lang="en-US" dirty="0">
                <a:solidFill>
                  <a:srgbClr val="C00000"/>
                </a:solidFill>
                <a:latin typeface="Gill Sans MT" panose="020B0502020104020203" pitchFamily="34" charset="0"/>
              </a:rPr>
              <a:t>ping</a:t>
            </a:r>
            <a:r>
              <a:rPr lang="en-US" dirty="0">
                <a:latin typeface="Gill Sans MT" panose="020B0502020104020203" pitchFamily="34" charset="0"/>
              </a:rPr>
              <a:t> </a:t>
            </a:r>
            <a:r>
              <a:rPr lang="en-US" dirty="0" err="1">
                <a:latin typeface="Gill Sans MT" panose="020B0502020104020203" pitchFamily="34" charset="0"/>
              </a:rPr>
              <a:t>ip</a:t>
            </a:r>
            <a:r>
              <a:rPr lang="en-US" dirty="0">
                <a:latin typeface="Gill Sans MT" panose="020B0502020104020203" pitchFamily="34" charset="0"/>
              </a:rPr>
              <a:t> </a:t>
            </a:r>
            <a:endParaRPr lang="en-US" dirty="0" smtClean="0">
              <a:latin typeface="Gill Sans MT" panose="020B0502020104020203" pitchFamily="34" charset="0"/>
            </a:endParaRPr>
          </a:p>
          <a:p>
            <a:pPr lvl="0"/>
            <a:r>
              <a:rPr lang="en-US" b="1" dirty="0" smtClean="0">
                <a:latin typeface="Gill Sans MT" panose="020B0502020104020203" pitchFamily="34" charset="0"/>
              </a:rPr>
              <a:t>Eg1:</a:t>
            </a:r>
            <a:r>
              <a:rPr lang="en-US" dirty="0" smtClean="0">
                <a:latin typeface="Gill Sans MT" panose="020B0502020104020203" pitchFamily="34" charset="0"/>
              </a:rPr>
              <a:t> </a:t>
            </a:r>
            <a:r>
              <a:rPr lang="en-US" dirty="0">
                <a:solidFill>
                  <a:srgbClr val="C00000"/>
                </a:solidFill>
                <a:latin typeface="Gill Sans MT" panose="020B0502020104020203" pitchFamily="34" charset="0"/>
              </a:rPr>
              <a:t>ping</a:t>
            </a:r>
            <a:r>
              <a:rPr lang="en-US" dirty="0">
                <a:latin typeface="Gill Sans MT" panose="020B0502020104020203" pitchFamily="34" charset="0"/>
              </a:rPr>
              <a:t> 8.8.8.8</a:t>
            </a:r>
          </a:p>
          <a:p>
            <a:pPr lvl="0"/>
            <a:r>
              <a:rPr lang="en-US" dirty="0" smtClean="0">
                <a:latin typeface="Gill Sans MT" panose="020B0502020104020203" pitchFamily="34" charset="0"/>
              </a:rPr>
              <a:t>ping </a:t>
            </a:r>
            <a:r>
              <a:rPr lang="en-US" u="sng" dirty="0" smtClean="0">
                <a:latin typeface="Gill Sans MT" panose="020B0502020104020203" pitchFamily="34" charset="0"/>
                <a:hlinkClick r:id="rId2"/>
              </a:rPr>
              <a:t>www.uok.ac.rw</a:t>
            </a:r>
            <a:endParaRPr lang="en-US" u="sng" dirty="0" smtClean="0">
              <a:latin typeface="Gill Sans MT" panose="020B0502020104020203" pitchFamily="34" charset="0"/>
            </a:endParaRPr>
          </a:p>
          <a:p>
            <a:r>
              <a:rPr lang="en-US" dirty="0">
                <a:latin typeface="Gill Sans MT" panose="020B0502020104020203" pitchFamily="34" charset="0"/>
              </a:rPr>
              <a:t>Stop any currently running command in Linux using the command </a:t>
            </a:r>
            <a:r>
              <a:rPr lang="en-US" dirty="0" err="1">
                <a:latin typeface="Gill Sans MT" panose="020B0502020104020203" pitchFamily="34" charset="0"/>
              </a:rPr>
              <a:t>Ctrl+C</a:t>
            </a:r>
            <a:r>
              <a:rPr lang="en-US" dirty="0">
                <a:latin typeface="Gill Sans MT" panose="020B0502020104020203" pitchFamily="34" charset="0"/>
              </a:rPr>
              <a:t>.</a:t>
            </a:r>
          </a:p>
          <a:p>
            <a:pPr lvl="0"/>
            <a:endParaRPr lang="en-US" dirty="0">
              <a:latin typeface="Gill Sans MT" panose="020B0502020104020203" pitchFamily="34" charset="0"/>
            </a:endParaRP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13</a:t>
            </a:fld>
            <a:endParaRPr lang="en-US"/>
          </a:p>
        </p:txBody>
      </p:sp>
    </p:spTree>
    <p:extLst>
      <p:ext uri="{BB962C8B-B14F-4D97-AF65-F5344CB8AC3E}">
        <p14:creationId xmlns:p14="http://schemas.microsoft.com/office/powerpoint/2010/main" val="5364811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685800"/>
            <a:ext cx="8001000" cy="1143000"/>
          </a:xfrm>
        </p:spPr>
        <p:txBody>
          <a:bodyPr>
            <a:normAutofit/>
          </a:bodyPr>
          <a:lstStyle/>
          <a:p>
            <a:r>
              <a:rPr lang="en-US" b="1" dirty="0" err="1"/>
              <a:t>ifconfig</a:t>
            </a:r>
            <a:r>
              <a:rPr lang="en-US" b="1" dirty="0"/>
              <a:t> </a:t>
            </a:r>
            <a:r>
              <a:rPr lang="en-US" b="1" dirty="0" smtClean="0"/>
              <a:t>command</a:t>
            </a:r>
            <a:endParaRPr lang="en-US" dirty="0"/>
          </a:p>
        </p:txBody>
      </p:sp>
      <p:sp>
        <p:nvSpPr>
          <p:cNvPr id="3" name="Content Placeholder 2"/>
          <p:cNvSpPr>
            <a:spLocks noGrp="1"/>
          </p:cNvSpPr>
          <p:nvPr>
            <p:ph idx="1"/>
          </p:nvPr>
        </p:nvSpPr>
        <p:spPr>
          <a:xfrm>
            <a:off x="0" y="1676400"/>
            <a:ext cx="9144000" cy="4495800"/>
          </a:xfrm>
        </p:spPr>
        <p:txBody>
          <a:bodyPr>
            <a:normAutofit fontScale="92500" lnSpcReduction="10000"/>
          </a:bodyPr>
          <a:lstStyle/>
          <a:p>
            <a:r>
              <a:rPr lang="en-US" dirty="0" err="1">
                <a:solidFill>
                  <a:srgbClr val="C00000"/>
                </a:solidFill>
                <a:latin typeface="Gill Sans MT" panose="020B0502020104020203" pitchFamily="34" charset="0"/>
              </a:rPr>
              <a:t>ifconfig</a:t>
            </a:r>
            <a:r>
              <a:rPr lang="en-US" b="1" dirty="0">
                <a:latin typeface="Gill Sans MT" panose="020B0502020104020203" pitchFamily="34" charset="0"/>
              </a:rPr>
              <a:t> (</a:t>
            </a:r>
            <a:r>
              <a:rPr lang="en-US" b="1" i="1" dirty="0">
                <a:latin typeface="Gill Sans MT" panose="020B0502020104020203" pitchFamily="34" charset="0"/>
              </a:rPr>
              <a:t>short </a:t>
            </a:r>
            <a:r>
              <a:rPr lang="en-US" b="1" i="1" dirty="0" smtClean="0">
                <a:latin typeface="Gill Sans MT" panose="020B0502020104020203" pitchFamily="34" charset="0"/>
              </a:rPr>
              <a:t>for </a:t>
            </a:r>
            <a:r>
              <a:rPr lang="en-US" b="1" i="1" dirty="0">
                <a:latin typeface="Gill Sans MT" panose="020B0502020104020203" pitchFamily="34" charset="0"/>
              </a:rPr>
              <a:t>interface </a:t>
            </a:r>
            <a:r>
              <a:rPr lang="en-US" b="1" i="1" dirty="0" err="1">
                <a:latin typeface="Gill Sans MT" panose="020B0502020104020203" pitchFamily="34" charset="0"/>
              </a:rPr>
              <a:t>config</a:t>
            </a:r>
            <a:r>
              <a:rPr lang="en-US" b="1" dirty="0">
                <a:latin typeface="Gill Sans MT" panose="020B0502020104020203" pitchFamily="34" charset="0"/>
              </a:rPr>
              <a:t>) </a:t>
            </a:r>
            <a:endParaRPr lang="en-US" b="1" dirty="0" smtClean="0">
              <a:latin typeface="Gill Sans MT" panose="020B0502020104020203" pitchFamily="34" charset="0"/>
            </a:endParaRPr>
          </a:p>
          <a:p>
            <a:pPr lvl="0"/>
            <a:r>
              <a:rPr lang="en-US" dirty="0">
                <a:latin typeface="Gill Sans MT" panose="020B0502020104020203" pitchFamily="34" charset="0"/>
              </a:rPr>
              <a:t>Configures or displays network interface parameters for a network by using TCP/IP.</a:t>
            </a:r>
            <a:endParaRPr lang="en-US" b="1" dirty="0">
              <a:latin typeface="Gill Sans MT" panose="020B0502020104020203" pitchFamily="34" charset="0"/>
            </a:endParaRPr>
          </a:p>
          <a:p>
            <a:pPr lvl="0"/>
            <a:r>
              <a:rPr lang="en-US" dirty="0">
                <a:latin typeface="Gill Sans MT" panose="020B0502020104020203" pitchFamily="34" charset="0"/>
              </a:rPr>
              <a:t>Display interface configuration like IP address, MAC address,</a:t>
            </a:r>
            <a:r>
              <a:rPr lang="en-US" b="1" dirty="0">
                <a:latin typeface="Gill Sans MT" panose="020B0502020104020203" pitchFamily="34" charset="0"/>
              </a:rPr>
              <a:t> </a:t>
            </a:r>
            <a:r>
              <a:rPr lang="en-US" dirty="0">
                <a:latin typeface="Gill Sans MT" panose="020B0502020104020203" pitchFamily="34" charset="0"/>
              </a:rPr>
              <a:t>route and network interface</a:t>
            </a:r>
            <a:r>
              <a:rPr lang="en-US" dirty="0" smtClean="0">
                <a:latin typeface="Gill Sans MT" panose="020B0502020104020203" pitchFamily="34" charset="0"/>
              </a:rPr>
              <a:t>.</a:t>
            </a:r>
          </a:p>
          <a:p>
            <a:r>
              <a:rPr lang="en-US" dirty="0">
                <a:latin typeface="Gill Sans MT" panose="020B0502020104020203" pitchFamily="34" charset="0"/>
              </a:rPr>
              <a:t>The</a:t>
            </a:r>
            <a:r>
              <a:rPr lang="en-US" dirty="0">
                <a:solidFill>
                  <a:srgbClr val="C00000"/>
                </a:solidFill>
                <a:latin typeface="Gill Sans MT" panose="020B0502020104020203" pitchFamily="34" charset="0"/>
              </a:rPr>
              <a:t> </a:t>
            </a:r>
            <a:r>
              <a:rPr lang="en-US" dirty="0" err="1">
                <a:solidFill>
                  <a:srgbClr val="C00000"/>
                </a:solidFill>
                <a:latin typeface="Gill Sans MT" panose="020B0502020104020203" pitchFamily="34" charset="0"/>
              </a:rPr>
              <a:t>ifconfig</a:t>
            </a:r>
            <a:r>
              <a:rPr lang="en-US" dirty="0">
                <a:solidFill>
                  <a:srgbClr val="C00000"/>
                </a:solidFill>
                <a:latin typeface="Gill Sans MT" panose="020B0502020104020203" pitchFamily="34" charset="0"/>
              </a:rPr>
              <a:t> </a:t>
            </a:r>
            <a:r>
              <a:rPr lang="en-US" dirty="0">
                <a:latin typeface="Gill Sans MT" panose="020B0502020104020203" pitchFamily="34" charset="0"/>
              </a:rPr>
              <a:t>command is supported by Unix-based operating systems.</a:t>
            </a:r>
          </a:p>
          <a:p>
            <a:pPr lvl="0"/>
            <a:r>
              <a:rPr lang="en-US" dirty="0" err="1">
                <a:latin typeface="Gill Sans MT" panose="020B0502020104020203" pitchFamily="34" charset="0"/>
              </a:rPr>
              <a:t>ifconfig</a:t>
            </a:r>
            <a:r>
              <a:rPr lang="en-US" dirty="0">
                <a:latin typeface="Gill Sans MT" panose="020B0502020104020203" pitchFamily="34" charset="0"/>
              </a:rPr>
              <a:t> command displays only the enabled network interfaces that are connected to the system.</a:t>
            </a: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14</a:t>
            </a:fld>
            <a:endParaRPr lang="en-US"/>
          </a:p>
        </p:txBody>
      </p:sp>
    </p:spTree>
    <p:extLst>
      <p:ext uri="{BB962C8B-B14F-4D97-AF65-F5344CB8AC3E}">
        <p14:creationId xmlns:p14="http://schemas.microsoft.com/office/powerpoint/2010/main" val="619837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360" y="685800"/>
            <a:ext cx="8001000" cy="1143000"/>
          </a:xfrm>
        </p:spPr>
        <p:txBody>
          <a:bodyPr/>
          <a:lstStyle/>
          <a:p>
            <a:r>
              <a:rPr lang="en-US" b="1" dirty="0">
                <a:latin typeface="Gill Sans MT" panose="020B0502020104020203" pitchFamily="34" charset="0"/>
              </a:rPr>
              <a:t>t</a:t>
            </a:r>
            <a:r>
              <a:rPr lang="en-US" b="1" dirty="0" smtClean="0">
                <a:latin typeface="Gill Sans MT" panose="020B0502020104020203" pitchFamily="34" charset="0"/>
              </a:rPr>
              <a:t>raceroute command</a:t>
            </a:r>
            <a:endParaRPr lang="en-US" dirty="0">
              <a:latin typeface="Gill Sans MT" panose="020B0502020104020203" pitchFamily="34" charset="0"/>
            </a:endParaRPr>
          </a:p>
        </p:txBody>
      </p:sp>
      <p:sp>
        <p:nvSpPr>
          <p:cNvPr id="3" name="Content Placeholder 2"/>
          <p:cNvSpPr>
            <a:spLocks noGrp="1"/>
          </p:cNvSpPr>
          <p:nvPr>
            <p:ph idx="1"/>
          </p:nvPr>
        </p:nvSpPr>
        <p:spPr>
          <a:xfrm>
            <a:off x="0" y="1600200"/>
            <a:ext cx="9144000" cy="4525963"/>
          </a:xfrm>
        </p:spPr>
        <p:txBody>
          <a:bodyPr>
            <a:normAutofit/>
          </a:bodyPr>
          <a:lstStyle/>
          <a:p>
            <a:r>
              <a:rPr lang="en-US" dirty="0" smtClean="0">
                <a:solidFill>
                  <a:srgbClr val="C00000"/>
                </a:solidFill>
                <a:latin typeface="Gill Sans MT" panose="020B0502020104020203" pitchFamily="34" charset="0"/>
              </a:rPr>
              <a:t>traceroute</a:t>
            </a:r>
            <a:r>
              <a:rPr lang="en-US" dirty="0" smtClean="0">
                <a:latin typeface="Gill Sans MT" panose="020B0502020104020203" pitchFamily="34" charset="0"/>
              </a:rPr>
              <a:t> </a:t>
            </a:r>
            <a:r>
              <a:rPr lang="en-US" dirty="0">
                <a:latin typeface="Gill Sans MT" panose="020B0502020104020203" pitchFamily="34" charset="0"/>
              </a:rPr>
              <a:t>command is a network troubleshooting utility that helps us determine the number of hops and packets traveling path required to reach a destination</a:t>
            </a:r>
            <a:r>
              <a:rPr lang="en-US" dirty="0" smtClean="0">
                <a:latin typeface="Gill Sans MT" panose="020B0502020104020203" pitchFamily="34" charset="0"/>
              </a:rPr>
              <a:t>.</a:t>
            </a:r>
            <a:r>
              <a:rPr lang="en-US" dirty="0">
                <a:latin typeface="Gill Sans MT" panose="020B0502020104020203" pitchFamily="34" charset="0"/>
              </a:rPr>
              <a:t> </a:t>
            </a:r>
          </a:p>
          <a:p>
            <a:pPr lvl="3"/>
            <a:r>
              <a:rPr lang="en-US" sz="3200" b="1" dirty="0">
                <a:latin typeface="Gill Sans MT" panose="020B0502020104020203" pitchFamily="34" charset="0"/>
              </a:rPr>
              <a:t>Syntax: </a:t>
            </a:r>
            <a:r>
              <a:rPr lang="en-US" sz="3200" dirty="0">
                <a:solidFill>
                  <a:srgbClr val="C00000"/>
                </a:solidFill>
                <a:latin typeface="Gill Sans MT" panose="020B0502020104020203" pitchFamily="34" charset="0"/>
              </a:rPr>
              <a:t>traceroute</a:t>
            </a:r>
            <a:r>
              <a:rPr lang="en-US" sz="3200" dirty="0">
                <a:latin typeface="Gill Sans MT" panose="020B0502020104020203" pitchFamily="34" charset="0"/>
              </a:rPr>
              <a:t> destination </a:t>
            </a:r>
          </a:p>
          <a:p>
            <a:pPr lvl="3"/>
            <a:r>
              <a:rPr lang="en-US" sz="3200" dirty="0" smtClean="0">
                <a:latin typeface="Gill Sans MT" panose="020B0502020104020203" pitchFamily="34" charset="0"/>
              </a:rPr>
              <a:t>eg1: </a:t>
            </a:r>
            <a:r>
              <a:rPr lang="en-US" sz="3200" dirty="0" smtClean="0">
                <a:solidFill>
                  <a:srgbClr val="C00000"/>
                </a:solidFill>
                <a:latin typeface="Gill Sans MT" panose="020B0502020104020203" pitchFamily="34" charset="0"/>
              </a:rPr>
              <a:t>traceroute</a:t>
            </a:r>
            <a:r>
              <a:rPr lang="en-US" sz="3200" dirty="0" smtClean="0">
                <a:latin typeface="Gill Sans MT" panose="020B0502020104020203" pitchFamily="34" charset="0"/>
              </a:rPr>
              <a:t> </a:t>
            </a:r>
            <a:r>
              <a:rPr lang="en-US" sz="3200" u="sng" dirty="0">
                <a:latin typeface="Gill Sans MT" panose="020B0502020104020203" pitchFamily="34" charset="0"/>
                <a:hlinkClick r:id="rId2"/>
              </a:rPr>
              <a:t>www.uok.ac.rw</a:t>
            </a:r>
            <a:endParaRPr lang="en-US" sz="3200" dirty="0">
              <a:latin typeface="Gill Sans MT" panose="020B0502020104020203" pitchFamily="34" charset="0"/>
            </a:endParaRPr>
          </a:p>
          <a:p>
            <a:pPr lvl="3"/>
            <a:r>
              <a:rPr lang="en-US" sz="3200" dirty="0" smtClean="0">
                <a:latin typeface="Gill Sans MT" panose="020B0502020104020203" pitchFamily="34" charset="0"/>
              </a:rPr>
              <a:t>eg2: traceroute </a:t>
            </a:r>
            <a:r>
              <a:rPr lang="en-US" sz="3200" dirty="0">
                <a:latin typeface="Gill Sans MT" panose="020B0502020104020203" pitchFamily="34" charset="0"/>
              </a:rPr>
              <a:t>risa.gov.rw</a:t>
            </a:r>
          </a:p>
          <a:p>
            <a:pPr lvl="3"/>
            <a:r>
              <a:rPr lang="en-US" sz="3200" dirty="0" smtClean="0">
                <a:latin typeface="Gill Sans MT" panose="020B0502020104020203" pitchFamily="34" charset="0"/>
              </a:rPr>
              <a:t>eg3: traceroute </a:t>
            </a:r>
            <a:r>
              <a:rPr lang="en-US" sz="3200" dirty="0">
                <a:latin typeface="Gill Sans MT" panose="020B0502020104020203" pitchFamily="34" charset="0"/>
              </a:rPr>
              <a:t>javatpoint.com</a:t>
            </a:r>
          </a:p>
          <a:p>
            <a:pPr marL="0" indent="0">
              <a:buNone/>
            </a:pP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15</a:t>
            </a:fld>
            <a:endParaRPr lang="en-US"/>
          </a:p>
        </p:txBody>
      </p:sp>
    </p:spTree>
    <p:extLst>
      <p:ext uri="{BB962C8B-B14F-4D97-AF65-F5344CB8AC3E}">
        <p14:creationId xmlns:p14="http://schemas.microsoft.com/office/powerpoint/2010/main" val="42636570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500" y="330200"/>
            <a:ext cx="8001000" cy="1143000"/>
          </a:xfrm>
        </p:spPr>
        <p:txBody>
          <a:bodyPr/>
          <a:lstStyle/>
          <a:p>
            <a:r>
              <a:rPr lang="en-US" b="1" dirty="0" err="1">
                <a:latin typeface="Gill Sans MT" panose="020B0502020104020203" pitchFamily="34" charset="0"/>
              </a:rPr>
              <a:t>netstat</a:t>
            </a:r>
            <a:r>
              <a:rPr lang="en-US" b="1" dirty="0">
                <a:latin typeface="Gill Sans MT" panose="020B0502020104020203" pitchFamily="34" charset="0"/>
              </a:rPr>
              <a:t> command</a:t>
            </a:r>
          </a:p>
        </p:txBody>
      </p:sp>
      <p:sp>
        <p:nvSpPr>
          <p:cNvPr id="3" name="Content Placeholder 2"/>
          <p:cNvSpPr>
            <a:spLocks noGrp="1"/>
          </p:cNvSpPr>
          <p:nvPr>
            <p:ph idx="1"/>
          </p:nvPr>
        </p:nvSpPr>
        <p:spPr>
          <a:xfrm>
            <a:off x="0" y="1447800"/>
            <a:ext cx="9067800" cy="4678363"/>
          </a:xfrm>
        </p:spPr>
        <p:txBody>
          <a:bodyPr>
            <a:noAutofit/>
          </a:bodyPr>
          <a:lstStyle/>
          <a:p>
            <a:pPr lvl="0"/>
            <a:r>
              <a:rPr lang="en-US" dirty="0" err="1">
                <a:solidFill>
                  <a:srgbClr val="C00000"/>
                </a:solidFill>
                <a:latin typeface="Gill Sans MT" panose="020B0502020104020203" pitchFamily="34" charset="0"/>
              </a:rPr>
              <a:t>n</a:t>
            </a:r>
            <a:r>
              <a:rPr lang="en-US" dirty="0" err="1" smtClean="0">
                <a:solidFill>
                  <a:srgbClr val="C00000"/>
                </a:solidFill>
                <a:latin typeface="Gill Sans MT" panose="020B0502020104020203" pitchFamily="34" charset="0"/>
              </a:rPr>
              <a:t>etstat</a:t>
            </a:r>
            <a:r>
              <a:rPr lang="en-US" dirty="0" smtClean="0">
                <a:latin typeface="Gill Sans MT" panose="020B0502020104020203" pitchFamily="34" charset="0"/>
              </a:rPr>
              <a:t> stands </a:t>
            </a:r>
            <a:r>
              <a:rPr lang="en-US" dirty="0">
                <a:latin typeface="Gill Sans MT" panose="020B0502020104020203" pitchFamily="34" charset="0"/>
              </a:rPr>
              <a:t>for </a:t>
            </a:r>
            <a:r>
              <a:rPr lang="en-US" b="1" dirty="0">
                <a:latin typeface="Gill Sans MT" panose="020B0502020104020203" pitchFamily="34" charset="0"/>
              </a:rPr>
              <a:t>Network statistics</a:t>
            </a:r>
            <a:r>
              <a:rPr lang="en-US" dirty="0">
                <a:latin typeface="Gill Sans MT" panose="020B0502020104020203" pitchFamily="34" charset="0"/>
              </a:rPr>
              <a:t>. </a:t>
            </a:r>
            <a:endParaRPr lang="en-US" dirty="0" smtClean="0">
              <a:latin typeface="Gill Sans MT" panose="020B0502020104020203" pitchFamily="34" charset="0"/>
            </a:endParaRPr>
          </a:p>
          <a:p>
            <a:pPr lvl="0"/>
            <a:r>
              <a:rPr lang="en-US" dirty="0" smtClean="0">
                <a:latin typeface="Gill Sans MT" panose="020B0502020104020203" pitchFamily="34" charset="0"/>
              </a:rPr>
              <a:t>It </a:t>
            </a:r>
            <a:r>
              <a:rPr lang="en-US" dirty="0">
                <a:latin typeface="Gill Sans MT" panose="020B0502020104020203" pitchFamily="34" charset="0"/>
              </a:rPr>
              <a:t>displays information about different interface statistics, including open </a:t>
            </a:r>
            <a:r>
              <a:rPr lang="en-US" dirty="0" smtClean="0">
                <a:latin typeface="Gill Sans MT" panose="020B0502020104020203" pitchFamily="34" charset="0"/>
              </a:rPr>
              <a:t>and pending sockets</a:t>
            </a:r>
            <a:r>
              <a:rPr lang="en-US" dirty="0">
                <a:latin typeface="Gill Sans MT" panose="020B0502020104020203" pitchFamily="34" charset="0"/>
              </a:rPr>
              <a:t>, routing tables, and connection </a:t>
            </a:r>
            <a:r>
              <a:rPr lang="en-US" dirty="0" smtClean="0">
                <a:latin typeface="Gill Sans MT" panose="020B0502020104020203" pitchFamily="34" charset="0"/>
              </a:rPr>
              <a:t>information</a:t>
            </a:r>
          </a:p>
          <a:p>
            <a:pPr lvl="0"/>
            <a:r>
              <a:rPr lang="en-US" dirty="0" smtClean="0">
                <a:latin typeface="Gill Sans MT" panose="020B0502020104020203" pitchFamily="34" charset="0"/>
              </a:rPr>
              <a:t>It </a:t>
            </a:r>
            <a:r>
              <a:rPr lang="en-US" dirty="0">
                <a:latin typeface="Gill Sans MT" panose="020B0502020104020203" pitchFamily="34" charset="0"/>
              </a:rPr>
              <a:t>can tell you about the connections your computer is making, the paths it uses to send information, and even some technical details like how many packets of data are being sent or received.</a:t>
            </a: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16</a:t>
            </a:fld>
            <a:endParaRPr lang="en-US"/>
          </a:p>
        </p:txBody>
      </p:sp>
    </p:spTree>
    <p:extLst>
      <p:ext uri="{BB962C8B-B14F-4D97-AF65-F5344CB8AC3E}">
        <p14:creationId xmlns:p14="http://schemas.microsoft.com/office/powerpoint/2010/main" val="29851633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Implementation of </a:t>
            </a:r>
            <a:r>
              <a:rPr lang="en-US" dirty="0" err="1" smtClean="0"/>
              <a:t>netstat</a:t>
            </a:r>
            <a:endParaRPr lang="en-US" dirty="0"/>
          </a:p>
        </p:txBody>
      </p:sp>
      <p:sp>
        <p:nvSpPr>
          <p:cNvPr id="3" name="Content Placeholder 2"/>
          <p:cNvSpPr>
            <a:spLocks noGrp="1"/>
          </p:cNvSpPr>
          <p:nvPr>
            <p:ph idx="1"/>
          </p:nvPr>
        </p:nvSpPr>
        <p:spPr/>
        <p:txBody>
          <a:bodyPr>
            <a:normAutofit lnSpcReduction="10000"/>
          </a:bodyPr>
          <a:lstStyle/>
          <a:p>
            <a:pPr marL="0" indent="0" fontAlgn="base">
              <a:buNone/>
            </a:pPr>
            <a:r>
              <a:rPr lang="en-US" dirty="0" smtClean="0">
                <a:latin typeface="Gill Sans MT" panose="020B0502020104020203" pitchFamily="34" charset="0"/>
              </a:rPr>
              <a:t>Show </a:t>
            </a:r>
            <a:r>
              <a:rPr lang="en-US" dirty="0">
                <a:latin typeface="Gill Sans MT" panose="020B0502020104020203" pitchFamily="34" charset="0"/>
              </a:rPr>
              <a:t>Both Listening and Non-listening Sockets Using </a:t>
            </a:r>
            <a:r>
              <a:rPr lang="en-US" dirty="0" err="1">
                <a:latin typeface="Gill Sans MT" panose="020B0502020104020203" pitchFamily="34" charset="0"/>
              </a:rPr>
              <a:t>netstat</a:t>
            </a:r>
            <a:r>
              <a:rPr lang="en-US" dirty="0">
                <a:latin typeface="Gill Sans MT" panose="020B0502020104020203" pitchFamily="34" charset="0"/>
              </a:rPr>
              <a:t> Command in Linux</a:t>
            </a:r>
          </a:p>
          <a:p>
            <a:pPr fontAlgn="base"/>
            <a:r>
              <a:rPr lang="en-US" b="1" dirty="0">
                <a:solidFill>
                  <a:srgbClr val="C00000"/>
                </a:solidFill>
                <a:latin typeface="Gill Sans MT" panose="020B0502020104020203" pitchFamily="34" charset="0"/>
              </a:rPr>
              <a:t>-a </a:t>
            </a:r>
            <a:r>
              <a:rPr lang="en-US" b="1" dirty="0" smtClean="0">
                <a:solidFill>
                  <a:srgbClr val="C00000"/>
                </a:solidFill>
                <a:latin typeface="Gill Sans MT" panose="020B0502020104020203" pitchFamily="34" charset="0"/>
              </a:rPr>
              <a:t> </a:t>
            </a:r>
            <a:r>
              <a:rPr lang="en-US" b="1" dirty="0" smtClean="0">
                <a:latin typeface="Gill Sans MT" panose="020B0502020104020203" pitchFamily="34" charset="0"/>
              </a:rPr>
              <a:t>means </a:t>
            </a:r>
            <a:r>
              <a:rPr lang="en-US" b="1" dirty="0" smtClean="0">
                <a:solidFill>
                  <a:srgbClr val="C00000"/>
                </a:solidFill>
                <a:latin typeface="Gill Sans MT" panose="020B0502020104020203" pitchFamily="34" charset="0"/>
              </a:rPr>
              <a:t>-all</a:t>
            </a:r>
            <a:r>
              <a:rPr lang="en-US" dirty="0">
                <a:latin typeface="Gill Sans MT" panose="020B0502020104020203" pitchFamily="34" charset="0"/>
              </a:rPr>
              <a:t> : </a:t>
            </a:r>
          </a:p>
          <a:p>
            <a:r>
              <a:rPr lang="en-US" b="1" dirty="0" smtClean="0">
                <a:latin typeface="Gill Sans MT" panose="020B0502020104020203" pitchFamily="34" charset="0"/>
              </a:rPr>
              <a:t>Eg1: </a:t>
            </a:r>
            <a:r>
              <a:rPr lang="en-US" b="1" dirty="0" err="1" smtClean="0">
                <a:solidFill>
                  <a:srgbClr val="C00000"/>
                </a:solidFill>
                <a:latin typeface="Gill Sans MT" panose="020B0502020104020203" pitchFamily="34" charset="0"/>
              </a:rPr>
              <a:t>netstat</a:t>
            </a:r>
            <a:r>
              <a:rPr lang="en-US" b="1" dirty="0" smtClean="0">
                <a:solidFill>
                  <a:srgbClr val="C00000"/>
                </a:solidFill>
                <a:latin typeface="Gill Sans MT" panose="020B0502020104020203" pitchFamily="34" charset="0"/>
              </a:rPr>
              <a:t> </a:t>
            </a:r>
            <a:r>
              <a:rPr lang="en-US" b="1" dirty="0">
                <a:solidFill>
                  <a:srgbClr val="C00000"/>
                </a:solidFill>
                <a:latin typeface="Gill Sans MT" panose="020B0502020104020203" pitchFamily="34" charset="0"/>
              </a:rPr>
              <a:t>-a</a:t>
            </a:r>
            <a:r>
              <a:rPr lang="en-US" dirty="0">
                <a:solidFill>
                  <a:srgbClr val="C00000"/>
                </a:solidFill>
                <a:latin typeface="Gill Sans MT" panose="020B0502020104020203" pitchFamily="34" charset="0"/>
              </a:rPr>
              <a:t>  </a:t>
            </a:r>
            <a:r>
              <a:rPr lang="en-US" dirty="0">
                <a:latin typeface="Gill Sans MT" panose="020B0502020104020203" pitchFamily="34" charset="0"/>
              </a:rPr>
              <a:t>or </a:t>
            </a:r>
            <a:r>
              <a:rPr lang="en-US" dirty="0" err="1">
                <a:latin typeface="Gill Sans MT" panose="020B0502020104020203" pitchFamily="34" charset="0"/>
              </a:rPr>
              <a:t>netstat</a:t>
            </a:r>
            <a:r>
              <a:rPr lang="en-US" dirty="0">
                <a:latin typeface="Gill Sans MT" panose="020B0502020104020203" pitchFamily="34" charset="0"/>
              </a:rPr>
              <a:t> all</a:t>
            </a:r>
          </a:p>
          <a:p>
            <a:pPr marL="0" indent="0" fontAlgn="base">
              <a:buNone/>
            </a:pPr>
            <a:r>
              <a:rPr lang="en-US" dirty="0" smtClean="0">
                <a:latin typeface="Gill Sans MT" panose="020B0502020104020203" pitchFamily="34" charset="0"/>
              </a:rPr>
              <a:t>List </a:t>
            </a:r>
            <a:r>
              <a:rPr lang="en-US" dirty="0">
                <a:latin typeface="Gill Sans MT" panose="020B0502020104020203" pitchFamily="34" charset="0"/>
              </a:rPr>
              <a:t>All TCP Ports Using </a:t>
            </a:r>
            <a:r>
              <a:rPr lang="en-US" dirty="0" err="1">
                <a:latin typeface="Gill Sans MT" panose="020B0502020104020203" pitchFamily="34" charset="0"/>
              </a:rPr>
              <a:t>netstat</a:t>
            </a:r>
            <a:r>
              <a:rPr lang="en-US" dirty="0">
                <a:latin typeface="Gill Sans MT" panose="020B0502020104020203" pitchFamily="34" charset="0"/>
              </a:rPr>
              <a:t> Command in Linux</a:t>
            </a:r>
          </a:p>
          <a:p>
            <a:r>
              <a:rPr lang="en-US" b="1" dirty="0" smtClean="0">
                <a:latin typeface="Gill Sans MT" panose="020B0502020104020203" pitchFamily="34" charset="0"/>
              </a:rPr>
              <a:t>Eg2: </a:t>
            </a:r>
            <a:r>
              <a:rPr lang="en-US" b="1" dirty="0" err="1" smtClean="0">
                <a:solidFill>
                  <a:srgbClr val="C00000"/>
                </a:solidFill>
                <a:latin typeface="Gill Sans MT" panose="020B0502020104020203" pitchFamily="34" charset="0"/>
              </a:rPr>
              <a:t>netstat</a:t>
            </a:r>
            <a:r>
              <a:rPr lang="en-US" b="1" dirty="0" smtClean="0">
                <a:solidFill>
                  <a:srgbClr val="C00000"/>
                </a:solidFill>
                <a:latin typeface="Gill Sans MT" panose="020B0502020104020203" pitchFamily="34" charset="0"/>
              </a:rPr>
              <a:t> </a:t>
            </a:r>
            <a:r>
              <a:rPr lang="en-US" b="1" dirty="0">
                <a:solidFill>
                  <a:srgbClr val="C00000"/>
                </a:solidFill>
                <a:latin typeface="Gill Sans MT" panose="020B0502020104020203" pitchFamily="34" charset="0"/>
              </a:rPr>
              <a:t>–at</a:t>
            </a:r>
            <a:endParaRPr lang="en-US" dirty="0">
              <a:solidFill>
                <a:srgbClr val="C00000"/>
              </a:solidFill>
              <a:latin typeface="Gill Sans MT" panose="020B0502020104020203" pitchFamily="34" charset="0"/>
            </a:endParaRPr>
          </a:p>
          <a:p>
            <a:endParaRPr lang="en-US" dirty="0">
              <a:latin typeface="Gill Sans MT" panose="020B0502020104020203" pitchFamily="34" charset="0"/>
            </a:endParaRP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41F4DA-9457-4AC0-93DE-AA43A38104B7}" type="slidenum">
              <a:rPr lang="en-US" smtClean="0"/>
              <a:t>17</a:t>
            </a:fld>
            <a:endParaRPr lang="en-US"/>
          </a:p>
        </p:txBody>
      </p:sp>
    </p:spTree>
    <p:extLst>
      <p:ext uri="{BB962C8B-B14F-4D97-AF65-F5344CB8AC3E}">
        <p14:creationId xmlns:p14="http://schemas.microsoft.com/office/powerpoint/2010/main" val="30404639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685800" y="2468563"/>
            <a:ext cx="7772400" cy="862012"/>
          </a:xfrm>
        </p:spPr>
        <p:txBody>
          <a:bodyPr/>
          <a:lstStyle/>
          <a:p>
            <a:r>
              <a:rPr lang="en-US" altLang="en-US" sz="5000" smtClean="0"/>
              <a:t>Thank you</a:t>
            </a:r>
          </a:p>
        </p:txBody>
      </p:sp>
    </p:spTree>
    <p:extLst>
      <p:ext uri="{BB962C8B-B14F-4D97-AF65-F5344CB8AC3E}">
        <p14:creationId xmlns:p14="http://schemas.microsoft.com/office/powerpoint/2010/main" val="2680192632"/>
      </p:ext>
    </p:extLst>
  </p:cSld>
  <p:clrMapOvr>
    <a:masterClrMapping/>
  </p:clrMapOvr>
  <p:timing>
    <p:tnLst>
      <p:par>
        <p:cTn id="1" dur="indefinite" restart="never" nodeType="tmRoot"/>
      </p:par>
    </p:tnLst>
  </p:timing>
</p:sld>
</file>

<file path=ppt/theme/theme1.xml><?xml version="1.0" encoding="utf-8"?>
<a:theme xmlns:a="http://schemas.openxmlformats.org/drawingml/2006/main" name="UOK 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4941</TotalTime>
  <Words>447</Words>
  <Application>Microsoft Office PowerPoint</Application>
  <PresentationFormat>On-screen Show (4:3)</PresentationFormat>
  <Paragraphs>103</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MS PGothic</vt:lpstr>
      <vt:lpstr>Adobe Fan Heiti Std B</vt:lpstr>
      <vt:lpstr>Adobe Garamond Pro Bold</vt:lpstr>
      <vt:lpstr>Arial</vt:lpstr>
      <vt:lpstr>Calibri</vt:lpstr>
      <vt:lpstr>Gill Sans MT</vt:lpstr>
      <vt:lpstr>Times New Roman</vt:lpstr>
      <vt:lpstr>UOK PPT Template</vt:lpstr>
      <vt:lpstr> Server and Systems Administration  Module Code : CSC3504  </vt:lpstr>
      <vt:lpstr>    Maintenance  and troubleshooting  Command  </vt:lpstr>
      <vt:lpstr>What is a Network?</vt:lpstr>
      <vt:lpstr>Maintaining and Troubleshoot </vt:lpstr>
      <vt:lpstr>Linux Network commands</vt:lpstr>
      <vt:lpstr>Linux Network commands</vt:lpstr>
      <vt:lpstr>Linux Network commands</vt:lpstr>
      <vt:lpstr>host Command </vt:lpstr>
      <vt:lpstr>whois command </vt:lpstr>
      <vt:lpstr>Ifplugstatus command </vt:lpstr>
      <vt:lpstr>Ifplugstatus command </vt:lpstr>
      <vt:lpstr>nslookup command </vt:lpstr>
      <vt:lpstr>ping Command </vt:lpstr>
      <vt:lpstr>ifconfig command</vt:lpstr>
      <vt:lpstr>traceroute command</vt:lpstr>
      <vt:lpstr>netstat command</vt:lpstr>
      <vt:lpstr>Implementation of netstat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Prince</dc:creator>
  <cp:lastModifiedBy>Simeon NDAYAMBAJE</cp:lastModifiedBy>
  <cp:revision>126</cp:revision>
  <dcterms:created xsi:type="dcterms:W3CDTF">2021-06-24T08:04:17Z</dcterms:created>
  <dcterms:modified xsi:type="dcterms:W3CDTF">2025-03-27T09:52:09Z</dcterms:modified>
</cp:coreProperties>
</file>