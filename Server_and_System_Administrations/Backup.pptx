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388" r:id="rId3"/>
    <p:sldId id="258" r:id="rId4"/>
    <p:sldId id="259" r:id="rId5"/>
    <p:sldId id="261" r:id="rId6"/>
    <p:sldId id="264" r:id="rId7"/>
    <p:sldId id="266" r:id="rId8"/>
    <p:sldId id="269" r:id="rId9"/>
    <p:sldId id="395" r:id="rId10"/>
    <p:sldId id="377" r:id="rId11"/>
    <p:sldId id="381" r:id="rId12"/>
    <p:sldId id="382" r:id="rId13"/>
    <p:sldId id="383" r:id="rId14"/>
    <p:sldId id="384" r:id="rId15"/>
    <p:sldId id="385" r:id="rId16"/>
    <p:sldId id="386" r:id="rId17"/>
    <p:sldId id="389" r:id="rId18"/>
    <p:sldId id="390" r:id="rId19"/>
    <p:sldId id="391" r:id="rId20"/>
    <p:sldId id="392" r:id="rId21"/>
    <p:sldId id="393" r:id="rId22"/>
    <p:sldId id="394" r:id="rId23"/>
    <p:sldId id="286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64" autoAdjust="0"/>
    <p:restoredTop sz="94660"/>
  </p:normalViewPr>
  <p:slideViewPr>
    <p:cSldViewPr>
      <p:cViewPr varScale="1">
        <p:scale>
          <a:sx n="61" d="100"/>
          <a:sy n="61" d="100"/>
        </p:scale>
        <p:origin x="1580" y="6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F6059-BEE4-404B-AC42-6E9BC39B45FB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E9E16E-C3A5-4C1B-B87F-6FD03AA08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29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rebuchet MS"/>
                <a:cs typeface="Trebuchet MS"/>
              </a:rPr>
              <a:t>The main </a:t>
            </a:r>
            <a:r>
              <a:rPr lang="en-US" sz="1200" spc="-5" dirty="0">
                <a:latin typeface="Trebuchet MS"/>
                <a:cs typeface="Trebuchet MS"/>
              </a:rPr>
              <a:t>input </a:t>
            </a:r>
            <a:r>
              <a:rPr lang="en-US" sz="1200" dirty="0">
                <a:latin typeface="Trebuchet MS"/>
                <a:cs typeface="Trebuchet MS"/>
              </a:rPr>
              <a:t>to </a:t>
            </a:r>
            <a:r>
              <a:rPr lang="en-US" sz="1200" spc="-5" dirty="0">
                <a:latin typeface="Trebuchet MS"/>
                <a:cs typeface="Trebuchet MS"/>
              </a:rPr>
              <a:t>an MRS </a:t>
            </a:r>
            <a:r>
              <a:rPr lang="en-US" sz="1200" spc="10" dirty="0">
                <a:latin typeface="Trebuchet MS"/>
                <a:cs typeface="Trebuchet MS"/>
              </a:rPr>
              <a:t>is </a:t>
            </a:r>
            <a:r>
              <a:rPr lang="en-US" sz="1200" dirty="0">
                <a:latin typeface="Trebuchet MS"/>
                <a:cs typeface="Trebuchet MS"/>
              </a:rPr>
              <a:t>data collected </a:t>
            </a:r>
            <a:r>
              <a:rPr lang="en-US" sz="1200" spc="-5" dirty="0">
                <a:latin typeface="Trebuchet MS"/>
                <a:cs typeface="Trebuchet MS"/>
              </a:rPr>
              <a:t>and stored  by </a:t>
            </a:r>
            <a:r>
              <a:rPr lang="en-US" sz="1200" dirty="0">
                <a:latin typeface="Trebuchet MS"/>
                <a:cs typeface="Trebuchet MS"/>
              </a:rPr>
              <a:t>transaction processing </a:t>
            </a:r>
            <a:r>
              <a:rPr lang="en-US" sz="1200" spc="-10" dirty="0">
                <a:latin typeface="Trebuchet MS"/>
                <a:cs typeface="Trebuchet MS"/>
              </a:rPr>
              <a:t>systems. </a:t>
            </a:r>
            <a:r>
              <a:rPr lang="en-US" sz="1200" dirty="0">
                <a:latin typeface="Trebuchet MS"/>
                <a:cs typeface="Trebuchet MS"/>
              </a:rPr>
              <a:t>An </a:t>
            </a:r>
            <a:r>
              <a:rPr lang="en-US" sz="1200" spc="-5" dirty="0">
                <a:latin typeface="Trebuchet MS"/>
                <a:cs typeface="Trebuchet MS"/>
              </a:rPr>
              <a:t>MRS </a:t>
            </a:r>
            <a:r>
              <a:rPr lang="en-US" sz="1200" dirty="0">
                <a:latin typeface="Trebuchet MS"/>
                <a:cs typeface="Trebuchet MS"/>
              </a:rPr>
              <a:t>further  </a:t>
            </a:r>
            <a:r>
              <a:rPr lang="en-US" sz="1200" spc="-5" dirty="0">
                <a:latin typeface="Trebuchet MS"/>
                <a:cs typeface="Trebuchet MS"/>
              </a:rPr>
              <a:t>processes </a:t>
            </a:r>
            <a:r>
              <a:rPr lang="en-US" sz="1200" dirty="0">
                <a:latin typeface="Trebuchet MS"/>
                <a:cs typeface="Trebuchet MS"/>
              </a:rPr>
              <a:t>transaction data to produce information  </a:t>
            </a:r>
            <a:r>
              <a:rPr lang="en-US" sz="1200" spc="-5" dirty="0">
                <a:latin typeface="Trebuchet MS"/>
                <a:cs typeface="Trebuchet MS"/>
              </a:rPr>
              <a:t>useful </a:t>
            </a:r>
            <a:r>
              <a:rPr lang="en-US" sz="1200" dirty="0">
                <a:latin typeface="Trebuchet MS"/>
                <a:cs typeface="Trebuchet MS"/>
              </a:rPr>
              <a:t>for specific</a:t>
            </a:r>
            <a:r>
              <a:rPr lang="en-US" sz="1200" spc="-40" dirty="0">
                <a:latin typeface="Trebuchet MS"/>
                <a:cs typeface="Trebuchet MS"/>
              </a:rPr>
              <a:t> </a:t>
            </a:r>
            <a:r>
              <a:rPr lang="en-US" sz="1200" spc="-5" dirty="0">
                <a:latin typeface="Trebuchet MS"/>
                <a:cs typeface="Trebuchet MS"/>
              </a:rPr>
              <a:t>purposes.</a:t>
            </a:r>
            <a:endParaRPr lang="en-US" sz="1200" dirty="0">
              <a:latin typeface="Trebuchet MS"/>
              <a:cs typeface="Trebuchet M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DB9E5A-D2CA-4702-B1F7-6C21027A909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5481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6/25/2021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F4DA-9457-4AC0-93DE-AA43A38104B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33400" y="1066800"/>
            <a:ext cx="8001000" cy="1143000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3763963"/>
          </a:xfrm>
        </p:spPr>
        <p:txBody>
          <a:bodyPr/>
          <a:lstStyle>
            <a:lvl1pPr marL="457200" indent="-457200" algn="l">
              <a:buFont typeface="Arial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4165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UoK PPT Template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066800"/>
            <a:ext cx="8001000" cy="1143000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3763963"/>
          </a:xfrm>
        </p:spPr>
        <p:txBody>
          <a:bodyPr/>
          <a:lstStyle>
            <a:lvl1pPr marL="457200" indent="-457200" algn="l">
              <a:buFont typeface="Arial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6/25/2021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F4DA-9457-4AC0-93DE-AA43A3810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219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13E91D-9E9A-4298-8B09-FF352AD26DA7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4014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6/25/2021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1F4DA-9457-4AC0-93DE-AA43A3810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4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Adobe Garamond Pro Bold" pitchFamily="18" charset="0"/>
          <a:ea typeface="+mj-ea"/>
          <a:cs typeface="+mj-cs"/>
        </a:defRPr>
      </a:lvl1pPr>
    </p:titleStyle>
    <p:bodyStyle>
      <a:lvl1pPr marL="342900" indent="-342900" algn="ctr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FFC000"/>
          </a:solidFill>
          <a:latin typeface="Adobe Fan Heiti Std B" pitchFamily="34" charset="-128"/>
          <a:ea typeface="Adobe Fan Heiti Std B" pitchFamily="34" charset="-128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F4DA-9457-4AC0-93DE-AA43A38104B7}" type="slidenum">
              <a:rPr lang="en-US" smtClean="0"/>
              <a:t>1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-76200" y="1066800"/>
            <a:ext cx="9144000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500" dirty="0">
                <a:latin typeface="Gill Sans MT" panose="020B0502020104020203" pitchFamily="34" charset="0"/>
              </a:rPr>
              <a:t>Server and System administration </a:t>
            </a:r>
          </a:p>
          <a:p>
            <a:pPr algn="ctr"/>
            <a:r>
              <a:rPr lang="en-US" sz="4500" dirty="0">
                <a:solidFill>
                  <a:schemeClr val="bg1"/>
                </a:solidFill>
                <a:latin typeface="Gill Sans MT" panose="020B0502020104020203" pitchFamily="34" charset="0"/>
              </a:rPr>
              <a:t>Module Code : CSC3504 </a:t>
            </a:r>
            <a:br>
              <a:rPr lang="en-US" sz="4500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</a:rPr>
            </a:br>
            <a:r>
              <a:rPr lang="en-US" sz="4500" dirty="0">
                <a:latin typeface="Gill Sans MT" panose="020B0502020104020203" pitchFamily="34" charset="0"/>
              </a:rPr>
              <a:t>NDAYAMBAJE Simeon</a:t>
            </a:r>
          </a:p>
        </p:txBody>
      </p:sp>
      <p:sp>
        <p:nvSpPr>
          <p:cNvPr id="7" name="object 6"/>
          <p:cNvSpPr txBox="1"/>
          <p:nvPr/>
        </p:nvSpPr>
        <p:spPr>
          <a:xfrm>
            <a:off x="3505200" y="6440167"/>
            <a:ext cx="33259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GB" sz="1200" b="1" dirty="0">
                <a:solidFill>
                  <a:schemeClr val="bg1"/>
                </a:solidFill>
              </a:rPr>
              <a:t>Server and Systems Administration , </a:t>
            </a:r>
            <a:r>
              <a:rPr lang="en-US" sz="1200" dirty="0">
                <a:solidFill>
                  <a:schemeClr val="bg1"/>
                </a:solidFill>
              </a:rPr>
              <a:t>CSC3504 </a:t>
            </a:r>
            <a:endParaRPr sz="12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6822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Gill Sans MT" panose="020B0502020104020203" pitchFamily="34" charset="0"/>
              </a:rPr>
              <a:t>Introduction to Backup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>
                <a:latin typeface="Gill Sans MT" panose="020B0502020104020203" pitchFamily="34" charset="0"/>
              </a:rPr>
              <a:t>Backup is a copy of data stored separately for recovery purposes</a:t>
            </a:r>
          </a:p>
          <a:p>
            <a:r>
              <a:rPr dirty="0">
                <a:latin typeface="Gill Sans MT" panose="020B0502020104020203" pitchFamily="34" charset="0"/>
              </a:rPr>
              <a:t>Ensures business continuity and disaster recovery</a:t>
            </a:r>
          </a:p>
          <a:p>
            <a:r>
              <a:rPr dirty="0">
                <a:latin typeface="Gill Sans MT" panose="020B0502020104020203" pitchFamily="34" charset="0"/>
              </a:rPr>
              <a:t>Prevents data loss due to failure, cyberattacks, or human error</a:t>
            </a:r>
          </a:p>
          <a:p>
            <a:r>
              <a:rPr dirty="0">
                <a:latin typeface="Gill Sans MT" panose="020B0502020104020203" pitchFamily="34" charset="0"/>
              </a:rPr>
              <a:t>Backup vs Archiving vs Replication explained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Gill Sans MT" panose="020B0502020104020203" pitchFamily="34" charset="0"/>
              </a:rPr>
              <a:t>Backup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Gill Sans MT" panose="020B0502020104020203" pitchFamily="34" charset="0"/>
              </a:rPr>
              <a:t>3-2-1 rule: 3 copies, 2 media types, 1 offsite</a:t>
            </a:r>
          </a:p>
          <a:p>
            <a:r>
              <a:rPr dirty="0">
                <a:latin typeface="Gill Sans MT" panose="020B0502020104020203" pitchFamily="34" charset="0"/>
              </a:rPr>
              <a:t>GFS rotation strategy</a:t>
            </a:r>
          </a:p>
          <a:p>
            <a:r>
              <a:rPr dirty="0">
                <a:latin typeface="Gill Sans MT" panose="020B0502020104020203" pitchFamily="34" charset="0"/>
              </a:rPr>
              <a:t>Define schedules: daily, weekly, monthly</a:t>
            </a:r>
          </a:p>
          <a:p>
            <a:r>
              <a:rPr dirty="0">
                <a:latin typeface="Gill Sans MT" panose="020B0502020104020203" pitchFamily="34" charset="0"/>
              </a:rPr>
              <a:t>Retention policies based on business needs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Gill Sans MT" panose="020B0502020104020203" pitchFamily="34" charset="0"/>
              </a:rPr>
              <a:t>Backup Storage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Gill Sans MT" panose="020B0502020104020203" pitchFamily="34" charset="0"/>
              </a:rPr>
              <a:t>Local storage: fast but limited</a:t>
            </a:r>
          </a:p>
          <a:p>
            <a:r>
              <a:rPr dirty="0">
                <a:latin typeface="Gill Sans MT" panose="020B0502020104020203" pitchFamily="34" charset="0"/>
              </a:rPr>
              <a:t>Offsite storage: disaster protection</a:t>
            </a:r>
          </a:p>
          <a:p>
            <a:r>
              <a:rPr dirty="0">
                <a:latin typeface="Gill Sans MT" panose="020B0502020104020203" pitchFamily="34" charset="0"/>
              </a:rPr>
              <a:t>Cloud backup: scalable and flexible</a:t>
            </a:r>
          </a:p>
          <a:p>
            <a:r>
              <a:rPr dirty="0">
                <a:latin typeface="Gill Sans MT" panose="020B0502020104020203" pitchFamily="34" charset="0"/>
              </a:rPr>
              <a:t>Hybrid combines local + cloud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Gill Sans MT" panose="020B0502020104020203" pitchFamily="34" charset="0"/>
              </a:rPr>
              <a:t>Backup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Gill Sans MT" panose="020B0502020104020203" pitchFamily="34" charset="0"/>
              </a:rPr>
              <a:t>Identify critical systems and data</a:t>
            </a:r>
          </a:p>
          <a:p>
            <a:r>
              <a:rPr dirty="0">
                <a:latin typeface="Gill Sans MT" panose="020B0502020104020203" pitchFamily="34" charset="0"/>
              </a:rPr>
              <a:t>Define RPO: acceptable data loss</a:t>
            </a:r>
          </a:p>
          <a:p>
            <a:r>
              <a:rPr dirty="0">
                <a:latin typeface="Gill Sans MT" panose="020B0502020104020203" pitchFamily="34" charset="0"/>
              </a:rPr>
              <a:t>Define RTO: acceptable downtime</a:t>
            </a:r>
          </a:p>
          <a:p>
            <a:r>
              <a:rPr dirty="0">
                <a:latin typeface="Gill Sans MT" panose="020B0502020104020203" pitchFamily="34" charset="0"/>
              </a:rPr>
              <a:t>Plan storage and capacity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Gill Sans MT" panose="020B0502020104020203" pitchFamily="34" charset="0"/>
              </a:rPr>
              <a:t>Backup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Gill Sans MT" panose="020B0502020104020203" pitchFamily="34" charset="0"/>
              </a:rPr>
              <a:t>Encrypt backup data</a:t>
            </a:r>
          </a:p>
          <a:p>
            <a:r>
              <a:rPr dirty="0">
                <a:latin typeface="Gill Sans MT" panose="020B0502020104020203" pitchFamily="34" charset="0"/>
              </a:rPr>
              <a:t>Restrict access</a:t>
            </a:r>
          </a:p>
          <a:p>
            <a:r>
              <a:rPr dirty="0">
                <a:latin typeface="Gill Sans MT" panose="020B0502020104020203" pitchFamily="34" charset="0"/>
              </a:rPr>
              <a:t>Protect against ransomware</a:t>
            </a:r>
          </a:p>
          <a:p>
            <a:r>
              <a:rPr dirty="0">
                <a:latin typeface="Gill Sans MT" panose="020B0502020104020203" pitchFamily="34" charset="0"/>
              </a:rPr>
              <a:t>Use immutable backups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Gill Sans MT" panose="020B0502020104020203" pitchFamily="34" charset="0"/>
              </a:rPr>
              <a:t>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Gill Sans MT" panose="020B0502020104020203" pitchFamily="34" charset="0"/>
              </a:rPr>
              <a:t>Check logs regularly</a:t>
            </a:r>
          </a:p>
          <a:p>
            <a:r>
              <a:rPr dirty="0">
                <a:latin typeface="Gill Sans MT" panose="020B0502020104020203" pitchFamily="34" charset="0"/>
              </a:rPr>
              <a:t>Set alerts for failures</a:t>
            </a:r>
          </a:p>
          <a:p>
            <a:r>
              <a:rPr dirty="0">
                <a:latin typeface="Gill Sans MT" panose="020B0502020104020203" pitchFamily="34" charset="0"/>
              </a:rPr>
              <a:t>Generate reports</a:t>
            </a:r>
          </a:p>
          <a:p>
            <a:r>
              <a:rPr dirty="0">
                <a:latin typeface="Gill Sans MT" panose="020B0502020104020203" pitchFamily="34" charset="0"/>
              </a:rPr>
              <a:t>Ensure SLA compliance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Gill Sans MT" panose="020B0502020104020203" pitchFamily="34" charset="0"/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Gill Sans MT" panose="020B0502020104020203" pitchFamily="34" charset="0"/>
              </a:rPr>
              <a:t>Storage limitations</a:t>
            </a:r>
          </a:p>
          <a:p>
            <a:r>
              <a:rPr dirty="0">
                <a:latin typeface="Gill Sans MT" panose="020B0502020104020203" pitchFamily="34" charset="0"/>
              </a:rPr>
              <a:t>Network issues</a:t>
            </a:r>
          </a:p>
          <a:p>
            <a:r>
              <a:rPr dirty="0">
                <a:latin typeface="Gill Sans MT" panose="020B0502020104020203" pitchFamily="34" charset="0"/>
              </a:rPr>
              <a:t>Backup failures</a:t>
            </a:r>
          </a:p>
          <a:p>
            <a:r>
              <a:rPr dirty="0">
                <a:latin typeface="Gill Sans MT" panose="020B0502020104020203" pitchFamily="34" charset="0"/>
              </a:rPr>
              <a:t>Human errors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EB50E-041B-4E8A-BC11-51BE1A278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292" y="741448"/>
            <a:ext cx="8001000" cy="838200"/>
          </a:xfrm>
        </p:spPr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Types of Backup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D94BA-CBBF-4D36-B070-84571FEB8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6/25/2021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68C4B-FA02-43EF-8AE2-F6452A2DF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AF1E9-2432-42B2-9FEB-38DC2EF8B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F4DA-9457-4AC0-93DE-AA43A38104B7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55EADA-A685-4D82-A967-F60C38D62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84" y="1579649"/>
            <a:ext cx="8555216" cy="453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111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19200"/>
            <a:ext cx="9144000" cy="76835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Gill Sans MT" panose="020B0502020104020203" pitchFamily="34" charset="0"/>
              </a:rPr>
              <a:t>Types of data backups</a:t>
            </a:r>
            <a:endParaRPr lang="en-US" b="1" dirty="0">
              <a:latin typeface="Gill Sans MT" panose="020B05020201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00" y="2348880"/>
            <a:ext cx="8587400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86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E32CA-C130-4292-AA21-D58213F86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1. Full Backup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76E4C-3502-4226-BE24-773A50D25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>
                <a:latin typeface="Gill Sans MT" panose="020B0502020104020203" pitchFamily="34" charset="0"/>
              </a:rPr>
              <a:t>A </a:t>
            </a:r>
            <a:r>
              <a:rPr lang="en-US" sz="2600" b="1" dirty="0">
                <a:latin typeface="Gill Sans MT" panose="020B0502020104020203" pitchFamily="34" charset="0"/>
              </a:rPr>
              <a:t>full backup</a:t>
            </a:r>
            <a:r>
              <a:rPr lang="en-US" sz="2600" dirty="0">
                <a:latin typeface="Gill Sans MT" panose="020B0502020104020203" pitchFamily="34" charset="0"/>
              </a:rPr>
              <a:t> copies all selected data (files, folders, or system data) to a backup storage location.</a:t>
            </a:r>
          </a:p>
          <a:p>
            <a:pPr marL="0" indent="0">
              <a:buNone/>
            </a:pPr>
            <a:r>
              <a:rPr lang="en-US" sz="2600" b="1" dirty="0">
                <a:latin typeface="Gill Sans MT" panose="020B0502020104020203" pitchFamily="34" charset="0"/>
              </a:rPr>
              <a:t>Features:</a:t>
            </a:r>
            <a:endParaRPr lang="en-US" sz="2600" dirty="0">
              <a:latin typeface="Gill Sans MT" panose="020B0502020104020203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>
                <a:latin typeface="Gill Sans MT" panose="020B0502020104020203" pitchFamily="34" charset="0"/>
              </a:rPr>
              <a:t>Complete copy of all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>
                <a:latin typeface="Gill Sans MT" panose="020B0502020104020203" pitchFamily="34" charset="0"/>
              </a:rPr>
              <a:t>Simplest to restore (only one backup needed)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>
                <a:latin typeface="Gill Sans MT" panose="020B0502020104020203" pitchFamily="34" charset="0"/>
              </a:rPr>
              <a:t>Takes the most time and storage space</a:t>
            </a:r>
          </a:p>
          <a:p>
            <a:pPr marL="0" indent="0">
              <a:buNone/>
            </a:pPr>
            <a:r>
              <a:rPr lang="en-US" sz="2600" b="1" dirty="0">
                <a:latin typeface="Gill Sans MT" panose="020B0502020104020203" pitchFamily="34" charset="0"/>
              </a:rPr>
              <a:t>Best Used:</a:t>
            </a:r>
            <a:endParaRPr lang="en-US" sz="2600" dirty="0">
              <a:latin typeface="Gill Sans MT" panose="020B0502020104020203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>
                <a:latin typeface="Gill Sans MT" panose="020B0502020104020203" pitchFamily="34" charset="0"/>
              </a:rPr>
              <a:t>For weekly or monthly backups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>
                <a:latin typeface="Gill Sans MT" panose="020B0502020104020203" pitchFamily="34" charset="0"/>
              </a:rPr>
              <a:t>When you need a full copy for disaster recovery</a:t>
            </a:r>
          </a:p>
          <a:p>
            <a:endParaRPr lang="en-US" sz="2600" dirty="0">
              <a:latin typeface="Gill Sans MT" panose="020B0502020104020203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574FD-D8EC-4321-B002-DCD458A45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C6F27-3A2A-4EDE-B097-919B38A2D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F4DA-9457-4AC0-93DE-AA43A38104B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55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E32CA-C130-4292-AA21-D58213F86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Gill Sans MT" panose="020B0502020104020203" pitchFamily="34" charset="0"/>
              </a:rPr>
              <a:t>1. Full Backup</a:t>
            </a:r>
            <a:br>
              <a:rPr lang="en-US" b="1" dirty="0">
                <a:latin typeface="Gill Sans MT" panose="020B0502020104020203" pitchFamily="34" charset="0"/>
              </a:rPr>
            </a:b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76E4C-3502-4226-BE24-773A50D25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752600"/>
            <a:ext cx="8229600" cy="3763963"/>
          </a:xfrm>
        </p:spPr>
        <p:txBody>
          <a:bodyPr>
            <a:normAutofit/>
          </a:bodyPr>
          <a:lstStyle/>
          <a:p>
            <a:r>
              <a:rPr lang="en-US" b="1" dirty="0">
                <a:latin typeface="Gill Sans MT" panose="020B0502020104020203" pitchFamily="34" charset="0"/>
              </a:rPr>
              <a:t>Advantages:</a:t>
            </a:r>
            <a:endParaRPr lang="en-US" dirty="0">
              <a:latin typeface="Gill Sans MT" panose="020B0502020104020203" pitchFamily="34" charset="0"/>
            </a:endParaRPr>
          </a:p>
          <a:p>
            <a:pPr lvl="2"/>
            <a:r>
              <a:rPr lang="en-US" sz="3200" dirty="0">
                <a:latin typeface="Gill Sans MT" panose="020B0502020104020203" pitchFamily="34" charset="0"/>
              </a:rPr>
              <a:t>Easy and quick to restore</a:t>
            </a:r>
          </a:p>
          <a:p>
            <a:pPr lvl="2"/>
            <a:r>
              <a:rPr lang="en-US" sz="3200" dirty="0">
                <a:latin typeface="Gill Sans MT" panose="020B0502020104020203" pitchFamily="34" charset="0"/>
              </a:rPr>
              <a:t>Reliable as all data is backed up</a:t>
            </a:r>
          </a:p>
          <a:p>
            <a:r>
              <a:rPr lang="en-US" b="1" dirty="0">
                <a:latin typeface="Gill Sans MT" panose="020B0502020104020203" pitchFamily="34" charset="0"/>
              </a:rPr>
              <a:t>Disadvantages:</a:t>
            </a:r>
            <a:endParaRPr lang="en-US" dirty="0">
              <a:latin typeface="Gill Sans MT" panose="020B0502020104020203" pitchFamily="34" charset="0"/>
            </a:endParaRPr>
          </a:p>
          <a:p>
            <a:pPr lvl="2"/>
            <a:r>
              <a:rPr lang="en-US" sz="3200" dirty="0">
                <a:latin typeface="Gill Sans MT" panose="020B0502020104020203" pitchFamily="34" charset="0"/>
              </a:rPr>
              <a:t>Time-consuming to perform</a:t>
            </a:r>
          </a:p>
          <a:p>
            <a:pPr lvl="2"/>
            <a:r>
              <a:rPr lang="en-US" sz="3200" dirty="0">
                <a:latin typeface="Gill Sans MT" panose="020B0502020104020203" pitchFamily="34" charset="0"/>
              </a:rPr>
              <a:t>Requires a lot of storage space</a:t>
            </a:r>
          </a:p>
          <a:p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574FD-D8EC-4321-B002-DCD458A45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C6F27-3A2A-4EDE-B097-919B38A2D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F4DA-9457-4AC0-93DE-AA43A38104B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946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19A2E-2042-4DCE-BD0C-6A0F7E8EA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66800"/>
            <a:ext cx="8001000" cy="762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2. Differential Backup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C522F-704A-417A-9245-ACBB290AB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latin typeface="Gill Sans MT" panose="020B0502020104020203" pitchFamily="34" charset="0"/>
              </a:rPr>
              <a:t>A </a:t>
            </a:r>
            <a:r>
              <a:rPr lang="en-US" b="1" dirty="0">
                <a:latin typeface="Gill Sans MT" panose="020B0502020104020203" pitchFamily="34" charset="0"/>
              </a:rPr>
              <a:t>differential backup</a:t>
            </a:r>
            <a:r>
              <a:rPr lang="en-US" dirty="0">
                <a:latin typeface="Gill Sans MT" panose="020B0502020104020203" pitchFamily="34" charset="0"/>
              </a:rPr>
              <a:t> saves only the data that has changed </a:t>
            </a:r>
            <a:r>
              <a:rPr lang="en-US" b="1" dirty="0">
                <a:latin typeface="Gill Sans MT" panose="020B0502020104020203" pitchFamily="34" charset="0"/>
              </a:rPr>
              <a:t>since the last full backup</a:t>
            </a:r>
            <a:r>
              <a:rPr lang="en-US" dirty="0">
                <a:latin typeface="Gill Sans MT" panose="020B0502020104020203" pitchFamily="34" charset="0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latin typeface="Gill Sans MT" panose="020B0502020104020203" pitchFamily="34" charset="0"/>
              </a:rPr>
              <a:t>Features:</a:t>
            </a:r>
            <a:endParaRPr lang="en-US" dirty="0">
              <a:latin typeface="Gill Sans MT" panose="020B0502020104020203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Quicker than a full backup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Requires the full backup + latest differential to restore</a:t>
            </a:r>
          </a:p>
          <a:p>
            <a:pPr marL="0" indent="0">
              <a:buNone/>
            </a:pPr>
            <a:r>
              <a:rPr lang="en-US" b="1" dirty="0">
                <a:latin typeface="Gill Sans MT" panose="020B0502020104020203" pitchFamily="34" charset="0"/>
              </a:rPr>
              <a:t>Best Used:</a:t>
            </a:r>
            <a:endParaRPr lang="en-US" dirty="0">
              <a:latin typeface="Gill Sans MT" panose="020B0502020104020203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For mid-week backups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When you want a balance between speed and reliability</a:t>
            </a:r>
          </a:p>
          <a:p>
            <a:pPr marL="0" indent="0">
              <a:buNone/>
            </a:pP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93637-7FC8-4A52-8486-B8EBBA606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E8A66-2E04-4FF2-A85E-ECA61C255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F4DA-9457-4AC0-93DE-AA43A38104B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70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19A2E-2042-4DCE-BD0C-6A0F7E8EA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66800"/>
            <a:ext cx="8001000" cy="762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2. Differential Backup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C522F-704A-417A-9245-ACBB290AB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24000"/>
            <a:ext cx="8458200" cy="4602163"/>
          </a:xfrm>
        </p:spPr>
        <p:txBody>
          <a:bodyPr>
            <a:noAutofit/>
          </a:bodyPr>
          <a:lstStyle/>
          <a:p>
            <a:r>
              <a:rPr lang="en-US" b="1" dirty="0">
                <a:latin typeface="Gill Sans MT" panose="020B0502020104020203" pitchFamily="34" charset="0"/>
              </a:rPr>
              <a:t>Advantages:</a:t>
            </a:r>
            <a:endParaRPr lang="en-US" dirty="0">
              <a:latin typeface="Gill Sans MT" panose="020B0502020104020203" pitchFamily="34" charset="0"/>
            </a:endParaRPr>
          </a:p>
          <a:p>
            <a:pPr lvl="2"/>
            <a:r>
              <a:rPr lang="en-US" sz="3200" dirty="0">
                <a:latin typeface="Gill Sans MT" panose="020B0502020104020203" pitchFamily="34" charset="0"/>
              </a:rPr>
              <a:t>Faster than full backups</a:t>
            </a:r>
          </a:p>
          <a:p>
            <a:pPr lvl="2"/>
            <a:r>
              <a:rPr lang="en-US" sz="3200" dirty="0">
                <a:latin typeface="Gill Sans MT" panose="020B0502020104020203" pitchFamily="34" charset="0"/>
              </a:rPr>
              <a:t>Easier to restore than incremental backups</a:t>
            </a:r>
          </a:p>
          <a:p>
            <a:r>
              <a:rPr lang="en-US" b="1" dirty="0">
                <a:latin typeface="Gill Sans MT" panose="020B0502020104020203" pitchFamily="34" charset="0"/>
              </a:rPr>
              <a:t>Disadvantages:</a:t>
            </a:r>
            <a:endParaRPr lang="en-US" dirty="0">
              <a:latin typeface="Gill Sans MT" panose="020B0502020104020203" pitchFamily="34" charset="0"/>
            </a:endParaRPr>
          </a:p>
          <a:p>
            <a:pPr lvl="2"/>
            <a:r>
              <a:rPr lang="en-US" sz="3200" dirty="0">
                <a:latin typeface="Gill Sans MT" panose="020B0502020104020203" pitchFamily="34" charset="0"/>
              </a:rPr>
              <a:t>Grows in size each day after the full backup</a:t>
            </a:r>
          </a:p>
          <a:p>
            <a:pPr lvl="2"/>
            <a:r>
              <a:rPr lang="en-US" sz="3200" dirty="0">
                <a:latin typeface="Gill Sans MT" panose="020B0502020104020203" pitchFamily="34" charset="0"/>
              </a:rPr>
              <a:t>Longer restore time compared to full backup</a:t>
            </a:r>
          </a:p>
          <a:p>
            <a:pPr marL="0" indent="0">
              <a:buNone/>
            </a:pP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93637-7FC8-4A52-8486-B8EBBA606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E8A66-2E04-4FF2-A85E-ECA61C255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F4DA-9457-4AC0-93DE-AA43A38104B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729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442EE-C50D-402B-B46A-6F165AB63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Gill Sans MT" panose="020B0502020104020203" pitchFamily="34" charset="0"/>
              </a:rPr>
              <a:t>3. Incremental Backup</a:t>
            </a:r>
            <a:br>
              <a:rPr lang="en-US" b="1" dirty="0">
                <a:latin typeface="Gill Sans MT" panose="020B0502020104020203" pitchFamily="34" charset="0"/>
              </a:rPr>
            </a:b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0369-6F84-4FB9-BF77-FAE68C29C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735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Gill Sans MT" panose="020B0502020104020203" pitchFamily="34" charset="0"/>
              </a:rPr>
              <a:t>An </a:t>
            </a:r>
            <a:r>
              <a:rPr lang="en-US" b="1" dirty="0">
                <a:latin typeface="Gill Sans MT" panose="020B0502020104020203" pitchFamily="34" charset="0"/>
              </a:rPr>
              <a:t>incremental backup</a:t>
            </a:r>
            <a:r>
              <a:rPr lang="en-US" dirty="0">
                <a:latin typeface="Gill Sans MT" panose="020B0502020104020203" pitchFamily="34" charset="0"/>
              </a:rPr>
              <a:t> saves only the data that has changed </a:t>
            </a:r>
            <a:r>
              <a:rPr lang="en-US" b="1" dirty="0">
                <a:latin typeface="Gill Sans MT" panose="020B0502020104020203" pitchFamily="34" charset="0"/>
              </a:rPr>
              <a:t>since the last backup</a:t>
            </a:r>
            <a:r>
              <a:rPr lang="en-US" dirty="0">
                <a:latin typeface="Gill Sans MT" panose="020B0502020104020203" pitchFamily="34" charset="0"/>
              </a:rPr>
              <a:t> (whether full or incremental).</a:t>
            </a:r>
          </a:p>
          <a:p>
            <a:pPr marL="0" indent="0">
              <a:buNone/>
            </a:pPr>
            <a:r>
              <a:rPr lang="en-US" b="1" dirty="0">
                <a:latin typeface="Gill Sans MT" panose="020B0502020104020203" pitchFamily="34" charset="0"/>
              </a:rPr>
              <a:t>Features:</a:t>
            </a:r>
            <a:endParaRPr lang="en-US" dirty="0">
              <a:latin typeface="Gill Sans MT" panose="020B0502020104020203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Fastest backup type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Requires full backup + all subsequent incremental backups to restore</a:t>
            </a:r>
          </a:p>
          <a:p>
            <a:pPr marL="0" indent="0">
              <a:buNone/>
            </a:pPr>
            <a:r>
              <a:rPr lang="en-US" b="1" dirty="0">
                <a:latin typeface="Gill Sans MT" panose="020B0502020104020203" pitchFamily="34" charset="0"/>
              </a:rPr>
              <a:t>Best Used:</a:t>
            </a:r>
            <a:endParaRPr lang="en-US" dirty="0">
              <a:latin typeface="Gill Sans MT" panose="020B0502020104020203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For daily or hourly backups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When storage and speed are priorities</a:t>
            </a:r>
          </a:p>
          <a:p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3908A-FE9D-4E43-B71B-ACE38D6F5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45E04-43D7-4C67-9915-D71AFEF0D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F4DA-9457-4AC0-93DE-AA43A38104B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072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442EE-C50D-402B-B46A-6F165AB63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Gill Sans MT" panose="020B0502020104020203" pitchFamily="34" charset="0"/>
              </a:rPr>
              <a:t>3. Incremental Backup</a:t>
            </a:r>
            <a:br>
              <a:rPr lang="en-US" b="1" dirty="0">
                <a:latin typeface="Gill Sans MT" panose="020B0502020104020203" pitchFamily="34" charset="0"/>
              </a:rPr>
            </a:b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0369-6F84-4FB9-BF77-FAE68C29C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73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Gill Sans MT" panose="020B0502020104020203" pitchFamily="34" charset="0"/>
              </a:rPr>
              <a:t>Advantages:</a:t>
            </a:r>
            <a:endParaRPr lang="en-US" dirty="0">
              <a:latin typeface="Gill Sans MT" panose="020B0502020104020203" pitchFamily="34" charset="0"/>
            </a:endParaRPr>
          </a:p>
          <a:p>
            <a:pPr lvl="2"/>
            <a:r>
              <a:rPr lang="en-US" sz="3200" dirty="0">
                <a:latin typeface="Gill Sans MT" panose="020B0502020104020203" pitchFamily="34" charset="0"/>
              </a:rPr>
              <a:t>Saves time and storage space</a:t>
            </a:r>
          </a:p>
          <a:p>
            <a:pPr lvl="2"/>
            <a:r>
              <a:rPr lang="en-US" sz="3200" dirty="0">
                <a:latin typeface="Gill Sans MT" panose="020B0502020104020203" pitchFamily="34" charset="0"/>
              </a:rPr>
              <a:t>Efficient for daily or frequent backups</a:t>
            </a:r>
          </a:p>
          <a:p>
            <a:r>
              <a:rPr lang="en-US" b="1" dirty="0">
                <a:latin typeface="Gill Sans MT" panose="020B0502020104020203" pitchFamily="34" charset="0"/>
              </a:rPr>
              <a:t>Disadvantages:</a:t>
            </a:r>
            <a:endParaRPr lang="en-US" dirty="0">
              <a:latin typeface="Gill Sans MT" panose="020B0502020104020203" pitchFamily="34" charset="0"/>
            </a:endParaRPr>
          </a:p>
          <a:p>
            <a:pPr lvl="2"/>
            <a:r>
              <a:rPr lang="en-US" sz="3200" dirty="0">
                <a:latin typeface="Gill Sans MT" panose="020B0502020104020203" pitchFamily="34" charset="0"/>
              </a:rPr>
              <a:t>Slower and more complex to restore</a:t>
            </a:r>
          </a:p>
          <a:p>
            <a:pPr lvl="2"/>
            <a:r>
              <a:rPr lang="en-US" sz="3200" dirty="0">
                <a:latin typeface="Gill Sans MT" panose="020B0502020104020203" pitchFamily="34" charset="0"/>
              </a:rPr>
              <a:t>If one backup in the chain is missing, restore fails</a:t>
            </a:r>
          </a:p>
          <a:p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3908A-FE9D-4E43-B71B-ACE38D6F5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45E04-43D7-4C67-9915-D71AFEF0D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F4DA-9457-4AC0-93DE-AA43A38104B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913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227C5-00BE-4605-AF5F-71041F432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33400"/>
            <a:ext cx="8001000" cy="1143000"/>
          </a:xfrm>
        </p:spPr>
        <p:txBody>
          <a:bodyPr/>
          <a:lstStyle/>
          <a:p>
            <a:r>
              <a:rPr lang="en-US" b="1" dirty="0"/>
              <a:t>Mirror Backup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6D2C5-B456-4DED-B000-A69BA6E89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4497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Gill Sans MT" panose="020B0502020104020203" pitchFamily="34" charset="0"/>
              </a:rPr>
              <a:t>Mirror Backup (Exact Real-Time Copy)is </a:t>
            </a:r>
            <a:r>
              <a:rPr lang="en-US" dirty="0">
                <a:latin typeface="Gill Sans MT" panose="020B0502020104020203" pitchFamily="34" charset="0"/>
              </a:rPr>
              <a:t>backup that creates an </a:t>
            </a:r>
            <a:r>
              <a:rPr lang="en-US" b="1" dirty="0">
                <a:latin typeface="Gill Sans MT" panose="020B0502020104020203" pitchFamily="34" charset="0"/>
              </a:rPr>
              <a:t>exact copy of your data </a:t>
            </a:r>
            <a:r>
              <a:rPr lang="en-US" dirty="0">
                <a:latin typeface="Gill Sans MT" panose="020B0502020104020203" pitchFamily="34" charset="0"/>
              </a:rPr>
              <a:t>at a specific point in time. </a:t>
            </a:r>
          </a:p>
          <a:p>
            <a:pPr marL="0" indent="0">
              <a:buNone/>
            </a:pPr>
            <a:r>
              <a:rPr lang="en-US" dirty="0">
                <a:latin typeface="Gill Sans MT" panose="020B0502020104020203" pitchFamily="34" charset="0"/>
              </a:rPr>
              <a:t>This backup is identical to the source — same structure, same files, and same state.</a:t>
            </a:r>
          </a:p>
          <a:p>
            <a:pPr marL="0" indent="0">
              <a:buNone/>
            </a:pPr>
            <a:r>
              <a:rPr lang="en-US" b="1" dirty="0">
                <a:latin typeface="Gill Sans MT" panose="020B0502020104020203" pitchFamily="34" charset="0"/>
              </a:rPr>
              <a:t>How It 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Files are copied from source → backup location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No compression or versioning is usually applied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If a file is deleted or modified in the source, the same change is reflected in the mirror.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715DD-D296-4427-B668-A31D0F39D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6/25/2021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8D7E4-D992-4526-996C-4DF54CC2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F789F-E310-4679-A158-E7E30EAEE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F4DA-9457-4AC0-93DE-AA43A38104B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02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6D2C5-B456-4DED-B000-A69BA6E89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 dirty="0">
                <a:latin typeface="Gill Sans MT" panose="020B0502020104020203" pitchFamily="34" charset="0"/>
              </a:rPr>
              <a:t>Key Characteristics</a:t>
            </a:r>
          </a:p>
          <a:p>
            <a:pPr lvl="2"/>
            <a:r>
              <a:rPr lang="en-US" sz="3000" dirty="0">
                <a:latin typeface="Gill Sans MT" panose="020B0502020104020203" pitchFamily="34" charset="0"/>
              </a:rPr>
              <a:t>Exact 1:1 copy of data </a:t>
            </a:r>
          </a:p>
          <a:p>
            <a:pPr lvl="2"/>
            <a:r>
              <a:rPr lang="en-US" sz="3000" dirty="0">
                <a:latin typeface="Gill Sans MT" panose="020B0502020104020203" pitchFamily="34" charset="0"/>
              </a:rPr>
              <a:t>No historical versions (usually) </a:t>
            </a:r>
          </a:p>
          <a:p>
            <a:pPr lvl="2"/>
            <a:r>
              <a:rPr lang="en-US" sz="3000" dirty="0">
                <a:latin typeface="Gill Sans MT" panose="020B0502020104020203" pitchFamily="34" charset="0"/>
              </a:rPr>
              <a:t>Fast restore (just copy back) </a:t>
            </a:r>
          </a:p>
          <a:p>
            <a:pPr lvl="2"/>
            <a:r>
              <a:rPr lang="en-US" sz="3000" dirty="0">
                <a:latin typeface="Gill Sans MT" panose="020B0502020104020203" pitchFamily="34" charset="0"/>
              </a:rPr>
              <a:t>Simple to understand and manage </a:t>
            </a:r>
          </a:p>
          <a:p>
            <a:pPr marL="0" indent="0">
              <a:buNone/>
            </a:pPr>
            <a:r>
              <a:rPr lang="en-US" sz="3000" b="1" dirty="0">
                <a:latin typeface="Gill Sans MT" panose="020B0502020104020203" pitchFamily="34" charset="0"/>
              </a:rPr>
              <a:t>Example Use Case</a:t>
            </a:r>
          </a:p>
          <a:p>
            <a:pPr lvl="2"/>
            <a:r>
              <a:rPr lang="en-US" sz="3000" dirty="0">
                <a:latin typeface="Gill Sans MT" panose="020B0502020104020203" pitchFamily="34" charset="0"/>
              </a:rPr>
              <a:t>File servers where quick restore is needed </a:t>
            </a:r>
          </a:p>
          <a:p>
            <a:pPr lvl="2"/>
            <a:r>
              <a:rPr lang="en-US" sz="3000" dirty="0">
                <a:latin typeface="Gill Sans MT" panose="020B0502020104020203" pitchFamily="34" charset="0"/>
              </a:rPr>
              <a:t>Development environments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715DD-D296-4427-B668-A31D0F39D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6/25/2021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8D7E4-D992-4526-996C-4DF54CC2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F789F-E310-4679-A158-E7E30EAEE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F4DA-9457-4AC0-93DE-AA43A38104B7}" type="slidenum">
              <a:rPr lang="en-US" smtClean="0"/>
              <a:t>18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BA264FA-CD5D-4EA4-A82A-C5B3E7A71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33400"/>
            <a:ext cx="8001000" cy="1143000"/>
          </a:xfrm>
        </p:spPr>
        <p:txBody>
          <a:bodyPr/>
          <a:lstStyle/>
          <a:p>
            <a:r>
              <a:rPr lang="en-US" b="1" dirty="0"/>
              <a:t>Mirror Backup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910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6D2C5-B456-4DED-B000-A69BA6E89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51212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000" b="1" dirty="0">
                <a:latin typeface="Gill Sans MT" panose="020B0502020104020203" pitchFamily="34" charset="0"/>
              </a:rPr>
              <a:t>Advantages</a:t>
            </a:r>
          </a:p>
          <a:p>
            <a:pPr lvl="2"/>
            <a:r>
              <a:rPr lang="en-US" sz="3000" dirty="0">
                <a:latin typeface="Gill Sans MT" panose="020B0502020104020203" pitchFamily="34" charset="0"/>
              </a:rPr>
              <a:t>Very fast recovery (no reconstruction needed) </a:t>
            </a:r>
          </a:p>
          <a:p>
            <a:pPr lvl="2"/>
            <a:r>
              <a:rPr lang="en-US" sz="3000" dirty="0">
                <a:latin typeface="Gill Sans MT" panose="020B0502020104020203" pitchFamily="34" charset="0"/>
              </a:rPr>
              <a:t>Easy to access files directly from backup </a:t>
            </a:r>
          </a:p>
          <a:p>
            <a:pPr lvl="2"/>
            <a:r>
              <a:rPr lang="en-US" sz="3000" dirty="0">
                <a:latin typeface="Gill Sans MT" panose="020B0502020104020203" pitchFamily="34" charset="0"/>
              </a:rPr>
              <a:t>Good for systems needing quick restore </a:t>
            </a:r>
          </a:p>
          <a:p>
            <a:pPr marL="0" indent="0">
              <a:buNone/>
            </a:pPr>
            <a:r>
              <a:rPr lang="en-US" sz="3000" b="1" dirty="0">
                <a:latin typeface="Gill Sans MT" panose="020B0502020104020203" pitchFamily="34" charset="0"/>
              </a:rPr>
              <a:t>Disadvantages</a:t>
            </a:r>
          </a:p>
          <a:p>
            <a:pPr lvl="2"/>
            <a:r>
              <a:rPr lang="en-US" sz="3000" dirty="0">
                <a:latin typeface="Gill Sans MT" panose="020B0502020104020203" pitchFamily="34" charset="0"/>
              </a:rPr>
              <a:t>No protection against accidental deletion</a:t>
            </a:r>
          </a:p>
          <a:p>
            <a:pPr lvl="2"/>
            <a:r>
              <a:rPr lang="en-US" sz="3000" dirty="0">
                <a:latin typeface="Gill Sans MT" panose="020B0502020104020203" pitchFamily="34" charset="0"/>
              </a:rPr>
              <a:t>(if deleted in source → deleted in backup) </a:t>
            </a:r>
          </a:p>
          <a:p>
            <a:pPr lvl="2"/>
            <a:r>
              <a:rPr lang="en-US" sz="3000" dirty="0">
                <a:latin typeface="Gill Sans MT" panose="020B0502020104020203" pitchFamily="34" charset="0"/>
              </a:rPr>
              <a:t>No version history </a:t>
            </a:r>
          </a:p>
          <a:p>
            <a:pPr lvl="2"/>
            <a:r>
              <a:rPr lang="en-US" sz="3000" dirty="0">
                <a:latin typeface="Gill Sans MT" panose="020B0502020104020203" pitchFamily="34" charset="0"/>
              </a:rPr>
              <a:t>Not ideal for ransomware protection </a:t>
            </a:r>
          </a:p>
          <a:p>
            <a:pPr marL="0" indent="0">
              <a:buNone/>
            </a:pPr>
            <a:r>
              <a:rPr lang="en-US" sz="3000" b="1" dirty="0">
                <a:latin typeface="Gill Sans MT" panose="020B0502020104020203" pitchFamily="34" charset="0"/>
              </a:rPr>
              <a:t> </a:t>
            </a:r>
            <a:endParaRPr lang="en-US" sz="3000" dirty="0">
              <a:latin typeface="Gill Sans MT" panose="020B0502020104020203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715DD-D296-4427-B668-A31D0F39D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6/25/2021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8D7E4-D992-4526-996C-4DF54CC2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F789F-E310-4679-A158-E7E30EAEE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F4DA-9457-4AC0-93DE-AA43A38104B7}" type="slidenum">
              <a:rPr lang="en-US" smtClean="0"/>
              <a:t>19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BA264FA-CD5D-4EA4-A82A-C5B3E7A71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33400"/>
            <a:ext cx="8001000" cy="1143000"/>
          </a:xfrm>
        </p:spPr>
        <p:txBody>
          <a:bodyPr/>
          <a:lstStyle/>
          <a:p>
            <a:r>
              <a:rPr lang="en-US" b="1" dirty="0"/>
              <a:t>Mirror Backup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454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50A36-F15A-42CD-BDC5-B510AA7AE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Gill Sans MT" panose="020B0502020104020203" pitchFamily="34" charset="0"/>
              </a:rPr>
              <a:t>Continuous Data Protection (CDP)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7ED7E-4524-4BD5-B6AA-4BF6483F5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Gill Sans MT" panose="020B0502020104020203" pitchFamily="34" charset="0"/>
              </a:rPr>
              <a:t>CDP </a:t>
            </a:r>
            <a:r>
              <a:rPr lang="en-US" dirty="0">
                <a:latin typeface="Gill Sans MT" panose="020B0502020104020203" pitchFamily="34" charset="0"/>
              </a:rPr>
              <a:t>is an advanced backup method that captures every change made to data in real time, allowing recovery to any point in time.</a:t>
            </a:r>
          </a:p>
          <a:p>
            <a:pPr marL="0" indent="0">
              <a:buNone/>
            </a:pPr>
            <a:r>
              <a:rPr lang="en-US" b="1" dirty="0">
                <a:latin typeface="Gill Sans MT" panose="020B0502020104020203" pitchFamily="34" charset="0"/>
              </a:rPr>
              <a:t>How It 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System monitors data continuously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Every change (file edit, delete, update) is recorded instantly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Data is stored as a series of versions or changes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You can restore data to any specific second/minute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8E105-5FC1-4C84-9109-E3228D3AF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6/25/2021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A8288-A4EC-42A0-B51C-E449A19E3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06D09-B377-4ADF-A557-71A8C897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F4DA-9457-4AC0-93DE-AA43A38104B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583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7ED7E-4524-4BD5-B6AA-4BF6483F5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Gill Sans MT" panose="020B0502020104020203" pitchFamily="34" charset="0"/>
              </a:rPr>
              <a:t>Key Characteristics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Real-time or near real-time backup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Maintains </a:t>
            </a:r>
            <a:r>
              <a:rPr lang="en-US" b="1" dirty="0">
                <a:latin typeface="Gill Sans MT" panose="020B0502020104020203" pitchFamily="34" charset="0"/>
              </a:rPr>
              <a:t>multiple versions of data</a:t>
            </a:r>
            <a:r>
              <a:rPr lang="en-US" dirty="0">
                <a:latin typeface="Gill Sans MT" panose="020B0502020104020203" pitchFamily="34" charset="0"/>
              </a:rPr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Allows </a:t>
            </a:r>
            <a:r>
              <a:rPr lang="en-US" b="1" dirty="0">
                <a:latin typeface="Gill Sans MT" panose="020B0502020104020203" pitchFamily="34" charset="0"/>
              </a:rPr>
              <a:t>point-in-time recovery</a:t>
            </a:r>
            <a:r>
              <a:rPr lang="en-US" dirty="0">
                <a:latin typeface="Gill Sans MT" panose="020B0502020104020203" pitchFamily="34" charset="0"/>
              </a:rPr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Works at block-level or file-level </a:t>
            </a:r>
          </a:p>
          <a:p>
            <a:pPr marL="0" indent="0">
              <a:buNone/>
            </a:pPr>
            <a:r>
              <a:rPr lang="en-US" b="1" dirty="0">
                <a:latin typeface="Gill Sans MT" panose="020B0502020104020203" pitchFamily="34" charset="0"/>
              </a:rPr>
              <a:t>Example Use Case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Banking systems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Government critical systems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Databases requiring high availability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Systems where </a:t>
            </a:r>
            <a:r>
              <a:rPr lang="en-US" b="1" dirty="0">
                <a:latin typeface="Gill Sans MT" panose="020B0502020104020203" pitchFamily="34" charset="0"/>
              </a:rPr>
              <a:t>data loss is unacceptable</a:t>
            </a:r>
            <a:endParaRPr lang="en-US" dirty="0">
              <a:latin typeface="Gill Sans MT" panose="020B0502020104020203" pitchFamily="34" charset="0"/>
            </a:endParaRPr>
          </a:p>
          <a:p>
            <a:pPr marL="0" indent="0">
              <a:buNone/>
            </a:pPr>
            <a:endParaRPr lang="en-US" dirty="0">
              <a:latin typeface="Gill Sans MT" panose="020B0502020104020203" pitchFamily="34" charset="0"/>
            </a:endParaRPr>
          </a:p>
          <a:p>
            <a:pPr marL="0" indent="0">
              <a:buNone/>
            </a:pP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8E105-5FC1-4C84-9109-E3228D3AF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6/25/2021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A8288-A4EC-42A0-B51C-E449A19E3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06D09-B377-4ADF-A557-71A8C897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F4DA-9457-4AC0-93DE-AA43A38104B7}" type="slidenum">
              <a:rPr lang="en-US" smtClean="0"/>
              <a:t>21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69038CE-4E1E-4687-B4AB-544D4523E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686800" cy="12192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Gill Sans MT" panose="020B0502020104020203" pitchFamily="34" charset="0"/>
              </a:rPr>
              <a:t>Continuous Data Protection (CDP)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846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7ED7E-4524-4BD5-B6AA-4BF6483F5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>
              <a:latin typeface="Gill Sans MT" panose="020B0502020104020203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Gill Sans MT" panose="020B0502020104020203" pitchFamily="34" charset="0"/>
              </a:rPr>
              <a:t>Advantages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Best protection against data loss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Can recover from: Human error ,System failure and Ransomware attacks </a:t>
            </a:r>
          </a:p>
          <a:p>
            <a:pPr marL="0" indent="0">
              <a:buNone/>
            </a:pPr>
            <a:r>
              <a:rPr lang="en-US" b="1" dirty="0">
                <a:latin typeface="Gill Sans MT" panose="020B0502020104020203" pitchFamily="34" charset="0"/>
              </a:rPr>
              <a:t>Disadvantages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Requires more storage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More complex to implement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Higher cost (enterprise solutions) </a:t>
            </a:r>
          </a:p>
          <a:p>
            <a:pPr marL="0" indent="0">
              <a:buNone/>
            </a:pP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8E105-5FC1-4C84-9109-E3228D3AF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6/25/2021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A8288-A4EC-42A0-B51C-E449A19E3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06D09-B377-4ADF-A557-71A8C897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F4DA-9457-4AC0-93DE-AA43A38104B7}" type="slidenum">
              <a:rPr lang="en-US" smtClean="0"/>
              <a:t>22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69038CE-4E1E-4687-B4AB-544D4523E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Gill Sans MT" panose="020B0502020104020203" pitchFamily="34" charset="0"/>
              </a:rPr>
              <a:t>Continuous Data Protection (CDP)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494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685800" y="2468563"/>
            <a:ext cx="7772400" cy="862012"/>
          </a:xfrm>
        </p:spPr>
        <p:txBody>
          <a:bodyPr/>
          <a:lstStyle/>
          <a:p>
            <a:r>
              <a:rPr lang="en-US" altLang="en-US" sz="5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80192632"/>
      </p:ext>
    </p:extLst>
  </p:cSld>
  <p:clrMapOvr>
    <a:masterClrMapping/>
  </p:clrMapOvr>
</p:sld>
</file>

<file path=ppt/theme/theme1.xml><?xml version="1.0" encoding="utf-8"?>
<a:theme xmlns:a="http://schemas.openxmlformats.org/drawingml/2006/main" name="UOK PPT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6641</TotalTime>
  <Words>827</Words>
  <Application>Microsoft Office PowerPoint</Application>
  <PresentationFormat>On-screen Show (4:3)</PresentationFormat>
  <Paragraphs>164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Adobe Fan Heiti Std B</vt:lpstr>
      <vt:lpstr>Adobe Garamond Pro Bold</vt:lpstr>
      <vt:lpstr>Arial</vt:lpstr>
      <vt:lpstr>Calibri</vt:lpstr>
      <vt:lpstr>Gill Sans MT</vt:lpstr>
      <vt:lpstr>Trebuchet MS</vt:lpstr>
      <vt:lpstr>UOK PPT Template</vt:lpstr>
      <vt:lpstr>PowerPoint Presentation</vt:lpstr>
      <vt:lpstr>Introduction to Backup</vt:lpstr>
      <vt:lpstr>Backup Strategies</vt:lpstr>
      <vt:lpstr>Backup Storage Options</vt:lpstr>
      <vt:lpstr>Backup Planning</vt:lpstr>
      <vt:lpstr>Backup Security</vt:lpstr>
      <vt:lpstr>Monitoring</vt:lpstr>
      <vt:lpstr>Challenges</vt:lpstr>
      <vt:lpstr>Types of Backup</vt:lpstr>
      <vt:lpstr>Types of data backups</vt:lpstr>
      <vt:lpstr>1. Full Backup </vt:lpstr>
      <vt:lpstr>1. Full Backup </vt:lpstr>
      <vt:lpstr>2. Differential Backup </vt:lpstr>
      <vt:lpstr>2. Differential Backup </vt:lpstr>
      <vt:lpstr>3. Incremental Backup </vt:lpstr>
      <vt:lpstr>3. Incremental Backup </vt:lpstr>
      <vt:lpstr>Mirror Backup</vt:lpstr>
      <vt:lpstr>Mirror Backup</vt:lpstr>
      <vt:lpstr>Mirror Backup</vt:lpstr>
      <vt:lpstr>Continuous Data Protection (CDP)</vt:lpstr>
      <vt:lpstr>Continuous Data Protection (CDP)</vt:lpstr>
      <vt:lpstr>Continuous Data Protection (CDP)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Prince</dc:creator>
  <cp:lastModifiedBy>Simeon NDAYAMBAJE</cp:lastModifiedBy>
  <cp:revision>166</cp:revision>
  <dcterms:created xsi:type="dcterms:W3CDTF">2021-06-24T08:04:17Z</dcterms:created>
  <dcterms:modified xsi:type="dcterms:W3CDTF">2026-03-21T13:46:58Z</dcterms:modified>
</cp:coreProperties>
</file>