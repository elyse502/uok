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57" r:id="rId3"/>
    <p:sldId id="411" r:id="rId4"/>
    <p:sldId id="448" r:id="rId5"/>
    <p:sldId id="436" r:id="rId6"/>
    <p:sldId id="437" r:id="rId7"/>
    <p:sldId id="438" r:id="rId8"/>
    <p:sldId id="439" r:id="rId9"/>
    <p:sldId id="440" r:id="rId10"/>
    <p:sldId id="441" r:id="rId11"/>
    <p:sldId id="442" r:id="rId12"/>
    <p:sldId id="443" r:id="rId13"/>
    <p:sldId id="505" r:id="rId14"/>
    <p:sldId id="528" r:id="rId15"/>
    <p:sldId id="493" r:id="rId16"/>
    <p:sldId id="506" r:id="rId17"/>
    <p:sldId id="444" r:id="rId18"/>
    <p:sldId id="527" r:id="rId19"/>
    <p:sldId id="494" r:id="rId20"/>
    <p:sldId id="529" r:id="rId21"/>
    <p:sldId id="530" r:id="rId22"/>
    <p:sldId id="531" r:id="rId23"/>
    <p:sldId id="496" r:id="rId24"/>
    <p:sldId id="497" r:id="rId25"/>
    <p:sldId id="495" r:id="rId26"/>
    <p:sldId id="500" r:id="rId27"/>
    <p:sldId id="499" r:id="rId28"/>
    <p:sldId id="501" r:id="rId29"/>
    <p:sldId id="502" r:id="rId30"/>
    <p:sldId id="503" r:id="rId31"/>
    <p:sldId id="508" r:id="rId32"/>
    <p:sldId id="511" r:id="rId33"/>
    <p:sldId id="512" r:id="rId34"/>
    <p:sldId id="513" r:id="rId35"/>
    <p:sldId id="509" r:id="rId36"/>
    <p:sldId id="514" r:id="rId37"/>
    <p:sldId id="515" r:id="rId38"/>
    <p:sldId id="516" r:id="rId39"/>
    <p:sldId id="517" r:id="rId40"/>
    <p:sldId id="31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59EB8-F0F6-4DC6-A647-6A5C1CFF84A9}"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58CC0-D8AB-4D70-B3A7-EFDBBA065C02}" type="slidenum">
              <a:rPr lang="en-US" smtClean="0"/>
              <a:t>‹#›</a:t>
            </a:fld>
            <a:endParaRPr lang="en-US"/>
          </a:p>
        </p:txBody>
      </p:sp>
    </p:spTree>
    <p:extLst>
      <p:ext uri="{BB962C8B-B14F-4D97-AF65-F5344CB8AC3E}">
        <p14:creationId xmlns:p14="http://schemas.microsoft.com/office/powerpoint/2010/main" val="43078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4DFE42F-2F17-4DD7-8DFC-FAC4895B1DCE}"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305116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025135-96B0-4D59-9477-C1C029711266}"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11797893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316361-7B81-44C5-9A3A-71D6D100AD56}"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644014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A27118-AD8C-45DB-8E9A-71884D9D7FC1}"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213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BDCFC8-89B1-4D57-A51F-48F51F844B81}" type="datetime1">
              <a:rPr lang="en-GB" smtClean="0"/>
              <a:t>08/03/2026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807914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7F1FA51-64D4-4EB8-BFEE-804D4C829154}" type="datetime1">
              <a:rPr lang="en-GB" smtClean="0"/>
              <a:t>08/03/2026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217962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594CCD-74AE-4BD3-AC04-46933177CAC8}" type="datetime1">
              <a:rPr lang="en-GB" smtClean="0"/>
              <a:t>08/03/2026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426241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D1212-F654-46B9-975F-0DD54868612F}"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0693170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0123D7-5D51-46E5-A289-80F4A83CCE3E}"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121853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DCBE30-9A89-4B91-A84C-4D4D55CA1321}"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3018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623C09-AE49-422C-81E3-52DA06B4BA2B}"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35491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105659" y="1270457"/>
            <a:ext cx="7980680" cy="615553"/>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6058D21-266C-455A-8CEC-12FEFF750694}"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508369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AEF6960-003F-4D8C-B8AC-3E1FC3BD80D6}"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2247389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EE47835-96A5-46B5-A6A8-AF6AD0478162}" type="datetime1">
              <a:rPr lang="en-GB" smtClean="0">
                <a:solidFill>
                  <a:prstClr val="black">
                    <a:tint val="75000"/>
                  </a:prstClr>
                </a:solidFill>
              </a:rPr>
              <a:t>08/03/2026</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76894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A0611C2-7913-467E-A42C-29D9E21C6938}" type="datetime1">
              <a:rPr lang="en-GB" smtClean="0">
                <a:solidFill>
                  <a:prstClr val="black">
                    <a:tint val="75000"/>
                  </a:prstClr>
                </a:solidFill>
              </a:rPr>
              <a:t>08/03/2026</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2567014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B8C551E-F4C7-4FD6-86C5-A4F3C46DF6D9}" type="datetime1">
              <a:rPr lang="en-GB" smtClean="0">
                <a:solidFill>
                  <a:prstClr val="black">
                    <a:tint val="75000"/>
                  </a:prstClr>
                </a:solidFill>
              </a:rPr>
              <a:t>08/03/2026</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9737151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4A620-4D63-450A-BD74-3876FFB6A025}" type="datetime1">
              <a:rPr lang="en-GB" smtClean="0"/>
              <a:t>08/03/2026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5657-62C7-42E2-9234-1DE12381E0A2}" type="slidenum">
              <a:rPr lang="en-US" smtClean="0"/>
              <a:t>‹#›</a:t>
            </a:fld>
            <a:endParaRPr lang="en-US"/>
          </a:p>
        </p:txBody>
      </p:sp>
    </p:spTree>
    <p:extLst>
      <p:ext uri="{BB962C8B-B14F-4D97-AF65-F5344CB8AC3E}">
        <p14:creationId xmlns:p14="http://schemas.microsoft.com/office/powerpoint/2010/main" val="95461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 y="0"/>
            <a:ext cx="12191999" cy="6857996"/>
          </a:xfrm>
          <a:prstGeom prst="rect">
            <a:avLst/>
          </a:prstGeom>
        </p:spPr>
      </p:pic>
      <p:sp>
        <p:nvSpPr>
          <p:cNvPr id="2" name="Holder 2"/>
          <p:cNvSpPr>
            <a:spLocks noGrp="1"/>
          </p:cNvSpPr>
          <p:nvPr>
            <p:ph type="title"/>
          </p:nvPr>
        </p:nvSpPr>
        <p:spPr>
          <a:xfrm>
            <a:off x="2343403" y="999490"/>
            <a:ext cx="7505192" cy="615553"/>
          </a:xfrm>
          <a:prstGeom prst="rect">
            <a:avLst/>
          </a:prstGeom>
        </p:spPr>
        <p:txBody>
          <a:bodyPr wrap="square" lIns="0" tIns="0" rIns="0" bIns="0">
            <a:spAutoFit/>
          </a:bodyPr>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714588" y="2027047"/>
            <a:ext cx="10762825" cy="492443"/>
          </a:xfrm>
          <a:prstGeom prst="rect">
            <a:avLst/>
          </a:prstGeom>
        </p:spPr>
        <p:txBody>
          <a:bodyPr wrap="square" lIns="0" tIns="0" rIns="0" bIns="0">
            <a:spAutoFit/>
          </a:bodyPr>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a:xfrm>
            <a:off x="714587" y="6464680"/>
            <a:ext cx="916940"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A7D0E563-AC30-4883-9709-5124BD668EAD}"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a:xfrm>
            <a:off x="11202077" y="6464680"/>
            <a:ext cx="309033"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894620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www.webopedia.com/TERM/S/server.html" TargetMode="External"/><Relationship Id="rId2" Type="http://schemas.openxmlformats.org/officeDocument/2006/relationships/hyperlink" Target="https://www.webopedia.com/TERM/B/browser.html"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www.webopedia.com/TERM/I/instant_messaging.html" TargetMode="External"/><Relationship Id="rId2" Type="http://schemas.openxmlformats.org/officeDocument/2006/relationships/hyperlink" Target="https://www.webopedia.com/TERM/I/IRC.html"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s://www.webopedia.com/TERM/V/virtual.html"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hyperlink" Target="https://www.webopedia.com/TERM/T/Telnet.html"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hyperlink" Target="https://www.webopedia.com/TERM/E/execute.html" TargetMode="External"/><Relationship Id="rId3" Type="http://schemas.openxmlformats.org/officeDocument/2006/relationships/hyperlink" Target="https://www.webopedia.com/TERM/D/device.html" TargetMode="External"/><Relationship Id="rId7" Type="http://schemas.openxmlformats.org/officeDocument/2006/relationships/hyperlink" Target="https://www.webopedia.com/TERM/O/operating_system.html" TargetMode="External"/><Relationship Id="rId2" Type="http://schemas.openxmlformats.org/officeDocument/2006/relationships/hyperlink" Target="https://www.webopedia.com/TERM/V/virtual.html" TargetMode="External"/><Relationship Id="rId1" Type="http://schemas.openxmlformats.org/officeDocument/2006/relationships/slideLayout" Target="../slideLayouts/slideLayout13.xml"/><Relationship Id="rId6" Type="http://schemas.openxmlformats.org/officeDocument/2006/relationships/hyperlink" Target="https://www.webopedia.com/TERM/N/network.html" TargetMode="External"/><Relationship Id="rId5" Type="http://schemas.openxmlformats.org/officeDocument/2006/relationships/hyperlink" Target="https://www.webopedia.com/TERM/S/storage_device.html" TargetMode="External"/><Relationship Id="rId4" Type="http://schemas.openxmlformats.org/officeDocument/2006/relationships/hyperlink" Target="https://www.webopedia.com/TERM/S/server.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hyperlink" Target="https://www.cherryservers.com/bare-metal-dedicated-servers"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Virtual_machine" TargetMode="External"/><Relationship Id="rId2" Type="http://schemas.openxmlformats.org/officeDocument/2006/relationships/hyperlink" Target="https://en.wikipedia.org/wiki/Software"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6"/>
          </a:xfrm>
          <a:prstGeom prst="rect">
            <a:avLst/>
          </a:prstGeom>
        </p:spPr>
      </p:pic>
      <p:sp>
        <p:nvSpPr>
          <p:cNvPr id="3" name="object 3"/>
          <p:cNvSpPr txBox="1">
            <a:spLocks noGrp="1"/>
          </p:cNvSpPr>
          <p:nvPr>
            <p:ph type="title"/>
          </p:nvPr>
        </p:nvSpPr>
        <p:spPr>
          <a:xfrm>
            <a:off x="0" y="-348661"/>
            <a:ext cx="12191999" cy="3347070"/>
          </a:xfrm>
          <a:prstGeom prst="rect">
            <a:avLst/>
          </a:prstGeom>
        </p:spPr>
        <p:txBody>
          <a:bodyPr vert="horz" wrap="square" lIns="0" tIns="12700" rIns="0" bIns="0" rtlCol="0">
            <a:spAutoFit/>
          </a:bodyPr>
          <a:lstStyle/>
          <a:p>
            <a:pPr algn="ctr">
              <a:lnSpc>
                <a:spcPts val="5230"/>
              </a:lnSpc>
              <a:spcBef>
                <a:spcPts val="100"/>
              </a:spcBef>
            </a:pPr>
            <a:br>
              <a:rPr lang="en-GB" b="1" dirty="0">
                <a:solidFill>
                  <a:schemeClr val="bg1"/>
                </a:solidFill>
                <a:latin typeface="Gill Sans MT" panose="020B0502020104020203" pitchFamily="34" charset="0"/>
              </a:rPr>
            </a:br>
            <a:r>
              <a:rPr lang="en-GB" b="1" dirty="0">
                <a:solidFill>
                  <a:schemeClr val="bg1"/>
                </a:solidFill>
                <a:latin typeface="Gill Sans MT" panose="020B0502020104020203" pitchFamily="34" charset="0"/>
              </a:rPr>
              <a:t>Server and Systems Administration</a:t>
            </a: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dirty="0">
                <a:solidFill>
                  <a:schemeClr val="bg1"/>
                </a:solidFill>
                <a:latin typeface="Gill Sans MT" panose="020B0502020104020203" pitchFamily="34" charset="0"/>
              </a:rPr>
              <a:t>Module Code : CSC3504 </a:t>
            </a:r>
            <a:br>
              <a:rPr lang="en-US" dirty="0">
                <a:solidFill>
                  <a:schemeClr val="accent1"/>
                </a:solidFill>
                <a:latin typeface="Gill Sans MT" panose="020B0502020104020203" pitchFamily="34" charset="0"/>
              </a:rPr>
            </a:br>
            <a:endParaRPr sz="4400" dirty="0">
              <a:latin typeface="Gill Sans MT" panose="020B0502020104020203" pitchFamily="34" charset="0"/>
            </a:endParaRPr>
          </a:p>
        </p:txBody>
      </p:sp>
      <p:sp>
        <p:nvSpPr>
          <p:cNvPr id="4" name="object 4"/>
          <p:cNvSpPr txBox="1"/>
          <p:nvPr/>
        </p:nvSpPr>
        <p:spPr>
          <a:xfrm>
            <a:off x="3995461" y="2529031"/>
            <a:ext cx="5029200" cy="505908"/>
          </a:xfrm>
          <a:prstGeom prst="rect">
            <a:avLst/>
          </a:prstGeom>
        </p:spPr>
        <p:txBody>
          <a:bodyPr vert="horz" wrap="square" lIns="0" tIns="13335" rIns="0" bIns="0" rtlCol="0">
            <a:spAutoFit/>
          </a:bodyPr>
          <a:lstStyle/>
          <a:p>
            <a:pPr marL="12700">
              <a:spcBef>
                <a:spcPts val="105"/>
              </a:spcBef>
            </a:pPr>
            <a:r>
              <a:rPr lang="en-US" sz="3200" b="1" dirty="0">
                <a:solidFill>
                  <a:srgbClr val="FFC000"/>
                </a:solidFill>
                <a:latin typeface="MS PGothic"/>
                <a:cs typeface="MS PGothic"/>
              </a:rPr>
              <a:t>Simeon </a:t>
            </a:r>
            <a:r>
              <a:rPr lang="en-US" sz="3200" b="1" dirty="0">
                <a:solidFill>
                  <a:srgbClr val="FFC000"/>
                </a:solidFill>
                <a:latin typeface="Gill Sans MT" panose="020B0502020104020203" pitchFamily="34" charset="0"/>
                <a:cs typeface="MS PGothic"/>
              </a:rPr>
              <a:t>NDAYAMBAJE</a:t>
            </a:r>
            <a:endParaRPr sz="3200" b="1" dirty="0">
              <a:latin typeface="Gill Sans MT" panose="020B0502020104020203" pitchFamily="34" charset="0"/>
              <a:cs typeface="MS PGothic"/>
            </a:endParaRPr>
          </a:p>
        </p:txBody>
      </p:sp>
      <p:sp>
        <p:nvSpPr>
          <p:cNvPr id="6" name="object 6"/>
          <p:cNvSpPr txBox="1"/>
          <p:nvPr/>
        </p:nvSpPr>
        <p:spPr>
          <a:xfrm>
            <a:off x="4847083" y="6426504"/>
            <a:ext cx="3325956" cy="197490"/>
          </a:xfrm>
          <a:prstGeom prst="rect">
            <a:avLst/>
          </a:prstGeom>
        </p:spPr>
        <p:txBody>
          <a:bodyPr vert="horz" wrap="square" lIns="0" tIns="12700" rIns="0" bIns="0" rtlCol="0">
            <a:spAutoFit/>
          </a:bodyPr>
          <a:lstStyle/>
          <a:p>
            <a:pPr marL="12700">
              <a:spcBef>
                <a:spcPts val="100"/>
              </a:spcBef>
            </a:pPr>
            <a:r>
              <a:rPr lang="en-GB" sz="1200" b="1" dirty="0">
                <a:solidFill>
                  <a:schemeClr val="bg1"/>
                </a:solidFill>
              </a:rPr>
              <a:t>Server and Systems Administration , </a:t>
            </a:r>
            <a:r>
              <a:rPr lang="en-US" sz="1200" dirty="0">
                <a:solidFill>
                  <a:schemeClr val="bg1"/>
                </a:solidFill>
              </a:rPr>
              <a:t>CSC3504 </a:t>
            </a:r>
            <a:endParaRPr sz="1200" dirty="0">
              <a:solidFill>
                <a:schemeClr val="bg1"/>
              </a:solidFill>
              <a:latin typeface="Calibri"/>
              <a:cs typeface="Calibri"/>
            </a:endParaRPr>
          </a:p>
        </p:txBody>
      </p:sp>
      <p:sp>
        <p:nvSpPr>
          <p:cNvPr id="7" name="object 7"/>
          <p:cNvSpPr txBox="1"/>
          <p:nvPr/>
        </p:nvSpPr>
        <p:spPr>
          <a:xfrm>
            <a:off x="10028681" y="6426504"/>
            <a:ext cx="102870" cy="197490"/>
          </a:xfrm>
          <a:prstGeom prst="rect">
            <a:avLst/>
          </a:prstGeom>
        </p:spPr>
        <p:txBody>
          <a:bodyPr vert="horz" wrap="square" lIns="0" tIns="12700" rIns="0" bIns="0" rtlCol="0">
            <a:spAutoFit/>
          </a:bodyPr>
          <a:lstStyle/>
          <a:p>
            <a:pPr marL="12700">
              <a:spcBef>
                <a:spcPts val="100"/>
              </a:spcBef>
            </a:pPr>
            <a:r>
              <a:rPr sz="1200" dirty="0">
                <a:solidFill>
                  <a:srgbClr val="888888"/>
                </a:solidFill>
                <a:latin typeface="Calibri"/>
                <a:cs typeface="Calibri"/>
              </a:rPr>
              <a:t>1</a:t>
            </a:r>
            <a:endParaRPr sz="1200">
              <a:latin typeface="Calibri"/>
              <a:cs typeface="Calibri"/>
            </a:endParaRPr>
          </a:p>
        </p:txBody>
      </p:sp>
      <p:sp>
        <p:nvSpPr>
          <p:cNvPr id="9" name="Slide Number Placeholder 8"/>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1</a:t>
            </a:fld>
            <a:endParaRPr lang="en-US" dirty="0"/>
          </a:p>
        </p:txBody>
      </p:sp>
    </p:spTree>
    <p:extLst>
      <p:ext uri="{BB962C8B-B14F-4D97-AF65-F5344CB8AC3E}">
        <p14:creationId xmlns:p14="http://schemas.microsoft.com/office/powerpoint/2010/main" val="678566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a:t>
            </a:fld>
            <a:endParaRPr lang="en-US" dirty="0"/>
          </a:p>
        </p:txBody>
      </p:sp>
      <p:sp>
        <p:nvSpPr>
          <p:cNvPr id="3" name="Rectangle 2"/>
          <p:cNvSpPr/>
          <p:nvPr/>
        </p:nvSpPr>
        <p:spPr>
          <a:xfrm>
            <a:off x="1560945" y="2145206"/>
            <a:ext cx="9512395" cy="1938992"/>
          </a:xfrm>
          <a:prstGeom prst="rect">
            <a:avLst/>
          </a:prstGeom>
        </p:spPr>
        <p:txBody>
          <a:bodyPr wrap="square">
            <a:spAutoFit/>
          </a:bodyPr>
          <a:lstStyle/>
          <a:p>
            <a:pPr algn="ctr"/>
            <a:r>
              <a:rPr lang="en-US" altLang="x-none" sz="4000" b="1" dirty="0">
                <a:solidFill>
                  <a:srgbClr val="C00000"/>
                </a:solidFill>
                <a:latin typeface="Gill Sans MT" panose="020B0502020104020203" pitchFamily="34" charset="0"/>
              </a:rPr>
              <a:t>Chapter 2</a:t>
            </a:r>
          </a:p>
          <a:p>
            <a:pPr algn="ctr"/>
            <a:endParaRPr lang="en-US" altLang="x-none" sz="4000" b="1" dirty="0">
              <a:solidFill>
                <a:srgbClr val="C00000"/>
              </a:solidFill>
              <a:latin typeface="Gill Sans MT" panose="020B0502020104020203" pitchFamily="34" charset="0"/>
            </a:endParaRPr>
          </a:p>
          <a:p>
            <a:pPr algn="ctr"/>
            <a:r>
              <a:rPr lang="en-US" altLang="x-none" sz="4000" b="1" dirty="0">
                <a:latin typeface="Gill Sans MT" panose="020B0502020104020203" pitchFamily="34" charset="0"/>
              </a:rPr>
              <a:t>Servers &amp; Virtualization</a:t>
            </a:r>
          </a:p>
        </p:txBody>
      </p:sp>
    </p:spTree>
    <p:extLst>
      <p:ext uri="{BB962C8B-B14F-4D97-AF65-F5344CB8AC3E}">
        <p14:creationId xmlns:p14="http://schemas.microsoft.com/office/powerpoint/2010/main" val="1498727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2209800" y="454025"/>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6147" name="Content Placeholder 2"/>
          <p:cNvSpPr>
            <a:spLocks noGrp="1"/>
          </p:cNvSpPr>
          <p:nvPr>
            <p:ph idx="1"/>
          </p:nvPr>
        </p:nvSpPr>
        <p:spPr>
          <a:xfrm>
            <a:off x="1524000" y="1524000"/>
            <a:ext cx="9144000" cy="4431983"/>
          </a:xfrm>
        </p:spPr>
        <p:txBody>
          <a:bodyPr/>
          <a:lstStyle/>
          <a:p>
            <a:pPr marL="1371600" lvl="2" indent="-457200">
              <a:buFont typeface="Wingdings" panose="05000000000000000000" pitchFamily="2" charset="2"/>
              <a:buChar char="§"/>
            </a:pPr>
            <a:r>
              <a:rPr lang="en-US" sz="3200" dirty="0">
                <a:solidFill>
                  <a:schemeClr val="tx1"/>
                </a:solidFill>
                <a:latin typeface="Gill Sans MT" panose="020B0502020104020203" pitchFamily="34" charset="0"/>
              </a:rPr>
              <a:t>List Server:</a:t>
            </a:r>
          </a:p>
          <a:p>
            <a:pPr marL="1371600" lvl="2" indent="-457200">
              <a:buFont typeface="Wingdings" panose="05000000000000000000" pitchFamily="2" charset="2"/>
              <a:buChar char="§"/>
            </a:pPr>
            <a:r>
              <a:rPr lang="en-US" sz="3200" dirty="0">
                <a:latin typeface="Gill Sans MT" panose="020B0502020104020203" pitchFamily="34" charset="0"/>
              </a:rPr>
              <a:t>Telnet Server: </a:t>
            </a:r>
          </a:p>
          <a:p>
            <a:pPr marL="1371600" lvl="2" indent="-457200">
              <a:buFont typeface="Wingdings" panose="05000000000000000000" pitchFamily="2" charset="2"/>
              <a:buChar char="§"/>
            </a:pPr>
            <a:r>
              <a:rPr lang="en-US" sz="3200" dirty="0">
                <a:latin typeface="Gill Sans MT" panose="020B0502020104020203" pitchFamily="34" charset="0"/>
              </a:rPr>
              <a:t>Open Source Server: </a:t>
            </a:r>
          </a:p>
          <a:p>
            <a:pPr marL="1371600" lvl="2" indent="-457200">
              <a:buFont typeface="Wingdings" panose="05000000000000000000" pitchFamily="2" charset="2"/>
              <a:buChar char="§"/>
            </a:pPr>
            <a:r>
              <a:rPr lang="en-US" sz="3200" dirty="0">
                <a:latin typeface="Gill Sans MT" panose="020B0502020104020203" pitchFamily="34" charset="0"/>
              </a:rPr>
              <a:t>Virtual Server:  </a:t>
            </a:r>
          </a:p>
          <a:p>
            <a:pPr marL="1371600" lvl="2" indent="-457200">
              <a:buFont typeface="Wingdings" panose="05000000000000000000" pitchFamily="2" charset="2"/>
              <a:buChar char="§"/>
            </a:pPr>
            <a:r>
              <a:rPr lang="en-US" sz="3200" dirty="0">
                <a:latin typeface="Gill Sans MT" panose="020B0502020104020203" pitchFamily="34" charset="0"/>
              </a:rPr>
              <a:t>Print server: </a:t>
            </a:r>
          </a:p>
          <a:p>
            <a:pPr marL="1371600" lvl="2" indent="-457200">
              <a:buFont typeface="Wingdings" panose="05000000000000000000" pitchFamily="2" charset="2"/>
              <a:buChar char="§"/>
            </a:pPr>
            <a:r>
              <a:rPr lang="en-US" sz="3200" dirty="0">
                <a:latin typeface="Gill Sans MT" panose="020B0502020104020203" pitchFamily="34" charset="0"/>
              </a:rPr>
              <a:t>Communications server: </a:t>
            </a:r>
          </a:p>
          <a:p>
            <a:pPr marL="1371600" lvl="2" indent="-457200">
              <a:buFont typeface="Wingdings" panose="05000000000000000000" pitchFamily="2" charset="2"/>
              <a:buChar char="§"/>
            </a:pPr>
            <a:r>
              <a:rPr lang="en-US" sz="3200" dirty="0">
                <a:latin typeface="Gill Sans MT" panose="020B0502020104020203" pitchFamily="34" charset="0"/>
              </a:rPr>
              <a:t>Application server: </a:t>
            </a:r>
          </a:p>
          <a:p>
            <a:pPr marL="1371600" lvl="2" indent="-457200">
              <a:buFont typeface="Wingdings" panose="05000000000000000000" pitchFamily="2" charset="2"/>
              <a:buChar char="§"/>
            </a:pPr>
            <a:r>
              <a:rPr lang="en-US" sz="3200" dirty="0">
                <a:latin typeface="Gill Sans MT" panose="020B0502020104020203" pitchFamily="34" charset="0"/>
              </a:rPr>
              <a:t>Database server: </a:t>
            </a:r>
          </a:p>
          <a:p>
            <a:pPr marL="1371600" lvl="2" indent="-457200">
              <a:buFont typeface="Wingdings" panose="05000000000000000000" pitchFamily="2" charset="2"/>
              <a:buChar char="§"/>
            </a:pPr>
            <a:r>
              <a:rPr lang="en-US" sz="3200" dirty="0">
                <a:latin typeface="Gill Sans MT" panose="020B0502020104020203" pitchFamily="34" charset="0"/>
              </a:rPr>
              <a:t>Domain server: </a:t>
            </a:r>
          </a:p>
        </p:txBody>
      </p:sp>
    </p:spTree>
    <p:extLst>
      <p:ext uri="{BB962C8B-B14F-4D97-AF65-F5344CB8AC3E}">
        <p14:creationId xmlns:p14="http://schemas.microsoft.com/office/powerpoint/2010/main" val="1950961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209800" y="454025"/>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3" name="Content Placeholder 2"/>
          <p:cNvSpPr>
            <a:spLocks noGrp="1"/>
          </p:cNvSpPr>
          <p:nvPr>
            <p:ph idx="1"/>
          </p:nvPr>
        </p:nvSpPr>
        <p:spPr>
          <a:xfrm>
            <a:off x="772998" y="1524000"/>
            <a:ext cx="10416618" cy="5909310"/>
          </a:xfrm>
        </p:spPr>
        <p:txBody>
          <a:bodyPr/>
          <a:lstStyle/>
          <a:p>
            <a:pPr>
              <a:buFont typeface="Wingdings" panose="05000000000000000000" pitchFamily="2" charset="2"/>
              <a:buChar char="q"/>
              <a:defRPr/>
            </a:pPr>
            <a:r>
              <a:rPr lang="en-US" b="1" dirty="0">
                <a:solidFill>
                  <a:schemeClr val="accent1"/>
                </a:solidFill>
                <a:latin typeface="Gill Sans MT" panose="020B0502020104020203" pitchFamily="34" charset="0"/>
              </a:rPr>
              <a:t>Proxy Server: </a:t>
            </a:r>
            <a:r>
              <a:rPr lang="en-US" dirty="0">
                <a:latin typeface="Gill Sans MT" panose="020B0502020104020203" pitchFamily="34" charset="0"/>
              </a:rPr>
              <a:t>A proxy server sits between a client program (typically a </a:t>
            </a:r>
            <a:r>
              <a:rPr lang="en-US" dirty="0">
                <a:latin typeface="Gill Sans MT" panose="020B0502020104020203" pitchFamily="34" charset="0"/>
                <a:hlinkClick r:id="rId2"/>
              </a:rPr>
              <a:t>Web browser</a:t>
            </a:r>
            <a:r>
              <a:rPr lang="en-US" dirty="0">
                <a:latin typeface="Gill Sans MT" panose="020B0502020104020203" pitchFamily="34" charset="0"/>
              </a:rPr>
              <a:t>) and an external </a:t>
            </a:r>
            <a:r>
              <a:rPr lang="en-US" dirty="0">
                <a:latin typeface="Gill Sans MT" panose="020B0502020104020203" pitchFamily="34" charset="0"/>
                <a:hlinkClick r:id="rId3"/>
              </a:rPr>
              <a:t>server</a:t>
            </a:r>
            <a:r>
              <a:rPr lang="en-US" dirty="0">
                <a:latin typeface="Gill Sans MT" panose="020B0502020104020203" pitchFamily="34" charset="0"/>
              </a:rPr>
              <a:t> (typically another server on the Web) to filter requests, improve performance, and share connections.</a:t>
            </a:r>
          </a:p>
          <a:p>
            <a:pPr>
              <a:buFont typeface="Wingdings" panose="05000000000000000000" pitchFamily="2" charset="2"/>
              <a:buChar char="q"/>
              <a:defRPr/>
            </a:pPr>
            <a:endParaRPr lang="en-US" b="1" dirty="0">
              <a:latin typeface="Gill Sans MT" panose="020B0502020104020203" pitchFamily="34" charset="0"/>
            </a:endParaRPr>
          </a:p>
          <a:p>
            <a:pPr>
              <a:buFont typeface="Wingdings" panose="05000000000000000000" pitchFamily="2" charset="2"/>
              <a:buChar char="q"/>
              <a:defRPr/>
            </a:pPr>
            <a:r>
              <a:rPr lang="en-US" b="1" dirty="0">
                <a:solidFill>
                  <a:schemeClr val="accent1"/>
                </a:solidFill>
                <a:latin typeface="Gill Sans MT" panose="020B0502020104020203" pitchFamily="34" charset="0"/>
              </a:rPr>
              <a:t>Mail Server: </a:t>
            </a:r>
            <a:r>
              <a:rPr lang="en-US" dirty="0">
                <a:latin typeface="Gill Sans MT" panose="020B0502020104020203" pitchFamily="34" charset="0"/>
              </a:rPr>
              <a:t>Mail servers send and receive email using standard email protocols. For example, the SMTP protocol sends messages and handles outgoing mail requests. The IMAP and POP3 protocols receive messages and are used to process incoming mail.</a:t>
            </a:r>
          </a:p>
          <a:p>
            <a:pPr>
              <a:defRPr/>
            </a:pPr>
            <a:endParaRPr lang="en-US" b="1" dirty="0">
              <a:latin typeface="Gill Sans MT" panose="020B0502020104020203" pitchFamily="34" charset="0"/>
            </a:endParaRPr>
          </a:p>
        </p:txBody>
      </p:sp>
    </p:spTree>
    <p:extLst>
      <p:ext uri="{BB962C8B-B14F-4D97-AF65-F5344CB8AC3E}">
        <p14:creationId xmlns:p14="http://schemas.microsoft.com/office/powerpoint/2010/main" val="2416585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2285215" y="499954"/>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8195" name="Content Placeholder 2"/>
          <p:cNvSpPr>
            <a:spLocks noGrp="1"/>
          </p:cNvSpPr>
          <p:nvPr>
            <p:ph idx="1"/>
          </p:nvPr>
        </p:nvSpPr>
        <p:spPr>
          <a:xfrm>
            <a:off x="942679" y="1736104"/>
            <a:ext cx="10586301" cy="4924425"/>
          </a:xfrm>
        </p:spPr>
        <p:txBody>
          <a:bodyPr/>
          <a:lstStyle/>
          <a:p>
            <a:pPr>
              <a:buFont typeface="Wingdings" panose="05000000000000000000" pitchFamily="2" charset="2"/>
              <a:buChar char="q"/>
            </a:pPr>
            <a:r>
              <a:rPr lang="en-US" b="1" dirty="0">
                <a:solidFill>
                  <a:schemeClr val="accent1"/>
                </a:solidFill>
                <a:latin typeface="Gill Sans MT" panose="020B0502020104020203" pitchFamily="34" charset="0"/>
              </a:rPr>
              <a:t>Server Platforms: </a:t>
            </a:r>
            <a:r>
              <a:rPr lang="en-US" dirty="0">
                <a:latin typeface="Gill Sans MT" panose="020B0502020104020203" pitchFamily="34" charset="0"/>
              </a:rPr>
              <a:t>A family of servers that includes the hardware and operating system. For example, the Windows server platform refers to x86 CPUs and some server version of Windows such as Windows Server 2012.</a:t>
            </a:r>
          </a:p>
          <a:p>
            <a:pPr>
              <a:buFont typeface="Wingdings" panose="05000000000000000000" pitchFamily="2" charset="2"/>
              <a:buChar char="q"/>
            </a:pPr>
            <a:endParaRPr lang="en-US" b="1" dirty="0">
              <a:latin typeface="Gill Sans MT" panose="020B0502020104020203" pitchFamily="34" charset="0"/>
            </a:endParaRPr>
          </a:p>
          <a:p>
            <a:pPr>
              <a:buFont typeface="Wingdings" panose="05000000000000000000" pitchFamily="2" charset="2"/>
              <a:buChar char="q"/>
            </a:pPr>
            <a:r>
              <a:rPr lang="en-US" dirty="0">
                <a:solidFill>
                  <a:schemeClr val="accent1"/>
                </a:solidFill>
                <a:latin typeface="Gill Sans MT" panose="020B0502020104020203" pitchFamily="34" charset="0"/>
              </a:rPr>
              <a:t>A </a:t>
            </a:r>
            <a:r>
              <a:rPr lang="en-US" b="1" dirty="0">
                <a:solidFill>
                  <a:schemeClr val="accent1"/>
                </a:solidFill>
                <a:latin typeface="Gill Sans MT" panose="020B0502020104020203" pitchFamily="34" charset="0"/>
              </a:rPr>
              <a:t>Web server:</a:t>
            </a:r>
            <a:r>
              <a:rPr lang="en-US" dirty="0">
                <a:latin typeface="Gill Sans MT" panose="020B0502020104020203" pitchFamily="34" charset="0"/>
              </a:rPr>
              <a:t> is a program that uses </a:t>
            </a:r>
            <a:r>
              <a:rPr lang="en-US" b="1" dirty="0">
                <a:latin typeface="Gill Sans MT" panose="020B0502020104020203" pitchFamily="34" charset="0"/>
              </a:rPr>
              <a:t>HTTP</a:t>
            </a:r>
            <a:r>
              <a:rPr lang="en-US" dirty="0">
                <a:latin typeface="Gill Sans MT" panose="020B0502020104020203" pitchFamily="34" charset="0"/>
              </a:rPr>
              <a:t> (Hypertext Transfer Protocol) to serve the files that form </a:t>
            </a:r>
            <a:r>
              <a:rPr lang="en-US" b="1" dirty="0">
                <a:latin typeface="Gill Sans MT" panose="020B0502020104020203" pitchFamily="34" charset="0"/>
              </a:rPr>
              <a:t>Web</a:t>
            </a:r>
            <a:r>
              <a:rPr lang="en-US" dirty="0">
                <a:latin typeface="Gill Sans MT" panose="020B0502020104020203" pitchFamily="34" charset="0"/>
              </a:rPr>
              <a:t> pages to users, in response to their requests, which are forwarded by their computers' </a:t>
            </a:r>
            <a:r>
              <a:rPr lang="en-US" b="1" dirty="0">
                <a:latin typeface="Gill Sans MT" panose="020B0502020104020203" pitchFamily="34" charset="0"/>
              </a:rPr>
              <a:t>HTTP </a:t>
            </a:r>
            <a:r>
              <a:rPr lang="en-US" dirty="0">
                <a:latin typeface="Gill Sans MT" panose="020B0502020104020203" pitchFamily="34" charset="0"/>
              </a:rPr>
              <a:t>clients. Dedicated computers and appliances may be referred to as </a:t>
            </a:r>
            <a:r>
              <a:rPr lang="en-US" b="1" dirty="0">
                <a:latin typeface="Gill Sans MT" panose="020B0502020104020203" pitchFamily="34" charset="0"/>
              </a:rPr>
              <a:t>Web servers</a:t>
            </a:r>
            <a:r>
              <a:rPr lang="en-US" dirty="0">
                <a:latin typeface="Gill Sans MT" panose="020B0502020104020203" pitchFamily="34" charset="0"/>
              </a:rPr>
              <a:t> as well.</a:t>
            </a:r>
            <a:endParaRPr lang="en-US" b="1" dirty="0">
              <a:latin typeface="Gill Sans MT" panose="020B0502020104020203" pitchFamily="34" charset="0"/>
            </a:endParaRPr>
          </a:p>
        </p:txBody>
      </p:sp>
    </p:spTree>
    <p:extLst>
      <p:ext uri="{BB962C8B-B14F-4D97-AF65-F5344CB8AC3E}">
        <p14:creationId xmlns:p14="http://schemas.microsoft.com/office/powerpoint/2010/main" val="3704671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549165" y="652020"/>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9219" name="Content Placeholder 2"/>
          <p:cNvSpPr>
            <a:spLocks noGrp="1"/>
          </p:cNvSpPr>
          <p:nvPr>
            <p:ph idx="1"/>
          </p:nvPr>
        </p:nvSpPr>
        <p:spPr>
          <a:xfrm>
            <a:off x="1524000" y="1575849"/>
            <a:ext cx="9637336" cy="5416868"/>
          </a:xfrm>
        </p:spPr>
        <p:txBody>
          <a:bodyPr/>
          <a:lstStyle/>
          <a:p>
            <a:pPr>
              <a:buFont typeface="Wingdings" panose="05000000000000000000" pitchFamily="2" charset="2"/>
              <a:buChar char="q"/>
            </a:pPr>
            <a:r>
              <a:rPr lang="en-US" b="1" dirty="0">
                <a:solidFill>
                  <a:schemeClr val="accent1"/>
                </a:solidFill>
                <a:latin typeface="Gill Sans MT" panose="020B0502020104020203" pitchFamily="34" charset="0"/>
              </a:rPr>
              <a:t>Application Server: </a:t>
            </a:r>
            <a:r>
              <a:rPr lang="en-US" dirty="0">
                <a:latin typeface="Gill Sans MT" panose="020B0502020104020203" pitchFamily="34" charset="0"/>
              </a:rPr>
              <a:t>An application server is a software framework that provides both facilities to create web applications and a server environment to run them. It sits between the network and the database,</a:t>
            </a:r>
            <a:r>
              <a:rPr lang="en-US" b="1" dirty="0">
                <a:latin typeface="Gill Sans MT" panose="020B0502020104020203" pitchFamily="34" charset="0"/>
              </a:rPr>
              <a:t> </a:t>
            </a:r>
          </a:p>
          <a:p>
            <a:pPr>
              <a:buFont typeface="Wingdings" panose="05000000000000000000" pitchFamily="2" charset="2"/>
              <a:buChar char="q"/>
            </a:pPr>
            <a:endParaRPr lang="en-US" b="1" dirty="0">
              <a:latin typeface="Gill Sans MT" panose="020B0502020104020203" pitchFamily="34" charset="0"/>
            </a:endParaRPr>
          </a:p>
          <a:p>
            <a:pPr>
              <a:buFont typeface="Wingdings" panose="05000000000000000000" pitchFamily="2" charset="2"/>
              <a:buChar char="q"/>
            </a:pPr>
            <a:r>
              <a:rPr lang="en-US" b="1" dirty="0">
                <a:solidFill>
                  <a:schemeClr val="accent1"/>
                </a:solidFill>
                <a:latin typeface="Gill Sans MT" panose="020B0502020104020203" pitchFamily="34" charset="0"/>
              </a:rPr>
              <a:t>Real-Time Communication Server: </a:t>
            </a:r>
            <a:r>
              <a:rPr lang="en-US" dirty="0">
                <a:latin typeface="Gill Sans MT" panose="020B0502020104020203" pitchFamily="34" charset="0"/>
              </a:rPr>
              <a:t>Real-time communication servers, formerly known as chat servers or </a:t>
            </a:r>
            <a:r>
              <a:rPr lang="en-US" dirty="0">
                <a:latin typeface="Gill Sans MT" panose="020B0502020104020203" pitchFamily="34" charset="0"/>
                <a:hlinkClick r:id="rId2"/>
              </a:rPr>
              <a:t>IRC</a:t>
            </a:r>
            <a:r>
              <a:rPr lang="en-US" dirty="0">
                <a:latin typeface="Gill Sans MT" panose="020B0502020104020203" pitchFamily="34" charset="0"/>
              </a:rPr>
              <a:t> Servers, and still sometimes referred to as </a:t>
            </a:r>
            <a:r>
              <a:rPr lang="en-US" dirty="0">
                <a:latin typeface="Gill Sans MT" panose="020B0502020104020203" pitchFamily="34" charset="0"/>
                <a:hlinkClick r:id="rId3"/>
              </a:rPr>
              <a:t>instant messaging</a:t>
            </a:r>
            <a:r>
              <a:rPr lang="en-US" dirty="0">
                <a:latin typeface="Gill Sans MT" panose="020B0502020104020203" pitchFamily="34" charset="0"/>
              </a:rPr>
              <a:t> (IM) servers, enable large numbers users to exchange information near instantaneously. </a:t>
            </a:r>
            <a:endParaRPr lang="en-US" b="1" dirty="0">
              <a:latin typeface="Gill Sans MT" panose="020B0502020104020203" pitchFamily="34" charset="0"/>
            </a:endParaRPr>
          </a:p>
        </p:txBody>
      </p:sp>
    </p:spTree>
    <p:extLst>
      <p:ext uri="{BB962C8B-B14F-4D97-AF65-F5344CB8AC3E}">
        <p14:creationId xmlns:p14="http://schemas.microsoft.com/office/powerpoint/2010/main" val="36584140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502031" y="451247"/>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10243" name="Content Placeholder 2"/>
          <p:cNvSpPr>
            <a:spLocks noGrp="1"/>
          </p:cNvSpPr>
          <p:nvPr>
            <p:ph idx="1"/>
          </p:nvPr>
        </p:nvSpPr>
        <p:spPr>
          <a:xfrm>
            <a:off x="697584" y="1066800"/>
            <a:ext cx="9970416" cy="5416868"/>
          </a:xfrm>
        </p:spPr>
        <p:txBody>
          <a:bodyPr/>
          <a:lstStyle/>
          <a:p>
            <a:pPr>
              <a:buFont typeface="Wingdings" panose="05000000000000000000" pitchFamily="2" charset="2"/>
              <a:buChar char="q"/>
            </a:pPr>
            <a:r>
              <a:rPr lang="en-US" b="1" dirty="0">
                <a:solidFill>
                  <a:schemeClr val="accent1"/>
                </a:solidFill>
                <a:latin typeface="Gill Sans MT" panose="020B0502020104020203" pitchFamily="34" charset="0"/>
              </a:rPr>
              <a:t>FTP Server: </a:t>
            </a:r>
            <a:r>
              <a:rPr lang="en-US" dirty="0">
                <a:latin typeface="Gill Sans MT" panose="020B0502020104020203" pitchFamily="34" charset="0"/>
              </a:rPr>
              <a:t>In the client/</a:t>
            </a:r>
            <a:r>
              <a:rPr lang="en-US" b="1" dirty="0">
                <a:latin typeface="Gill Sans MT" panose="020B0502020104020203" pitchFamily="34" charset="0"/>
              </a:rPr>
              <a:t>server</a:t>
            </a:r>
            <a:r>
              <a:rPr lang="en-US" dirty="0">
                <a:latin typeface="Gill Sans MT" panose="020B0502020104020203" pitchFamily="34" charset="0"/>
              </a:rPr>
              <a:t> model, a </a:t>
            </a:r>
            <a:r>
              <a:rPr lang="en-US" b="1" dirty="0">
                <a:latin typeface="Gill Sans MT" panose="020B0502020104020203" pitchFamily="34" charset="0"/>
              </a:rPr>
              <a:t>file server</a:t>
            </a:r>
            <a:r>
              <a:rPr lang="en-US" dirty="0">
                <a:latin typeface="Gill Sans MT" panose="020B0502020104020203" pitchFamily="34" charset="0"/>
              </a:rPr>
              <a:t> is a computer responsible for the central storage and management of data </a:t>
            </a:r>
            <a:r>
              <a:rPr lang="en-US" b="1" dirty="0">
                <a:latin typeface="Gill Sans MT" panose="020B0502020104020203" pitchFamily="34" charset="0"/>
              </a:rPr>
              <a:t>files</a:t>
            </a:r>
            <a:r>
              <a:rPr lang="en-US" dirty="0">
                <a:latin typeface="Gill Sans MT" panose="020B0502020104020203" pitchFamily="34" charset="0"/>
              </a:rPr>
              <a:t> so that other computers on the same network can access the </a:t>
            </a:r>
            <a:r>
              <a:rPr lang="en-US" b="1" dirty="0">
                <a:latin typeface="Gill Sans MT" panose="020B0502020104020203" pitchFamily="34" charset="0"/>
              </a:rPr>
              <a:t>files</a:t>
            </a:r>
            <a:r>
              <a:rPr lang="en-US" dirty="0">
                <a:latin typeface="Gill Sans MT" panose="020B0502020104020203" pitchFamily="34" charset="0"/>
              </a:rPr>
              <a:t>. ... A program or mechanism that enables the required processes for </a:t>
            </a:r>
            <a:r>
              <a:rPr lang="en-US" b="1" dirty="0">
                <a:latin typeface="Gill Sans MT" panose="020B0502020104020203" pitchFamily="34" charset="0"/>
              </a:rPr>
              <a:t>file</a:t>
            </a:r>
            <a:r>
              <a:rPr lang="en-US" dirty="0">
                <a:latin typeface="Gill Sans MT" panose="020B0502020104020203" pitchFamily="34" charset="0"/>
              </a:rPr>
              <a:t> sharing can also be called a </a:t>
            </a:r>
            <a:r>
              <a:rPr lang="en-US" b="1" dirty="0">
                <a:latin typeface="Gill Sans MT" panose="020B0502020104020203" pitchFamily="34" charset="0"/>
              </a:rPr>
              <a:t>file server</a:t>
            </a:r>
            <a:r>
              <a:rPr lang="en-US" dirty="0">
                <a:latin typeface="Gill Sans MT" panose="020B0502020104020203" pitchFamily="34" charset="0"/>
              </a:rPr>
              <a:t>.</a:t>
            </a:r>
          </a:p>
          <a:p>
            <a:pPr>
              <a:buFont typeface="Wingdings" panose="05000000000000000000" pitchFamily="2" charset="2"/>
              <a:buChar char="q"/>
            </a:pPr>
            <a:endParaRPr lang="en-US" dirty="0">
              <a:latin typeface="Gill Sans MT" panose="020B0502020104020203" pitchFamily="34" charset="0"/>
            </a:endParaRPr>
          </a:p>
          <a:p>
            <a:pPr>
              <a:buFont typeface="Wingdings" panose="05000000000000000000" pitchFamily="2" charset="2"/>
              <a:buChar char="q"/>
            </a:pPr>
            <a:r>
              <a:rPr lang="en-US" b="1" dirty="0">
                <a:solidFill>
                  <a:schemeClr val="accent1"/>
                </a:solidFill>
                <a:latin typeface="Gill Sans MT" panose="020B0502020104020203" pitchFamily="34" charset="0"/>
              </a:rPr>
              <a:t>Collaboration Server: </a:t>
            </a:r>
            <a:r>
              <a:rPr lang="en-US" dirty="0">
                <a:latin typeface="Gill Sans MT" panose="020B0502020104020203" pitchFamily="34" charset="0"/>
              </a:rPr>
              <a:t>Collaboration software designed to enable users to collaborate, regardless of location, via the Internet or a corporate intranet and to work together in a </a:t>
            </a:r>
            <a:r>
              <a:rPr lang="en-US" dirty="0">
                <a:latin typeface="Gill Sans MT" panose="020B0502020104020203" pitchFamily="34" charset="0"/>
                <a:hlinkClick r:id="rId2"/>
              </a:rPr>
              <a:t>virtual</a:t>
            </a:r>
            <a:r>
              <a:rPr lang="en-US" dirty="0">
                <a:latin typeface="Gill Sans MT" panose="020B0502020104020203" pitchFamily="34" charset="0"/>
              </a:rPr>
              <a:t> atmosphere. </a:t>
            </a:r>
            <a:endParaRPr lang="en-US" b="1" dirty="0">
              <a:latin typeface="Gill Sans MT" panose="020B0502020104020203" pitchFamily="34" charset="0"/>
            </a:endParaRPr>
          </a:p>
        </p:txBody>
      </p:sp>
    </p:spTree>
    <p:extLst>
      <p:ext uri="{BB962C8B-B14F-4D97-AF65-F5344CB8AC3E}">
        <p14:creationId xmlns:p14="http://schemas.microsoft.com/office/powerpoint/2010/main" val="1016536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231794" y="451248"/>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3" name="Content Placeholder 2"/>
          <p:cNvSpPr>
            <a:spLocks noGrp="1"/>
          </p:cNvSpPr>
          <p:nvPr>
            <p:ph idx="1"/>
          </p:nvPr>
        </p:nvSpPr>
        <p:spPr>
          <a:xfrm>
            <a:off x="942679" y="1291472"/>
            <a:ext cx="10350631" cy="6177082"/>
          </a:xfrm>
        </p:spPr>
        <p:txBody>
          <a:bodyPr/>
          <a:lstStyle/>
          <a:p>
            <a:pPr>
              <a:defRPr/>
            </a:pPr>
            <a:r>
              <a:rPr lang="en-US" b="1" dirty="0">
                <a:solidFill>
                  <a:schemeClr val="accent1"/>
                </a:solidFill>
                <a:latin typeface="Gill Sans MT" panose="020B0502020104020203" pitchFamily="34" charset="0"/>
              </a:rPr>
              <a:t>A list server</a:t>
            </a:r>
            <a:r>
              <a:rPr lang="en-US" dirty="0">
                <a:latin typeface="Gill Sans MT" panose="020B0502020104020203" pitchFamily="34" charset="0"/>
              </a:rPr>
              <a:t> (mailing list server) is a program that handles subscription requests for a mailing list and distributes new messages, newsletters, or other postings to the entire list of subscribers as they occur or are scheduled for advertising purpose.</a:t>
            </a:r>
          </a:p>
          <a:p>
            <a:pPr>
              <a:defRPr/>
            </a:pPr>
            <a:endParaRPr lang="en-US" dirty="0">
              <a:latin typeface="Gill Sans MT" panose="020B0502020104020203" pitchFamily="34" charset="0"/>
            </a:endParaRPr>
          </a:p>
          <a:p>
            <a:pPr>
              <a:defRPr/>
            </a:pPr>
            <a:r>
              <a:rPr lang="en-US" b="1" dirty="0">
                <a:solidFill>
                  <a:schemeClr val="accent1"/>
                </a:solidFill>
                <a:latin typeface="Gill Sans MT" panose="020B0502020104020203" pitchFamily="34" charset="0"/>
              </a:rPr>
              <a:t>Telnet Server: </a:t>
            </a:r>
            <a:r>
              <a:rPr lang="en-US" dirty="0">
                <a:latin typeface="Gill Sans MT" panose="020B0502020104020203" pitchFamily="34" charset="0"/>
              </a:rPr>
              <a:t>A </a:t>
            </a:r>
            <a:r>
              <a:rPr lang="en-US" dirty="0">
                <a:latin typeface="Gill Sans MT" panose="020B0502020104020203" pitchFamily="34" charset="0"/>
                <a:hlinkClick r:id="rId2"/>
              </a:rPr>
              <a:t>Telnet</a:t>
            </a:r>
            <a:r>
              <a:rPr lang="en-US" dirty="0">
                <a:latin typeface="Gill Sans MT" panose="020B0502020104020203" pitchFamily="34" charset="0"/>
              </a:rPr>
              <a:t> server enables users to log on to a host computer and perform tasks as if they're working on the remote computer itself. Using telnet client software on your computer, you can make a connection to a telnet server (i.e., the remote host).</a:t>
            </a:r>
            <a:endParaRPr lang="en-US" b="1" dirty="0">
              <a:latin typeface="Gill Sans MT" panose="020B0502020104020203" pitchFamily="34" charset="0"/>
            </a:endParaRPr>
          </a:p>
          <a:p>
            <a:pPr>
              <a:defRPr/>
            </a:pPr>
            <a:endParaRPr lang="en-US" b="1" dirty="0">
              <a:latin typeface="Gill Sans MT" panose="020B0502020104020203" pitchFamily="34" charset="0"/>
            </a:endParaRPr>
          </a:p>
        </p:txBody>
      </p:sp>
    </p:spTree>
    <p:extLst>
      <p:ext uri="{BB962C8B-B14F-4D97-AF65-F5344CB8AC3E}">
        <p14:creationId xmlns:p14="http://schemas.microsoft.com/office/powerpoint/2010/main" val="3943429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2227083" y="793422"/>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3" name="Content Placeholder 2"/>
          <p:cNvSpPr>
            <a:spLocks noGrp="1"/>
          </p:cNvSpPr>
          <p:nvPr>
            <p:ph idx="1"/>
          </p:nvPr>
        </p:nvSpPr>
        <p:spPr>
          <a:xfrm>
            <a:off x="1027523" y="1545996"/>
            <a:ext cx="10171520" cy="4445229"/>
          </a:xfrm>
        </p:spPr>
        <p:txBody>
          <a:bodyPr/>
          <a:lstStyle/>
          <a:p>
            <a:pPr>
              <a:defRPr/>
            </a:pPr>
            <a:r>
              <a:rPr lang="en-US" b="1" dirty="0">
                <a:solidFill>
                  <a:schemeClr val="accent1"/>
                </a:solidFill>
                <a:latin typeface="Gill Sans MT" panose="020B0502020104020203" pitchFamily="34" charset="0"/>
              </a:rPr>
              <a:t>Open Source Server: </a:t>
            </a:r>
            <a:r>
              <a:rPr lang="en-US" dirty="0">
                <a:latin typeface="Gill Sans MT" panose="020B0502020104020203" pitchFamily="34" charset="0"/>
              </a:rPr>
              <a:t>In general, open source refers to any program whose source code is made available for use or modification as users or other developers see fit. Open source software is usually developed as a public collaboration and made freely available. </a:t>
            </a:r>
            <a:r>
              <a:rPr lang="en-US" dirty="0" err="1">
                <a:latin typeface="Gill Sans MT" panose="020B0502020104020203" pitchFamily="34" charset="0"/>
              </a:rPr>
              <a:t>Eg</a:t>
            </a:r>
            <a:r>
              <a:rPr lang="en-US" dirty="0">
                <a:latin typeface="Gill Sans MT" panose="020B0502020104020203" pitchFamily="34" charset="0"/>
              </a:rPr>
              <a:t> Apache HTTP Server, Apache, Tomcat</a:t>
            </a:r>
          </a:p>
          <a:p>
            <a:pPr>
              <a:defRPr/>
            </a:pPr>
            <a:endParaRPr lang="en-US" b="1" dirty="0">
              <a:latin typeface="Gill Sans MT" panose="020B0502020104020203" pitchFamily="34" charset="0"/>
            </a:endParaRPr>
          </a:p>
          <a:p>
            <a:pPr>
              <a:defRPr/>
            </a:pPr>
            <a:r>
              <a:rPr lang="en-US" b="1" dirty="0">
                <a:solidFill>
                  <a:schemeClr val="accent1"/>
                </a:solidFill>
                <a:latin typeface="Gill Sans MT" panose="020B0502020104020203" pitchFamily="34" charset="0"/>
              </a:rPr>
              <a:t>Virtual Server: </a:t>
            </a:r>
            <a:r>
              <a:rPr lang="en-US" dirty="0">
                <a:latin typeface="Gill Sans MT" panose="020B0502020104020203" pitchFamily="34" charset="0"/>
              </a:rPr>
              <a:t>A virtual</a:t>
            </a:r>
            <a:r>
              <a:rPr lang="en-US" i="1" dirty="0">
                <a:latin typeface="Gill Sans MT" panose="020B0502020104020203" pitchFamily="34" charset="0"/>
              </a:rPr>
              <a:t> server</a:t>
            </a:r>
            <a:r>
              <a:rPr lang="en-US" dirty="0">
                <a:latin typeface="Gill Sans MT" panose="020B0502020104020203" pitchFamily="34" charset="0"/>
              </a:rPr>
              <a:t> is a </a:t>
            </a:r>
            <a:r>
              <a:rPr lang="en-US" i="1" dirty="0">
                <a:latin typeface="Gill Sans MT" panose="020B0502020104020203" pitchFamily="34" charset="0"/>
              </a:rPr>
              <a:t>server</a:t>
            </a:r>
            <a:r>
              <a:rPr lang="en-US" dirty="0">
                <a:latin typeface="Gill Sans MT" panose="020B0502020104020203" pitchFamily="34" charset="0"/>
              </a:rPr>
              <a:t> that shares hardware and software resources with other operating systems (OS), versus dedicated </a:t>
            </a:r>
            <a:r>
              <a:rPr lang="en-US" i="1" dirty="0">
                <a:latin typeface="Gill Sans MT" panose="020B0502020104020203" pitchFamily="34" charset="0"/>
              </a:rPr>
              <a:t>servers</a:t>
            </a:r>
            <a:r>
              <a:rPr lang="en-US" dirty="0">
                <a:latin typeface="Gill Sans MT" panose="020B0502020104020203" pitchFamily="34" charset="0"/>
              </a:rPr>
              <a:t>. </a:t>
            </a:r>
            <a:endParaRPr lang="en-US" b="1" dirty="0">
              <a:latin typeface="Gill Sans MT" panose="020B0502020104020203" pitchFamily="34" charset="0"/>
            </a:endParaRPr>
          </a:p>
        </p:txBody>
      </p:sp>
    </p:spTree>
    <p:extLst>
      <p:ext uri="{BB962C8B-B14F-4D97-AF65-F5344CB8AC3E}">
        <p14:creationId xmlns:p14="http://schemas.microsoft.com/office/powerpoint/2010/main" val="1802547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190946" y="451247"/>
            <a:ext cx="7772400" cy="615553"/>
          </a:xfrm>
        </p:spPr>
        <p:txBody>
          <a:bodyPr/>
          <a:lstStyle/>
          <a:p>
            <a:pPr algn="ctr"/>
            <a:r>
              <a:rPr lang="en-US" b="1" dirty="0">
                <a:latin typeface="Gill Sans MT" panose="020B0502020104020203" pitchFamily="34" charset="0"/>
              </a:rPr>
              <a:t>Server Types</a:t>
            </a:r>
            <a:endParaRPr lang="en-US" dirty="0">
              <a:latin typeface="Gill Sans MT" panose="020B0502020104020203" pitchFamily="34" charset="0"/>
            </a:endParaRPr>
          </a:p>
        </p:txBody>
      </p:sp>
      <p:sp>
        <p:nvSpPr>
          <p:cNvPr id="3" name="Content Placeholder 2"/>
          <p:cNvSpPr>
            <a:spLocks noGrp="1"/>
          </p:cNvSpPr>
          <p:nvPr>
            <p:ph idx="1"/>
          </p:nvPr>
        </p:nvSpPr>
        <p:spPr>
          <a:xfrm>
            <a:off x="1524000" y="1216058"/>
            <a:ext cx="9750458" cy="5760052"/>
          </a:xfrm>
        </p:spPr>
        <p:txBody>
          <a:bodyPr/>
          <a:lstStyle/>
          <a:p>
            <a:pPr>
              <a:defRPr/>
            </a:pPr>
            <a:r>
              <a:rPr lang="en-US" b="1" dirty="0">
                <a:solidFill>
                  <a:schemeClr val="accent1"/>
                </a:solidFill>
                <a:latin typeface="Gill Sans MT" panose="020B0502020104020203" pitchFamily="34" charset="0"/>
              </a:rPr>
              <a:t>Print server: </a:t>
            </a:r>
            <a:r>
              <a:rPr lang="en-US" dirty="0">
                <a:latin typeface="Gill Sans MT" panose="020B0502020104020203" pitchFamily="34" charset="0"/>
              </a:rPr>
              <a:t>Manages the printers that are connected to the network and the printing of user documents on the network printers</a:t>
            </a:r>
          </a:p>
          <a:p>
            <a:pPr>
              <a:defRPr/>
            </a:pPr>
            <a:endParaRPr lang="en-US" b="1" dirty="0">
              <a:latin typeface="Gill Sans MT" panose="020B0502020104020203" pitchFamily="34" charset="0"/>
            </a:endParaRPr>
          </a:p>
          <a:p>
            <a:pPr>
              <a:defRPr/>
            </a:pPr>
            <a:r>
              <a:rPr lang="en-US" b="1" dirty="0">
                <a:solidFill>
                  <a:schemeClr val="accent1"/>
                </a:solidFill>
                <a:latin typeface="Gill Sans MT" panose="020B0502020104020203" pitchFamily="34" charset="0"/>
              </a:rPr>
              <a:t>Communications server: </a:t>
            </a:r>
            <a:r>
              <a:rPr lang="en-US" dirty="0">
                <a:latin typeface="Gill Sans MT" panose="020B0502020104020203" pitchFamily="34" charset="0"/>
              </a:rPr>
              <a:t>Handles many common communications functions for the network, such as e-mail, fax, remote access, firewalls or Internet services</a:t>
            </a:r>
          </a:p>
          <a:p>
            <a:pPr>
              <a:defRPr/>
            </a:pPr>
            <a:endParaRPr lang="en-US" dirty="0">
              <a:latin typeface="Gill Sans MT" panose="020B0502020104020203" pitchFamily="34" charset="0"/>
            </a:endParaRPr>
          </a:p>
          <a:p>
            <a:pPr>
              <a:defRPr/>
            </a:pPr>
            <a:r>
              <a:rPr lang="en-US" b="1" dirty="0">
                <a:solidFill>
                  <a:schemeClr val="accent1"/>
                </a:solidFill>
                <a:latin typeface="Gill Sans MT" panose="020B0502020104020203" pitchFamily="34" charset="0"/>
              </a:rPr>
              <a:t>Database server: </a:t>
            </a:r>
            <a:r>
              <a:rPr lang="en-US" dirty="0">
                <a:latin typeface="Gill Sans MT" panose="020B0502020104020203" pitchFamily="34" charset="0"/>
              </a:rPr>
              <a:t>Manages common databases for the network, handling all data storage, database management and requests for data</a:t>
            </a:r>
            <a:endParaRPr lang="en-US" b="1" dirty="0">
              <a:latin typeface="Gill Sans MT" panose="020B0502020104020203" pitchFamily="34" charset="0"/>
            </a:endParaRPr>
          </a:p>
          <a:p>
            <a:pPr>
              <a:defRPr/>
            </a:pPr>
            <a:endParaRPr lang="en-US" b="1" dirty="0">
              <a:latin typeface="Gill Sans MT" panose="020B0502020104020203" pitchFamily="34" charset="0"/>
            </a:endParaRPr>
          </a:p>
        </p:txBody>
      </p:sp>
    </p:spTree>
    <p:extLst>
      <p:ext uri="{BB962C8B-B14F-4D97-AF65-F5344CB8AC3E}">
        <p14:creationId xmlns:p14="http://schemas.microsoft.com/office/powerpoint/2010/main" val="235483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2065421" y="3221146"/>
            <a:ext cx="7772400" cy="615553"/>
          </a:xfrm>
        </p:spPr>
        <p:txBody>
          <a:bodyPr/>
          <a:lstStyle/>
          <a:p>
            <a:pPr algn="ctr"/>
            <a:r>
              <a:rPr lang="en-US" dirty="0">
                <a:latin typeface="Gill Sans MT" panose="020B0502020104020203" pitchFamily="34" charset="0"/>
              </a:rPr>
              <a:t>Virtualization?</a:t>
            </a:r>
          </a:p>
        </p:txBody>
      </p:sp>
    </p:spTree>
    <p:extLst>
      <p:ext uri="{BB962C8B-B14F-4D97-AF65-F5344CB8AC3E}">
        <p14:creationId xmlns:p14="http://schemas.microsoft.com/office/powerpoint/2010/main" val="2417257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4B10C-5EF8-4CDE-B0A9-182DF86425CC}"/>
              </a:ext>
            </a:extLst>
          </p:cNvPr>
          <p:cNvSpPr>
            <a:spLocks noGrp="1"/>
          </p:cNvSpPr>
          <p:nvPr>
            <p:ph type="title"/>
          </p:nvPr>
        </p:nvSpPr>
        <p:spPr/>
        <p:txBody>
          <a:bodyPr/>
          <a:lstStyle/>
          <a:p>
            <a:r>
              <a:rPr lang="en-US" b="1" dirty="0">
                <a:latin typeface="Gill Sans MT" panose="020B0502020104020203" pitchFamily="34" charset="0"/>
              </a:rPr>
              <a:t>What is Virtualization</a:t>
            </a:r>
            <a:endParaRPr lang="en-US" dirty="0"/>
          </a:p>
        </p:txBody>
      </p:sp>
      <p:sp>
        <p:nvSpPr>
          <p:cNvPr id="4" name="Slide Number Placeholder 3">
            <a:extLst>
              <a:ext uri="{FF2B5EF4-FFF2-40B4-BE49-F238E27FC236}">
                <a16:creationId xmlns:a16="http://schemas.microsoft.com/office/drawing/2014/main" id="{26017951-6FAC-4B05-9B37-9F2E8BC870FF}"/>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12</a:t>
            </a:fld>
            <a:endParaRPr lang="en-US" dirty="0"/>
          </a:p>
        </p:txBody>
      </p:sp>
      <p:pic>
        <p:nvPicPr>
          <p:cNvPr id="6" name="Picture 5">
            <a:extLst>
              <a:ext uri="{FF2B5EF4-FFF2-40B4-BE49-F238E27FC236}">
                <a16:creationId xmlns:a16="http://schemas.microsoft.com/office/drawing/2014/main" id="{85CC2F20-CE34-4A8D-81CE-F4562202FDCC}"/>
              </a:ext>
            </a:extLst>
          </p:cNvPr>
          <p:cNvPicPr>
            <a:picLocks noChangeAspect="1"/>
          </p:cNvPicPr>
          <p:nvPr/>
        </p:nvPicPr>
        <p:blipFill>
          <a:blip r:embed="rId2"/>
          <a:stretch>
            <a:fillRect/>
          </a:stretch>
        </p:blipFill>
        <p:spPr>
          <a:xfrm>
            <a:off x="5474571" y="1775250"/>
            <a:ext cx="5092962" cy="4083260"/>
          </a:xfrm>
          <a:prstGeom prst="rect">
            <a:avLst/>
          </a:prstGeom>
        </p:spPr>
      </p:pic>
      <p:sp>
        <p:nvSpPr>
          <p:cNvPr id="8" name="TextBox 7">
            <a:extLst>
              <a:ext uri="{FF2B5EF4-FFF2-40B4-BE49-F238E27FC236}">
                <a16:creationId xmlns:a16="http://schemas.microsoft.com/office/drawing/2014/main" id="{CB415E11-4987-4F2E-9388-E224829E0D8C}"/>
              </a:ext>
            </a:extLst>
          </p:cNvPr>
          <p:cNvSpPr txBox="1"/>
          <p:nvPr/>
        </p:nvSpPr>
        <p:spPr>
          <a:xfrm>
            <a:off x="500513" y="1775250"/>
            <a:ext cx="4716379" cy="4524315"/>
          </a:xfrm>
          <a:prstGeom prst="rect">
            <a:avLst/>
          </a:prstGeom>
          <a:noFill/>
        </p:spPr>
        <p:txBody>
          <a:bodyPr wrap="square">
            <a:spAutoFit/>
          </a:bodyPr>
          <a:lstStyle/>
          <a:p>
            <a:r>
              <a:rPr lang="en-US" sz="3200" b="1" dirty="0">
                <a:latin typeface="Gill Sans MT" panose="020B0502020104020203" pitchFamily="34" charset="0"/>
              </a:rPr>
              <a:t>Virtualization</a:t>
            </a:r>
            <a:r>
              <a:rPr lang="en-US" sz="3200" dirty="0">
                <a:latin typeface="Gill Sans MT" panose="020B0502020104020203" pitchFamily="34" charset="0"/>
              </a:rPr>
              <a:t> is the technology that allows you to </a:t>
            </a:r>
            <a:r>
              <a:rPr lang="en-US" sz="3200" b="1" dirty="0">
                <a:latin typeface="Gill Sans MT" panose="020B0502020104020203" pitchFamily="34" charset="0"/>
              </a:rPr>
              <a:t>run </a:t>
            </a:r>
            <a:r>
              <a:rPr lang="en-US" sz="3200" dirty="0">
                <a:latin typeface="Gill Sans MT" panose="020B0502020104020203" pitchFamily="34" charset="0"/>
              </a:rPr>
              <a:t>multiple virtual machines (VMs) on a single physical host, sharing resources like CPU, memory, storage, and network, while isolating each VM from the others.</a:t>
            </a:r>
            <a:endParaRPr lang="en-US" sz="3200" b="1" dirty="0">
              <a:latin typeface="Gill Sans MT" panose="020B0502020104020203" pitchFamily="34" charset="0"/>
            </a:endParaRPr>
          </a:p>
        </p:txBody>
      </p:sp>
    </p:spTree>
    <p:extLst>
      <p:ext uri="{BB962C8B-B14F-4D97-AF65-F5344CB8AC3E}">
        <p14:creationId xmlns:p14="http://schemas.microsoft.com/office/powerpoint/2010/main" val="1277910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2209800" y="1199841"/>
            <a:ext cx="7772400" cy="615553"/>
          </a:xfrm>
        </p:spPr>
        <p:txBody>
          <a:bodyPr/>
          <a:lstStyle/>
          <a:p>
            <a:pPr algn="ctr"/>
            <a:r>
              <a:rPr lang="en-US" dirty="0">
                <a:latin typeface="Gill Sans MT" panose="020B0502020104020203" pitchFamily="34" charset="0"/>
              </a:rPr>
              <a:t>What is Virtualization?</a:t>
            </a:r>
          </a:p>
        </p:txBody>
      </p:sp>
      <p:sp>
        <p:nvSpPr>
          <p:cNvPr id="14339" name="Content Placeholder 2"/>
          <p:cNvSpPr>
            <a:spLocks noGrp="1"/>
          </p:cNvSpPr>
          <p:nvPr>
            <p:ph idx="1"/>
          </p:nvPr>
        </p:nvSpPr>
        <p:spPr>
          <a:xfrm>
            <a:off x="1524000" y="2227868"/>
            <a:ext cx="9144000" cy="4185761"/>
          </a:xfrm>
        </p:spPr>
        <p:txBody>
          <a:bodyPr/>
          <a:lstStyle/>
          <a:p>
            <a:r>
              <a:rPr lang="en-US" sz="4000" dirty="0">
                <a:latin typeface="Gill Sans MT" panose="020B0502020104020203" pitchFamily="34" charset="0"/>
              </a:rPr>
              <a:t>virtualization means to create a </a:t>
            </a:r>
            <a:r>
              <a:rPr lang="en-US" sz="4000" dirty="0">
                <a:latin typeface="Gill Sans MT" panose="020B0502020104020203" pitchFamily="34" charset="0"/>
                <a:hlinkClick r:id="rId2"/>
              </a:rPr>
              <a:t>virtual</a:t>
            </a:r>
            <a:r>
              <a:rPr lang="en-US" sz="4000" dirty="0">
                <a:latin typeface="Gill Sans MT" panose="020B0502020104020203" pitchFamily="34" charset="0"/>
              </a:rPr>
              <a:t> version of a </a:t>
            </a:r>
            <a:r>
              <a:rPr lang="en-US" sz="4000" dirty="0">
                <a:latin typeface="Gill Sans MT" panose="020B0502020104020203" pitchFamily="34" charset="0"/>
                <a:hlinkClick r:id="rId3"/>
              </a:rPr>
              <a:t>device</a:t>
            </a:r>
            <a:r>
              <a:rPr lang="en-US" sz="4000" dirty="0">
                <a:latin typeface="Gill Sans MT" panose="020B0502020104020203" pitchFamily="34" charset="0"/>
              </a:rPr>
              <a:t> or resource, such as a </a:t>
            </a:r>
            <a:r>
              <a:rPr lang="en-US" sz="4000" dirty="0">
                <a:latin typeface="Gill Sans MT" panose="020B0502020104020203" pitchFamily="34" charset="0"/>
                <a:hlinkClick r:id="rId4"/>
              </a:rPr>
              <a:t>server</a:t>
            </a:r>
            <a:r>
              <a:rPr lang="en-US" sz="4000" dirty="0">
                <a:latin typeface="Gill Sans MT" panose="020B0502020104020203" pitchFamily="34" charset="0"/>
              </a:rPr>
              <a:t>, </a:t>
            </a:r>
            <a:r>
              <a:rPr lang="en-US" sz="4000" dirty="0">
                <a:latin typeface="Gill Sans MT" panose="020B0502020104020203" pitchFamily="34" charset="0"/>
                <a:hlinkClick r:id="rId5"/>
              </a:rPr>
              <a:t>storage device</a:t>
            </a:r>
            <a:r>
              <a:rPr lang="en-US" sz="4000" dirty="0">
                <a:latin typeface="Gill Sans MT" panose="020B0502020104020203" pitchFamily="34" charset="0"/>
              </a:rPr>
              <a:t>, </a:t>
            </a:r>
            <a:r>
              <a:rPr lang="en-US" sz="4000" dirty="0">
                <a:latin typeface="Gill Sans MT" panose="020B0502020104020203" pitchFamily="34" charset="0"/>
                <a:hlinkClick r:id="rId6"/>
              </a:rPr>
              <a:t>network</a:t>
            </a:r>
            <a:r>
              <a:rPr lang="en-US" sz="4000" dirty="0">
                <a:latin typeface="Gill Sans MT" panose="020B0502020104020203" pitchFamily="34" charset="0"/>
              </a:rPr>
              <a:t> or even an </a:t>
            </a:r>
            <a:r>
              <a:rPr lang="en-US" sz="4000" dirty="0">
                <a:latin typeface="Gill Sans MT" panose="020B0502020104020203" pitchFamily="34" charset="0"/>
                <a:hlinkClick r:id="rId7"/>
              </a:rPr>
              <a:t>operating system</a:t>
            </a:r>
            <a:r>
              <a:rPr lang="en-US" sz="4000" dirty="0">
                <a:latin typeface="Gill Sans MT" panose="020B0502020104020203" pitchFamily="34" charset="0"/>
              </a:rPr>
              <a:t> where the framework divides the resource into one or more </a:t>
            </a:r>
            <a:r>
              <a:rPr lang="en-US" sz="4000" dirty="0">
                <a:latin typeface="Gill Sans MT" panose="020B0502020104020203" pitchFamily="34" charset="0"/>
                <a:hlinkClick r:id="rId8"/>
              </a:rPr>
              <a:t>execution</a:t>
            </a:r>
            <a:r>
              <a:rPr lang="en-US" sz="4000" dirty="0">
                <a:latin typeface="Gill Sans MT" panose="020B0502020104020203" pitchFamily="34" charset="0"/>
              </a:rPr>
              <a:t> environments. </a:t>
            </a:r>
          </a:p>
          <a:p>
            <a:r>
              <a:rPr lang="en-US" dirty="0">
                <a:latin typeface="Gill Sans MT" panose="020B0502020104020203" pitchFamily="34" charset="0"/>
              </a:rPr>
              <a:t>                          </a:t>
            </a:r>
          </a:p>
        </p:txBody>
      </p:sp>
    </p:spTree>
    <p:extLst>
      <p:ext uri="{BB962C8B-B14F-4D97-AF65-F5344CB8AC3E}">
        <p14:creationId xmlns:p14="http://schemas.microsoft.com/office/powerpoint/2010/main" val="22448689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3A6BC-7A6E-4D79-992F-A125C79427D0}"/>
              </a:ext>
            </a:extLst>
          </p:cNvPr>
          <p:cNvSpPr>
            <a:spLocks noGrp="1"/>
          </p:cNvSpPr>
          <p:nvPr>
            <p:ph type="title"/>
          </p:nvPr>
        </p:nvSpPr>
        <p:spPr/>
        <p:txBody>
          <a:bodyPr/>
          <a:lstStyle/>
          <a:p>
            <a:r>
              <a:rPr lang="en-US" b="1" dirty="0">
                <a:latin typeface="Gill Sans MT" panose="020B0502020104020203" pitchFamily="34" charset="0"/>
              </a:rPr>
              <a:t>What is Virtualization</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F88776FD-A3C7-4AA0-90F9-EB76E04BD0C3}"/>
              </a:ext>
            </a:extLst>
          </p:cNvPr>
          <p:cNvSpPr>
            <a:spLocks noGrp="1"/>
          </p:cNvSpPr>
          <p:nvPr>
            <p:ph type="body" idx="1"/>
          </p:nvPr>
        </p:nvSpPr>
        <p:spPr>
          <a:xfrm>
            <a:off x="714588" y="2027047"/>
            <a:ext cx="10762825" cy="2954655"/>
          </a:xfrm>
        </p:spPr>
        <p:txBody>
          <a:bodyPr/>
          <a:lstStyle/>
          <a:p>
            <a:pPr marL="457200" indent="-457200">
              <a:buFont typeface="Arial" panose="020B0604020202020204" pitchFamily="34" charset="0"/>
              <a:buChar char="•"/>
            </a:pPr>
            <a:r>
              <a:rPr lang="en-US" dirty="0">
                <a:latin typeface="Gill Sans MT" panose="020B0502020104020203" pitchFamily="34" charset="0"/>
              </a:rPr>
              <a:t>It allows multiple virtual systems (operating system, server, storage device, or network resources)to run on a single physical hardware system.</a:t>
            </a:r>
          </a:p>
          <a:p>
            <a:pPr marL="457200" indent="-457200">
              <a:buFont typeface="Arial" panose="020B0604020202020204" pitchFamily="34" charset="0"/>
              <a:buChar char="•"/>
            </a:pPr>
            <a:r>
              <a:rPr lang="en-US" b="0" i="0" dirty="0">
                <a:solidFill>
                  <a:srgbClr val="1F1F1F"/>
                </a:solidFill>
                <a:effectLst/>
                <a:latin typeface="Gill Sans MT" panose="020B0502020104020203" pitchFamily="34" charset="0"/>
              </a:rPr>
              <a:t>Containerization packages software code together into its own container</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26E382F5-5406-469A-9277-4D9479E4C2D5}"/>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14</a:t>
            </a:fld>
            <a:endParaRPr lang="en-US" dirty="0"/>
          </a:p>
        </p:txBody>
      </p:sp>
    </p:spTree>
    <p:extLst>
      <p:ext uri="{BB962C8B-B14F-4D97-AF65-F5344CB8AC3E}">
        <p14:creationId xmlns:p14="http://schemas.microsoft.com/office/powerpoint/2010/main" val="1714351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9CF8-5511-4EC5-B523-DB9B8770AACA}"/>
              </a:ext>
            </a:extLst>
          </p:cNvPr>
          <p:cNvSpPr>
            <a:spLocks noGrp="1"/>
          </p:cNvSpPr>
          <p:nvPr>
            <p:ph type="title"/>
          </p:nvPr>
        </p:nvSpPr>
        <p:spPr>
          <a:xfrm>
            <a:off x="2718788" y="595229"/>
            <a:ext cx="7505192" cy="615553"/>
          </a:xfrm>
        </p:spPr>
        <p:txBody>
          <a:bodyPr/>
          <a:lstStyle/>
          <a:p>
            <a:pPr algn="r"/>
            <a:r>
              <a:rPr lang="en-US" b="1" i="0" dirty="0">
                <a:effectLst/>
                <a:latin typeface="Gill Sans MT" panose="020B0502020104020203" pitchFamily="34" charset="0"/>
              </a:rPr>
              <a:t>What is a hypervisor?</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F837D282-2147-4B6A-9BED-8E600A605590}"/>
              </a:ext>
            </a:extLst>
          </p:cNvPr>
          <p:cNvSpPr>
            <a:spLocks noGrp="1"/>
          </p:cNvSpPr>
          <p:nvPr>
            <p:ph type="body" idx="1"/>
          </p:nvPr>
        </p:nvSpPr>
        <p:spPr>
          <a:xfrm>
            <a:off x="288758" y="1210782"/>
            <a:ext cx="11222352" cy="4924425"/>
          </a:xfrm>
        </p:spPr>
        <p:txBody>
          <a:bodyPr/>
          <a:lstStyle/>
          <a:p>
            <a:pPr marL="457200" indent="-457200" algn="l">
              <a:buFont typeface="Arial" panose="020B0604020202020204" pitchFamily="34" charset="0"/>
              <a:buChar char="•"/>
            </a:pPr>
            <a:r>
              <a:rPr lang="en-US" b="1" dirty="0">
                <a:latin typeface="Gill Sans MT" panose="020B0502020104020203" pitchFamily="34" charset="0"/>
              </a:rPr>
              <a:t>H</a:t>
            </a:r>
            <a:r>
              <a:rPr lang="en-US" sz="3200" b="1" dirty="0">
                <a:latin typeface="Gill Sans MT" panose="020B0502020104020203" pitchFamily="34" charset="0"/>
              </a:rPr>
              <a:t>ypervisor</a:t>
            </a:r>
            <a:r>
              <a:rPr lang="en-US" sz="3200" dirty="0">
                <a:latin typeface="Gill Sans MT" panose="020B0502020104020203" pitchFamily="34" charset="0"/>
              </a:rPr>
              <a:t> or </a:t>
            </a:r>
            <a:r>
              <a:rPr lang="en-US" sz="3200" b="1" dirty="0">
                <a:latin typeface="Gill Sans MT" panose="020B0502020104020203" pitchFamily="34" charset="0"/>
              </a:rPr>
              <a:t>virtual machine monitor</a:t>
            </a:r>
            <a:r>
              <a:rPr lang="en-US" sz="3200" dirty="0">
                <a:latin typeface="Gill Sans MT" panose="020B0502020104020203" pitchFamily="34" charset="0"/>
              </a:rPr>
              <a:t> (</a:t>
            </a:r>
            <a:r>
              <a:rPr lang="en-US" sz="3200" b="1" dirty="0">
                <a:latin typeface="Gill Sans MT" panose="020B0502020104020203" pitchFamily="34" charset="0"/>
              </a:rPr>
              <a:t>VMM</a:t>
            </a:r>
            <a:r>
              <a:rPr lang="en-US" sz="3200" dirty="0">
                <a:latin typeface="Gill Sans MT" panose="020B0502020104020203" pitchFamily="34" charset="0"/>
              </a:rPr>
              <a:t>) is program </a:t>
            </a:r>
            <a:r>
              <a:rPr lang="en-US" b="0" i="0" dirty="0">
                <a:effectLst/>
                <a:latin typeface="Gill Sans MT" panose="020B0502020104020203" pitchFamily="34" charset="0"/>
              </a:rPr>
              <a:t>make virtualization possible. </a:t>
            </a:r>
          </a:p>
          <a:p>
            <a:pPr marL="457200" indent="-457200" algn="l">
              <a:buFont typeface="Arial" panose="020B0604020202020204" pitchFamily="34" charset="0"/>
              <a:buChar char="•"/>
            </a:pPr>
            <a:r>
              <a:rPr lang="en-US" dirty="0">
                <a:latin typeface="Gill Sans MT" panose="020B0502020104020203" pitchFamily="34" charset="0"/>
              </a:rPr>
              <a:t>I</a:t>
            </a:r>
            <a:r>
              <a:rPr lang="en-US" b="0" i="0" dirty="0">
                <a:effectLst/>
                <a:latin typeface="Gill Sans MT" panose="020B0502020104020203" pitchFamily="34" charset="0"/>
              </a:rPr>
              <a:t>t sit on top of the </a:t>
            </a:r>
            <a:r>
              <a:rPr lang="en-US" b="0" i="0" dirty="0">
                <a:solidFill>
                  <a:srgbClr val="F0414B"/>
                </a:solidFill>
                <a:effectLst/>
                <a:latin typeface="Gill Sans MT" panose="020B0502020104020203" pitchFamily="34" charset="0"/>
                <a:hlinkClick r:id="rId2"/>
              </a:rPr>
              <a:t>physical server</a:t>
            </a:r>
            <a:r>
              <a:rPr lang="en-US" b="0" i="0" dirty="0">
                <a:solidFill>
                  <a:srgbClr val="3F3F3F"/>
                </a:solidFill>
                <a:effectLst/>
                <a:latin typeface="Gill Sans MT" panose="020B0502020104020203" pitchFamily="34" charset="0"/>
              </a:rPr>
              <a:t> </a:t>
            </a:r>
            <a:r>
              <a:rPr lang="en-US" b="0" i="0" dirty="0">
                <a:effectLst/>
                <a:latin typeface="Gill Sans MT" panose="020B0502020104020203" pitchFamily="34" charset="0"/>
              </a:rPr>
              <a:t>and handle all the work of creating and running virtual machines. </a:t>
            </a:r>
          </a:p>
          <a:p>
            <a:pPr marL="457200" indent="-457200" algn="l">
              <a:buFont typeface="Arial" panose="020B0604020202020204" pitchFamily="34" charset="0"/>
              <a:buChar char="•"/>
            </a:pPr>
            <a:r>
              <a:rPr lang="en-US" b="0" i="0" dirty="0">
                <a:effectLst/>
                <a:latin typeface="Gill Sans MT" panose="020B0502020104020203" pitchFamily="34" charset="0"/>
              </a:rPr>
              <a:t>It is manager that keeps everything running smoothly in the background.</a:t>
            </a:r>
          </a:p>
          <a:p>
            <a:pPr marL="457200" indent="-457200" algn="l">
              <a:buFont typeface="Arial" panose="020B0604020202020204" pitchFamily="34" charset="0"/>
              <a:buChar char="•"/>
            </a:pPr>
            <a:r>
              <a:rPr lang="en-US" b="0" i="0" dirty="0">
                <a:solidFill>
                  <a:schemeClr val="accent1"/>
                </a:solidFill>
                <a:effectLst/>
                <a:latin typeface="Gill Sans MT" panose="020B0502020104020203" pitchFamily="34" charset="0"/>
              </a:rPr>
              <a:t>Tasks: </a:t>
            </a:r>
            <a:r>
              <a:rPr lang="en-US" b="0" i="0" dirty="0">
                <a:effectLst/>
                <a:latin typeface="Gill Sans MT" panose="020B0502020104020203" pitchFamily="34" charset="0"/>
              </a:rPr>
              <a:t>dividing up the server’s power, memory, and storage so each virtual machine gets what it needs without stepping on the others. </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9771642B-421A-484E-963E-CDA1A265C8DD}"/>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15</a:t>
            </a:fld>
            <a:endParaRPr lang="en-US" dirty="0"/>
          </a:p>
        </p:txBody>
      </p:sp>
    </p:spTree>
    <p:extLst>
      <p:ext uri="{BB962C8B-B14F-4D97-AF65-F5344CB8AC3E}">
        <p14:creationId xmlns:p14="http://schemas.microsoft.com/office/powerpoint/2010/main" val="4138013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524001" y="1162797"/>
            <a:ext cx="9807018" cy="1169551"/>
          </a:xfrm>
        </p:spPr>
        <p:txBody>
          <a:bodyPr/>
          <a:lstStyle/>
          <a:p>
            <a:r>
              <a:rPr lang="en-US" sz="3800" dirty="0">
                <a:latin typeface="Gill Sans MT" panose="020B0502020104020203" pitchFamily="34" charset="0"/>
              </a:rPr>
              <a:t>What is hypervisor or virtual machine monitor (VMM)? </a:t>
            </a:r>
          </a:p>
        </p:txBody>
      </p:sp>
      <p:sp>
        <p:nvSpPr>
          <p:cNvPr id="3" name="Content Placeholder 2"/>
          <p:cNvSpPr>
            <a:spLocks noGrp="1"/>
          </p:cNvSpPr>
          <p:nvPr>
            <p:ph idx="1"/>
          </p:nvPr>
        </p:nvSpPr>
        <p:spPr>
          <a:xfrm>
            <a:off x="1524000" y="2332348"/>
            <a:ext cx="9144000" cy="2954655"/>
          </a:xfrm>
        </p:spPr>
        <p:txBody>
          <a:bodyPr/>
          <a:lstStyle/>
          <a:p>
            <a:pPr>
              <a:defRPr/>
            </a:pPr>
            <a:endParaRPr lang="en-US" dirty="0">
              <a:latin typeface="Gill Sans MT" panose="020B0502020104020203" pitchFamily="34" charset="0"/>
            </a:endParaRPr>
          </a:p>
          <a:p>
            <a:pPr>
              <a:defRPr/>
            </a:pPr>
            <a:r>
              <a:rPr lang="en-US" dirty="0">
                <a:latin typeface="Gill Sans MT" panose="020B0502020104020203" pitchFamily="34" charset="0"/>
              </a:rPr>
              <a:t>A hypervisor is a program (</a:t>
            </a:r>
            <a:r>
              <a:rPr lang="en-US" dirty="0">
                <a:latin typeface="Gill Sans MT" panose="020B0502020104020203" pitchFamily="34" charset="0"/>
                <a:hlinkClick r:id="rId2" tooltip="Software"/>
              </a:rPr>
              <a:t>software</a:t>
            </a:r>
            <a:r>
              <a:rPr lang="en-US" dirty="0">
                <a:latin typeface="Gill Sans MT" panose="020B0502020104020203" pitchFamily="34" charset="0"/>
              </a:rPr>
              <a:t>) that creates and runs </a:t>
            </a:r>
            <a:r>
              <a:rPr lang="en-US" dirty="0">
                <a:latin typeface="Gill Sans MT" panose="020B0502020104020203" pitchFamily="34" charset="0"/>
                <a:hlinkClick r:id="rId3" tooltip="Virtual machine"/>
              </a:rPr>
              <a:t>virtual machines</a:t>
            </a:r>
            <a:r>
              <a:rPr lang="en-US" dirty="0">
                <a:latin typeface="Gill Sans MT" panose="020B0502020104020203" pitchFamily="34" charset="0"/>
              </a:rPr>
              <a:t> it  would enable you to host several different virtual machines on a single hardware. </a:t>
            </a:r>
          </a:p>
          <a:p>
            <a:pPr>
              <a:buFont typeface="Wingdings" panose="05000000000000000000" pitchFamily="2" charset="2"/>
              <a:buChar char="v"/>
              <a:defRPr/>
            </a:pPr>
            <a:endParaRPr lang="en-US" dirty="0">
              <a:latin typeface="Gill Sans MT" panose="020B0502020104020203" pitchFamily="34" charset="0"/>
            </a:endParaRPr>
          </a:p>
          <a:p>
            <a:pPr>
              <a:defRPr/>
            </a:pPr>
            <a:r>
              <a:rPr lang="en-US" dirty="0">
                <a:latin typeface="Gill Sans MT" panose="020B0502020104020203" pitchFamily="34" charset="0"/>
              </a:rPr>
              <a:t>                            </a:t>
            </a:r>
          </a:p>
        </p:txBody>
      </p:sp>
    </p:spTree>
    <p:extLst>
      <p:ext uri="{BB962C8B-B14F-4D97-AF65-F5344CB8AC3E}">
        <p14:creationId xmlns:p14="http://schemas.microsoft.com/office/powerpoint/2010/main" val="2383785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3B07-77DB-49C7-B6C8-C310681054A4}"/>
              </a:ext>
            </a:extLst>
          </p:cNvPr>
          <p:cNvSpPr>
            <a:spLocks noGrp="1"/>
          </p:cNvSpPr>
          <p:nvPr>
            <p:ph type="title"/>
          </p:nvPr>
        </p:nvSpPr>
        <p:spPr>
          <a:xfrm>
            <a:off x="2343403" y="999490"/>
            <a:ext cx="7505192" cy="675306"/>
          </a:xfrm>
        </p:spPr>
        <p:txBody>
          <a:bodyPr/>
          <a:lstStyle/>
          <a:p>
            <a:r>
              <a:rPr lang="en-US" b="1" i="0" dirty="0">
                <a:solidFill>
                  <a:schemeClr val="accent2"/>
                </a:solidFill>
                <a:effectLst/>
                <a:latin typeface="Gill Sans MT" panose="020B0502020104020203" pitchFamily="34" charset="0"/>
              </a:rPr>
              <a:t>Types of Hypervisor</a:t>
            </a:r>
            <a:br>
              <a:rPr lang="en-US" b="1" i="0" dirty="0">
                <a:solidFill>
                  <a:schemeClr val="accent2"/>
                </a:solidFill>
                <a:effectLst/>
                <a:latin typeface="Gill Sans MT" panose="020B0502020104020203" pitchFamily="34" charset="0"/>
              </a:rPr>
            </a:br>
            <a:endParaRPr lang="en-US" dirty="0">
              <a:solidFill>
                <a:schemeClr val="accent2"/>
              </a:solidFill>
              <a:latin typeface="Gill Sans MT" panose="020B0502020104020203" pitchFamily="34" charset="0"/>
            </a:endParaRPr>
          </a:p>
        </p:txBody>
      </p:sp>
      <p:sp>
        <p:nvSpPr>
          <p:cNvPr id="3" name="Text Placeholder 2">
            <a:extLst>
              <a:ext uri="{FF2B5EF4-FFF2-40B4-BE49-F238E27FC236}">
                <a16:creationId xmlns:a16="http://schemas.microsoft.com/office/drawing/2014/main" id="{99B228AA-1E75-4AFA-818A-348F7ADD1D21}"/>
              </a:ext>
            </a:extLst>
          </p:cNvPr>
          <p:cNvSpPr>
            <a:spLocks noGrp="1"/>
          </p:cNvSpPr>
          <p:nvPr>
            <p:ph type="body" idx="1"/>
          </p:nvPr>
        </p:nvSpPr>
        <p:spPr>
          <a:xfrm>
            <a:off x="714588" y="2027046"/>
            <a:ext cx="4925815" cy="4924425"/>
          </a:xfrm>
        </p:spPr>
        <p:txBody>
          <a:bodyPr/>
          <a:lstStyle/>
          <a:p>
            <a:pPr algn="l"/>
            <a:r>
              <a:rPr lang="en-US" b="0" i="0" dirty="0">
                <a:solidFill>
                  <a:srgbClr val="3F3F3F"/>
                </a:solidFill>
                <a:effectLst/>
                <a:latin typeface="Gill Sans MT" panose="020B0502020104020203" pitchFamily="34" charset="0"/>
              </a:rPr>
              <a:t>Hypervisors come in </a:t>
            </a:r>
            <a:r>
              <a:rPr lang="en-US" b="1" i="0" dirty="0">
                <a:solidFill>
                  <a:schemeClr val="accent1"/>
                </a:solidFill>
                <a:effectLst/>
                <a:latin typeface="Gill Sans MT" panose="020B0502020104020203" pitchFamily="34" charset="0"/>
              </a:rPr>
              <a:t>two types</a:t>
            </a:r>
            <a:r>
              <a:rPr lang="en-US" b="0" i="0" dirty="0">
                <a:solidFill>
                  <a:srgbClr val="3F3F3F"/>
                </a:solidFill>
                <a:effectLst/>
                <a:latin typeface="Gill Sans MT" panose="020B0502020104020203" pitchFamily="34" charset="0"/>
              </a:rPr>
              <a:t>. </a:t>
            </a:r>
          </a:p>
          <a:p>
            <a:pPr marL="457200" indent="-457200" algn="l">
              <a:buFont typeface="Arial" panose="020B0604020202020204" pitchFamily="34" charset="0"/>
              <a:buChar char="•"/>
            </a:pPr>
            <a:r>
              <a:rPr lang="en-US" i="0" dirty="0">
                <a:solidFill>
                  <a:schemeClr val="accent6"/>
                </a:solidFill>
                <a:effectLst/>
                <a:latin typeface="Gill Sans MT" panose="020B0502020104020203" pitchFamily="34" charset="0"/>
              </a:rPr>
              <a:t>Type 1(</a:t>
            </a:r>
            <a:r>
              <a:rPr lang="en-US" i="0" dirty="0">
                <a:solidFill>
                  <a:schemeClr val="accent6"/>
                </a:solidFill>
                <a:effectLst/>
                <a:latin typeface="Source Sans"/>
              </a:rPr>
              <a:t>(Bare-Metal)</a:t>
            </a:r>
            <a:r>
              <a:rPr lang="en-US" b="0" i="0" dirty="0">
                <a:solidFill>
                  <a:srgbClr val="3F3F3F"/>
                </a:solidFill>
                <a:effectLst/>
                <a:latin typeface="Gill Sans MT" panose="020B0502020104020203" pitchFamily="34" charset="0"/>
              </a:rPr>
              <a:t>runs directly on the server’s hardware, while </a:t>
            </a:r>
          </a:p>
          <a:p>
            <a:pPr marL="457200" indent="-457200" algn="l">
              <a:buFont typeface="Arial" panose="020B0604020202020204" pitchFamily="34" charset="0"/>
              <a:buChar char="•"/>
            </a:pPr>
            <a:r>
              <a:rPr lang="en-US" b="0" i="0" dirty="0">
                <a:solidFill>
                  <a:schemeClr val="accent6"/>
                </a:solidFill>
                <a:effectLst/>
                <a:latin typeface="Gill Sans MT" panose="020B0502020104020203" pitchFamily="34" charset="0"/>
              </a:rPr>
              <a:t>Type 2(</a:t>
            </a:r>
            <a:r>
              <a:rPr lang="en-US" b="0" i="0" dirty="0">
                <a:solidFill>
                  <a:schemeClr val="accent6"/>
                </a:solidFill>
                <a:effectLst/>
                <a:latin typeface="Source Sans"/>
              </a:rPr>
              <a:t>Hosted / Software</a:t>
            </a:r>
            <a:r>
              <a:rPr lang="en-US" b="0" i="0" dirty="0">
                <a:solidFill>
                  <a:schemeClr val="accent6"/>
                </a:solidFill>
                <a:effectLst/>
                <a:latin typeface="Gill Sans MT" panose="020B0502020104020203" pitchFamily="34" charset="0"/>
              </a:rPr>
              <a:t>) </a:t>
            </a:r>
            <a:r>
              <a:rPr lang="en-US" b="0" i="0" dirty="0">
                <a:solidFill>
                  <a:srgbClr val="3F3F3F"/>
                </a:solidFill>
                <a:effectLst/>
                <a:latin typeface="Gill Sans MT" panose="020B0502020104020203" pitchFamily="34" charset="0"/>
              </a:rPr>
              <a:t>runs inside an existing operating system like a regular application.</a:t>
            </a:r>
          </a:p>
          <a:p>
            <a:endParaRPr lang="en-US" dirty="0"/>
          </a:p>
        </p:txBody>
      </p:sp>
      <p:sp>
        <p:nvSpPr>
          <p:cNvPr id="4" name="Slide Number Placeholder 3">
            <a:extLst>
              <a:ext uri="{FF2B5EF4-FFF2-40B4-BE49-F238E27FC236}">
                <a16:creationId xmlns:a16="http://schemas.microsoft.com/office/drawing/2014/main" id="{DCC462D1-6B23-4AFC-9906-29C42BE0C0B6}"/>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17</a:t>
            </a:fld>
            <a:endParaRPr lang="en-US" dirty="0"/>
          </a:p>
        </p:txBody>
      </p:sp>
      <p:pic>
        <p:nvPicPr>
          <p:cNvPr id="8" name="Picture 7">
            <a:extLst>
              <a:ext uri="{FF2B5EF4-FFF2-40B4-BE49-F238E27FC236}">
                <a16:creationId xmlns:a16="http://schemas.microsoft.com/office/drawing/2014/main" id="{E0B265F9-5081-4C13-86EB-C2FE05483819}"/>
              </a:ext>
            </a:extLst>
          </p:cNvPr>
          <p:cNvPicPr>
            <a:picLocks noChangeAspect="1"/>
          </p:cNvPicPr>
          <p:nvPr/>
        </p:nvPicPr>
        <p:blipFill>
          <a:blip r:embed="rId2"/>
          <a:stretch>
            <a:fillRect/>
          </a:stretch>
        </p:blipFill>
        <p:spPr>
          <a:xfrm>
            <a:off x="5786203" y="2096896"/>
            <a:ext cx="5570390" cy="3761614"/>
          </a:xfrm>
          <a:prstGeom prst="rect">
            <a:avLst/>
          </a:prstGeom>
        </p:spPr>
      </p:pic>
    </p:spTree>
    <p:extLst>
      <p:ext uri="{BB962C8B-B14F-4D97-AF65-F5344CB8AC3E}">
        <p14:creationId xmlns:p14="http://schemas.microsoft.com/office/powerpoint/2010/main" val="1627540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AC4F-8A3C-4F56-84F4-2EA9511E5F46}"/>
              </a:ext>
            </a:extLst>
          </p:cNvPr>
          <p:cNvSpPr>
            <a:spLocks noGrp="1"/>
          </p:cNvSpPr>
          <p:nvPr>
            <p:ph type="title"/>
          </p:nvPr>
        </p:nvSpPr>
        <p:spPr>
          <a:xfrm>
            <a:off x="2343402" y="999490"/>
            <a:ext cx="7955629" cy="1231106"/>
          </a:xfrm>
        </p:spPr>
        <p:txBody>
          <a:bodyPr/>
          <a:lstStyle/>
          <a:p>
            <a:r>
              <a:rPr lang="en-US" b="1" dirty="0">
                <a:latin typeface="Gill Sans MT" panose="020B0502020104020203" pitchFamily="34" charset="0"/>
              </a:rPr>
              <a:t>Why Virtualization is Important</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8930D30D-248E-4E46-9561-E8A21C51BAD6}"/>
              </a:ext>
            </a:extLst>
          </p:cNvPr>
          <p:cNvSpPr>
            <a:spLocks noGrp="1"/>
          </p:cNvSpPr>
          <p:nvPr>
            <p:ph type="body" idx="1"/>
          </p:nvPr>
        </p:nvSpPr>
        <p:spPr>
          <a:xfrm>
            <a:off x="714588" y="2027047"/>
            <a:ext cx="10762825" cy="4431983"/>
          </a:xfrm>
        </p:spPr>
        <p:txBody>
          <a:bodyPr/>
          <a:lstStyle/>
          <a:p>
            <a:pPr marL="457200" indent="-457200">
              <a:buFont typeface="Arial" panose="020B0604020202020204" pitchFamily="34" charset="0"/>
              <a:buChar char="•"/>
            </a:pPr>
            <a:r>
              <a:rPr lang="en-US" b="1" dirty="0">
                <a:latin typeface="Gill Sans MT" panose="020B0502020104020203" pitchFamily="34" charset="0"/>
              </a:rPr>
              <a:t>Resource Optimization:</a:t>
            </a:r>
            <a:r>
              <a:rPr lang="en-US" dirty="0">
                <a:latin typeface="Gill Sans MT" panose="020B0502020104020203" pitchFamily="34" charset="0"/>
              </a:rPr>
              <a:t> Efficient use of server hardware</a:t>
            </a:r>
          </a:p>
          <a:p>
            <a:pPr marL="457200" indent="-457200">
              <a:buFont typeface="Arial" panose="020B0604020202020204" pitchFamily="34" charset="0"/>
              <a:buChar char="•"/>
            </a:pPr>
            <a:r>
              <a:rPr lang="en-US" b="1" dirty="0">
                <a:latin typeface="Gill Sans MT" panose="020B0502020104020203" pitchFamily="34" charset="0"/>
              </a:rPr>
              <a:t>Cost Reduction:</a:t>
            </a:r>
            <a:r>
              <a:rPr lang="en-US" dirty="0">
                <a:latin typeface="Gill Sans MT" panose="020B0502020104020203" pitchFamily="34" charset="0"/>
              </a:rPr>
              <a:t> Fewer physical servers → lower hardware and energy costs</a:t>
            </a:r>
          </a:p>
          <a:p>
            <a:pPr marL="457200" indent="-457200">
              <a:buFont typeface="Arial" panose="020B0604020202020204" pitchFamily="34" charset="0"/>
              <a:buChar char="•"/>
            </a:pPr>
            <a:r>
              <a:rPr lang="en-US" b="1" dirty="0">
                <a:latin typeface="Gill Sans MT" panose="020B0502020104020203" pitchFamily="34" charset="0"/>
              </a:rPr>
              <a:t>Isolation &amp; Security:</a:t>
            </a:r>
            <a:r>
              <a:rPr lang="en-US" dirty="0">
                <a:latin typeface="Gill Sans MT" panose="020B0502020104020203" pitchFamily="34" charset="0"/>
              </a:rPr>
              <a:t> Each VM runs independently</a:t>
            </a:r>
          </a:p>
          <a:p>
            <a:pPr marL="457200" indent="-457200">
              <a:buFont typeface="Arial" panose="020B0604020202020204" pitchFamily="34" charset="0"/>
              <a:buChar char="•"/>
            </a:pPr>
            <a:r>
              <a:rPr lang="en-US" b="1" dirty="0">
                <a:latin typeface="Gill Sans MT" panose="020B0502020104020203" pitchFamily="34" charset="0"/>
              </a:rPr>
              <a:t>Scalability &amp; Flexibility:</a:t>
            </a:r>
            <a:r>
              <a:rPr lang="en-US" dirty="0">
                <a:latin typeface="Gill Sans MT" panose="020B0502020104020203" pitchFamily="34" charset="0"/>
              </a:rPr>
              <a:t> Quickly create, clone, or migrate VMs</a:t>
            </a:r>
          </a:p>
          <a:p>
            <a:pPr marL="457200" indent="-457200">
              <a:buFont typeface="Arial" panose="020B0604020202020204" pitchFamily="34" charset="0"/>
              <a:buChar char="•"/>
            </a:pPr>
            <a:r>
              <a:rPr lang="en-US" b="1" dirty="0">
                <a:latin typeface="Gill Sans MT" panose="020B0502020104020203" pitchFamily="34" charset="0"/>
              </a:rPr>
              <a:t>Simplified Management:</a:t>
            </a:r>
            <a:r>
              <a:rPr lang="en-US" dirty="0">
                <a:latin typeface="Gill Sans MT" panose="020B0502020104020203" pitchFamily="34" charset="0"/>
              </a:rPr>
              <a:t> Easier deployment, backup, and disaster recovery</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918781BA-CF11-483C-874B-88F8DBE4047E}"/>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18</a:t>
            </a:fld>
            <a:endParaRPr lang="en-US" dirty="0"/>
          </a:p>
        </p:txBody>
      </p:sp>
    </p:spTree>
    <p:extLst>
      <p:ext uri="{BB962C8B-B14F-4D97-AF65-F5344CB8AC3E}">
        <p14:creationId xmlns:p14="http://schemas.microsoft.com/office/powerpoint/2010/main" val="13393557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18474" y="939224"/>
            <a:ext cx="11378153" cy="1231106"/>
          </a:xfrm>
        </p:spPr>
        <p:txBody>
          <a:bodyPr/>
          <a:lstStyle/>
          <a:p>
            <a:r>
              <a:rPr lang="en-US" dirty="0">
                <a:latin typeface="Gill Sans MT" panose="020B0502020104020203" pitchFamily="34" charset="0"/>
              </a:rPr>
              <a:t>Why implement visualization in organization?</a:t>
            </a:r>
          </a:p>
        </p:txBody>
      </p:sp>
      <p:pic>
        <p:nvPicPr>
          <p:cNvPr id="1638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6296" y="1731390"/>
            <a:ext cx="8397875" cy="481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8993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810705" y="1284403"/>
            <a:ext cx="10652289" cy="1077218"/>
          </a:xfrm>
        </p:spPr>
        <p:txBody>
          <a:bodyPr/>
          <a:lstStyle/>
          <a:p>
            <a:r>
              <a:rPr lang="en-US" sz="3500" dirty="0">
                <a:latin typeface="Gill Sans MT" panose="020B0502020104020203" pitchFamily="34" charset="0"/>
              </a:rPr>
              <a:t>Why implement visualization in organization?</a:t>
            </a:r>
          </a:p>
        </p:txBody>
      </p:sp>
      <p:sp>
        <p:nvSpPr>
          <p:cNvPr id="17411" name="Content Placeholder 2"/>
          <p:cNvSpPr>
            <a:spLocks noGrp="1"/>
          </p:cNvSpPr>
          <p:nvPr>
            <p:ph idx="1"/>
          </p:nvPr>
        </p:nvSpPr>
        <p:spPr>
          <a:xfrm>
            <a:off x="904974" y="2231127"/>
            <a:ext cx="10492032" cy="3939540"/>
          </a:xfrm>
        </p:spPr>
        <p:txBody>
          <a:bodyPr/>
          <a:lstStyle/>
          <a:p>
            <a:pPr>
              <a:buFont typeface="Wingdings" panose="05000000000000000000" pitchFamily="2" charset="2"/>
              <a:buChar char="q"/>
            </a:pPr>
            <a:r>
              <a:rPr lang="en-US" dirty="0">
                <a:latin typeface="Gill Sans MT" panose="020B0502020104020203" pitchFamily="34" charset="0"/>
              </a:rPr>
              <a:t>Reduce datacenter costs by reducing your physical infrastructure and improving your server to admin ratio</a:t>
            </a:r>
          </a:p>
          <a:p>
            <a:pPr>
              <a:buFont typeface="Wingdings" panose="05000000000000000000" pitchFamily="2" charset="2"/>
              <a:buChar char="q"/>
            </a:pPr>
            <a:r>
              <a:rPr lang="en-US" dirty="0">
                <a:latin typeface="Gill Sans MT" panose="020B0502020104020203" pitchFamily="34" charset="0"/>
              </a:rPr>
              <a:t>Get more out of your existing resources:</a:t>
            </a:r>
          </a:p>
          <a:p>
            <a:pPr>
              <a:buFont typeface="Wingdings" panose="05000000000000000000" pitchFamily="2" charset="2"/>
              <a:buChar char="q"/>
            </a:pPr>
            <a:r>
              <a:rPr lang="en-US" dirty="0">
                <a:latin typeface="Gill Sans MT" panose="020B0502020104020203" pitchFamily="34" charset="0"/>
              </a:rPr>
              <a:t>Increase availability of hardware and applications for improved business continuity: </a:t>
            </a:r>
          </a:p>
          <a:p>
            <a:pPr>
              <a:buFont typeface="Wingdings" panose="05000000000000000000" pitchFamily="2" charset="2"/>
              <a:buChar char="q"/>
            </a:pPr>
            <a:r>
              <a:rPr lang="en-US" dirty="0">
                <a:latin typeface="Gill Sans MT" panose="020B0502020104020203" pitchFamily="34" charset="0"/>
              </a:rPr>
              <a:t>Gain operational flexibility: </a:t>
            </a:r>
          </a:p>
          <a:p>
            <a:pPr>
              <a:buFont typeface="Wingdings" panose="05000000000000000000" pitchFamily="2" charset="2"/>
              <a:buChar char="q"/>
            </a:pPr>
            <a:r>
              <a:rPr lang="en-US" dirty="0">
                <a:latin typeface="Gill Sans MT" panose="020B0502020104020203" pitchFamily="34" charset="0"/>
              </a:rPr>
              <a:t>Improve desktop manageability and security:</a:t>
            </a:r>
            <a:endParaRPr lang="en-US"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34438331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03316" y="1095867"/>
            <a:ext cx="11418638" cy="1231106"/>
          </a:xfrm>
        </p:spPr>
        <p:txBody>
          <a:bodyPr/>
          <a:lstStyle/>
          <a:p>
            <a:r>
              <a:rPr lang="en-US" dirty="0">
                <a:latin typeface="Gill Sans MT" panose="020B0502020104020203" pitchFamily="34" charset="0"/>
              </a:rPr>
              <a:t>Why implement </a:t>
            </a:r>
            <a:r>
              <a:rPr lang="en-US" sz="4000" dirty="0">
                <a:latin typeface="Gill Sans MT" panose="020B0502020104020203" pitchFamily="34" charset="0"/>
              </a:rPr>
              <a:t>Virtualization</a:t>
            </a:r>
            <a:r>
              <a:rPr lang="en-US" dirty="0">
                <a:latin typeface="Gill Sans MT" panose="020B0502020104020203" pitchFamily="34" charset="0"/>
              </a:rPr>
              <a:t> in organization?</a:t>
            </a:r>
          </a:p>
        </p:txBody>
      </p:sp>
      <p:sp>
        <p:nvSpPr>
          <p:cNvPr id="18435" name="Content Placeholder 2"/>
          <p:cNvSpPr>
            <a:spLocks noGrp="1"/>
          </p:cNvSpPr>
          <p:nvPr>
            <p:ph idx="1"/>
          </p:nvPr>
        </p:nvSpPr>
        <p:spPr>
          <a:xfrm>
            <a:off x="1501775" y="2193419"/>
            <a:ext cx="9144000" cy="3939540"/>
          </a:xfrm>
        </p:spPr>
        <p:txBody>
          <a:bodyPr/>
          <a:lstStyle/>
          <a:p>
            <a:pPr lvl="1">
              <a:buFont typeface="Wingdings" panose="05000000000000000000" pitchFamily="2" charset="2"/>
              <a:buChar char="q"/>
            </a:pPr>
            <a:r>
              <a:rPr lang="en-US" sz="3200" b="1" dirty="0">
                <a:solidFill>
                  <a:schemeClr val="accent1"/>
                </a:solidFill>
                <a:latin typeface="Gill Sans MT" panose="020B0502020104020203" pitchFamily="34" charset="0"/>
              </a:rPr>
              <a:t>Save money </a:t>
            </a:r>
            <a:r>
              <a:rPr lang="en-US" sz="3200" b="1" dirty="0">
                <a:latin typeface="Gill Sans MT" panose="020B0502020104020203" pitchFamily="34" charset="0"/>
              </a:rPr>
              <a:t>by </a:t>
            </a:r>
            <a:r>
              <a:rPr lang="en-US" sz="3200" dirty="0">
                <a:latin typeface="Gill Sans MT" panose="020B0502020104020203" pitchFamily="34" charset="0"/>
              </a:rPr>
              <a:t>Reduce number of servers</a:t>
            </a:r>
          </a:p>
          <a:p>
            <a:pPr lvl="1">
              <a:buFont typeface="Wingdings" panose="05000000000000000000" pitchFamily="2" charset="2"/>
              <a:buChar char="q"/>
            </a:pPr>
            <a:r>
              <a:rPr lang="en-US" sz="3200" b="1" dirty="0">
                <a:solidFill>
                  <a:schemeClr val="accent1"/>
                </a:solidFill>
                <a:latin typeface="Gill Sans MT" panose="020B0502020104020203" pitchFamily="34" charset="0"/>
              </a:rPr>
              <a:t>Save energy.</a:t>
            </a:r>
            <a:r>
              <a:rPr lang="en-US" sz="3200" dirty="0">
                <a:latin typeface="Gill Sans MT" panose="020B0502020104020203" pitchFamily="34" charset="0"/>
              </a:rPr>
              <a:t> Virtualization reduces the number of physical servers, reducing the energy required to power and cool them.</a:t>
            </a:r>
          </a:p>
          <a:p>
            <a:pPr lvl="1">
              <a:buFont typeface="Wingdings" panose="05000000000000000000" pitchFamily="2" charset="2"/>
              <a:buChar char="q"/>
            </a:pPr>
            <a:r>
              <a:rPr lang="en-US" sz="3200" b="1" dirty="0">
                <a:solidFill>
                  <a:schemeClr val="accent1"/>
                </a:solidFill>
                <a:latin typeface="Gill Sans MT" panose="020B0502020104020203" pitchFamily="34" charset="0"/>
              </a:rPr>
              <a:t>Save time.</a:t>
            </a:r>
            <a:r>
              <a:rPr lang="en-US" sz="3200" dirty="0">
                <a:latin typeface="Gill Sans MT" panose="020B0502020104020203" pitchFamily="34" charset="0"/>
              </a:rPr>
              <a:t> With fewer servers, you can spend less time on the manual tasks required for server maintenance. Gain operational flexibility: </a:t>
            </a:r>
          </a:p>
          <a:p>
            <a:pPr lvl="1">
              <a:buFont typeface="Wingdings" panose="05000000000000000000" pitchFamily="2" charset="2"/>
              <a:buChar char="q"/>
            </a:pPr>
            <a:r>
              <a:rPr lang="en-US" sz="3200" b="1" dirty="0">
                <a:solidFill>
                  <a:schemeClr val="accent1"/>
                </a:solidFill>
                <a:latin typeface="Gill Sans MT" panose="020B0502020104020203" pitchFamily="34" charset="0"/>
              </a:rPr>
              <a:t>Reduce desktop management headaches.</a:t>
            </a:r>
            <a:endParaRPr lang="en-US" sz="3200"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13148457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1E0-F18A-4A27-BB61-4B678CDDD1A9}"/>
              </a:ext>
            </a:extLst>
          </p:cNvPr>
          <p:cNvSpPr>
            <a:spLocks noGrp="1"/>
          </p:cNvSpPr>
          <p:nvPr>
            <p:ph type="title"/>
          </p:nvPr>
        </p:nvSpPr>
        <p:spPr>
          <a:xfrm>
            <a:off x="2343403" y="999490"/>
            <a:ext cx="7505192" cy="615553"/>
          </a:xfrm>
        </p:spPr>
        <p:txBody>
          <a:bodyPr/>
          <a:lstStyle/>
          <a:p>
            <a:r>
              <a:rPr lang="en-US" b="1" dirty="0">
                <a:latin typeface="Gill Sans MT" panose="020B0502020104020203" pitchFamily="34" charset="0"/>
              </a:rPr>
              <a:t>Advantages of Virtualization</a:t>
            </a:r>
            <a:endParaRPr lang="en-US" dirty="0"/>
          </a:p>
        </p:txBody>
      </p:sp>
      <p:sp>
        <p:nvSpPr>
          <p:cNvPr id="3" name="Text Placeholder 2">
            <a:extLst>
              <a:ext uri="{FF2B5EF4-FFF2-40B4-BE49-F238E27FC236}">
                <a16:creationId xmlns:a16="http://schemas.microsoft.com/office/drawing/2014/main" id="{31E6F383-46DE-455F-875C-A05305DDA50E}"/>
              </a:ext>
            </a:extLst>
          </p:cNvPr>
          <p:cNvSpPr>
            <a:spLocks noGrp="1"/>
          </p:cNvSpPr>
          <p:nvPr>
            <p:ph type="body" idx="1"/>
          </p:nvPr>
        </p:nvSpPr>
        <p:spPr>
          <a:xfrm>
            <a:off x="714588" y="2027047"/>
            <a:ext cx="10762825" cy="2954655"/>
          </a:xfrm>
        </p:spPr>
        <p:txBody>
          <a:bodyPr/>
          <a:lstStyle/>
          <a:p>
            <a:pPr>
              <a:buFont typeface="Arial" panose="020B0604020202020204" pitchFamily="34" charset="0"/>
              <a:buChar char="•"/>
            </a:pPr>
            <a:r>
              <a:rPr lang="en-US" dirty="0">
                <a:latin typeface="Gill Sans MT" panose="020B0502020104020203" pitchFamily="34" charset="0"/>
              </a:rPr>
              <a:t>Reduced hardware costs</a:t>
            </a:r>
          </a:p>
          <a:p>
            <a:pPr>
              <a:buFont typeface="Arial" panose="020B0604020202020204" pitchFamily="34" charset="0"/>
              <a:buChar char="•"/>
            </a:pPr>
            <a:r>
              <a:rPr lang="en-US" dirty="0">
                <a:latin typeface="Gill Sans MT" panose="020B0502020104020203" pitchFamily="34" charset="0"/>
              </a:rPr>
              <a:t>Increased resource utilization</a:t>
            </a:r>
          </a:p>
          <a:p>
            <a:pPr>
              <a:buFont typeface="Arial" panose="020B0604020202020204" pitchFamily="34" charset="0"/>
              <a:buChar char="•"/>
            </a:pPr>
            <a:r>
              <a:rPr lang="en-US" dirty="0">
                <a:latin typeface="Gill Sans MT" panose="020B0502020104020203" pitchFamily="34" charset="0"/>
              </a:rPr>
              <a:t>Easy backup and disaster recovery</a:t>
            </a:r>
          </a:p>
          <a:p>
            <a:pPr>
              <a:buFont typeface="Arial" panose="020B0604020202020204" pitchFamily="34" charset="0"/>
              <a:buChar char="•"/>
            </a:pPr>
            <a:r>
              <a:rPr lang="en-US" dirty="0">
                <a:latin typeface="Gill Sans MT" panose="020B0502020104020203" pitchFamily="34" charset="0"/>
              </a:rPr>
              <a:t>Isolation for security and testing</a:t>
            </a:r>
          </a:p>
          <a:p>
            <a:pPr>
              <a:buFont typeface="Arial" panose="020B0604020202020204" pitchFamily="34" charset="0"/>
              <a:buChar char="•"/>
            </a:pPr>
            <a:r>
              <a:rPr lang="en-US" dirty="0">
                <a:latin typeface="Gill Sans MT" panose="020B0502020104020203" pitchFamily="34" charset="0"/>
              </a:rPr>
              <a:t>Simplifies deployment of applications</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5C1DB780-2355-4C10-A989-255782755E7B}"/>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22</a:t>
            </a:fld>
            <a:endParaRPr lang="en-US" dirty="0"/>
          </a:p>
        </p:txBody>
      </p:sp>
    </p:spTree>
    <p:extLst>
      <p:ext uri="{BB962C8B-B14F-4D97-AF65-F5344CB8AC3E}">
        <p14:creationId xmlns:p14="http://schemas.microsoft.com/office/powerpoint/2010/main" val="42035058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F5E8D-6B39-440C-BC07-B0BD554EE843}"/>
              </a:ext>
            </a:extLst>
          </p:cNvPr>
          <p:cNvSpPr>
            <a:spLocks noGrp="1"/>
          </p:cNvSpPr>
          <p:nvPr>
            <p:ph type="title"/>
          </p:nvPr>
        </p:nvSpPr>
        <p:spPr>
          <a:xfrm>
            <a:off x="714586" y="999490"/>
            <a:ext cx="10487491" cy="1231106"/>
          </a:xfrm>
        </p:spPr>
        <p:txBody>
          <a:bodyPr/>
          <a:lstStyle/>
          <a:p>
            <a:r>
              <a:rPr lang="en-US" b="1" dirty="0">
                <a:latin typeface="Gill Sans MT" panose="020B0502020104020203" pitchFamily="34" charset="0"/>
              </a:rPr>
              <a:t>Disadvantages / Challenges of Virtualization</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85480A65-8879-419E-A2E3-3A7FFAE7448A}"/>
              </a:ext>
            </a:extLst>
          </p:cNvPr>
          <p:cNvSpPr>
            <a:spLocks noGrp="1"/>
          </p:cNvSpPr>
          <p:nvPr>
            <p:ph type="body" idx="1"/>
          </p:nvPr>
        </p:nvSpPr>
        <p:spPr>
          <a:xfrm>
            <a:off x="714588" y="2027047"/>
            <a:ext cx="10762825" cy="2462213"/>
          </a:xfrm>
        </p:spPr>
        <p:txBody>
          <a:bodyPr/>
          <a:lstStyle/>
          <a:p>
            <a:pPr>
              <a:buFont typeface="Arial" panose="020B0604020202020204" pitchFamily="34" charset="0"/>
              <a:buChar char="•"/>
            </a:pPr>
            <a:r>
              <a:rPr lang="en-US" dirty="0">
                <a:latin typeface="Gill Sans MT" panose="020B0502020104020203" pitchFamily="34" charset="0"/>
              </a:rPr>
              <a:t>Performance overhead (especially with Type 2 hypervisors)</a:t>
            </a:r>
          </a:p>
          <a:p>
            <a:pPr>
              <a:buFont typeface="Arial" panose="020B0604020202020204" pitchFamily="34" charset="0"/>
              <a:buChar char="•"/>
            </a:pPr>
            <a:r>
              <a:rPr lang="en-US" dirty="0">
                <a:latin typeface="Gill Sans MT" panose="020B0502020104020203" pitchFamily="34" charset="0"/>
              </a:rPr>
              <a:t>Requires skilled administrators</a:t>
            </a:r>
          </a:p>
          <a:p>
            <a:pPr>
              <a:buFont typeface="Arial" panose="020B0604020202020204" pitchFamily="34" charset="0"/>
              <a:buChar char="•"/>
            </a:pPr>
            <a:r>
              <a:rPr lang="en-US" dirty="0">
                <a:latin typeface="Gill Sans MT" panose="020B0502020104020203" pitchFamily="34" charset="0"/>
              </a:rPr>
              <a:t>Licensing costs for enterprise hypervisors</a:t>
            </a:r>
          </a:p>
          <a:p>
            <a:pPr>
              <a:buFont typeface="Arial" panose="020B0604020202020204" pitchFamily="34" charset="0"/>
              <a:buChar char="•"/>
            </a:pPr>
            <a:r>
              <a:rPr lang="en-US" dirty="0">
                <a:latin typeface="Gill Sans MT" panose="020B0502020104020203" pitchFamily="34" charset="0"/>
              </a:rPr>
              <a:t>Resource contention if too many VMs run on a single host</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B3BFABB6-E256-4E5D-9394-1F7DFB0B7F96}"/>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23</a:t>
            </a:fld>
            <a:endParaRPr lang="en-US" dirty="0"/>
          </a:p>
        </p:txBody>
      </p:sp>
    </p:spTree>
    <p:extLst>
      <p:ext uri="{BB962C8B-B14F-4D97-AF65-F5344CB8AC3E}">
        <p14:creationId xmlns:p14="http://schemas.microsoft.com/office/powerpoint/2010/main" val="1417157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8228-ACD9-4C57-B8FB-565651BAE5EC}"/>
              </a:ext>
            </a:extLst>
          </p:cNvPr>
          <p:cNvSpPr>
            <a:spLocks noGrp="1"/>
          </p:cNvSpPr>
          <p:nvPr>
            <p:ph type="title"/>
          </p:nvPr>
        </p:nvSpPr>
        <p:spPr>
          <a:xfrm>
            <a:off x="2343403" y="999490"/>
            <a:ext cx="7505192" cy="615553"/>
          </a:xfrm>
        </p:spPr>
        <p:txBody>
          <a:bodyPr/>
          <a:lstStyle/>
          <a:p>
            <a:r>
              <a:rPr lang="en-US" b="1" dirty="0">
                <a:latin typeface="Gill Sans MT" panose="020B0502020104020203" pitchFamily="34" charset="0"/>
              </a:rPr>
              <a:t>Components of Virtualization</a:t>
            </a:r>
            <a:endParaRPr lang="en-US" dirty="0"/>
          </a:p>
        </p:txBody>
      </p:sp>
      <p:sp>
        <p:nvSpPr>
          <p:cNvPr id="3" name="Text Placeholder 2">
            <a:extLst>
              <a:ext uri="{FF2B5EF4-FFF2-40B4-BE49-F238E27FC236}">
                <a16:creationId xmlns:a16="http://schemas.microsoft.com/office/drawing/2014/main" id="{5C810F6C-EE52-40AF-9F1F-62A2000290AA}"/>
              </a:ext>
            </a:extLst>
          </p:cNvPr>
          <p:cNvSpPr>
            <a:spLocks noGrp="1"/>
          </p:cNvSpPr>
          <p:nvPr>
            <p:ph type="body" idx="1"/>
          </p:nvPr>
        </p:nvSpPr>
        <p:spPr>
          <a:xfrm>
            <a:off x="714586" y="1767165"/>
            <a:ext cx="10762825" cy="4924425"/>
          </a:xfrm>
        </p:spPr>
        <p:txBody>
          <a:bodyPr/>
          <a:lstStyle/>
          <a:p>
            <a:pPr marL="457200" indent="-457200">
              <a:buFont typeface="Arial" panose="020B0604020202020204" pitchFamily="34" charset="0"/>
              <a:buChar char="•"/>
            </a:pPr>
            <a:r>
              <a:rPr lang="en-US" b="1" dirty="0">
                <a:latin typeface="Gill Sans MT" panose="020B0502020104020203" pitchFamily="34" charset="0"/>
              </a:rPr>
              <a:t>Hypervisor / VMM:</a:t>
            </a:r>
            <a:r>
              <a:rPr lang="en-US" dirty="0">
                <a:latin typeface="Gill Sans MT" panose="020B0502020104020203" pitchFamily="34" charset="0"/>
              </a:rPr>
              <a:t> Manages and allocates hardware resources to VMs</a:t>
            </a:r>
          </a:p>
          <a:p>
            <a:pPr marL="457200" indent="-457200">
              <a:buFont typeface="Arial" panose="020B0604020202020204" pitchFamily="34" charset="0"/>
              <a:buChar char="•"/>
            </a:pPr>
            <a:r>
              <a:rPr lang="en-US" b="1" dirty="0">
                <a:latin typeface="Gill Sans MT" panose="020B0502020104020203" pitchFamily="34" charset="0"/>
              </a:rPr>
              <a:t>Virtual Machines (VMs):</a:t>
            </a:r>
            <a:r>
              <a:rPr lang="en-US" dirty="0">
                <a:latin typeface="Gill Sans MT" panose="020B0502020104020203" pitchFamily="34" charset="0"/>
              </a:rPr>
              <a:t> Isolated environments running guest OS</a:t>
            </a:r>
          </a:p>
          <a:p>
            <a:pPr marL="457200" indent="-457200">
              <a:buFont typeface="Arial" panose="020B0604020202020204" pitchFamily="34" charset="0"/>
              <a:buChar char="•"/>
            </a:pPr>
            <a:r>
              <a:rPr lang="en-US" b="1" dirty="0">
                <a:latin typeface="Gill Sans MT" panose="020B0502020104020203" pitchFamily="34" charset="0"/>
              </a:rPr>
              <a:t>Guest OS:</a:t>
            </a:r>
            <a:r>
              <a:rPr lang="en-US" dirty="0">
                <a:latin typeface="Gill Sans MT" panose="020B0502020104020203" pitchFamily="34" charset="0"/>
              </a:rPr>
              <a:t> Operating system installed inside the VM</a:t>
            </a:r>
          </a:p>
          <a:p>
            <a:pPr marL="457200" indent="-457200">
              <a:buFont typeface="Arial" panose="020B0604020202020204" pitchFamily="34" charset="0"/>
              <a:buChar char="•"/>
            </a:pPr>
            <a:r>
              <a:rPr lang="en-US" b="1" dirty="0">
                <a:latin typeface="Gill Sans MT" panose="020B0502020104020203" pitchFamily="34" charset="0"/>
              </a:rPr>
              <a:t>Host OS:</a:t>
            </a:r>
            <a:r>
              <a:rPr lang="en-US" dirty="0">
                <a:latin typeface="Gill Sans MT" panose="020B0502020104020203" pitchFamily="34" charset="0"/>
              </a:rPr>
              <a:t> Operating system running on physical hardware (Type 2)</a:t>
            </a:r>
          </a:p>
          <a:p>
            <a:pPr marL="457200" indent="-457200">
              <a:buFont typeface="Arial" panose="020B0604020202020204" pitchFamily="34" charset="0"/>
              <a:buChar char="•"/>
            </a:pPr>
            <a:r>
              <a:rPr lang="en-US" b="1" dirty="0">
                <a:latin typeface="Gill Sans MT" panose="020B0502020104020203" pitchFamily="34" charset="0"/>
              </a:rPr>
              <a:t>Virtual Hardware:</a:t>
            </a:r>
            <a:r>
              <a:rPr lang="en-US" dirty="0">
                <a:latin typeface="Gill Sans MT" panose="020B0502020104020203" pitchFamily="34" charset="0"/>
              </a:rPr>
              <a:t> Virtual CPU, memory, network interfaces, storage</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23D24324-FD1A-478F-B34D-F5A903B76010}"/>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24</a:t>
            </a:fld>
            <a:endParaRPr lang="en-US" dirty="0"/>
          </a:p>
        </p:txBody>
      </p:sp>
    </p:spTree>
    <p:extLst>
      <p:ext uri="{BB962C8B-B14F-4D97-AF65-F5344CB8AC3E}">
        <p14:creationId xmlns:p14="http://schemas.microsoft.com/office/powerpoint/2010/main" val="2062302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68036-C18A-49E5-B85F-2830D9F3E151}"/>
              </a:ext>
            </a:extLst>
          </p:cNvPr>
          <p:cNvSpPr>
            <a:spLocks noGrp="1"/>
          </p:cNvSpPr>
          <p:nvPr>
            <p:ph type="title"/>
          </p:nvPr>
        </p:nvSpPr>
        <p:spPr/>
        <p:txBody>
          <a:bodyPr/>
          <a:lstStyle/>
          <a:p>
            <a:r>
              <a:rPr lang="en-US" dirty="0">
                <a:latin typeface="Gill Sans MT" panose="020B0502020104020203" pitchFamily="34" charset="0"/>
              </a:rPr>
              <a:t>Types of Virtualization</a:t>
            </a:r>
          </a:p>
        </p:txBody>
      </p:sp>
      <p:sp>
        <p:nvSpPr>
          <p:cNvPr id="3" name="Text Placeholder 2">
            <a:extLst>
              <a:ext uri="{FF2B5EF4-FFF2-40B4-BE49-F238E27FC236}">
                <a16:creationId xmlns:a16="http://schemas.microsoft.com/office/drawing/2014/main" id="{87A2C7E8-C3E9-4B64-BB00-763972F76780}"/>
              </a:ext>
            </a:extLst>
          </p:cNvPr>
          <p:cNvSpPr>
            <a:spLocks noGrp="1"/>
          </p:cNvSpPr>
          <p:nvPr>
            <p:ph type="body" idx="1"/>
          </p:nvPr>
        </p:nvSpPr>
        <p:spPr>
          <a:xfrm>
            <a:off x="714588" y="2027047"/>
            <a:ext cx="10762825" cy="1969770"/>
          </a:xfrm>
        </p:spPr>
        <p:txBody>
          <a:bodyPr/>
          <a:lstStyle/>
          <a:p>
            <a:pPr marL="514350" indent="-514350">
              <a:buFont typeface="+mj-lt"/>
              <a:buAutoNum type="arabicPeriod"/>
            </a:pPr>
            <a:r>
              <a:rPr lang="en-US" dirty="0">
                <a:latin typeface="Gill Sans MT" panose="020B0502020104020203" pitchFamily="34" charset="0"/>
              </a:rPr>
              <a:t>Hardware Virtualization</a:t>
            </a:r>
          </a:p>
          <a:p>
            <a:pPr marL="514350" indent="-514350">
              <a:buFont typeface="+mj-lt"/>
              <a:buAutoNum type="arabicPeriod"/>
            </a:pPr>
            <a:r>
              <a:rPr lang="en-US" dirty="0">
                <a:latin typeface="Gill Sans MT" panose="020B0502020104020203" pitchFamily="34" charset="0"/>
              </a:rPr>
              <a:t>Operating System Virtualization (Containerization)</a:t>
            </a:r>
          </a:p>
          <a:p>
            <a:pPr marL="514350" indent="-514350">
              <a:buFont typeface="+mj-lt"/>
              <a:buAutoNum type="arabicPeriod"/>
            </a:pPr>
            <a:r>
              <a:rPr lang="en-US" dirty="0">
                <a:latin typeface="Gill Sans MT" panose="020B0502020104020203" pitchFamily="34" charset="0"/>
              </a:rPr>
              <a:t>Network Virtualization</a:t>
            </a:r>
          </a:p>
          <a:p>
            <a:pPr marL="514350" indent="-514350">
              <a:buFont typeface="+mj-lt"/>
              <a:buAutoNum type="arabicPeriod"/>
            </a:pPr>
            <a:r>
              <a:rPr lang="en-US" dirty="0">
                <a:latin typeface="Gill Sans MT" panose="020B0502020104020203" pitchFamily="34" charset="0"/>
              </a:rPr>
              <a:t>Storage Virtualization</a:t>
            </a:r>
          </a:p>
        </p:txBody>
      </p:sp>
      <p:sp>
        <p:nvSpPr>
          <p:cNvPr id="4" name="Slide Number Placeholder 3">
            <a:extLst>
              <a:ext uri="{FF2B5EF4-FFF2-40B4-BE49-F238E27FC236}">
                <a16:creationId xmlns:a16="http://schemas.microsoft.com/office/drawing/2014/main" id="{4531EF4D-651A-4F34-B94E-BD0BEEE9D154}"/>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25</a:t>
            </a:fld>
            <a:endParaRPr lang="en-US" dirty="0"/>
          </a:p>
        </p:txBody>
      </p:sp>
    </p:spTree>
    <p:extLst>
      <p:ext uri="{BB962C8B-B14F-4D97-AF65-F5344CB8AC3E}">
        <p14:creationId xmlns:p14="http://schemas.microsoft.com/office/powerpoint/2010/main" val="2138308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0C15-7CA4-4658-A193-E48FCB054F5D}"/>
              </a:ext>
            </a:extLst>
          </p:cNvPr>
          <p:cNvSpPr>
            <a:spLocks noGrp="1"/>
          </p:cNvSpPr>
          <p:nvPr>
            <p:ph type="title"/>
          </p:nvPr>
        </p:nvSpPr>
        <p:spPr>
          <a:xfrm>
            <a:off x="2343404" y="624105"/>
            <a:ext cx="7505192" cy="615553"/>
          </a:xfrm>
        </p:spPr>
        <p:txBody>
          <a:bodyPr/>
          <a:lstStyle/>
          <a:p>
            <a:pPr algn="r"/>
            <a:r>
              <a:rPr lang="en-US" dirty="0">
                <a:latin typeface="Gill Sans MT" panose="020B0502020104020203" pitchFamily="34" charset="0"/>
              </a:rPr>
              <a:t>Types of Virtualization(</a:t>
            </a:r>
            <a:r>
              <a:rPr lang="en-US" sz="2000" dirty="0">
                <a:latin typeface="Gill Sans MT" panose="020B0502020104020203" pitchFamily="34" charset="0"/>
              </a:rPr>
              <a:t>cont..)</a:t>
            </a:r>
            <a:endParaRPr lang="en-US" sz="2000" dirty="0"/>
          </a:p>
        </p:txBody>
      </p:sp>
      <p:sp>
        <p:nvSpPr>
          <p:cNvPr id="3" name="Text Placeholder 2">
            <a:extLst>
              <a:ext uri="{FF2B5EF4-FFF2-40B4-BE49-F238E27FC236}">
                <a16:creationId xmlns:a16="http://schemas.microsoft.com/office/drawing/2014/main" id="{0D1FDBE5-7EB8-475D-A363-A2837CF3ECC5}"/>
              </a:ext>
            </a:extLst>
          </p:cNvPr>
          <p:cNvSpPr>
            <a:spLocks noGrp="1"/>
          </p:cNvSpPr>
          <p:nvPr>
            <p:ph type="body" idx="1"/>
          </p:nvPr>
        </p:nvSpPr>
        <p:spPr>
          <a:xfrm>
            <a:off x="593768" y="1536159"/>
            <a:ext cx="10762825" cy="5416868"/>
          </a:xfrm>
        </p:spPr>
        <p:txBody>
          <a:bodyPr/>
          <a:lstStyle/>
          <a:p>
            <a:r>
              <a:rPr lang="en-US" b="1" dirty="0">
                <a:solidFill>
                  <a:schemeClr val="accent1"/>
                </a:solidFill>
                <a:latin typeface="Gill Sans MT" panose="020B0502020104020203" pitchFamily="34" charset="0"/>
              </a:rPr>
              <a:t>1 Hardware Virtualization</a:t>
            </a:r>
          </a:p>
          <a:p>
            <a:pPr>
              <a:buFont typeface="Arial" panose="020B0604020202020204" pitchFamily="34" charset="0"/>
              <a:buChar char="•"/>
            </a:pPr>
            <a:r>
              <a:rPr lang="en-US" dirty="0">
                <a:latin typeface="Gill Sans MT" panose="020B0502020104020203" pitchFamily="34" charset="0"/>
              </a:rPr>
              <a:t>Allows multiple operating systems to run on a single physical machine.</a:t>
            </a:r>
          </a:p>
          <a:p>
            <a:pPr>
              <a:buFont typeface="Arial" panose="020B0604020202020204" pitchFamily="34" charset="0"/>
              <a:buChar char="•"/>
            </a:pPr>
            <a:r>
              <a:rPr lang="en-US" dirty="0">
                <a:latin typeface="Gill Sans MT" panose="020B0502020104020203" pitchFamily="34" charset="0"/>
              </a:rPr>
              <a:t>Achieved using a </a:t>
            </a:r>
            <a:r>
              <a:rPr lang="en-US" b="1" dirty="0">
                <a:latin typeface="Gill Sans MT" panose="020B0502020104020203" pitchFamily="34" charset="0"/>
              </a:rPr>
              <a:t>hypervisor</a:t>
            </a:r>
            <a:r>
              <a:rPr lang="en-US" dirty="0">
                <a:latin typeface="Gill Sans MT" panose="020B0502020104020203" pitchFamily="34" charset="0"/>
              </a:rPr>
              <a:t> (also called a Virtual Machine Monitor, VMM)</a:t>
            </a:r>
          </a:p>
          <a:p>
            <a:pPr>
              <a:buFont typeface="Arial" panose="020B0604020202020204" pitchFamily="34" charset="0"/>
              <a:buChar char="•"/>
            </a:pPr>
            <a:r>
              <a:rPr lang="en-US" dirty="0">
                <a:solidFill>
                  <a:srgbClr val="FFC000"/>
                </a:solidFill>
                <a:latin typeface="Gill Sans MT" panose="020B0502020104020203" pitchFamily="34" charset="0"/>
              </a:rPr>
              <a:t>Types of hypervisors:</a:t>
            </a:r>
          </a:p>
          <a:p>
            <a:pPr marL="742950" lvl="1" indent="-285750">
              <a:buFont typeface="Arial" panose="020B0604020202020204" pitchFamily="34" charset="0"/>
              <a:buChar char="•"/>
            </a:pPr>
            <a:r>
              <a:rPr lang="en-US" sz="3200" b="1" dirty="0">
                <a:latin typeface="Gill Sans MT" panose="020B0502020104020203" pitchFamily="34" charset="0"/>
              </a:rPr>
              <a:t>Type 1 (Bare-metal Hypervisor):</a:t>
            </a:r>
            <a:r>
              <a:rPr lang="en-US" sz="3200" dirty="0">
                <a:latin typeface="Gill Sans MT" panose="020B0502020104020203" pitchFamily="34" charset="0"/>
              </a:rPr>
              <a:t> Runs directly on hardware. Examples: VMware </a:t>
            </a:r>
            <a:r>
              <a:rPr lang="en-US" sz="3200" dirty="0" err="1">
                <a:latin typeface="Gill Sans MT" panose="020B0502020104020203" pitchFamily="34" charset="0"/>
              </a:rPr>
              <a:t>ESXi</a:t>
            </a:r>
            <a:r>
              <a:rPr lang="en-US" sz="3200" dirty="0">
                <a:latin typeface="Gill Sans MT" panose="020B0502020104020203" pitchFamily="34" charset="0"/>
              </a:rPr>
              <a:t>, Microsoft Hyper-V</a:t>
            </a:r>
          </a:p>
          <a:p>
            <a:pPr marL="742950" lvl="1" indent="-285750">
              <a:buFont typeface="Arial" panose="020B0604020202020204" pitchFamily="34" charset="0"/>
              <a:buChar char="•"/>
            </a:pPr>
            <a:r>
              <a:rPr lang="en-US" sz="3200" b="1" dirty="0">
                <a:latin typeface="Gill Sans MT" panose="020B0502020104020203" pitchFamily="34" charset="0"/>
              </a:rPr>
              <a:t>Type 2 (Hosted Hypervisor):</a:t>
            </a:r>
            <a:r>
              <a:rPr lang="en-US" sz="3200" dirty="0">
                <a:latin typeface="Gill Sans MT" panose="020B0502020104020203" pitchFamily="34" charset="0"/>
              </a:rPr>
              <a:t> Runs on top of an existing </a:t>
            </a:r>
            <a:r>
              <a:rPr lang="en-US" sz="3200" dirty="0" err="1">
                <a:latin typeface="Gill Sans MT" panose="020B0502020104020203" pitchFamily="34" charset="0"/>
              </a:rPr>
              <a:t>OS.Examples</a:t>
            </a:r>
            <a:r>
              <a:rPr lang="en-US" sz="3200" dirty="0">
                <a:latin typeface="Gill Sans MT" panose="020B0502020104020203" pitchFamily="34" charset="0"/>
              </a:rPr>
              <a:t>: VMware Workstation, Oracle VirtualBox</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8EEC0EBF-AA90-4A9C-B87A-75D2801A4534}"/>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26</a:t>
            </a:fld>
            <a:endParaRPr lang="en-US" dirty="0"/>
          </a:p>
        </p:txBody>
      </p:sp>
    </p:spTree>
    <p:extLst>
      <p:ext uri="{BB962C8B-B14F-4D97-AF65-F5344CB8AC3E}">
        <p14:creationId xmlns:p14="http://schemas.microsoft.com/office/powerpoint/2010/main" val="1041460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48E19A-3FD9-4FCB-A4A7-A188C58998AB}"/>
              </a:ext>
            </a:extLst>
          </p:cNvPr>
          <p:cNvSpPr>
            <a:spLocks noGrp="1"/>
          </p:cNvSpPr>
          <p:nvPr>
            <p:ph type="body" idx="1"/>
          </p:nvPr>
        </p:nvSpPr>
        <p:spPr>
          <a:xfrm>
            <a:off x="593768" y="1478407"/>
            <a:ext cx="10762825" cy="4431983"/>
          </a:xfrm>
        </p:spPr>
        <p:txBody>
          <a:bodyPr/>
          <a:lstStyle/>
          <a:p>
            <a:r>
              <a:rPr lang="en-US" b="1" dirty="0">
                <a:solidFill>
                  <a:schemeClr val="accent1"/>
                </a:solidFill>
                <a:latin typeface="Gill Sans MT" panose="020B0502020104020203" pitchFamily="34" charset="0"/>
              </a:rPr>
              <a:t>2 Operating System Virtualization (Containerization)</a:t>
            </a:r>
          </a:p>
          <a:p>
            <a:pPr>
              <a:buFont typeface="Arial" panose="020B0604020202020204" pitchFamily="34" charset="0"/>
              <a:buChar char="•"/>
            </a:pPr>
            <a:r>
              <a:rPr lang="en-US" dirty="0">
                <a:latin typeface="Gill Sans MT" panose="020B0502020104020203" pitchFamily="34" charset="0"/>
              </a:rPr>
              <a:t>Runs multiple isolated user-space instances on a single OS kernel</a:t>
            </a:r>
          </a:p>
          <a:p>
            <a:pPr>
              <a:buFont typeface="Arial" panose="020B0604020202020204" pitchFamily="34" charset="0"/>
              <a:buChar char="•"/>
            </a:pPr>
            <a:r>
              <a:rPr lang="en-US" dirty="0">
                <a:latin typeface="Gill Sans MT" panose="020B0502020104020203" pitchFamily="34" charset="0"/>
              </a:rPr>
              <a:t>Lightweight compared to full VMs</a:t>
            </a:r>
          </a:p>
          <a:p>
            <a:pPr>
              <a:buFont typeface="Arial" panose="020B0604020202020204" pitchFamily="34" charset="0"/>
              <a:buChar char="•"/>
            </a:pPr>
            <a:r>
              <a:rPr lang="en-US" dirty="0">
                <a:latin typeface="Gill Sans MT" panose="020B0502020104020203" pitchFamily="34" charset="0"/>
              </a:rPr>
              <a:t>Used in microservices and cloud-native applications</a:t>
            </a:r>
          </a:p>
          <a:p>
            <a:pPr>
              <a:buFont typeface="Arial" panose="020B0604020202020204" pitchFamily="34" charset="0"/>
              <a:buChar char="•"/>
            </a:pPr>
            <a:r>
              <a:rPr lang="en-US" dirty="0">
                <a:solidFill>
                  <a:srgbClr val="FFC000"/>
                </a:solidFill>
                <a:latin typeface="Gill Sans MT" panose="020B0502020104020203" pitchFamily="34" charset="0"/>
              </a:rPr>
              <a:t>Examples:</a:t>
            </a:r>
          </a:p>
          <a:p>
            <a:pPr marL="742950" lvl="1" indent="-285750">
              <a:buFont typeface="Arial" panose="020B0604020202020204" pitchFamily="34" charset="0"/>
              <a:buChar char="•"/>
            </a:pPr>
            <a:r>
              <a:rPr lang="en-US" sz="3200" dirty="0">
                <a:latin typeface="Gill Sans MT" panose="020B0502020104020203" pitchFamily="34" charset="0"/>
              </a:rPr>
              <a:t>Docker</a:t>
            </a:r>
          </a:p>
          <a:p>
            <a:pPr marL="742950" lvl="1" indent="-285750">
              <a:buFont typeface="Arial" panose="020B0604020202020204" pitchFamily="34" charset="0"/>
              <a:buChar char="•"/>
            </a:pPr>
            <a:r>
              <a:rPr lang="en-US" sz="3200" dirty="0">
                <a:latin typeface="Gill Sans MT" panose="020B0502020104020203" pitchFamily="34" charset="0"/>
              </a:rPr>
              <a:t>LXC (Linux Containers)</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736EB7FC-6595-41FB-AC7E-0E338C86F9C4}"/>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27</a:t>
            </a:fld>
            <a:endParaRPr lang="en-US" dirty="0"/>
          </a:p>
        </p:txBody>
      </p:sp>
      <p:sp>
        <p:nvSpPr>
          <p:cNvPr id="30" name="Title 1">
            <a:extLst>
              <a:ext uri="{FF2B5EF4-FFF2-40B4-BE49-F238E27FC236}">
                <a16:creationId xmlns:a16="http://schemas.microsoft.com/office/drawing/2014/main" id="{ACA56A8B-F1D7-4D51-A141-1B3CBEED090D}"/>
              </a:ext>
            </a:extLst>
          </p:cNvPr>
          <p:cNvSpPr>
            <a:spLocks noGrp="1"/>
          </p:cNvSpPr>
          <p:nvPr>
            <p:ph type="title"/>
          </p:nvPr>
        </p:nvSpPr>
        <p:spPr>
          <a:xfrm>
            <a:off x="2343404" y="624105"/>
            <a:ext cx="7505192" cy="615553"/>
          </a:xfrm>
        </p:spPr>
        <p:txBody>
          <a:bodyPr/>
          <a:lstStyle/>
          <a:p>
            <a:pPr algn="r"/>
            <a:r>
              <a:rPr lang="en-US" dirty="0">
                <a:latin typeface="Gill Sans MT" panose="020B0502020104020203" pitchFamily="34" charset="0"/>
              </a:rPr>
              <a:t>Types of Virtualization(</a:t>
            </a:r>
            <a:r>
              <a:rPr lang="en-US" sz="2000" dirty="0">
                <a:latin typeface="Gill Sans MT" panose="020B0502020104020203" pitchFamily="34" charset="0"/>
              </a:rPr>
              <a:t>cont..)</a:t>
            </a:r>
            <a:endParaRPr lang="en-US" sz="2000" dirty="0"/>
          </a:p>
        </p:txBody>
      </p:sp>
    </p:spTree>
    <p:extLst>
      <p:ext uri="{BB962C8B-B14F-4D97-AF65-F5344CB8AC3E}">
        <p14:creationId xmlns:p14="http://schemas.microsoft.com/office/powerpoint/2010/main" val="3553571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4F18A2-A98F-4897-9384-9E59133A0517}"/>
              </a:ext>
            </a:extLst>
          </p:cNvPr>
          <p:cNvSpPr>
            <a:spLocks noGrp="1"/>
          </p:cNvSpPr>
          <p:nvPr>
            <p:ph type="body" idx="1"/>
          </p:nvPr>
        </p:nvSpPr>
        <p:spPr>
          <a:xfrm>
            <a:off x="714587" y="1536159"/>
            <a:ext cx="10762825" cy="3447098"/>
          </a:xfrm>
        </p:spPr>
        <p:txBody>
          <a:bodyPr/>
          <a:lstStyle/>
          <a:p>
            <a:r>
              <a:rPr lang="en-US" b="1" dirty="0">
                <a:solidFill>
                  <a:schemeClr val="accent1"/>
                </a:solidFill>
                <a:latin typeface="Gill Sans MT" panose="020B0502020104020203" pitchFamily="34" charset="0"/>
              </a:rPr>
              <a:t>3 Network Virtualization</a:t>
            </a:r>
          </a:p>
          <a:p>
            <a:pPr>
              <a:buFont typeface="Arial" panose="020B0604020202020204" pitchFamily="34" charset="0"/>
              <a:buChar char="•"/>
            </a:pPr>
            <a:r>
              <a:rPr lang="en-US" dirty="0">
                <a:latin typeface="Gill Sans MT" panose="020B0502020104020203" pitchFamily="34" charset="0"/>
              </a:rPr>
              <a:t>Abstracts physical network resources into virtual networks</a:t>
            </a:r>
          </a:p>
          <a:p>
            <a:pPr>
              <a:buFont typeface="Arial" panose="020B0604020202020204" pitchFamily="34" charset="0"/>
              <a:buChar char="•"/>
            </a:pPr>
            <a:r>
              <a:rPr lang="en-US" dirty="0">
                <a:latin typeface="Gill Sans MT" panose="020B0502020104020203" pitchFamily="34" charset="0"/>
              </a:rPr>
              <a:t>Enables multiple virtual networks on a single physical infrastructure</a:t>
            </a:r>
          </a:p>
          <a:p>
            <a:pPr>
              <a:buFont typeface="Arial" panose="020B0604020202020204" pitchFamily="34" charset="0"/>
              <a:buChar char="•"/>
            </a:pPr>
            <a:r>
              <a:rPr lang="en-US" dirty="0">
                <a:latin typeface="Gill Sans MT" panose="020B0502020104020203" pitchFamily="34" charset="0"/>
              </a:rPr>
              <a:t>Key technologies: VLANs, VXLANs, SDN (Software Defined Networking)</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D5B5A75C-A7B8-4245-B07F-519C368EFFA1}"/>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28</a:t>
            </a:fld>
            <a:endParaRPr lang="en-US" dirty="0"/>
          </a:p>
        </p:txBody>
      </p:sp>
      <p:sp>
        <p:nvSpPr>
          <p:cNvPr id="5" name="Title 1">
            <a:extLst>
              <a:ext uri="{FF2B5EF4-FFF2-40B4-BE49-F238E27FC236}">
                <a16:creationId xmlns:a16="http://schemas.microsoft.com/office/drawing/2014/main" id="{54EDB723-C443-4B31-971A-B092F54C6977}"/>
              </a:ext>
            </a:extLst>
          </p:cNvPr>
          <p:cNvSpPr>
            <a:spLocks noGrp="1"/>
          </p:cNvSpPr>
          <p:nvPr>
            <p:ph type="title"/>
          </p:nvPr>
        </p:nvSpPr>
        <p:spPr>
          <a:xfrm>
            <a:off x="2343404" y="624105"/>
            <a:ext cx="7505192" cy="615553"/>
          </a:xfrm>
        </p:spPr>
        <p:txBody>
          <a:bodyPr/>
          <a:lstStyle/>
          <a:p>
            <a:pPr algn="r"/>
            <a:r>
              <a:rPr lang="en-US" dirty="0">
                <a:latin typeface="Gill Sans MT" panose="020B0502020104020203" pitchFamily="34" charset="0"/>
              </a:rPr>
              <a:t>Types of Virtualization(</a:t>
            </a:r>
            <a:r>
              <a:rPr lang="en-US" sz="2000" dirty="0">
                <a:latin typeface="Gill Sans MT" panose="020B0502020104020203" pitchFamily="34" charset="0"/>
              </a:rPr>
              <a:t>cont..)</a:t>
            </a:r>
            <a:endParaRPr lang="en-US" sz="2000" dirty="0"/>
          </a:p>
        </p:txBody>
      </p:sp>
    </p:spTree>
    <p:extLst>
      <p:ext uri="{BB962C8B-B14F-4D97-AF65-F5344CB8AC3E}">
        <p14:creationId xmlns:p14="http://schemas.microsoft.com/office/powerpoint/2010/main" val="37619017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54057F-E67E-4DBD-8D2F-1177DE0D8C08}"/>
              </a:ext>
            </a:extLst>
          </p:cNvPr>
          <p:cNvSpPr>
            <a:spLocks noGrp="1"/>
          </p:cNvSpPr>
          <p:nvPr>
            <p:ph type="body" idx="1"/>
          </p:nvPr>
        </p:nvSpPr>
        <p:spPr>
          <a:xfrm>
            <a:off x="714587" y="1632411"/>
            <a:ext cx="10762825" cy="3939540"/>
          </a:xfrm>
        </p:spPr>
        <p:txBody>
          <a:bodyPr/>
          <a:lstStyle/>
          <a:p>
            <a:r>
              <a:rPr lang="en-US" b="1" dirty="0">
                <a:solidFill>
                  <a:schemeClr val="accent1"/>
                </a:solidFill>
                <a:latin typeface="Gill Sans MT" panose="020B0502020104020203" pitchFamily="34" charset="0"/>
              </a:rPr>
              <a:t>4 Storage Virtualization</a:t>
            </a:r>
          </a:p>
          <a:p>
            <a:pPr>
              <a:buFont typeface="Arial" panose="020B0604020202020204" pitchFamily="34" charset="0"/>
              <a:buChar char="•"/>
            </a:pPr>
            <a:r>
              <a:rPr lang="en-US" dirty="0">
                <a:latin typeface="Gill Sans MT" panose="020B0502020104020203" pitchFamily="34" charset="0"/>
              </a:rPr>
              <a:t>Combines multiple physical storage devices into a single logical unit</a:t>
            </a:r>
          </a:p>
          <a:p>
            <a:pPr>
              <a:buFont typeface="Arial" panose="020B0604020202020204" pitchFamily="34" charset="0"/>
              <a:buChar char="•"/>
            </a:pPr>
            <a:r>
              <a:rPr lang="en-US" dirty="0">
                <a:latin typeface="Gill Sans MT" panose="020B0502020104020203" pitchFamily="34" charset="0"/>
              </a:rPr>
              <a:t>Simplifies management, improves scalability, and enhances fault tolerance</a:t>
            </a:r>
          </a:p>
          <a:p>
            <a:pPr>
              <a:buFont typeface="Arial" panose="020B0604020202020204" pitchFamily="34" charset="0"/>
              <a:buChar char="•"/>
            </a:pPr>
            <a:r>
              <a:rPr lang="en-US" dirty="0">
                <a:latin typeface="Gill Sans MT" panose="020B0502020104020203" pitchFamily="34" charset="0"/>
              </a:rPr>
              <a:t>Examples: SAN (Storage Area Network), NAS (Network Attached Storage)</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3924AF2F-9C10-478D-95FD-02B8663F6AD5}"/>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29</a:t>
            </a:fld>
            <a:endParaRPr lang="en-US" dirty="0"/>
          </a:p>
        </p:txBody>
      </p:sp>
      <p:sp>
        <p:nvSpPr>
          <p:cNvPr id="5" name="Title 1">
            <a:extLst>
              <a:ext uri="{FF2B5EF4-FFF2-40B4-BE49-F238E27FC236}">
                <a16:creationId xmlns:a16="http://schemas.microsoft.com/office/drawing/2014/main" id="{52CAD87D-7FC3-488C-9706-D1180F74E268}"/>
              </a:ext>
            </a:extLst>
          </p:cNvPr>
          <p:cNvSpPr>
            <a:spLocks noGrp="1"/>
          </p:cNvSpPr>
          <p:nvPr>
            <p:ph type="title"/>
          </p:nvPr>
        </p:nvSpPr>
        <p:spPr>
          <a:xfrm>
            <a:off x="2343404" y="624105"/>
            <a:ext cx="7505192" cy="615553"/>
          </a:xfrm>
        </p:spPr>
        <p:txBody>
          <a:bodyPr/>
          <a:lstStyle/>
          <a:p>
            <a:pPr algn="r"/>
            <a:r>
              <a:rPr lang="en-US" dirty="0">
                <a:latin typeface="Gill Sans MT" panose="020B0502020104020203" pitchFamily="34" charset="0"/>
              </a:rPr>
              <a:t>Types of Virtualization(</a:t>
            </a:r>
            <a:r>
              <a:rPr lang="en-US" sz="2000" dirty="0">
                <a:latin typeface="Gill Sans MT" panose="020B0502020104020203" pitchFamily="34" charset="0"/>
              </a:rPr>
              <a:t>cont..)</a:t>
            </a:r>
            <a:endParaRPr lang="en-US" sz="2000" dirty="0"/>
          </a:p>
        </p:txBody>
      </p:sp>
    </p:spTree>
    <p:extLst>
      <p:ext uri="{BB962C8B-B14F-4D97-AF65-F5344CB8AC3E}">
        <p14:creationId xmlns:p14="http://schemas.microsoft.com/office/powerpoint/2010/main" val="1670516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DD844-4976-4A56-921B-3AE21449A66A}"/>
              </a:ext>
            </a:extLst>
          </p:cNvPr>
          <p:cNvSpPr>
            <a:spLocks noGrp="1"/>
          </p:cNvSpPr>
          <p:nvPr>
            <p:ph type="title"/>
          </p:nvPr>
        </p:nvSpPr>
        <p:spPr>
          <a:xfrm>
            <a:off x="714587" y="999490"/>
            <a:ext cx="10487490" cy="615553"/>
          </a:xfrm>
        </p:spPr>
        <p:txBody>
          <a:bodyPr/>
          <a:lstStyle/>
          <a:p>
            <a:r>
              <a:rPr lang="en-US" b="1" i="0" dirty="0">
                <a:effectLst/>
                <a:latin typeface="Gill Sans MT" panose="020B0502020104020203" pitchFamily="34" charset="0"/>
              </a:rPr>
              <a:t>Types of Server Virtualization Solutions</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7EFAFE2D-C3D4-4173-9EA9-C350888E2902}"/>
              </a:ext>
            </a:extLst>
          </p:cNvPr>
          <p:cNvSpPr>
            <a:spLocks noGrp="1"/>
          </p:cNvSpPr>
          <p:nvPr>
            <p:ph type="body" idx="1"/>
          </p:nvPr>
        </p:nvSpPr>
        <p:spPr>
          <a:xfrm>
            <a:off x="714588" y="2027047"/>
            <a:ext cx="10762825" cy="2462213"/>
          </a:xfrm>
        </p:spPr>
        <p:txBody>
          <a:bodyPr/>
          <a:lstStyle/>
          <a:p>
            <a:pPr algn="l" fontAlgn="base"/>
            <a:r>
              <a:rPr lang="en-US" b="0" i="0" dirty="0">
                <a:solidFill>
                  <a:srgbClr val="000000"/>
                </a:solidFill>
                <a:effectLst/>
                <a:latin typeface="Gill Sans MT" panose="020B0502020104020203" pitchFamily="34" charset="0"/>
              </a:rPr>
              <a:t>There are 3 types of server virtualization based on level of isolation and ability to mimic hardware resources.</a:t>
            </a:r>
          </a:p>
          <a:p>
            <a:pPr marL="457200" indent="-457200" algn="l" fontAlgn="base">
              <a:buFont typeface="Arial" panose="020B0604020202020204" pitchFamily="34" charset="0"/>
              <a:buChar char="•"/>
            </a:pPr>
            <a:r>
              <a:rPr lang="en-US" dirty="0">
                <a:latin typeface="Gill Sans MT" panose="020B0502020104020203" pitchFamily="34" charset="0"/>
              </a:rPr>
              <a:t>Full Virtualization </a:t>
            </a:r>
          </a:p>
          <a:p>
            <a:pPr marL="457200" indent="-457200" algn="l" fontAlgn="base">
              <a:buFont typeface="Arial" panose="020B0604020202020204" pitchFamily="34" charset="0"/>
              <a:buChar char="•"/>
            </a:pPr>
            <a:r>
              <a:rPr lang="en-US" dirty="0">
                <a:latin typeface="Gill Sans MT" panose="020B0502020104020203" pitchFamily="34" charset="0"/>
              </a:rPr>
              <a:t>Paravirtualization </a:t>
            </a:r>
          </a:p>
          <a:p>
            <a:pPr marL="457200" indent="-457200" algn="l" fontAlgn="base">
              <a:buFont typeface="Arial" panose="020B0604020202020204" pitchFamily="34" charset="0"/>
              <a:buChar char="•"/>
            </a:pPr>
            <a:r>
              <a:rPr lang="en-US" dirty="0">
                <a:latin typeface="Gill Sans MT" panose="020B0502020104020203" pitchFamily="34" charset="0"/>
              </a:rPr>
              <a:t>OS-Level Virtualization</a:t>
            </a:r>
          </a:p>
        </p:txBody>
      </p:sp>
      <p:sp>
        <p:nvSpPr>
          <p:cNvPr id="4" name="Slide Number Placeholder 3">
            <a:extLst>
              <a:ext uri="{FF2B5EF4-FFF2-40B4-BE49-F238E27FC236}">
                <a16:creationId xmlns:a16="http://schemas.microsoft.com/office/drawing/2014/main" id="{9B0AAFAE-8581-4A87-92B9-0CF24B015E71}"/>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30</a:t>
            </a:fld>
            <a:endParaRPr lang="en-US" dirty="0"/>
          </a:p>
        </p:txBody>
      </p:sp>
    </p:spTree>
    <p:extLst>
      <p:ext uri="{BB962C8B-B14F-4D97-AF65-F5344CB8AC3E}">
        <p14:creationId xmlns:p14="http://schemas.microsoft.com/office/powerpoint/2010/main" val="40666101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E6C7-6DFB-4BAB-9EAD-A65F35CF0F2A}"/>
              </a:ext>
            </a:extLst>
          </p:cNvPr>
          <p:cNvSpPr>
            <a:spLocks noGrp="1"/>
          </p:cNvSpPr>
          <p:nvPr>
            <p:ph type="title"/>
          </p:nvPr>
        </p:nvSpPr>
        <p:spPr>
          <a:xfrm>
            <a:off x="1126156" y="999490"/>
            <a:ext cx="9798517" cy="615553"/>
          </a:xfrm>
        </p:spPr>
        <p:txBody>
          <a:bodyPr/>
          <a:lstStyle/>
          <a:p>
            <a:pPr algn="l"/>
            <a:r>
              <a:rPr lang="en-US" dirty="0">
                <a:latin typeface="Gill Sans MT" panose="020B0502020104020203" pitchFamily="34" charset="0"/>
              </a:rPr>
              <a:t>Full Virtualization </a:t>
            </a:r>
            <a:r>
              <a:rPr lang="en-US" b="1" i="0" dirty="0">
                <a:effectLst/>
                <a:latin typeface="Gill Sans MT" panose="020B0502020104020203" pitchFamily="34" charset="0"/>
              </a:rPr>
              <a:t>Solutions</a:t>
            </a:r>
            <a:endParaRPr lang="en-US" dirty="0"/>
          </a:p>
        </p:txBody>
      </p:sp>
      <p:sp>
        <p:nvSpPr>
          <p:cNvPr id="3" name="Text Placeholder 2">
            <a:extLst>
              <a:ext uri="{FF2B5EF4-FFF2-40B4-BE49-F238E27FC236}">
                <a16:creationId xmlns:a16="http://schemas.microsoft.com/office/drawing/2014/main" id="{8CC262DE-B862-41FF-B051-AF6209C5152D}"/>
              </a:ext>
            </a:extLst>
          </p:cNvPr>
          <p:cNvSpPr>
            <a:spLocks noGrp="1"/>
          </p:cNvSpPr>
          <p:nvPr>
            <p:ph type="body" idx="1"/>
          </p:nvPr>
        </p:nvSpPr>
        <p:spPr>
          <a:xfrm>
            <a:off x="714588" y="2027047"/>
            <a:ext cx="10762825" cy="4591521"/>
          </a:xfrm>
        </p:spPr>
        <p:txBody>
          <a:bodyPr/>
          <a:lstStyle/>
          <a:p>
            <a:pPr marL="457200" indent="-457200">
              <a:buFont typeface="Arial" panose="020B0604020202020204" pitchFamily="34" charset="0"/>
              <a:buChar char="•"/>
            </a:pPr>
            <a:r>
              <a:rPr lang="en-US" b="1" dirty="0">
                <a:latin typeface="Gill Sans MT" panose="020B0502020104020203" pitchFamily="34" charset="0"/>
              </a:rPr>
              <a:t>Full Virtualization</a:t>
            </a:r>
            <a:r>
              <a:rPr lang="en-US" dirty="0">
                <a:latin typeface="Gill Sans MT" panose="020B0502020104020203" pitchFamily="34" charset="0"/>
              </a:rPr>
              <a:t> allows a complete operating system to run unmodified on virtual hardware.</a:t>
            </a:r>
          </a:p>
          <a:p>
            <a:pPr marL="457200" indent="-457200">
              <a:buFont typeface="Arial" panose="020B0604020202020204" pitchFamily="34" charset="0"/>
              <a:buChar char="•"/>
            </a:pPr>
            <a:r>
              <a:rPr lang="en-US" dirty="0">
                <a:latin typeface="Gill Sans MT" panose="020B0502020104020203" pitchFamily="34" charset="0"/>
              </a:rPr>
              <a:t>The hypervisor fully emulates the underlying hardware so the guest OS does </a:t>
            </a:r>
            <a:r>
              <a:rPr lang="en-US" b="1" dirty="0">
                <a:latin typeface="Gill Sans MT" panose="020B0502020104020203" pitchFamily="34" charset="0"/>
              </a:rPr>
              <a:t>not know</a:t>
            </a:r>
            <a:r>
              <a:rPr lang="en-US" dirty="0">
                <a:latin typeface="Gill Sans MT" panose="020B0502020104020203" pitchFamily="34" charset="0"/>
              </a:rPr>
              <a:t> it is running inside a virtual machine.</a:t>
            </a:r>
          </a:p>
          <a:p>
            <a:pPr marL="457200" indent="-457200" algn="l">
              <a:buFont typeface="Arial" panose="020B0604020202020204" pitchFamily="34" charset="0"/>
              <a:buChar char="•"/>
            </a:pPr>
            <a:r>
              <a:rPr lang="en-US" b="0" i="0" dirty="0">
                <a:solidFill>
                  <a:srgbClr val="000000"/>
                </a:solidFill>
                <a:effectLst/>
                <a:latin typeface="Gill Sans MT" panose="020B0502020104020203" pitchFamily="34" charset="0"/>
              </a:rPr>
              <a:t>This virtualization software monitors and sends information and resources directly from the physical server while still running on its own</a:t>
            </a:r>
          </a:p>
          <a:p>
            <a:pPr marL="457200" indent="-457200">
              <a:buFont typeface="Arial" panose="020B0604020202020204" pitchFamily="34" charset="0"/>
              <a:buChar char="•"/>
            </a:pPr>
            <a:r>
              <a:rPr lang="en-US" b="1" dirty="0">
                <a:latin typeface="Gill Sans MT" panose="020B0502020104020203" pitchFamily="34" charset="0"/>
              </a:rPr>
              <a:t>Typical Example: </a:t>
            </a:r>
            <a:r>
              <a:rPr lang="en-US" dirty="0">
                <a:latin typeface="Gill Sans MT" panose="020B0502020104020203" pitchFamily="34" charset="0"/>
              </a:rPr>
              <a:t>VMware </a:t>
            </a:r>
            <a:r>
              <a:rPr lang="en-US" dirty="0" err="1">
                <a:latin typeface="Gill Sans MT" panose="020B0502020104020203" pitchFamily="34" charset="0"/>
              </a:rPr>
              <a:t>ESXi</a:t>
            </a:r>
            <a:r>
              <a:rPr lang="en-US" dirty="0">
                <a:latin typeface="Gill Sans MT" panose="020B0502020104020203" pitchFamily="34" charset="0"/>
              </a:rPr>
              <a:t>, Oracle VM VirtualBox</a:t>
            </a:r>
          </a:p>
          <a:p>
            <a:pPr marL="457200" indent="-457200" algn="l">
              <a:buFont typeface="Arial" panose="020B0604020202020204" pitchFamily="34" charset="0"/>
              <a:buChar char="•"/>
            </a:pPr>
            <a:endParaRPr lang="en-US" b="0" i="0" dirty="0">
              <a:solidFill>
                <a:srgbClr val="000000"/>
              </a:solidFill>
              <a:effectLst/>
              <a:latin typeface="Gill Sans MT" panose="020B0502020104020203" pitchFamily="34" charset="0"/>
            </a:endParaRPr>
          </a:p>
          <a:p>
            <a:endParaRPr lang="en-US" dirty="0">
              <a:latin typeface="Gill Sans MT" panose="020B0502020104020203" pitchFamily="34" charset="0"/>
            </a:endParaRPr>
          </a:p>
          <a:p>
            <a:pPr algn="l" fontAlgn="base">
              <a:buFont typeface="Arial" panose="020B0604020202020204" pitchFamily="34" charset="0"/>
              <a:buChar char="•"/>
            </a:pPr>
            <a:endParaRPr lang="en-US" dirty="0">
              <a:latin typeface="Gill Sans MT" panose="020B0502020104020203" pitchFamily="34" charset="0"/>
            </a:endParaRP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CD34A7DA-4B73-4510-B93C-B52A520C8CC8}"/>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31</a:t>
            </a:fld>
            <a:endParaRPr lang="en-US" dirty="0"/>
          </a:p>
        </p:txBody>
      </p:sp>
    </p:spTree>
    <p:extLst>
      <p:ext uri="{BB962C8B-B14F-4D97-AF65-F5344CB8AC3E}">
        <p14:creationId xmlns:p14="http://schemas.microsoft.com/office/powerpoint/2010/main" val="2276018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D94C1-1E10-4B9E-B620-5049A5F777E9}"/>
              </a:ext>
            </a:extLst>
          </p:cNvPr>
          <p:cNvSpPr>
            <a:spLocks noGrp="1"/>
          </p:cNvSpPr>
          <p:nvPr>
            <p:ph type="title"/>
          </p:nvPr>
        </p:nvSpPr>
        <p:spPr>
          <a:xfrm>
            <a:off x="2343403" y="999490"/>
            <a:ext cx="7505192" cy="1231106"/>
          </a:xfrm>
        </p:spPr>
        <p:txBody>
          <a:bodyPr/>
          <a:lstStyle/>
          <a:p>
            <a:r>
              <a:rPr lang="en-US" dirty="0">
                <a:latin typeface="Gill Sans MT" panose="020B0502020104020203" pitchFamily="34" charset="0"/>
              </a:rPr>
              <a:t>Full Virtualization </a:t>
            </a:r>
            <a:r>
              <a:rPr lang="en-US" b="1" i="0" dirty="0">
                <a:effectLst/>
                <a:latin typeface="Gill Sans MT" panose="020B0502020104020203" pitchFamily="34" charset="0"/>
              </a:rPr>
              <a:t>Solutions</a:t>
            </a:r>
            <a:br>
              <a:rPr lang="en-US" dirty="0">
                <a:latin typeface="Gill Sans MT" panose="020B0502020104020203" pitchFamily="34" charset="0"/>
              </a:rPr>
            </a:br>
            <a:endParaRPr lang="en-US" dirty="0"/>
          </a:p>
        </p:txBody>
      </p:sp>
      <p:sp>
        <p:nvSpPr>
          <p:cNvPr id="3" name="Text Placeholder 2">
            <a:extLst>
              <a:ext uri="{FF2B5EF4-FFF2-40B4-BE49-F238E27FC236}">
                <a16:creationId xmlns:a16="http://schemas.microsoft.com/office/drawing/2014/main" id="{04CF50ED-B3E0-4B1C-9CA3-752E1AB4D76A}"/>
              </a:ext>
            </a:extLst>
          </p:cNvPr>
          <p:cNvSpPr>
            <a:spLocks noGrp="1"/>
          </p:cNvSpPr>
          <p:nvPr>
            <p:ph type="body" idx="1"/>
          </p:nvPr>
        </p:nvSpPr>
        <p:spPr>
          <a:xfrm>
            <a:off x="714589" y="2027047"/>
            <a:ext cx="6263728" cy="4437633"/>
          </a:xfrm>
        </p:spPr>
        <p:txBody>
          <a:bodyPr/>
          <a:lstStyle/>
          <a:p>
            <a:r>
              <a:rPr lang="en-US" b="1" dirty="0">
                <a:solidFill>
                  <a:schemeClr val="accent1"/>
                </a:solidFill>
                <a:latin typeface="Gill Sans MT" panose="020B0502020104020203" pitchFamily="34" charset="0"/>
              </a:rPr>
              <a:t>How Full Virtualization Works</a:t>
            </a:r>
          </a:p>
          <a:p>
            <a:pPr>
              <a:buFont typeface="Arial" panose="020B0604020202020204" pitchFamily="34" charset="0"/>
              <a:buChar char="•"/>
            </a:pPr>
            <a:r>
              <a:rPr lang="en-US" dirty="0">
                <a:latin typeface="Gill Sans MT" panose="020B0502020104020203" pitchFamily="34" charset="0"/>
              </a:rPr>
              <a:t>A </a:t>
            </a:r>
            <a:r>
              <a:rPr lang="en-US" b="1" dirty="0">
                <a:latin typeface="Gill Sans MT" panose="020B0502020104020203" pitchFamily="34" charset="0"/>
              </a:rPr>
              <a:t>hypervisor</a:t>
            </a:r>
            <a:r>
              <a:rPr lang="en-US" dirty="0">
                <a:latin typeface="Gill Sans MT" panose="020B0502020104020203" pitchFamily="34" charset="0"/>
              </a:rPr>
              <a:t> sits between hardware and virtual machines.</a:t>
            </a:r>
          </a:p>
          <a:p>
            <a:pPr>
              <a:buFont typeface="Arial" panose="020B0604020202020204" pitchFamily="34" charset="0"/>
              <a:buChar char="•"/>
            </a:pPr>
            <a:r>
              <a:rPr lang="en-US" dirty="0">
                <a:latin typeface="Gill Sans MT" panose="020B0502020104020203" pitchFamily="34" charset="0"/>
              </a:rPr>
              <a:t>The hypervisor emulates CPU, memory, disk, and network.</a:t>
            </a:r>
          </a:p>
          <a:p>
            <a:pPr>
              <a:buFont typeface="Arial" panose="020B0604020202020204" pitchFamily="34" charset="0"/>
              <a:buChar char="•"/>
            </a:pPr>
            <a:r>
              <a:rPr lang="en-US" dirty="0">
                <a:latin typeface="Gill Sans MT" panose="020B0502020104020203" pitchFamily="34" charset="0"/>
              </a:rPr>
              <a:t>Each VM runs its own guest OS independently.</a:t>
            </a:r>
          </a:p>
          <a:p>
            <a:pPr>
              <a:buFont typeface="Arial" panose="020B0604020202020204" pitchFamily="34" charset="0"/>
              <a:buChar char="•"/>
            </a:pPr>
            <a:r>
              <a:rPr lang="en-US" dirty="0">
                <a:latin typeface="Gill Sans MT" panose="020B0502020104020203" pitchFamily="34" charset="0"/>
              </a:rPr>
              <a:t>The guest OS does not need modification.</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73BC8FAC-4FC8-48ED-968E-83A875F0D244}"/>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32</a:t>
            </a:fld>
            <a:endParaRPr lang="en-US" dirty="0"/>
          </a:p>
        </p:txBody>
      </p:sp>
      <p:pic>
        <p:nvPicPr>
          <p:cNvPr id="6" name="Picture 5">
            <a:extLst>
              <a:ext uri="{FF2B5EF4-FFF2-40B4-BE49-F238E27FC236}">
                <a16:creationId xmlns:a16="http://schemas.microsoft.com/office/drawing/2014/main" id="{85F7761B-B203-426E-BBF1-E9B9C6EA1F36}"/>
              </a:ext>
            </a:extLst>
          </p:cNvPr>
          <p:cNvPicPr>
            <a:picLocks noChangeAspect="1"/>
          </p:cNvPicPr>
          <p:nvPr/>
        </p:nvPicPr>
        <p:blipFill>
          <a:blip r:embed="rId2"/>
          <a:stretch>
            <a:fillRect/>
          </a:stretch>
        </p:blipFill>
        <p:spPr>
          <a:xfrm>
            <a:off x="6932500" y="3051209"/>
            <a:ext cx="4730397" cy="2608446"/>
          </a:xfrm>
          <a:prstGeom prst="rect">
            <a:avLst/>
          </a:prstGeom>
        </p:spPr>
      </p:pic>
    </p:spTree>
    <p:extLst>
      <p:ext uri="{BB962C8B-B14F-4D97-AF65-F5344CB8AC3E}">
        <p14:creationId xmlns:p14="http://schemas.microsoft.com/office/powerpoint/2010/main" val="990422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64F47-C472-4939-943B-EAA2B304FA78}"/>
              </a:ext>
            </a:extLst>
          </p:cNvPr>
          <p:cNvSpPr>
            <a:spLocks noGrp="1"/>
          </p:cNvSpPr>
          <p:nvPr>
            <p:ph type="title"/>
          </p:nvPr>
        </p:nvSpPr>
        <p:spPr/>
        <p:txBody>
          <a:bodyPr/>
          <a:lstStyle/>
          <a:p>
            <a:r>
              <a:rPr lang="en-US" dirty="0">
                <a:latin typeface="Gill Sans MT" panose="020B0502020104020203" pitchFamily="34" charset="0"/>
              </a:rPr>
              <a:t>Full Virtualization </a:t>
            </a:r>
            <a:r>
              <a:rPr lang="en-US" b="1" i="0" dirty="0">
                <a:effectLst/>
                <a:latin typeface="Gill Sans MT" panose="020B0502020104020203" pitchFamily="34" charset="0"/>
              </a:rPr>
              <a:t>Solutions</a:t>
            </a:r>
            <a:endParaRPr lang="en-US" dirty="0"/>
          </a:p>
        </p:txBody>
      </p:sp>
      <p:sp>
        <p:nvSpPr>
          <p:cNvPr id="3" name="Text Placeholder 2">
            <a:extLst>
              <a:ext uri="{FF2B5EF4-FFF2-40B4-BE49-F238E27FC236}">
                <a16:creationId xmlns:a16="http://schemas.microsoft.com/office/drawing/2014/main" id="{3FA2EDD7-CA55-4224-978E-B4B166DCD727}"/>
              </a:ext>
            </a:extLst>
          </p:cNvPr>
          <p:cNvSpPr>
            <a:spLocks noGrp="1"/>
          </p:cNvSpPr>
          <p:nvPr>
            <p:ph type="body" idx="1"/>
          </p:nvPr>
        </p:nvSpPr>
        <p:spPr>
          <a:xfrm>
            <a:off x="714589" y="2027047"/>
            <a:ext cx="4261672" cy="4431983"/>
          </a:xfrm>
        </p:spPr>
        <p:txBody>
          <a:bodyPr/>
          <a:lstStyle/>
          <a:p>
            <a:r>
              <a:rPr lang="en-US" dirty="0">
                <a:solidFill>
                  <a:schemeClr val="accent1"/>
                </a:solidFill>
                <a:latin typeface="Gill Sans MT" panose="020B0502020104020203" pitchFamily="34" charset="0"/>
              </a:rPr>
              <a:t>Example Scenario:</a:t>
            </a:r>
          </a:p>
          <a:p>
            <a:r>
              <a:rPr lang="en-US" sz="3200" dirty="0">
                <a:latin typeface="Gill Sans MT" panose="020B0502020104020203" pitchFamily="34" charset="0"/>
              </a:rPr>
              <a:t>A company runs:</a:t>
            </a:r>
          </a:p>
          <a:p>
            <a:pPr lvl="1">
              <a:buFont typeface="Arial" panose="020B0604020202020204" pitchFamily="34" charset="0"/>
              <a:buChar char="•"/>
            </a:pPr>
            <a:r>
              <a:rPr lang="en-US" sz="3200" dirty="0">
                <a:latin typeface="Gill Sans MT" panose="020B0502020104020203" pitchFamily="34" charset="0"/>
              </a:rPr>
              <a:t>Windows Server VM</a:t>
            </a:r>
          </a:p>
          <a:p>
            <a:pPr lvl="1">
              <a:buFont typeface="Arial" panose="020B0604020202020204" pitchFamily="34" charset="0"/>
              <a:buChar char="•"/>
            </a:pPr>
            <a:r>
              <a:rPr lang="en-US" sz="3200" dirty="0">
                <a:latin typeface="Gill Sans MT" panose="020B0502020104020203" pitchFamily="34" charset="0"/>
              </a:rPr>
              <a:t>Ubuntu Linux VM</a:t>
            </a:r>
          </a:p>
          <a:p>
            <a:pPr lvl="1">
              <a:buFont typeface="Arial" panose="020B0604020202020204" pitchFamily="34" charset="0"/>
              <a:buChar char="•"/>
            </a:pPr>
            <a:r>
              <a:rPr lang="en-US" sz="3200" dirty="0">
                <a:latin typeface="Gill Sans MT" panose="020B0502020104020203" pitchFamily="34" charset="0"/>
              </a:rPr>
              <a:t>CentOS VM</a:t>
            </a:r>
          </a:p>
          <a:p>
            <a:r>
              <a:rPr lang="en-US" dirty="0">
                <a:latin typeface="Gill Sans MT" panose="020B0502020104020203" pitchFamily="34" charset="0"/>
              </a:rPr>
              <a:t>All on the same physical server — each unaware it is virtualized.</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1D075C44-E4A7-4FE8-B5B6-FF4DB0AC6AA4}"/>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33</a:t>
            </a:fld>
            <a:endParaRPr lang="en-US" dirty="0"/>
          </a:p>
        </p:txBody>
      </p:sp>
    </p:spTree>
    <p:extLst>
      <p:ext uri="{BB962C8B-B14F-4D97-AF65-F5344CB8AC3E}">
        <p14:creationId xmlns:p14="http://schemas.microsoft.com/office/powerpoint/2010/main" val="23310576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DD844-4976-4A56-921B-3AE21449A66A}"/>
              </a:ext>
            </a:extLst>
          </p:cNvPr>
          <p:cNvSpPr>
            <a:spLocks noGrp="1"/>
          </p:cNvSpPr>
          <p:nvPr>
            <p:ph type="title"/>
          </p:nvPr>
        </p:nvSpPr>
        <p:spPr>
          <a:xfrm>
            <a:off x="714587" y="999490"/>
            <a:ext cx="10487490" cy="615553"/>
          </a:xfrm>
        </p:spPr>
        <p:txBody>
          <a:bodyPr/>
          <a:lstStyle/>
          <a:p>
            <a:pPr algn="ctr"/>
            <a:r>
              <a:rPr lang="en-US" b="1" i="0" dirty="0">
                <a:effectLst/>
                <a:latin typeface="Gill Sans MT" panose="020B0502020104020203" pitchFamily="34" charset="0"/>
              </a:rPr>
              <a:t>Paravirtualization Solutions</a:t>
            </a:r>
            <a:endParaRPr lang="en-US" dirty="0">
              <a:latin typeface="Gill Sans MT" panose="020B0502020104020203" pitchFamily="34" charset="0"/>
            </a:endParaRPr>
          </a:p>
        </p:txBody>
      </p:sp>
      <p:sp>
        <p:nvSpPr>
          <p:cNvPr id="3" name="Text Placeholder 2">
            <a:extLst>
              <a:ext uri="{FF2B5EF4-FFF2-40B4-BE49-F238E27FC236}">
                <a16:creationId xmlns:a16="http://schemas.microsoft.com/office/drawing/2014/main" id="{7EFAFE2D-C3D4-4173-9EA9-C350888E2902}"/>
              </a:ext>
            </a:extLst>
          </p:cNvPr>
          <p:cNvSpPr>
            <a:spLocks noGrp="1"/>
          </p:cNvSpPr>
          <p:nvPr>
            <p:ph type="body" idx="1"/>
          </p:nvPr>
        </p:nvSpPr>
        <p:spPr>
          <a:xfrm>
            <a:off x="714588" y="2027047"/>
            <a:ext cx="10762825" cy="4508507"/>
          </a:xfrm>
        </p:spPr>
        <p:txBody>
          <a:bodyPr/>
          <a:lstStyle/>
          <a:p>
            <a:pPr marL="457200" indent="-457200">
              <a:buFont typeface="Arial" panose="020B0604020202020204" pitchFamily="34" charset="0"/>
              <a:buChar char="•"/>
            </a:pPr>
            <a:r>
              <a:rPr lang="en-US" b="1" dirty="0">
                <a:solidFill>
                  <a:schemeClr val="accent1"/>
                </a:solidFill>
                <a:latin typeface="Gill Sans MT" panose="020B0502020104020203" pitchFamily="34" charset="0"/>
              </a:rPr>
              <a:t>Paravirtualization</a:t>
            </a:r>
            <a:r>
              <a:rPr lang="en-US" dirty="0">
                <a:solidFill>
                  <a:schemeClr val="accent1"/>
                </a:solidFill>
                <a:latin typeface="Gill Sans MT" panose="020B0502020104020203" pitchFamily="34" charset="0"/>
              </a:rPr>
              <a:t> </a:t>
            </a:r>
            <a:r>
              <a:rPr lang="en-US" dirty="0">
                <a:latin typeface="Gill Sans MT" panose="020B0502020104020203" pitchFamily="34" charset="0"/>
              </a:rPr>
              <a:t>is a virtualization technique where the guest OS is modified to communicate directly with the hypervisor for better performance.</a:t>
            </a:r>
          </a:p>
          <a:p>
            <a:pPr marL="457200" indent="-457200">
              <a:buFont typeface="Arial" panose="020B0604020202020204" pitchFamily="34" charset="0"/>
              <a:buChar char="•"/>
            </a:pPr>
            <a:r>
              <a:rPr lang="en-US" dirty="0">
                <a:latin typeface="Gill Sans MT" panose="020B0502020104020203" pitchFamily="34" charset="0"/>
              </a:rPr>
              <a:t>The guest OS is aware it is running in a virtualized environment.</a:t>
            </a:r>
          </a:p>
          <a:p>
            <a:pPr marL="457200" indent="-457200" algn="l">
              <a:buFont typeface="Arial" panose="020B0604020202020204" pitchFamily="34" charset="0"/>
              <a:buChar char="•"/>
            </a:pPr>
            <a:r>
              <a:rPr lang="en-US" b="0" i="0" dirty="0">
                <a:solidFill>
                  <a:srgbClr val="000000"/>
                </a:solidFill>
                <a:effectLst/>
                <a:latin typeface="Gill Sans MT" panose="020B0502020104020203" pitchFamily="34" charset="0"/>
              </a:rPr>
              <a:t>the operating systems are aware of each other yet they can communicate with the hypervisor directly through ‘hyper calls’ – enabled by an effective Application Programming Interface (API). </a:t>
            </a:r>
          </a:p>
          <a:p>
            <a:pPr marL="457200" indent="-457200">
              <a:buFont typeface="Arial" panose="020B0604020202020204" pitchFamily="34" charset="0"/>
              <a:buChar char="•"/>
            </a:pPr>
            <a:endParaRPr lang="en-US" dirty="0">
              <a:latin typeface="Gill Sans MT" panose="020B0502020104020203" pitchFamily="34" charset="0"/>
            </a:endParaRPr>
          </a:p>
          <a:p>
            <a:pPr marL="457200" indent="-457200" algn="l" fontAlgn="base">
              <a:buFont typeface="Arial" panose="020B0604020202020204" pitchFamily="34" charset="0"/>
              <a:buChar char="•"/>
            </a:pPr>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9B0AAFAE-8581-4A87-92B9-0CF24B015E71}"/>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34</a:t>
            </a:fld>
            <a:endParaRPr lang="en-US" dirty="0"/>
          </a:p>
        </p:txBody>
      </p:sp>
    </p:spTree>
    <p:extLst>
      <p:ext uri="{BB962C8B-B14F-4D97-AF65-F5344CB8AC3E}">
        <p14:creationId xmlns:p14="http://schemas.microsoft.com/office/powerpoint/2010/main" val="32534701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3B105-8FDE-4507-8F17-0494E5B53863}"/>
              </a:ext>
            </a:extLst>
          </p:cNvPr>
          <p:cNvSpPr>
            <a:spLocks noGrp="1"/>
          </p:cNvSpPr>
          <p:nvPr>
            <p:ph type="title"/>
          </p:nvPr>
        </p:nvSpPr>
        <p:spPr/>
        <p:txBody>
          <a:bodyPr/>
          <a:lstStyle/>
          <a:p>
            <a:r>
              <a:rPr lang="en-US" b="1" i="0" dirty="0">
                <a:effectLst/>
                <a:latin typeface="Gill Sans MT" panose="020B0502020104020203" pitchFamily="34" charset="0"/>
              </a:rPr>
              <a:t>Paravirtualization Solutions</a:t>
            </a:r>
            <a:endParaRPr lang="en-US" dirty="0"/>
          </a:p>
        </p:txBody>
      </p:sp>
      <p:sp>
        <p:nvSpPr>
          <p:cNvPr id="3" name="Text Placeholder 2">
            <a:extLst>
              <a:ext uri="{FF2B5EF4-FFF2-40B4-BE49-F238E27FC236}">
                <a16:creationId xmlns:a16="http://schemas.microsoft.com/office/drawing/2014/main" id="{D883FA81-A885-405D-B333-7B690EBE92FA}"/>
              </a:ext>
            </a:extLst>
          </p:cNvPr>
          <p:cNvSpPr>
            <a:spLocks noGrp="1"/>
          </p:cNvSpPr>
          <p:nvPr>
            <p:ph type="body" idx="1"/>
          </p:nvPr>
        </p:nvSpPr>
        <p:spPr>
          <a:xfrm>
            <a:off x="714589" y="2027047"/>
            <a:ext cx="4906566" cy="3939540"/>
          </a:xfrm>
        </p:spPr>
        <p:txBody>
          <a:bodyPr/>
          <a:lstStyle/>
          <a:p>
            <a:r>
              <a:rPr lang="en-US" b="1" dirty="0">
                <a:solidFill>
                  <a:schemeClr val="accent1"/>
                </a:solidFill>
                <a:latin typeface="Gill Sans MT" panose="020B0502020104020203" pitchFamily="34" charset="0"/>
              </a:rPr>
              <a:t>How It Works</a:t>
            </a:r>
          </a:p>
          <a:p>
            <a:pPr lvl="1">
              <a:buFont typeface="Arial" panose="020B0604020202020204" pitchFamily="34" charset="0"/>
              <a:buChar char="•"/>
            </a:pPr>
            <a:r>
              <a:rPr lang="en-US" sz="3200" dirty="0">
                <a:latin typeface="Gill Sans MT" panose="020B0502020104020203" pitchFamily="34" charset="0"/>
              </a:rPr>
              <a:t>The hypervisor provides special APIs.</a:t>
            </a:r>
          </a:p>
          <a:p>
            <a:pPr lvl="1">
              <a:buFont typeface="Arial" panose="020B0604020202020204" pitchFamily="34" charset="0"/>
              <a:buChar char="•"/>
            </a:pPr>
            <a:r>
              <a:rPr lang="en-US" sz="3200" dirty="0">
                <a:latin typeface="Gill Sans MT" panose="020B0502020104020203" pitchFamily="34" charset="0"/>
              </a:rPr>
              <a:t>The guest OS is modified to use these APIs.</a:t>
            </a:r>
          </a:p>
          <a:p>
            <a:pPr lvl="1">
              <a:buFont typeface="Arial" panose="020B0604020202020204" pitchFamily="34" charset="0"/>
              <a:buChar char="•"/>
            </a:pPr>
            <a:r>
              <a:rPr lang="en-US" sz="3200" dirty="0">
                <a:latin typeface="Gill Sans MT" panose="020B0502020104020203" pitchFamily="34" charset="0"/>
              </a:rPr>
              <a:t>Instead of fully emulating hardware, it cooperates with the hypervisor.</a:t>
            </a:r>
          </a:p>
        </p:txBody>
      </p:sp>
      <p:sp>
        <p:nvSpPr>
          <p:cNvPr id="4" name="Slide Number Placeholder 3">
            <a:extLst>
              <a:ext uri="{FF2B5EF4-FFF2-40B4-BE49-F238E27FC236}">
                <a16:creationId xmlns:a16="http://schemas.microsoft.com/office/drawing/2014/main" id="{37F3AF59-4321-42D4-BABB-D9C16BA9BB50}"/>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35</a:t>
            </a:fld>
            <a:endParaRPr lang="en-US" dirty="0"/>
          </a:p>
        </p:txBody>
      </p:sp>
      <p:pic>
        <p:nvPicPr>
          <p:cNvPr id="6" name="Picture 5">
            <a:extLst>
              <a:ext uri="{FF2B5EF4-FFF2-40B4-BE49-F238E27FC236}">
                <a16:creationId xmlns:a16="http://schemas.microsoft.com/office/drawing/2014/main" id="{FC72DA65-86D4-44EA-9670-48B719DA52CF}"/>
              </a:ext>
            </a:extLst>
          </p:cNvPr>
          <p:cNvPicPr>
            <a:picLocks noChangeAspect="1"/>
          </p:cNvPicPr>
          <p:nvPr/>
        </p:nvPicPr>
        <p:blipFill>
          <a:blip r:embed="rId2"/>
          <a:stretch>
            <a:fillRect/>
          </a:stretch>
        </p:blipFill>
        <p:spPr>
          <a:xfrm>
            <a:off x="6485354" y="2249999"/>
            <a:ext cx="4974403" cy="2889892"/>
          </a:xfrm>
          <a:prstGeom prst="rect">
            <a:avLst/>
          </a:prstGeom>
        </p:spPr>
      </p:pic>
    </p:spTree>
    <p:extLst>
      <p:ext uri="{BB962C8B-B14F-4D97-AF65-F5344CB8AC3E}">
        <p14:creationId xmlns:p14="http://schemas.microsoft.com/office/powerpoint/2010/main" val="38303223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858DDE-20F8-45D4-88F0-1F04B67BF900}"/>
              </a:ext>
            </a:extLst>
          </p:cNvPr>
          <p:cNvSpPr>
            <a:spLocks noGrp="1"/>
          </p:cNvSpPr>
          <p:nvPr>
            <p:ph type="body" idx="1"/>
          </p:nvPr>
        </p:nvSpPr>
        <p:spPr>
          <a:xfrm>
            <a:off x="680890" y="1709413"/>
            <a:ext cx="10762825" cy="4980145"/>
          </a:xfrm>
        </p:spPr>
        <p:txBody>
          <a:bodyPr/>
          <a:lstStyle/>
          <a:p>
            <a:pPr marL="457200" indent="-457200">
              <a:buFont typeface="Arial" panose="020B0604020202020204" pitchFamily="34" charset="0"/>
              <a:buChar char="•"/>
            </a:pPr>
            <a:r>
              <a:rPr lang="en-US" b="1" dirty="0">
                <a:latin typeface="Gill Sans MT" panose="020B0502020104020203" pitchFamily="34" charset="0"/>
              </a:rPr>
              <a:t>OS-Level Virtualization</a:t>
            </a:r>
            <a:r>
              <a:rPr lang="en-US" dirty="0">
                <a:latin typeface="Gill Sans MT" panose="020B0502020104020203" pitchFamily="34" charset="0"/>
              </a:rPr>
              <a:t> allows multiple isolated user environments (containers) to run on a single operating system kernel”</a:t>
            </a:r>
            <a:r>
              <a:rPr lang="en-US" b="0" i="0" dirty="0">
                <a:solidFill>
                  <a:srgbClr val="000000"/>
                </a:solidFill>
                <a:effectLst/>
                <a:latin typeface="Gill Sans MT" panose="020B0502020104020203" pitchFamily="34" charset="0"/>
              </a:rPr>
              <a:t> allows the use of multiple virtual spaces</a:t>
            </a:r>
            <a:r>
              <a:rPr lang="en-US" b="0" i="0" dirty="0">
                <a:solidFill>
                  <a:srgbClr val="000000"/>
                </a:solidFill>
                <a:effectLst/>
                <a:latin typeface="Gill Sans MT" panose="020B0502020104020203" pitchFamily="34" charset="0"/>
                <a:sym typeface="Wingdings" panose="05000000000000000000" pitchFamily="2" charset="2"/>
              </a:rPr>
              <a:t> </a:t>
            </a:r>
            <a:r>
              <a:rPr lang="en-US" dirty="0">
                <a:latin typeface="Gill Sans MT" panose="020B0502020104020203" pitchFamily="34" charset="0"/>
              </a:rPr>
              <a:t>There is </a:t>
            </a:r>
            <a:r>
              <a:rPr lang="en-US" b="1" dirty="0">
                <a:latin typeface="Gill Sans MT" panose="020B0502020104020203" pitchFamily="34" charset="0"/>
              </a:rPr>
              <a:t>no separate guest OS per container</a:t>
            </a:r>
            <a:r>
              <a:rPr lang="en-US" dirty="0">
                <a:latin typeface="Gill Sans MT" panose="020B0502020104020203" pitchFamily="34" charset="0"/>
              </a:rPr>
              <a:t>.”</a:t>
            </a:r>
          </a:p>
          <a:p>
            <a:pPr marL="457200" indent="-457200">
              <a:buFont typeface="Arial" panose="020B0604020202020204" pitchFamily="34" charset="0"/>
              <a:buChar char="•"/>
            </a:pPr>
            <a:r>
              <a:rPr lang="en-US" b="0" i="0" dirty="0">
                <a:solidFill>
                  <a:srgbClr val="000000"/>
                </a:solidFill>
                <a:effectLst/>
                <a:latin typeface="Gill Sans MT" panose="020B0502020104020203" pitchFamily="34" charset="0"/>
              </a:rPr>
              <a:t>The term "containerization" refers to a type of virtualization that doesn't need a hypervisor. Instead, it uses the host operating system's own virtualization capabilities as the hypervisor.</a:t>
            </a:r>
          </a:p>
          <a:p>
            <a:pPr marL="457200" indent="-457200" algn="l">
              <a:buFont typeface="Arial" panose="020B0604020202020204" pitchFamily="34" charset="0"/>
              <a:buChar char="•"/>
            </a:pPr>
            <a:r>
              <a:rPr lang="en-US" b="0" i="0" dirty="0">
                <a:solidFill>
                  <a:srgbClr val="000000"/>
                </a:solidFill>
                <a:effectLst/>
                <a:latin typeface="Gill Sans MT" panose="020B0502020104020203" pitchFamily="34" charset="0"/>
              </a:rPr>
              <a:t>This virtualization method is also restricted to having the same operating system as its host to function.</a:t>
            </a:r>
          </a:p>
          <a:p>
            <a:pPr marL="457200" indent="-457200">
              <a:buFont typeface="Arial" panose="020B0604020202020204" pitchFamily="34" charset="0"/>
              <a:buChar char="•"/>
            </a:pPr>
            <a:endParaRPr lang="en-US" dirty="0">
              <a:latin typeface="Gill Sans MT" panose="020B0502020104020203" pitchFamily="34" charset="0"/>
            </a:endParaRPr>
          </a:p>
          <a:p>
            <a:pPr marL="457200" indent="-457200">
              <a:buFont typeface="Arial" panose="020B0604020202020204" pitchFamily="34" charset="0"/>
              <a:buChar char="•"/>
            </a:pPr>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73EF9850-45A8-43E7-9D2B-A2C91B6E8A9C}"/>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36</a:t>
            </a:fld>
            <a:endParaRPr lang="en-US" dirty="0"/>
          </a:p>
        </p:txBody>
      </p:sp>
      <p:sp>
        <p:nvSpPr>
          <p:cNvPr id="5" name="Title 1">
            <a:extLst>
              <a:ext uri="{FF2B5EF4-FFF2-40B4-BE49-F238E27FC236}">
                <a16:creationId xmlns:a16="http://schemas.microsoft.com/office/drawing/2014/main" id="{4102495B-708A-449E-BB4C-815B0F30D8D4}"/>
              </a:ext>
            </a:extLst>
          </p:cNvPr>
          <p:cNvSpPr>
            <a:spLocks noGrp="1"/>
          </p:cNvSpPr>
          <p:nvPr>
            <p:ph type="title"/>
          </p:nvPr>
        </p:nvSpPr>
        <p:spPr>
          <a:xfrm>
            <a:off x="714587" y="999490"/>
            <a:ext cx="10487490" cy="615553"/>
          </a:xfrm>
        </p:spPr>
        <p:txBody>
          <a:bodyPr/>
          <a:lstStyle/>
          <a:p>
            <a:r>
              <a:rPr lang="en-US" b="1" i="0" dirty="0">
                <a:effectLst/>
                <a:latin typeface="Gill Sans MT" panose="020B0502020104020203" pitchFamily="34" charset="0"/>
              </a:rPr>
              <a:t>OS-Level Virtualization Solutions</a:t>
            </a:r>
            <a:endParaRPr lang="en-US" dirty="0">
              <a:latin typeface="Gill Sans MT" panose="020B0502020104020203" pitchFamily="34" charset="0"/>
            </a:endParaRPr>
          </a:p>
        </p:txBody>
      </p:sp>
    </p:spTree>
    <p:extLst>
      <p:ext uri="{BB962C8B-B14F-4D97-AF65-F5344CB8AC3E}">
        <p14:creationId xmlns:p14="http://schemas.microsoft.com/office/powerpoint/2010/main" val="3207389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24437C-46F8-4188-9F60-29B8A2CD916A}"/>
              </a:ext>
            </a:extLst>
          </p:cNvPr>
          <p:cNvSpPr>
            <a:spLocks noGrp="1"/>
          </p:cNvSpPr>
          <p:nvPr>
            <p:ph type="body" idx="1"/>
          </p:nvPr>
        </p:nvSpPr>
        <p:spPr>
          <a:xfrm>
            <a:off x="714588" y="2027047"/>
            <a:ext cx="5609210" cy="3939540"/>
          </a:xfrm>
        </p:spPr>
        <p:txBody>
          <a:bodyPr/>
          <a:lstStyle/>
          <a:p>
            <a:r>
              <a:rPr lang="en-US" b="1" dirty="0">
                <a:solidFill>
                  <a:schemeClr val="accent1"/>
                </a:solidFill>
                <a:latin typeface="Gill Sans MT" panose="020B0502020104020203" pitchFamily="34" charset="0"/>
              </a:rPr>
              <a:t>How It Works</a:t>
            </a:r>
          </a:p>
          <a:p>
            <a:pPr lvl="1">
              <a:buFont typeface="Arial" panose="020B0604020202020204" pitchFamily="34" charset="0"/>
              <a:buChar char="•"/>
            </a:pPr>
            <a:r>
              <a:rPr lang="en-US" sz="3200" dirty="0">
                <a:latin typeface="Gill Sans MT" panose="020B0502020104020203" pitchFamily="34" charset="0"/>
              </a:rPr>
              <a:t>Uses the host OS kernel.</a:t>
            </a:r>
          </a:p>
          <a:p>
            <a:pPr lvl="1">
              <a:buFont typeface="Arial" panose="020B0604020202020204" pitchFamily="34" charset="0"/>
              <a:buChar char="•"/>
            </a:pPr>
            <a:r>
              <a:rPr lang="en-US" sz="3200" dirty="0">
                <a:latin typeface="Gill Sans MT" panose="020B0502020104020203" pitchFamily="34" charset="0"/>
              </a:rPr>
              <a:t>Isolates applications using namespaces and control groups (</a:t>
            </a:r>
            <a:r>
              <a:rPr lang="en-US" sz="3200" dirty="0" err="1">
                <a:latin typeface="Gill Sans MT" panose="020B0502020104020203" pitchFamily="34" charset="0"/>
              </a:rPr>
              <a:t>cgroups</a:t>
            </a:r>
            <a:r>
              <a:rPr lang="en-US" sz="3200" dirty="0">
                <a:latin typeface="Gill Sans MT" panose="020B0502020104020203" pitchFamily="34" charset="0"/>
              </a:rPr>
              <a:t>).</a:t>
            </a:r>
          </a:p>
          <a:p>
            <a:pPr lvl="1">
              <a:buFont typeface="Arial" panose="020B0604020202020204" pitchFamily="34" charset="0"/>
              <a:buChar char="•"/>
            </a:pPr>
            <a:r>
              <a:rPr lang="en-US" sz="3200" dirty="0">
                <a:latin typeface="Gill Sans MT" panose="020B0502020104020203" pitchFamily="34" charset="0"/>
              </a:rPr>
              <a:t>Containers share the same kernel but run independently.</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778B9688-8D9C-4B96-9F3E-B33F39B7C6F7}"/>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37</a:t>
            </a:fld>
            <a:endParaRPr lang="en-US" dirty="0"/>
          </a:p>
        </p:txBody>
      </p:sp>
      <p:pic>
        <p:nvPicPr>
          <p:cNvPr id="6" name="Picture 5">
            <a:extLst>
              <a:ext uri="{FF2B5EF4-FFF2-40B4-BE49-F238E27FC236}">
                <a16:creationId xmlns:a16="http://schemas.microsoft.com/office/drawing/2014/main" id="{1A6FB87B-E50F-4078-AFD4-8BA109F4D271}"/>
              </a:ext>
            </a:extLst>
          </p:cNvPr>
          <p:cNvPicPr>
            <a:picLocks noChangeAspect="1"/>
          </p:cNvPicPr>
          <p:nvPr/>
        </p:nvPicPr>
        <p:blipFill>
          <a:blip r:embed="rId2"/>
          <a:stretch>
            <a:fillRect/>
          </a:stretch>
        </p:blipFill>
        <p:spPr>
          <a:xfrm>
            <a:off x="7255077" y="2541069"/>
            <a:ext cx="3947000" cy="3463035"/>
          </a:xfrm>
          <a:prstGeom prst="rect">
            <a:avLst/>
          </a:prstGeom>
        </p:spPr>
      </p:pic>
      <p:sp>
        <p:nvSpPr>
          <p:cNvPr id="7" name="Title 1">
            <a:extLst>
              <a:ext uri="{FF2B5EF4-FFF2-40B4-BE49-F238E27FC236}">
                <a16:creationId xmlns:a16="http://schemas.microsoft.com/office/drawing/2014/main" id="{7D416868-C0BB-4FEA-98FA-B2A0F0D76C78}"/>
              </a:ext>
            </a:extLst>
          </p:cNvPr>
          <p:cNvSpPr>
            <a:spLocks noGrp="1"/>
          </p:cNvSpPr>
          <p:nvPr>
            <p:ph type="title"/>
          </p:nvPr>
        </p:nvSpPr>
        <p:spPr>
          <a:xfrm>
            <a:off x="714587" y="999490"/>
            <a:ext cx="10487490" cy="615553"/>
          </a:xfrm>
        </p:spPr>
        <p:txBody>
          <a:bodyPr/>
          <a:lstStyle/>
          <a:p>
            <a:r>
              <a:rPr lang="en-US" b="1" i="0" dirty="0">
                <a:effectLst/>
                <a:latin typeface="Gill Sans MT" panose="020B0502020104020203" pitchFamily="34" charset="0"/>
              </a:rPr>
              <a:t>OS-Level Virtualization Solutions</a:t>
            </a:r>
            <a:endParaRPr lang="en-US" dirty="0">
              <a:latin typeface="Gill Sans MT" panose="020B0502020104020203" pitchFamily="34" charset="0"/>
            </a:endParaRPr>
          </a:p>
        </p:txBody>
      </p:sp>
    </p:spTree>
    <p:extLst>
      <p:ext uri="{BB962C8B-B14F-4D97-AF65-F5344CB8AC3E}">
        <p14:creationId xmlns:p14="http://schemas.microsoft.com/office/powerpoint/2010/main" val="19900891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8B578C-031C-42D0-9B68-DC1B5F3F25AB}"/>
              </a:ext>
            </a:extLst>
          </p:cNvPr>
          <p:cNvSpPr>
            <a:spLocks noGrp="1"/>
          </p:cNvSpPr>
          <p:nvPr>
            <p:ph type="body" idx="1"/>
          </p:nvPr>
        </p:nvSpPr>
        <p:spPr>
          <a:xfrm>
            <a:off x="714588" y="2027048"/>
            <a:ext cx="10762825" cy="4518132"/>
          </a:xfrm>
        </p:spPr>
        <p:txBody>
          <a:bodyPr/>
          <a:lstStyle/>
          <a:p>
            <a:r>
              <a:rPr lang="en-US" b="1" dirty="0">
                <a:latin typeface="Gill Sans MT" panose="020B0502020104020203" pitchFamily="34" charset="0"/>
              </a:rPr>
              <a:t>Typical Example</a:t>
            </a:r>
          </a:p>
          <a:p>
            <a:pPr lvl="1">
              <a:buFont typeface="Arial" panose="020B0604020202020204" pitchFamily="34" charset="0"/>
              <a:buChar char="•"/>
            </a:pPr>
            <a:r>
              <a:rPr lang="en-US" sz="3200" dirty="0">
                <a:latin typeface="Gill Sans MT" panose="020B0502020104020203" pitchFamily="34" charset="0"/>
              </a:rPr>
              <a:t>Docker</a:t>
            </a:r>
          </a:p>
          <a:p>
            <a:pPr lvl="1">
              <a:buFont typeface="Arial" panose="020B0604020202020204" pitchFamily="34" charset="0"/>
              <a:buChar char="•"/>
            </a:pPr>
            <a:r>
              <a:rPr lang="en-US" sz="3200" dirty="0">
                <a:latin typeface="Gill Sans MT" panose="020B0502020104020203" pitchFamily="34" charset="0"/>
              </a:rPr>
              <a:t>Kubernetes</a:t>
            </a:r>
          </a:p>
          <a:p>
            <a:r>
              <a:rPr lang="en-US" dirty="0">
                <a:latin typeface="Gill Sans MT" panose="020B0502020104020203" pitchFamily="34" charset="0"/>
              </a:rPr>
              <a:t>Example Scenario:</a:t>
            </a:r>
          </a:p>
          <a:p>
            <a:r>
              <a:rPr lang="en-US" dirty="0">
                <a:latin typeface="Gill Sans MT" panose="020B0502020104020203" pitchFamily="34" charset="0"/>
              </a:rPr>
              <a:t>A server runs:</a:t>
            </a:r>
          </a:p>
          <a:p>
            <a:pPr lvl="1">
              <a:buFont typeface="Arial" panose="020B0604020202020204" pitchFamily="34" charset="0"/>
              <a:buChar char="•"/>
            </a:pPr>
            <a:r>
              <a:rPr lang="en-US" sz="3200" dirty="0">
                <a:latin typeface="Gill Sans MT" panose="020B0502020104020203" pitchFamily="34" charset="0"/>
              </a:rPr>
              <a:t>Container 1 → Node.js app</a:t>
            </a:r>
          </a:p>
          <a:p>
            <a:pPr lvl="1">
              <a:buFont typeface="Arial" panose="020B0604020202020204" pitchFamily="34" charset="0"/>
              <a:buChar char="•"/>
            </a:pPr>
            <a:r>
              <a:rPr lang="en-US" sz="3200" dirty="0">
                <a:latin typeface="Gill Sans MT" panose="020B0502020104020203" pitchFamily="34" charset="0"/>
              </a:rPr>
              <a:t>Container 2 → MySQL database</a:t>
            </a:r>
          </a:p>
          <a:p>
            <a:pPr lvl="1">
              <a:buFont typeface="Arial" panose="020B0604020202020204" pitchFamily="34" charset="0"/>
              <a:buChar char="•"/>
            </a:pPr>
            <a:r>
              <a:rPr lang="en-US" sz="3200" dirty="0">
                <a:latin typeface="Gill Sans MT" panose="020B0502020104020203" pitchFamily="34" charset="0"/>
              </a:rPr>
              <a:t>Container 3 → Python API</a:t>
            </a:r>
          </a:p>
          <a:p>
            <a:r>
              <a:rPr lang="en-US" dirty="0">
                <a:latin typeface="Gill Sans MT" panose="020B0502020104020203" pitchFamily="34" charset="0"/>
              </a:rPr>
              <a:t>All share the same Linux kernel but are isolated.</a:t>
            </a:r>
          </a:p>
          <a:p>
            <a:endParaRPr lang="en-US" dirty="0">
              <a:latin typeface="Gill Sans MT" panose="020B0502020104020203" pitchFamily="34" charset="0"/>
            </a:endParaRPr>
          </a:p>
        </p:txBody>
      </p:sp>
      <p:sp>
        <p:nvSpPr>
          <p:cNvPr id="4" name="Slide Number Placeholder 3">
            <a:extLst>
              <a:ext uri="{FF2B5EF4-FFF2-40B4-BE49-F238E27FC236}">
                <a16:creationId xmlns:a16="http://schemas.microsoft.com/office/drawing/2014/main" id="{8259D2F6-D3E1-430F-95A5-17D772AF6E3D}"/>
              </a:ext>
            </a:extLst>
          </p:cNvPr>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38</a:t>
            </a:fld>
            <a:endParaRPr lang="en-US" dirty="0"/>
          </a:p>
        </p:txBody>
      </p:sp>
      <p:sp>
        <p:nvSpPr>
          <p:cNvPr id="5" name="Title 1">
            <a:extLst>
              <a:ext uri="{FF2B5EF4-FFF2-40B4-BE49-F238E27FC236}">
                <a16:creationId xmlns:a16="http://schemas.microsoft.com/office/drawing/2014/main" id="{2123682B-5924-4221-831C-176F0DA3E398}"/>
              </a:ext>
            </a:extLst>
          </p:cNvPr>
          <p:cNvSpPr>
            <a:spLocks noGrp="1"/>
          </p:cNvSpPr>
          <p:nvPr>
            <p:ph type="title"/>
          </p:nvPr>
        </p:nvSpPr>
        <p:spPr>
          <a:xfrm>
            <a:off x="714587" y="999490"/>
            <a:ext cx="10487490" cy="615553"/>
          </a:xfrm>
        </p:spPr>
        <p:txBody>
          <a:bodyPr/>
          <a:lstStyle/>
          <a:p>
            <a:r>
              <a:rPr lang="en-US" b="1" i="0" dirty="0">
                <a:effectLst/>
                <a:latin typeface="Gill Sans MT" panose="020B0502020104020203" pitchFamily="34" charset="0"/>
              </a:rPr>
              <a:t>OS-Level Virtualization Solutions</a:t>
            </a:r>
            <a:endParaRPr lang="en-US" dirty="0">
              <a:latin typeface="Gill Sans MT" panose="020B0502020104020203" pitchFamily="34" charset="0"/>
            </a:endParaRPr>
          </a:p>
        </p:txBody>
      </p:sp>
    </p:spTree>
    <p:extLst>
      <p:ext uri="{BB962C8B-B14F-4D97-AF65-F5344CB8AC3E}">
        <p14:creationId xmlns:p14="http://schemas.microsoft.com/office/powerpoint/2010/main" val="2829673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6"/>
          </a:xfrm>
          <a:prstGeom prst="rect">
            <a:avLst/>
          </a:prstGeom>
        </p:spPr>
      </p:pic>
      <p:sp>
        <p:nvSpPr>
          <p:cNvPr id="3" name="object 3"/>
          <p:cNvSpPr txBox="1">
            <a:spLocks noGrp="1"/>
          </p:cNvSpPr>
          <p:nvPr>
            <p:ph type="title"/>
          </p:nvPr>
        </p:nvSpPr>
        <p:spPr>
          <a:xfrm>
            <a:off x="4714495" y="2483307"/>
            <a:ext cx="2762885" cy="788670"/>
          </a:xfrm>
          <a:prstGeom prst="rect">
            <a:avLst/>
          </a:prstGeom>
        </p:spPr>
        <p:txBody>
          <a:bodyPr vert="horz" wrap="square" lIns="0" tIns="13335" rIns="0" bIns="0" rtlCol="0">
            <a:spAutoFit/>
          </a:bodyPr>
          <a:lstStyle/>
          <a:p>
            <a:pPr marL="12700">
              <a:spcBef>
                <a:spcPts val="105"/>
              </a:spcBef>
            </a:pPr>
            <a:r>
              <a:rPr sz="5000" b="0" dirty="0">
                <a:solidFill>
                  <a:srgbClr val="FFFFFF"/>
                </a:solidFill>
              </a:rPr>
              <a:t>Thank</a:t>
            </a:r>
            <a:r>
              <a:rPr sz="5000" b="0" spc="-70" dirty="0">
                <a:solidFill>
                  <a:srgbClr val="FFFFFF"/>
                </a:solidFill>
              </a:rPr>
              <a:t> </a:t>
            </a:r>
            <a:r>
              <a:rPr sz="5000" b="0" dirty="0">
                <a:solidFill>
                  <a:srgbClr val="FFFFFF"/>
                </a:solidFill>
              </a:rPr>
              <a:t>you</a:t>
            </a:r>
            <a:endParaRPr sz="5000"/>
          </a:p>
        </p:txBody>
      </p:sp>
      <p:sp>
        <p:nvSpPr>
          <p:cNvPr id="5" name="Slide Number Placeholder 4"/>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39</a:t>
            </a:fld>
            <a:endParaRPr lang="en-US" dirty="0"/>
          </a:p>
        </p:txBody>
      </p:sp>
    </p:spTree>
    <p:extLst>
      <p:ext uri="{BB962C8B-B14F-4D97-AF65-F5344CB8AC3E}">
        <p14:creationId xmlns:p14="http://schemas.microsoft.com/office/powerpoint/2010/main" val="3161075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7752</TotalTime>
  <Words>1917</Words>
  <Application>Microsoft Office PowerPoint</Application>
  <PresentationFormat>Widescreen</PresentationFormat>
  <Paragraphs>214</Paragraphs>
  <Slides>39</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39</vt:i4>
      </vt:variant>
    </vt:vector>
  </HeadingPairs>
  <TitlesOfParts>
    <vt:vector size="49" baseType="lpstr">
      <vt:lpstr>MS PGothic</vt:lpstr>
      <vt:lpstr>Arial</vt:lpstr>
      <vt:lpstr>Calibri</vt:lpstr>
      <vt:lpstr>Calibri Light</vt:lpstr>
      <vt:lpstr>Gill Sans MT</vt:lpstr>
      <vt:lpstr>Source Sans</vt:lpstr>
      <vt:lpstr>Times New Roman</vt:lpstr>
      <vt:lpstr>Wingdings</vt:lpstr>
      <vt:lpstr>Office Theme</vt:lpstr>
      <vt:lpstr>1_Office Theme</vt:lpstr>
      <vt:lpstr> Server and Systems Administration  Module Code : CSC3504  </vt:lpstr>
      <vt:lpstr>PowerPoint Presentation</vt:lpstr>
      <vt:lpstr>Server Types</vt:lpstr>
      <vt:lpstr>Server Types</vt:lpstr>
      <vt:lpstr>Server Types</vt:lpstr>
      <vt:lpstr>Server Types</vt:lpstr>
      <vt:lpstr>Server Types</vt:lpstr>
      <vt:lpstr>Server Types</vt:lpstr>
      <vt:lpstr>Server Types</vt:lpstr>
      <vt:lpstr>Server Types</vt:lpstr>
      <vt:lpstr>Virtualization?</vt:lpstr>
      <vt:lpstr>What is Virtualization</vt:lpstr>
      <vt:lpstr>What is Virtualization?</vt:lpstr>
      <vt:lpstr>What is Virtualization</vt:lpstr>
      <vt:lpstr>What is a hypervisor?</vt:lpstr>
      <vt:lpstr>What is hypervisor or virtual machine monitor (VMM)? </vt:lpstr>
      <vt:lpstr>Types of Hypervisor </vt:lpstr>
      <vt:lpstr>Why Virtualization is Important</vt:lpstr>
      <vt:lpstr>Why implement visualization in organization?</vt:lpstr>
      <vt:lpstr>Why implement visualization in organization?</vt:lpstr>
      <vt:lpstr>Why implement Virtualization in organization?</vt:lpstr>
      <vt:lpstr>Advantages of Virtualization</vt:lpstr>
      <vt:lpstr>Disadvantages / Challenges of Virtualization</vt:lpstr>
      <vt:lpstr>Components of Virtualization</vt:lpstr>
      <vt:lpstr>Types of Virtualization</vt:lpstr>
      <vt:lpstr>Types of Virtualization(cont..)</vt:lpstr>
      <vt:lpstr>Types of Virtualization(cont..)</vt:lpstr>
      <vt:lpstr>Types of Virtualization(cont..)</vt:lpstr>
      <vt:lpstr>Types of Virtualization(cont..)</vt:lpstr>
      <vt:lpstr>Types of Server Virtualization Solutions</vt:lpstr>
      <vt:lpstr>Full Virtualization Solutions</vt:lpstr>
      <vt:lpstr>Full Virtualization Solutions </vt:lpstr>
      <vt:lpstr>Full Virtualization Solutions</vt:lpstr>
      <vt:lpstr>Paravirtualization Solutions</vt:lpstr>
      <vt:lpstr>Paravirtualization Solutions</vt:lpstr>
      <vt:lpstr>OS-Level Virtualization Solutions</vt:lpstr>
      <vt:lpstr>OS-Level Virtualization Solutions</vt:lpstr>
      <vt:lpstr>OS-Level Virtualization Solutions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INEZA</dc:creator>
  <cp:lastModifiedBy>Simeon NDAYAMBAJE</cp:lastModifiedBy>
  <cp:revision>138</cp:revision>
  <dcterms:created xsi:type="dcterms:W3CDTF">2021-09-06T15:03:47Z</dcterms:created>
  <dcterms:modified xsi:type="dcterms:W3CDTF">2026-03-08T16:05:53Z</dcterms:modified>
</cp:coreProperties>
</file>