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  <p:sldMasterId id="2147483660" r:id="rId2"/>
  </p:sldMasterIdLst>
  <p:notesMasterIdLst>
    <p:notesMasterId r:id="rId25"/>
  </p:notesMasterIdLst>
  <p:sldIdLst>
    <p:sldId id="257" r:id="rId3"/>
    <p:sldId id="411" r:id="rId4"/>
    <p:sldId id="451" r:id="rId5"/>
    <p:sldId id="454" r:id="rId6"/>
    <p:sldId id="473" r:id="rId7"/>
    <p:sldId id="474" r:id="rId8"/>
    <p:sldId id="456" r:id="rId9"/>
    <p:sldId id="458" r:id="rId10"/>
    <p:sldId id="461" r:id="rId11"/>
    <p:sldId id="462" r:id="rId12"/>
    <p:sldId id="463" r:id="rId13"/>
    <p:sldId id="464" r:id="rId14"/>
    <p:sldId id="468" r:id="rId15"/>
    <p:sldId id="475" r:id="rId16"/>
    <p:sldId id="466" r:id="rId17"/>
    <p:sldId id="476" r:id="rId18"/>
    <p:sldId id="467" r:id="rId19"/>
    <p:sldId id="477" r:id="rId20"/>
    <p:sldId id="470" r:id="rId21"/>
    <p:sldId id="471" r:id="rId22"/>
    <p:sldId id="472" r:id="rId23"/>
    <p:sldId id="31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459" autoAdjust="0"/>
  </p:normalViewPr>
  <p:slideViewPr>
    <p:cSldViewPr snapToGrid="0">
      <p:cViewPr varScale="1">
        <p:scale>
          <a:sx n="61" d="100"/>
          <a:sy n="61" d="100"/>
        </p:scale>
        <p:origin x="8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59EB8-F0F6-4DC6-A647-6A5C1CFF84A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58CC0-D8AB-4D70-B3A7-EFDBBA06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8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FE42F-2F17-4DD7-8DFC-FAC4895B1DCE}" type="datetime1">
              <a:rPr lang="en-GB" smtClean="0"/>
              <a:t>08/03/2026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1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5135-96B0-4D59-9477-C1C029711266}" type="datetime1">
              <a:rPr lang="en-GB" smtClean="0"/>
              <a:t>08/03/2026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893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16361-7B81-44C5-9A3A-71D6D100AD56}" type="datetime1">
              <a:rPr lang="en-GB" smtClean="0"/>
              <a:t>08/03/2026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145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118-AD8C-45DB-8E9A-71884D9D7FC1}" type="datetime1">
              <a:rPr lang="en-GB" smtClean="0"/>
              <a:t>08/03/2026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CFC8-89B1-4D57-A51F-48F51F844B81}" type="datetime1">
              <a:rPr lang="en-GB" smtClean="0"/>
              <a:t>08/03/2026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14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FA51-64D4-4EB8-BFEE-804D4C829154}" type="datetime1">
              <a:rPr lang="en-GB" smtClean="0"/>
              <a:t>08/03/2026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627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4CCD-74AE-4BD3-AC04-46933177CAC8}" type="datetime1">
              <a:rPr lang="en-GB" smtClean="0"/>
              <a:t>08/03/2026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1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1212-F654-46B9-975F-0DD54868612F}" type="datetime1">
              <a:rPr lang="en-GB" smtClean="0"/>
              <a:t>08/03/2026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17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23D7-5D51-46E5-A289-80F4A83CCE3E}" type="datetime1">
              <a:rPr lang="en-GB" smtClean="0"/>
              <a:t>08/03/2026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533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BE30-9A89-4B91-A84C-4D4D55CA1321}" type="datetime1">
              <a:rPr lang="en-GB" smtClean="0"/>
              <a:t>08/03/2026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18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3C09-AE49-422C-81E3-52DA06B4BA2B}" type="datetime1">
              <a:rPr lang="en-GB" smtClean="0"/>
              <a:t>08/03/2026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91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05659" y="1270457"/>
            <a:ext cx="798068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8D21-266C-455A-8CEC-12FEFF750694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08/03/2026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69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F6960-003F-4D8C-B8AC-3E1FC3BD80D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08/03/2026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738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47835-96A5-46B5-A6A8-AF6AD047816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08/03/2026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48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611C2-7913-467E-A42C-29D9E21C693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08/03/2026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014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C551E-F4C7-4FD6-86C5-A4F3C46DF6D9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08/03/2026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7151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4A620-4D63-450A-BD74-3876FFB6A025}" type="datetime1">
              <a:rPr lang="en-GB" smtClean="0"/>
              <a:t>08/03/2026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5657-62C7-42E2-9234-1DE12381E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1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3403" y="999490"/>
            <a:ext cx="7505192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588" y="2027047"/>
            <a:ext cx="1076282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14587" y="6464680"/>
            <a:ext cx="91694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0E563-AC30-4883-9709-5124BD668EA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t>08/03/2026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2077" y="6464680"/>
            <a:ext cx="30903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620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-348661"/>
            <a:ext cx="12191999" cy="334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230"/>
              </a:lnSpc>
              <a:spcBef>
                <a:spcPts val="100"/>
              </a:spcBef>
            </a:pPr>
            <a:b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</a:br>
            <a: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  <a:t>Server and Systems Administration</a:t>
            </a:r>
            <a:br>
              <a:rPr lang="en-US" b="1" dirty="0">
                <a:solidFill>
                  <a:schemeClr val="bg1"/>
                </a:solidFill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bg1"/>
                </a:solidFill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Module Code : CSC3504 </a:t>
            </a:r>
            <a:br>
              <a:rPr lang="en-US" dirty="0">
                <a:solidFill>
                  <a:schemeClr val="accent1"/>
                </a:solidFill>
                <a:latin typeface="Gill Sans MT" panose="020B0502020104020203" pitchFamily="34" charset="0"/>
              </a:rPr>
            </a:br>
            <a:endParaRPr sz="4400" dirty="0">
              <a:latin typeface="Gill Sans MT" panose="020B0502020104020203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5461" y="2529031"/>
            <a:ext cx="50292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3200" b="1" dirty="0">
                <a:solidFill>
                  <a:srgbClr val="FFC000"/>
                </a:solidFill>
                <a:latin typeface="MS PGothic"/>
                <a:cs typeface="MS PGothic"/>
              </a:rPr>
              <a:t>Simeon </a:t>
            </a:r>
            <a:r>
              <a:rPr lang="en-US" sz="3200" b="1" dirty="0">
                <a:solidFill>
                  <a:srgbClr val="FFC000"/>
                </a:solidFill>
                <a:latin typeface="Gill Sans MT" panose="020B0502020104020203" pitchFamily="34" charset="0"/>
                <a:cs typeface="MS PGothic"/>
              </a:rPr>
              <a:t>NDAYAMBAJE</a:t>
            </a:r>
            <a:endParaRPr sz="3200" b="1" dirty="0">
              <a:latin typeface="Gill Sans MT" panose="020B0502020104020203" pitchFamily="34" charset="0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7083" y="6426504"/>
            <a:ext cx="33259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200" b="1" dirty="0">
                <a:solidFill>
                  <a:schemeClr val="bg1"/>
                </a:solidFill>
              </a:rPr>
              <a:t>Server and Systems Administration , </a:t>
            </a:r>
            <a:r>
              <a:rPr lang="en-US" sz="1200" dirty="0">
                <a:solidFill>
                  <a:schemeClr val="bg1"/>
                </a:solidFill>
              </a:rPr>
              <a:t>CSC3504 </a:t>
            </a:r>
            <a:endParaRPr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8681" y="6426504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11202077" y="6464680"/>
            <a:ext cx="309033" cy="153888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566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60945" y="2145206"/>
            <a:ext cx="95123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x-none" sz="4000" b="1" dirty="0">
                <a:solidFill>
                  <a:srgbClr val="C00000"/>
                </a:solidFill>
                <a:latin typeface="Gill Sans MT" panose="020B0502020104020203" pitchFamily="34" charset="0"/>
              </a:rPr>
              <a:t>Chapter 4</a:t>
            </a:r>
          </a:p>
          <a:p>
            <a:pPr algn="ctr"/>
            <a:endParaRPr lang="en-US" altLang="x-none" sz="4000" b="1" dirty="0">
              <a:solidFill>
                <a:srgbClr val="C00000"/>
              </a:solidFill>
              <a:latin typeface="Gill Sans MT" panose="020B0502020104020203" pitchFamily="34" charset="0"/>
            </a:endParaRPr>
          </a:p>
          <a:p>
            <a:pPr algn="ctr"/>
            <a:r>
              <a:rPr lang="en-US" altLang="x-none" sz="4000" b="1" dirty="0">
                <a:latin typeface="Gill Sans MT" panose="020B0502020104020203" pitchFamily="34" charset="0"/>
              </a:rPr>
              <a:t>Booting &amp; File Management</a:t>
            </a:r>
          </a:p>
        </p:txBody>
      </p:sp>
    </p:spTree>
    <p:extLst>
      <p:ext uri="{BB962C8B-B14F-4D97-AF65-F5344CB8AC3E}">
        <p14:creationId xmlns:p14="http://schemas.microsoft.com/office/powerpoint/2010/main" val="1498727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2003612" y="681317"/>
            <a:ext cx="7772400" cy="615553"/>
          </a:xfrm>
        </p:spPr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Booting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779930" y="1296870"/>
            <a:ext cx="9744636" cy="541686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Booting is the process of starting a computer and making it ready for use by loading an operating system onto the main memory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In the Booting, System will check all the hardware and Software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In order for a computer to successfully boot, its BIOS, Operating System and hardware components must all be working properly; failure of any one of these three elements will likely result in a failed boot sequence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550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658470" y="717176"/>
            <a:ext cx="9144000" cy="615553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System Boot Process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502024" y="1549867"/>
            <a:ext cx="11152094" cy="4954934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3000" dirty="0">
                <a:latin typeface="Gill Sans MT" panose="020B0502020104020203" pitchFamily="34" charset="0"/>
              </a:rPr>
              <a:t>When the power gets ON, memory testing (RAM test) is performed.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3000" dirty="0">
                <a:latin typeface="Gill Sans MT" panose="020B0502020104020203" pitchFamily="34" charset="0"/>
              </a:rPr>
              <a:t>When this is OK, a boot loader program checks all H/W attached with computer system. Such as keyboard, hard disk, CPU, etc.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3000" dirty="0">
                <a:latin typeface="Gill Sans MT" panose="020B0502020104020203" pitchFamily="34" charset="0"/>
              </a:rPr>
              <a:t>After listing H/</a:t>
            </a:r>
            <a:r>
              <a:rPr lang="en-US" sz="3000" dirty="0" err="1">
                <a:latin typeface="Gill Sans MT" panose="020B0502020104020203" pitchFamily="34" charset="0"/>
              </a:rPr>
              <a:t>Ws</a:t>
            </a:r>
            <a:r>
              <a:rPr lang="en-US" sz="3000" dirty="0">
                <a:latin typeface="Gill Sans MT" panose="020B0502020104020203" pitchFamily="34" charset="0"/>
              </a:rPr>
              <a:t>, the boot loader program searches for  operating system in secondary storage device. If it found, it calls the main program of operating system and loads operating system into RAM.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3000" dirty="0">
                <a:latin typeface="Gill Sans MT" panose="020B0502020104020203" pitchFamily="34" charset="0"/>
              </a:rPr>
              <a:t>After successfully loading the operating system, it operating system prompt. If it is Windows then a desktop is displayed with Start Button.</a:t>
            </a:r>
          </a:p>
          <a:p>
            <a:pPr>
              <a:defRPr/>
            </a:pPr>
            <a:endParaRPr lang="en-US" sz="3000" b="1" i="1" dirty="0">
              <a:latin typeface="Gill Sans MT" panose="020B0502020104020203" pitchFamily="34" charset="0"/>
            </a:endParaRPr>
          </a:p>
          <a:p>
            <a:pPr>
              <a:defRPr/>
            </a:pPr>
            <a:endParaRPr lang="en-US" sz="30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24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1462087"/>
            <a:ext cx="769620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61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446" y="1036264"/>
            <a:ext cx="8240246" cy="535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726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308702" y="572758"/>
            <a:ext cx="7772400" cy="615553"/>
          </a:xfrm>
        </p:spPr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Types of Booting 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6409764" y="1565227"/>
            <a:ext cx="4437530" cy="31143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Cold boot(Hard Booting):</a:t>
            </a:r>
            <a:r>
              <a:rPr lang="en-US" sz="2800" dirty="0">
                <a:latin typeface="Gill Sans MT" panose="020B0502020104020203" pitchFamily="34" charset="0"/>
              </a:rPr>
              <a:t> </a:t>
            </a:r>
          </a:p>
          <a:p>
            <a:pPr>
              <a:defRPr/>
            </a:pPr>
            <a:r>
              <a:rPr lang="en-US" sz="2800" dirty="0">
                <a:latin typeface="Gill Sans MT" panose="020B0502020104020203" pitchFamily="34" charset="0"/>
              </a:rPr>
              <a:t>Is described as a process of starting a computer after switching it off. A good example is turning on a desktop computer after power cable is plugged in.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99" y="1565227"/>
            <a:ext cx="5111546" cy="289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76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2254623" y="696072"/>
            <a:ext cx="7772400" cy="615553"/>
          </a:xfrm>
        </p:spPr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Types of Booting 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217459" y="2002492"/>
            <a:ext cx="6195452" cy="4216539"/>
          </a:xfrm>
        </p:spPr>
        <p:txBody>
          <a:bodyPr/>
          <a:lstStyle/>
          <a:p>
            <a:pPr>
              <a:defRPr/>
            </a:pPr>
            <a:r>
              <a:rPr lang="en-US" sz="24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Warm Boot( Soft Booting): 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ill Sans MT" panose="020B0502020104020203" pitchFamily="34" charset="0"/>
              </a:rPr>
              <a:t>it is a method where the ‘operating system’ (OS) is restarted without switching it off.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ill Sans MT" panose="020B0502020104020203" pitchFamily="34" charset="0"/>
              </a:rPr>
              <a:t>It happen in case (computer locks, freezes or crashes, new program is installed, After installing external Hardware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ill Sans MT" panose="020B0502020104020203" pitchFamily="34" charset="0"/>
              </a:rPr>
              <a:t>This type of booting is faster and helps the (OS) recover from errors easily.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Gill Sans MT" panose="020B0502020104020203" pitchFamily="34" charset="0"/>
              </a:rPr>
              <a:t>When CTRL, ALT and DEL keys are press simultaneously, and then warm booting is performed.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2110068"/>
            <a:ext cx="4493968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32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2156011" y="534707"/>
            <a:ext cx="7772400" cy="615553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File</a:t>
            </a:r>
            <a:r>
              <a:rPr lang="en-US" i="1" dirty="0">
                <a:latin typeface="Gill Sans MT" panose="020B0502020104020203" pitchFamily="34" charset="0"/>
              </a:rPr>
              <a:t> </a:t>
            </a:r>
            <a:r>
              <a:rPr lang="en-US" dirty="0">
                <a:latin typeface="Gill Sans MT" panose="020B0502020104020203" pitchFamily="34" charset="0"/>
              </a:rPr>
              <a:t>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396" y="4205031"/>
            <a:ext cx="8030416" cy="2646878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File system</a:t>
            </a:r>
            <a:r>
              <a:rPr lang="en-US" sz="3600" dirty="0">
                <a:latin typeface="Gill Sans MT" panose="020B0502020104020203" pitchFamily="34" charset="0"/>
              </a:rPr>
              <a:t> is a structured representation of data and a process of how to manages data on a storage disk</a:t>
            </a:r>
          </a:p>
          <a:p>
            <a:pPr>
              <a:defRPr/>
            </a:pPr>
            <a:endParaRPr lang="en-US" sz="3600" dirty="0">
              <a:latin typeface="Gill Sans MT" panose="020B0502020104020203" pitchFamily="34" charset="0"/>
            </a:endParaRPr>
          </a:p>
          <a:p>
            <a:pPr>
              <a:defRPr/>
            </a:pPr>
            <a:endParaRPr lang="en-US" sz="2800" b="1" dirty="0">
              <a:latin typeface="Gill Sans MT" panose="020B05020201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548" y="1150260"/>
            <a:ext cx="52673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83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851210" y="800871"/>
            <a:ext cx="8879541" cy="766229"/>
          </a:xfrm>
        </p:spPr>
        <p:txBody>
          <a:bodyPr/>
          <a:lstStyle/>
          <a:p>
            <a:r>
              <a:rPr lang="en-US" b="1" dirty="0">
                <a:latin typeface="Gill Sans MT" panose="020B0502020104020203" pitchFamily="34" charset="0"/>
              </a:rPr>
              <a:t>Example of file system in Windows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16388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719500"/>
            <a:ext cx="6379096" cy="450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518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2209800" y="1056901"/>
            <a:ext cx="7772400" cy="615553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File Manipulations(Operations)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717765" y="2108194"/>
            <a:ext cx="2378235" cy="2061883"/>
          </a:xfrm>
        </p:spPr>
        <p:txBody>
          <a:bodyPr/>
          <a:lstStyle/>
          <a:p>
            <a:pPr marL="539496" indent="-457200" algn="l">
              <a:buFont typeface="Arial" panose="020B0604020202020204" pitchFamily="34" charset="0"/>
              <a:buChar char="•"/>
            </a:pPr>
            <a:r>
              <a:rPr lang="en-US" dirty="0"/>
              <a:t>Delete, </a:t>
            </a:r>
          </a:p>
          <a:p>
            <a:pPr marL="539496" indent="-457200" algn="l">
              <a:buFont typeface="Arial" panose="020B0604020202020204" pitchFamily="34" charset="0"/>
              <a:buChar char="•"/>
            </a:pPr>
            <a:r>
              <a:rPr lang="en-US" dirty="0"/>
              <a:t>Read</a:t>
            </a:r>
          </a:p>
          <a:p>
            <a:pPr marL="539496" indent="-457200" algn="l">
              <a:buFont typeface="Arial" panose="020B0604020202020204" pitchFamily="34" charset="0"/>
              <a:buChar char="•"/>
            </a:pPr>
            <a:r>
              <a:rPr lang="en-US" dirty="0"/>
              <a:t>Move,  </a:t>
            </a:r>
          </a:p>
          <a:p>
            <a:pPr marL="539496" indent="-457200" algn="l">
              <a:buFont typeface="Arial" panose="020B0604020202020204" pitchFamily="34" charset="0"/>
              <a:buChar char="•"/>
            </a:pPr>
            <a:r>
              <a:rPr lang="en-US" dirty="0"/>
              <a:t>Copy</a:t>
            </a:r>
          </a:p>
          <a:p>
            <a:pPr marL="82296"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21507" y="2108194"/>
            <a:ext cx="17032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9496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" panose="020B0502020104020203" pitchFamily="34" charset="0"/>
              </a:rPr>
              <a:t>Past, </a:t>
            </a:r>
          </a:p>
          <a:p>
            <a:pPr marL="539496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" panose="020B0502020104020203" pitchFamily="34" charset="0"/>
              </a:rPr>
              <a:t>Open</a:t>
            </a:r>
          </a:p>
          <a:p>
            <a:pPr marL="539496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" panose="020B0502020104020203" pitchFamily="34" charset="0"/>
              </a:rPr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23737265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2639616" y="796925"/>
            <a:ext cx="7342584" cy="615553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File Attributes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722683" y="1731213"/>
            <a:ext cx="4198069" cy="3447098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Extension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Date of modification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Size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323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2281518" y="797859"/>
            <a:ext cx="7772400" cy="615553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File system permissions</a:t>
            </a:r>
          </a:p>
        </p:txBody>
      </p:sp>
      <p:pic>
        <p:nvPicPr>
          <p:cNvPr id="2253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106" y="1644568"/>
            <a:ext cx="7469385" cy="4662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6782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File system permissions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285" y="2037321"/>
            <a:ext cx="10762825" cy="492442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Notation</a:t>
            </a:r>
          </a:p>
          <a:p>
            <a:pPr algn="ctr"/>
            <a:endParaRPr lang="en-US" b="1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Symbolic notation: </a:t>
            </a:r>
            <a:r>
              <a:rPr lang="en-US" dirty="0">
                <a:latin typeface="Gill Sans MT" panose="020B0502020104020203" pitchFamily="34" charset="0"/>
              </a:rPr>
              <a:t>Represents permissions using symbols (r, w, x, and -)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Octal (Absolute) notation</a:t>
            </a:r>
            <a:r>
              <a:rPr lang="en-US" dirty="0">
                <a:latin typeface="Gill Sans MT" panose="020B0502020104020203" pitchFamily="34" charset="0"/>
              </a:rPr>
              <a:t>: represents permissions using a three-digit number read (4), write (2), and execute (1).</a:t>
            </a:r>
            <a:endParaRPr lang="en-US" b="1" dirty="0">
              <a:latin typeface="Gill Sans MT" panose="020B0502020104020203" pitchFamily="34" charset="0"/>
            </a:endParaRPr>
          </a:p>
          <a:p>
            <a:endParaRPr lang="en-US" b="1" dirty="0">
              <a:latin typeface="Gill Sans MT" panose="020B0502020104020203" pitchFamily="34" charset="0"/>
            </a:endParaRPr>
          </a:p>
          <a:p>
            <a:endParaRPr lang="en-US" b="1" dirty="0">
              <a:latin typeface="Gill Sans MT" panose="020B0502020104020203" pitchFamily="34" charset="0"/>
            </a:endParaRPr>
          </a:p>
          <a:p>
            <a:endParaRPr lang="en-US" b="1" dirty="0">
              <a:latin typeface="Gill Sans MT" panose="020B0502020104020203" pitchFamily="34" charset="0"/>
            </a:endParaRPr>
          </a:p>
          <a:p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065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173740" y="1497722"/>
            <a:ext cx="7772400" cy="492443"/>
          </a:xfrm>
        </p:spPr>
        <p:txBody>
          <a:bodyPr/>
          <a:lstStyle/>
          <a:p>
            <a:pPr marL="274320" lvl="1"/>
            <a:r>
              <a:rPr lang="en-US" sz="3200" b="1" dirty="0">
                <a:solidFill>
                  <a:srgbClr val="FF0000"/>
                </a:solidFill>
                <a:latin typeface="Gill Sans MT" panose="020B0502020104020203" pitchFamily="34" charset="0"/>
              </a:rPr>
              <a:t>Symbolic Notation and Description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3099139" y="1990165"/>
            <a:ext cx="7452320" cy="2954655"/>
          </a:xfrm>
        </p:spPr>
        <p:txBody>
          <a:bodyPr/>
          <a:lstStyle/>
          <a:p>
            <a:pPr marL="274320" lvl="1"/>
            <a:endParaRPr lang="en-US" sz="3200" b="1" dirty="0">
              <a:solidFill>
                <a:schemeClr val="accent1"/>
              </a:solidFill>
              <a:latin typeface="Gill Sans MT" panose="020B0502020104020203" pitchFamily="34" charset="0"/>
            </a:endParaRPr>
          </a:p>
          <a:p>
            <a:pPr marL="731520" lvl="2"/>
            <a:r>
              <a:rPr lang="en-US" sz="3200" dirty="0">
                <a:latin typeface="Gill Sans MT" panose="020B0502020104020203" pitchFamily="34" charset="0"/>
              </a:rPr>
              <a:t>"</a:t>
            </a:r>
            <a:r>
              <a:rPr lang="en-US" sz="3200" b="1" dirty="0">
                <a:solidFill>
                  <a:schemeClr val="accent2"/>
                </a:solidFill>
                <a:latin typeface="Gill Sans MT" panose="020B0502020104020203" pitchFamily="34" charset="0"/>
              </a:rPr>
              <a:t>r</a:t>
            </a:r>
            <a:r>
              <a:rPr lang="en-US" sz="3200" dirty="0">
                <a:latin typeface="Gill Sans MT" panose="020B0502020104020203" pitchFamily="34" charset="0"/>
              </a:rPr>
              <a:t>" means: read permission</a:t>
            </a:r>
            <a:br>
              <a:rPr lang="en-US" sz="3200" dirty="0">
                <a:latin typeface="Gill Sans MT" panose="020B0502020104020203" pitchFamily="34" charset="0"/>
              </a:rPr>
            </a:br>
            <a:r>
              <a:rPr lang="en-US" sz="3200" dirty="0">
                <a:latin typeface="Gill Sans MT" panose="020B0502020104020203" pitchFamily="34" charset="0"/>
              </a:rPr>
              <a:t>"</a:t>
            </a:r>
            <a:r>
              <a:rPr lang="en-US" sz="3200" b="1" dirty="0">
                <a:solidFill>
                  <a:schemeClr val="accent2"/>
                </a:solidFill>
                <a:latin typeface="Gill Sans MT" panose="020B0502020104020203" pitchFamily="34" charset="0"/>
              </a:rPr>
              <a:t>w</a:t>
            </a:r>
            <a:r>
              <a:rPr lang="en-US" sz="3200" dirty="0">
                <a:latin typeface="Gill Sans MT" panose="020B0502020104020203" pitchFamily="34" charset="0"/>
              </a:rPr>
              <a:t>" means: write permission</a:t>
            </a:r>
            <a:br>
              <a:rPr lang="en-US" sz="3200" dirty="0">
                <a:latin typeface="Gill Sans MT" panose="020B0502020104020203" pitchFamily="34" charset="0"/>
              </a:rPr>
            </a:br>
            <a:r>
              <a:rPr lang="en-US" sz="3200" dirty="0">
                <a:latin typeface="Gill Sans MT" panose="020B0502020104020203" pitchFamily="34" charset="0"/>
              </a:rPr>
              <a:t>"</a:t>
            </a:r>
            <a:r>
              <a:rPr lang="en-US" sz="3200" b="1" dirty="0">
                <a:solidFill>
                  <a:schemeClr val="accent2"/>
                </a:solidFill>
                <a:latin typeface="Gill Sans MT" panose="020B0502020104020203" pitchFamily="34" charset="0"/>
              </a:rPr>
              <a:t>x</a:t>
            </a:r>
            <a:r>
              <a:rPr lang="en-US" sz="3200" dirty="0">
                <a:latin typeface="Gill Sans MT" panose="020B0502020104020203" pitchFamily="34" charset="0"/>
              </a:rPr>
              <a:t>" means: execute permission</a:t>
            </a:r>
          </a:p>
          <a:p>
            <a:pPr marL="731520" lvl="2"/>
            <a:r>
              <a:rPr lang="en-US" sz="3200" b="1" dirty="0">
                <a:latin typeface="Gill Sans MT" panose="020B0502020104020203" pitchFamily="34" charset="0"/>
              </a:rPr>
              <a:t>“</a:t>
            </a:r>
            <a:r>
              <a:rPr lang="en-US" sz="3200" b="1" dirty="0">
                <a:solidFill>
                  <a:schemeClr val="accent2"/>
                </a:solidFill>
                <a:latin typeface="Gill Sans MT" panose="020B0502020104020203" pitchFamily="34" charset="0"/>
              </a:rPr>
              <a:t>-</a:t>
            </a:r>
            <a:r>
              <a:rPr lang="en-US" sz="3200" dirty="0">
                <a:latin typeface="Gill Sans MT" panose="020B0502020104020203" pitchFamily="34" charset="0"/>
              </a:rPr>
              <a:t>” means: no permission</a:t>
            </a:r>
          </a:p>
          <a:p>
            <a:endParaRPr lang="en-US" b="1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157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Symbolic Notation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588" y="2027047"/>
            <a:ext cx="10762825" cy="393954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Symbolic notation represents permissions using symbols (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r</a:t>
            </a:r>
            <a:r>
              <a:rPr lang="en-US" dirty="0">
                <a:latin typeface="Gill Sans MT" panose="020B0502020104020203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w</a:t>
            </a:r>
            <a:r>
              <a:rPr lang="en-US" dirty="0">
                <a:latin typeface="Gill Sans MT" panose="020B0502020104020203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x</a:t>
            </a:r>
            <a:r>
              <a:rPr lang="en-US" dirty="0">
                <a:latin typeface="Gill Sans MT" panose="020B0502020104020203" pitchFamily="34" charset="0"/>
              </a:rPr>
              <a:t>, and 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-</a:t>
            </a:r>
            <a:r>
              <a:rPr lang="en-US" dirty="0">
                <a:latin typeface="Gill Sans MT" panose="020B0502020104020203" pitchFamily="34" charset="0"/>
              </a:rPr>
              <a:t>) to indicate read, write, and execute permissions, respectively.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It also includes additional symbols (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u</a:t>
            </a:r>
            <a:r>
              <a:rPr lang="en-US" dirty="0">
                <a:latin typeface="Gill Sans MT" panose="020B0502020104020203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g</a:t>
            </a:r>
            <a:r>
              <a:rPr lang="en-US" dirty="0">
                <a:latin typeface="Gill Sans MT" panose="020B0502020104020203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o</a:t>
            </a:r>
            <a:r>
              <a:rPr lang="en-US" dirty="0">
                <a:latin typeface="Gill Sans MT" panose="020B0502020104020203" pitchFamily="34" charset="0"/>
              </a:rPr>
              <a:t>, and a) to specify whether permissions apply to the owner, group, others, or all users.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For example, 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u</a:t>
            </a:r>
            <a:r>
              <a:rPr lang="en-US" dirty="0" err="1">
                <a:latin typeface="Gill Sans MT" panose="020B0502020104020203" pitchFamily="34" charset="0"/>
              </a:rPr>
              <a:t>+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x</a:t>
            </a:r>
            <a:r>
              <a:rPr lang="en-US" dirty="0">
                <a:latin typeface="Gill Sans MT" panose="020B0502020104020203" pitchFamily="34" charset="0"/>
              </a:rPr>
              <a:t> means to add execute permission for the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077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272553" y="1102659"/>
            <a:ext cx="7772400" cy="615553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File system permissions</a:t>
            </a:r>
          </a:p>
        </p:txBody>
      </p:sp>
      <p:pic>
        <p:nvPicPr>
          <p:cNvPr id="21508" name="Picture 2" descr="UNIX &amp; OSX Permiss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099" y="2121806"/>
            <a:ext cx="8194675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67141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3403" y="999490"/>
            <a:ext cx="8588300" cy="615553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Absolute notation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3768" y="1615043"/>
            <a:ext cx="10762825" cy="541686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When Linux file permissions are represented by numbers.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In numeric mode, a three-digit value represents specific file permissions (for example, 744.)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The first digit is for 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owner</a:t>
            </a:r>
            <a:r>
              <a:rPr lang="en-US" dirty="0">
                <a:latin typeface="Gill Sans MT" panose="020B0502020104020203" pitchFamily="34" charset="0"/>
              </a:rPr>
              <a:t> permissions, the second digit is for 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group</a:t>
            </a:r>
            <a:r>
              <a:rPr lang="en-US" dirty="0">
                <a:latin typeface="Gill Sans MT" panose="020B0502020104020203" pitchFamily="34" charset="0"/>
              </a:rPr>
              <a:t> permissions, and the third is for 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other</a:t>
            </a:r>
            <a:r>
              <a:rPr lang="en-US" dirty="0">
                <a:latin typeface="Gill Sans MT" panose="020B0502020104020203" pitchFamily="34" charset="0"/>
              </a:rPr>
              <a:t> users. Each permission has a numeric value assigned to it:</a:t>
            </a:r>
          </a:p>
          <a:p>
            <a:pPr lvl="2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404040"/>
                </a:solidFill>
                <a:latin typeface="Gill Sans MT" panose="020B0502020104020203" pitchFamily="34" charset="0"/>
                <a:cs typeface="Courier New" panose="02070309020205020404" pitchFamily="49" charset="0"/>
              </a:rPr>
              <a:t>r</a:t>
            </a:r>
            <a:r>
              <a:rPr lang="en-US" altLang="en-US" sz="3200" dirty="0">
                <a:solidFill>
                  <a:srgbClr val="404040"/>
                </a:solidFill>
                <a:latin typeface="Gill Sans MT" panose="020B0502020104020203" pitchFamily="34" charset="0"/>
              </a:rPr>
              <a:t>(</a:t>
            </a:r>
            <a:r>
              <a:rPr lang="en-US" altLang="en-US" sz="3200" dirty="0" err="1">
                <a:solidFill>
                  <a:srgbClr val="404040"/>
                </a:solidFill>
                <a:latin typeface="Gill Sans MT" panose="020B0502020104020203" pitchFamily="34" charset="0"/>
              </a:rPr>
              <a:t>ead</a:t>
            </a:r>
            <a:r>
              <a:rPr lang="en-US" altLang="en-US" sz="3200" dirty="0">
                <a:solidFill>
                  <a:srgbClr val="404040"/>
                </a:solidFill>
                <a:latin typeface="Gill Sans MT" panose="020B0502020104020203" pitchFamily="34" charset="0"/>
              </a:rPr>
              <a:t>) has the value of </a:t>
            </a:r>
            <a:r>
              <a:rPr lang="en-US" alt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Courier New" panose="02070309020205020404" pitchFamily="49" charset="0"/>
              </a:rPr>
              <a:t>4</a:t>
            </a:r>
            <a:r>
              <a:rPr lang="en-US" altLang="en-US" sz="3200" dirty="0">
                <a:solidFill>
                  <a:srgbClr val="FF0000"/>
                </a:solidFill>
                <a:latin typeface="Gill Sans MT" panose="020B0502020104020203" pitchFamily="34" charset="0"/>
              </a:rPr>
              <a:t>.</a:t>
            </a:r>
          </a:p>
          <a:p>
            <a:pPr lvl="2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404040"/>
                </a:solidFill>
                <a:latin typeface="Gill Sans MT" panose="020B0502020104020203" pitchFamily="34" charset="0"/>
                <a:cs typeface="Courier New" panose="02070309020205020404" pitchFamily="49" charset="0"/>
              </a:rPr>
              <a:t>w</a:t>
            </a:r>
            <a:r>
              <a:rPr lang="en-US" altLang="en-US" sz="3200" dirty="0">
                <a:solidFill>
                  <a:srgbClr val="404040"/>
                </a:solidFill>
                <a:latin typeface="Gill Sans MT" panose="020B0502020104020203" pitchFamily="34" charset="0"/>
              </a:rPr>
              <a:t>(rite) has the value of </a:t>
            </a:r>
            <a:r>
              <a:rPr lang="en-US" alt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Gill Sans MT" panose="020B0502020104020203" pitchFamily="34" charset="0"/>
              </a:rPr>
              <a:t>.</a:t>
            </a:r>
          </a:p>
          <a:p>
            <a:pPr lvl="2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404040"/>
                </a:solidFill>
                <a:latin typeface="Gill Sans MT" panose="020B0502020104020203" pitchFamily="34" charset="0"/>
              </a:rPr>
              <a:t>(e)</a:t>
            </a:r>
            <a:r>
              <a:rPr lang="en-US" altLang="en-US" sz="3200" b="1" dirty="0">
                <a:solidFill>
                  <a:srgbClr val="404040"/>
                </a:solidFill>
                <a:latin typeface="Gill Sans MT" panose="020B0502020104020203" pitchFamily="34" charset="0"/>
                <a:cs typeface="Courier New" panose="02070309020205020404" pitchFamily="49" charset="0"/>
              </a:rPr>
              <a:t>x</a:t>
            </a:r>
            <a:r>
              <a:rPr lang="en-US" altLang="en-US" sz="3200" dirty="0">
                <a:solidFill>
                  <a:srgbClr val="404040"/>
                </a:solidFill>
                <a:latin typeface="Gill Sans MT" panose="020B0502020104020203" pitchFamily="34" charset="0"/>
              </a:rPr>
              <a:t>(</a:t>
            </a:r>
            <a:r>
              <a:rPr lang="en-US" altLang="en-US" sz="3200" dirty="0" err="1">
                <a:solidFill>
                  <a:srgbClr val="404040"/>
                </a:solidFill>
                <a:latin typeface="Gill Sans MT" panose="020B0502020104020203" pitchFamily="34" charset="0"/>
              </a:rPr>
              <a:t>ecute</a:t>
            </a:r>
            <a:r>
              <a:rPr lang="en-US" altLang="en-US" sz="3200" dirty="0">
                <a:solidFill>
                  <a:srgbClr val="404040"/>
                </a:solidFill>
                <a:latin typeface="Gill Sans MT" panose="020B0502020104020203" pitchFamily="34" charset="0"/>
              </a:rPr>
              <a:t>) has the value of </a:t>
            </a:r>
            <a:r>
              <a:rPr lang="en-US" alt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rgbClr val="FF0000"/>
                </a:solidFill>
                <a:latin typeface="Gill Sans MT" panose="020B0502020104020203" pitchFamily="34" charset="0"/>
              </a:rPr>
              <a:t>.</a:t>
            </a:r>
          </a:p>
          <a:p>
            <a:pPr lvl="2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404040"/>
                </a:solidFill>
                <a:latin typeface="Gill Sans MT" panose="020B0502020104020203" pitchFamily="34" charset="0"/>
              </a:rPr>
              <a:t>no permission</a:t>
            </a:r>
            <a:r>
              <a:rPr lang="en-US" altLang="en-US" sz="3200" dirty="0">
                <a:solidFill>
                  <a:srgbClr val="404040"/>
                </a:solidFill>
                <a:latin typeface="Gill Sans MT" panose="020B0502020104020203" pitchFamily="34" charset="0"/>
              </a:rPr>
              <a:t> has the value of </a:t>
            </a:r>
            <a:r>
              <a:rPr lang="en-US" alt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Courier New" panose="02070309020205020404" pitchFamily="49" charset="0"/>
              </a:rPr>
              <a:t>0</a:t>
            </a:r>
            <a:r>
              <a:rPr lang="en-US" altLang="en-US" sz="3200" dirty="0">
                <a:solidFill>
                  <a:srgbClr val="FF0000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200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227729" y="817773"/>
            <a:ext cx="7772400" cy="615553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File system permissions</a:t>
            </a:r>
          </a:p>
        </p:txBody>
      </p:sp>
      <p:pic>
        <p:nvPicPr>
          <p:cNvPr id="24580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679" y="1433326"/>
            <a:ext cx="7733833" cy="49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421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662720" y="421341"/>
            <a:ext cx="7772400" cy="61706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File system permissions</a:t>
            </a:r>
          </a:p>
        </p:txBody>
      </p:sp>
      <p:pic>
        <p:nvPicPr>
          <p:cNvPr id="25604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020" y="1188612"/>
            <a:ext cx="7750100" cy="5225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8787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290773" y="806823"/>
            <a:ext cx="7772400" cy="615553"/>
          </a:xfrm>
        </p:spPr>
        <p:txBody>
          <a:bodyPr/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File permission table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016655"/>
              </p:ext>
            </p:extLst>
          </p:nvPr>
        </p:nvGraphicFramePr>
        <p:xfrm>
          <a:off x="2720589" y="1617514"/>
          <a:ext cx="6912768" cy="4752529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855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Number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0FB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0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Permission Type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B00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0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Symbol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005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85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100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No Permission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---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855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B00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Execute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--x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F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85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300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Write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00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-w-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85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1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Execute + Write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01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0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wx</a:t>
                      </a:r>
                      <a:endParaRPr lang="en-US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F00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85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00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0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Read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F00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0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r--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F00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85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5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Read + Execute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0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0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r-x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500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855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6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Read +Write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0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rw</a:t>
                      </a:r>
                      <a:r>
                        <a:rPr lang="en-US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-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0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9689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7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00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0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Read + Write +Execute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700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0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0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rwx</a:t>
                      </a:r>
                      <a:endParaRPr lang="en-US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900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0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1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0129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14495" y="2483307"/>
            <a:ext cx="276288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5000" b="0" dirty="0">
                <a:solidFill>
                  <a:srgbClr val="FFFFFF"/>
                </a:solidFill>
              </a:rPr>
              <a:t>Thank</a:t>
            </a:r>
            <a:r>
              <a:rPr sz="5000" b="0" spc="-70" dirty="0">
                <a:solidFill>
                  <a:srgbClr val="FFFFFF"/>
                </a:solidFill>
              </a:rPr>
              <a:t> </a:t>
            </a:r>
            <a:r>
              <a:rPr sz="5000" b="0" dirty="0">
                <a:solidFill>
                  <a:srgbClr val="FFFFFF"/>
                </a:solidFill>
              </a:rPr>
              <a:t>you</a:t>
            </a:r>
            <a:endParaRPr sz="5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02077" y="6464680"/>
            <a:ext cx="309033" cy="153888"/>
          </a:xfrm>
          <a:prstGeom prst="rect">
            <a:avLst/>
          </a:prstGeo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pPr marL="38100">
                <a:lnSpc>
                  <a:spcPts val="1240"/>
                </a:lnSpc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075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7434</TotalTime>
  <Words>713</Words>
  <Application>Microsoft Office PowerPoint</Application>
  <PresentationFormat>Widescreen</PresentationFormat>
  <Paragraphs>107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MS PGothic</vt:lpstr>
      <vt:lpstr>Arial</vt:lpstr>
      <vt:lpstr>Calibri</vt:lpstr>
      <vt:lpstr>Calibri Light</vt:lpstr>
      <vt:lpstr>Gill Sans MT</vt:lpstr>
      <vt:lpstr>Times New Roman</vt:lpstr>
      <vt:lpstr>Office Theme</vt:lpstr>
      <vt:lpstr>1_Office Theme</vt:lpstr>
      <vt:lpstr> Server and Systems Administration  Module Code : CSC3504  </vt:lpstr>
      <vt:lpstr>PowerPoint Presentation</vt:lpstr>
      <vt:lpstr>Booting</vt:lpstr>
      <vt:lpstr>System Boot Process</vt:lpstr>
      <vt:lpstr>PowerPoint Presentation</vt:lpstr>
      <vt:lpstr>PowerPoint Presentation</vt:lpstr>
      <vt:lpstr>Types of Booting </vt:lpstr>
      <vt:lpstr>Types of Booting </vt:lpstr>
      <vt:lpstr>File system</vt:lpstr>
      <vt:lpstr>Example of file system in Windows</vt:lpstr>
      <vt:lpstr>File Manipulations(Operations)</vt:lpstr>
      <vt:lpstr>File Attributes</vt:lpstr>
      <vt:lpstr>File system permissions</vt:lpstr>
      <vt:lpstr>File system permissions</vt:lpstr>
      <vt:lpstr>Symbolic Notation and Description</vt:lpstr>
      <vt:lpstr>Symbolic Notation</vt:lpstr>
      <vt:lpstr>File system permissions</vt:lpstr>
      <vt:lpstr>Absolute notation</vt:lpstr>
      <vt:lpstr>File system permissions</vt:lpstr>
      <vt:lpstr>File system permissions</vt:lpstr>
      <vt:lpstr>File permission table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INEZA</dc:creator>
  <cp:lastModifiedBy>Simeon NDAYAMBAJE</cp:lastModifiedBy>
  <cp:revision>215</cp:revision>
  <dcterms:created xsi:type="dcterms:W3CDTF">2021-09-06T15:03:47Z</dcterms:created>
  <dcterms:modified xsi:type="dcterms:W3CDTF">2026-03-08T16:02:36Z</dcterms:modified>
</cp:coreProperties>
</file>