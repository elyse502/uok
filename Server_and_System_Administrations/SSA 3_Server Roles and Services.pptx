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 id="2147483660" r:id="rId2"/>
  </p:sldMasterIdLst>
  <p:notesMasterIdLst>
    <p:notesMasterId r:id="rId37"/>
  </p:notesMasterIdLst>
  <p:sldIdLst>
    <p:sldId id="257" r:id="rId3"/>
    <p:sldId id="411" r:id="rId4"/>
    <p:sldId id="450" r:id="rId5"/>
    <p:sldId id="504" r:id="rId6"/>
    <p:sldId id="502" r:id="rId7"/>
    <p:sldId id="452" r:id="rId8"/>
    <p:sldId id="453" r:id="rId9"/>
    <p:sldId id="454" r:id="rId10"/>
    <p:sldId id="476" r:id="rId11"/>
    <p:sldId id="477" r:id="rId12"/>
    <p:sldId id="481" r:id="rId13"/>
    <p:sldId id="480" r:id="rId14"/>
    <p:sldId id="482" r:id="rId15"/>
    <p:sldId id="456" r:id="rId16"/>
    <p:sldId id="457" r:id="rId17"/>
    <p:sldId id="483" r:id="rId18"/>
    <p:sldId id="459" r:id="rId19"/>
    <p:sldId id="461" r:id="rId20"/>
    <p:sldId id="484" r:id="rId21"/>
    <p:sldId id="463" r:id="rId22"/>
    <p:sldId id="465" r:id="rId23"/>
    <p:sldId id="467" r:id="rId24"/>
    <p:sldId id="469" r:id="rId25"/>
    <p:sldId id="471" r:id="rId26"/>
    <p:sldId id="495" r:id="rId27"/>
    <p:sldId id="487" r:id="rId28"/>
    <p:sldId id="496" r:id="rId29"/>
    <p:sldId id="497" r:id="rId30"/>
    <p:sldId id="498" r:id="rId31"/>
    <p:sldId id="499" r:id="rId32"/>
    <p:sldId id="500" r:id="rId33"/>
    <p:sldId id="494" r:id="rId34"/>
    <p:sldId id="475" r:id="rId35"/>
    <p:sldId id="31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459" autoAdjust="0"/>
  </p:normalViewPr>
  <p:slideViewPr>
    <p:cSldViewPr snapToGrid="0">
      <p:cViewPr varScale="1">
        <p:scale>
          <a:sx n="61" d="100"/>
          <a:sy n="61" d="100"/>
        </p:scale>
        <p:origin x="884" y="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59EB8-F0F6-4DC6-A647-6A5C1CFF84A9}"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358CC0-D8AB-4D70-B3A7-EFDBBA065C02}" type="slidenum">
              <a:rPr lang="en-US" smtClean="0"/>
              <a:t>‹#›</a:t>
            </a:fld>
            <a:endParaRPr lang="en-US"/>
          </a:p>
        </p:txBody>
      </p:sp>
    </p:spTree>
    <p:extLst>
      <p:ext uri="{BB962C8B-B14F-4D97-AF65-F5344CB8AC3E}">
        <p14:creationId xmlns:p14="http://schemas.microsoft.com/office/powerpoint/2010/main" val="430783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1200" dirty="0">
                <a:latin typeface="Gill Sans MT" panose="020B0502020104020203" pitchFamily="34" charset="0"/>
              </a:rPr>
              <a:t>The Network Policy and Access Services role supports in Remote Authentication , routing, and remote access through VPNs.</a:t>
            </a:r>
          </a:p>
          <a:p>
            <a:pPr marL="457200" indent="-457200">
              <a:buFont typeface="Arial" panose="020B0604020202020204" pitchFamily="34" charset="0"/>
              <a:buChar char="•"/>
            </a:pPr>
            <a:r>
              <a:rPr lang="en-US" sz="1200" dirty="0" err="1">
                <a:latin typeface="Gill Sans MT" panose="020B0502020104020203" pitchFamily="34" charset="0"/>
              </a:rPr>
              <a:t>Eg</a:t>
            </a:r>
            <a:r>
              <a:rPr lang="en-US" sz="1200" dirty="0">
                <a:latin typeface="Gill Sans MT" panose="020B0502020104020203" pitchFamily="34" charset="0"/>
              </a:rPr>
              <a:t>: Just as a federal or central government may lay down policies for state or districts to follow to achieve national objectives, network administrators define policies for network devices to follow to achieve business objectives. </a:t>
            </a:r>
          </a:p>
          <a:p>
            <a:endParaRPr lang="en-US" dirty="0"/>
          </a:p>
        </p:txBody>
      </p:sp>
      <p:sp>
        <p:nvSpPr>
          <p:cNvPr id="4" name="Slide Number Placeholder 3"/>
          <p:cNvSpPr>
            <a:spLocks noGrp="1"/>
          </p:cNvSpPr>
          <p:nvPr>
            <p:ph type="sldNum" sz="quarter" idx="10"/>
          </p:nvPr>
        </p:nvSpPr>
        <p:spPr/>
        <p:txBody>
          <a:bodyPr/>
          <a:lstStyle/>
          <a:p>
            <a:fld id="{AD358CC0-D8AB-4D70-B3A7-EFDBBA065C02}" type="slidenum">
              <a:rPr lang="en-US" smtClean="0"/>
              <a:t>28</a:t>
            </a:fld>
            <a:endParaRPr lang="en-US"/>
          </a:p>
        </p:txBody>
      </p:sp>
    </p:spTree>
    <p:extLst>
      <p:ext uri="{BB962C8B-B14F-4D97-AF65-F5344CB8AC3E}">
        <p14:creationId xmlns:p14="http://schemas.microsoft.com/office/powerpoint/2010/main" val="119353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4DFE42F-2F17-4DD7-8DFC-FAC4895B1DCE}"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305116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025135-96B0-4D59-9477-C1C029711266}"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11797893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316361-7B81-44C5-9A3A-71D6D100AD56}"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644014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A27118-AD8C-45DB-8E9A-71884D9D7FC1}"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213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BDCFC8-89B1-4D57-A51F-48F51F844B81}" type="datetime1">
              <a:rPr lang="en-GB" smtClean="0"/>
              <a:t>08/03/2026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807914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7F1FA51-64D4-4EB8-BFEE-804D4C829154}" type="datetime1">
              <a:rPr lang="en-GB" smtClean="0"/>
              <a:t>08/03/2026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2179627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594CCD-74AE-4BD3-AC04-46933177CAC8}" type="datetime1">
              <a:rPr lang="en-GB" smtClean="0"/>
              <a:t>08/03/2026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426241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D1212-F654-46B9-975F-0DD54868612F}"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40693170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0123D7-5D51-46E5-A289-80F4A83CCE3E}" type="datetime1">
              <a:rPr lang="en-GB" smtClean="0"/>
              <a:t>08/03/2026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2121853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DCBE30-9A89-4B91-A84C-4D4D55CA1321}"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830182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623C09-AE49-422C-81E3-52DA06B4BA2B}" type="datetime1">
              <a:rPr lang="en-GB" smtClean="0"/>
              <a:t>08/03/2026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505657-62C7-42E2-9234-1DE12381E0A2}" type="slidenum">
              <a:rPr lang="en-US" smtClean="0"/>
              <a:t>‹#›</a:t>
            </a:fld>
            <a:endParaRPr lang="en-US"/>
          </a:p>
        </p:txBody>
      </p:sp>
    </p:spTree>
    <p:extLst>
      <p:ext uri="{BB962C8B-B14F-4D97-AF65-F5344CB8AC3E}">
        <p14:creationId xmlns:p14="http://schemas.microsoft.com/office/powerpoint/2010/main" val="3835491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105659" y="1270457"/>
            <a:ext cx="7980680" cy="615553"/>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6058D21-266C-455A-8CEC-12FEFF750694}"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508369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AEF6960-003F-4D8C-B8AC-3E1FC3BD80D6}"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2247389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9244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9244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EE47835-96A5-46B5-A6A8-AF6AD0478162}" type="datetime1">
              <a:rPr lang="en-GB" smtClean="0">
                <a:solidFill>
                  <a:prstClr val="black">
                    <a:tint val="75000"/>
                  </a:prstClr>
                </a:solidFill>
              </a:rPr>
              <a:t>08/03/2026</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768948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AA0611C2-7913-467E-A42C-29D9E21C6938}" type="datetime1">
              <a:rPr lang="en-GB" smtClean="0">
                <a:solidFill>
                  <a:prstClr val="black">
                    <a:tint val="75000"/>
                  </a:prstClr>
                </a:solidFill>
              </a:rPr>
              <a:t>08/03/2026</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12567014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B8C551E-F4C7-4FD6-86C5-A4F3C46DF6D9}" type="datetime1">
              <a:rPr lang="en-GB" smtClean="0">
                <a:solidFill>
                  <a:prstClr val="black">
                    <a:tint val="75000"/>
                  </a:prstClr>
                </a:solidFill>
              </a:rPr>
              <a:t>08/03/2026</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9737151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4A620-4D63-450A-BD74-3876FFB6A025}" type="datetime1">
              <a:rPr lang="en-GB" smtClean="0"/>
              <a:t>08/03/2026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505657-62C7-42E2-9234-1DE12381E0A2}" type="slidenum">
              <a:rPr lang="en-US" smtClean="0"/>
              <a:t>‹#›</a:t>
            </a:fld>
            <a:endParaRPr lang="en-US"/>
          </a:p>
        </p:txBody>
      </p:sp>
    </p:spTree>
    <p:extLst>
      <p:ext uri="{BB962C8B-B14F-4D97-AF65-F5344CB8AC3E}">
        <p14:creationId xmlns:p14="http://schemas.microsoft.com/office/powerpoint/2010/main" val="95461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 y="0"/>
            <a:ext cx="12191999" cy="6857996"/>
          </a:xfrm>
          <a:prstGeom prst="rect">
            <a:avLst/>
          </a:prstGeom>
        </p:spPr>
      </p:pic>
      <p:sp>
        <p:nvSpPr>
          <p:cNvPr id="2" name="Holder 2"/>
          <p:cNvSpPr>
            <a:spLocks noGrp="1"/>
          </p:cNvSpPr>
          <p:nvPr>
            <p:ph type="title"/>
          </p:nvPr>
        </p:nvSpPr>
        <p:spPr>
          <a:xfrm>
            <a:off x="2343403" y="999490"/>
            <a:ext cx="7505192" cy="615553"/>
          </a:xfrm>
          <a:prstGeom prst="rect">
            <a:avLst/>
          </a:prstGeom>
        </p:spPr>
        <p:txBody>
          <a:bodyPr wrap="square" lIns="0" tIns="0" rIns="0" bIns="0">
            <a:spAutoFit/>
          </a:bodyPr>
          <a:lstStyle>
            <a:lvl1pPr>
              <a:defRPr sz="40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714588" y="2027047"/>
            <a:ext cx="10762825" cy="492443"/>
          </a:xfrm>
          <a:prstGeom prst="rect">
            <a:avLst/>
          </a:prstGeom>
        </p:spPr>
        <p:txBody>
          <a:bodyPr wrap="square" lIns="0" tIns="0" rIns="0" bIns="0">
            <a:spAutoFit/>
          </a:bodyPr>
          <a:lstStyle>
            <a:lvl1pPr>
              <a:defRPr sz="3200" b="0" i="0">
                <a:solidFill>
                  <a:schemeClr val="tx1"/>
                </a:solidFill>
                <a:latin typeface="MS PGothic"/>
                <a:cs typeface="MS PGothic"/>
              </a:defRPr>
            </a:lvl1pPr>
          </a:lstStyle>
          <a:p>
            <a:endParaRPr/>
          </a:p>
        </p:txBody>
      </p:sp>
      <p:sp>
        <p:nvSpPr>
          <p:cNvPr id="4" name="Holder 4"/>
          <p:cNvSpPr>
            <a:spLocks noGrp="1"/>
          </p:cNvSpPr>
          <p:nvPr>
            <p:ph type="ftr" sz="quarter" idx="5"/>
          </p:nvPr>
        </p:nvSpPr>
        <p:spPr>
          <a:xfrm>
            <a:off x="714587" y="6464680"/>
            <a:ext cx="916940"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endParaRPr lang="en-US"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A7D0E563-AC30-4883-9709-5124BD668EAD}" type="datetime1">
              <a:rPr lang="en-GB" smtClean="0">
                <a:solidFill>
                  <a:prstClr val="black">
                    <a:tint val="75000"/>
                  </a:prstClr>
                </a:solidFill>
              </a:rPr>
              <a:t>08/03/2026</a:t>
            </a:fld>
            <a:endParaRPr lang="en-US">
              <a:solidFill>
                <a:prstClr val="black">
                  <a:tint val="75000"/>
                </a:prstClr>
              </a:solidFill>
            </a:endParaRPr>
          </a:p>
        </p:txBody>
      </p:sp>
      <p:sp>
        <p:nvSpPr>
          <p:cNvPr id="6" name="Holder 6"/>
          <p:cNvSpPr>
            <a:spLocks noGrp="1"/>
          </p:cNvSpPr>
          <p:nvPr>
            <p:ph type="sldNum" sz="quarter" idx="7"/>
          </p:nvPr>
        </p:nvSpPr>
        <p:spPr>
          <a:xfrm>
            <a:off x="11202077" y="6464680"/>
            <a:ext cx="309033" cy="153888"/>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lang="en-US" smtClean="0"/>
              <a:pPr marL="38100">
                <a:lnSpc>
                  <a:spcPts val="1240"/>
                </a:lnSpc>
              </a:pPr>
              <a:t>‹#›</a:t>
            </a:fld>
            <a:endParaRPr lang="en-US" dirty="0"/>
          </a:p>
        </p:txBody>
      </p:sp>
    </p:spTree>
    <p:extLst>
      <p:ext uri="{BB962C8B-B14F-4D97-AF65-F5344CB8AC3E}">
        <p14:creationId xmlns:p14="http://schemas.microsoft.com/office/powerpoint/2010/main" val="2894620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techtarget.com/searchnetworking/definition/node"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s://www.lifewire.com/subnet-mask-2626013" TargetMode="External"/><Relationship Id="rId2" Type="http://schemas.openxmlformats.org/officeDocument/2006/relationships/hyperlink" Target="https://www.lifewire.com/what-is-an-ip-address-2625920" TargetMode="External"/><Relationship Id="rId1" Type="http://schemas.openxmlformats.org/officeDocument/2006/relationships/slideLayout" Target="../slideLayouts/slideLayout13.xml"/><Relationship Id="rId5" Type="http://schemas.openxmlformats.org/officeDocument/2006/relationships/hyperlink" Target="https://www.lifewire.com/what-is-a-dns-server-2625854" TargetMode="External"/><Relationship Id="rId4" Type="http://schemas.openxmlformats.org/officeDocument/2006/relationships/hyperlink" Target="https://www.lifewire.com/how-to-find-your-default-gateway-ip-address-262607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7996"/>
          </a:xfrm>
          <a:prstGeom prst="rect">
            <a:avLst/>
          </a:prstGeom>
        </p:spPr>
      </p:pic>
      <p:sp>
        <p:nvSpPr>
          <p:cNvPr id="3" name="object 3"/>
          <p:cNvSpPr txBox="1">
            <a:spLocks noGrp="1"/>
          </p:cNvSpPr>
          <p:nvPr>
            <p:ph type="title"/>
          </p:nvPr>
        </p:nvSpPr>
        <p:spPr>
          <a:xfrm>
            <a:off x="0" y="-348661"/>
            <a:ext cx="12191999" cy="3347070"/>
          </a:xfrm>
          <a:prstGeom prst="rect">
            <a:avLst/>
          </a:prstGeom>
        </p:spPr>
        <p:txBody>
          <a:bodyPr vert="horz" wrap="square" lIns="0" tIns="12700" rIns="0" bIns="0" rtlCol="0">
            <a:spAutoFit/>
          </a:bodyPr>
          <a:lstStyle/>
          <a:p>
            <a:pPr algn="ctr">
              <a:lnSpc>
                <a:spcPts val="5230"/>
              </a:lnSpc>
              <a:spcBef>
                <a:spcPts val="100"/>
              </a:spcBef>
            </a:pPr>
            <a:br>
              <a:rPr lang="en-GB" b="1" dirty="0">
                <a:solidFill>
                  <a:schemeClr val="bg1"/>
                </a:solidFill>
                <a:latin typeface="Gill Sans MT" panose="020B0502020104020203" pitchFamily="34" charset="0"/>
              </a:rPr>
            </a:br>
            <a:r>
              <a:rPr lang="en-GB" b="1" dirty="0">
                <a:solidFill>
                  <a:schemeClr val="bg1"/>
                </a:solidFill>
                <a:latin typeface="Gill Sans MT" panose="020B0502020104020203" pitchFamily="34" charset="0"/>
              </a:rPr>
              <a:t>Server and Systems Administration</a:t>
            </a: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dirty="0">
                <a:solidFill>
                  <a:schemeClr val="bg1"/>
                </a:solidFill>
                <a:latin typeface="Gill Sans MT" panose="020B0502020104020203" pitchFamily="34" charset="0"/>
              </a:rPr>
              <a:t>Module Code : CSC3504 </a:t>
            </a:r>
            <a:br>
              <a:rPr lang="en-US" dirty="0">
                <a:solidFill>
                  <a:schemeClr val="accent1"/>
                </a:solidFill>
                <a:latin typeface="Gill Sans MT" panose="020B0502020104020203" pitchFamily="34" charset="0"/>
              </a:rPr>
            </a:br>
            <a:endParaRPr sz="4400" dirty="0">
              <a:latin typeface="Gill Sans MT" panose="020B0502020104020203" pitchFamily="34" charset="0"/>
            </a:endParaRPr>
          </a:p>
        </p:txBody>
      </p:sp>
      <p:sp>
        <p:nvSpPr>
          <p:cNvPr id="4" name="object 4"/>
          <p:cNvSpPr txBox="1"/>
          <p:nvPr/>
        </p:nvSpPr>
        <p:spPr>
          <a:xfrm>
            <a:off x="3995461" y="2529031"/>
            <a:ext cx="5029200" cy="505908"/>
          </a:xfrm>
          <a:prstGeom prst="rect">
            <a:avLst/>
          </a:prstGeom>
        </p:spPr>
        <p:txBody>
          <a:bodyPr vert="horz" wrap="square" lIns="0" tIns="13335" rIns="0" bIns="0" rtlCol="0">
            <a:spAutoFit/>
          </a:bodyPr>
          <a:lstStyle/>
          <a:p>
            <a:pPr marL="12700">
              <a:spcBef>
                <a:spcPts val="105"/>
              </a:spcBef>
            </a:pPr>
            <a:r>
              <a:rPr lang="en-US" sz="3200" b="1" dirty="0">
                <a:solidFill>
                  <a:srgbClr val="FFC000"/>
                </a:solidFill>
                <a:latin typeface="MS PGothic"/>
                <a:cs typeface="MS PGothic"/>
              </a:rPr>
              <a:t>Simeon </a:t>
            </a:r>
            <a:r>
              <a:rPr lang="en-US" sz="3200" b="1" dirty="0">
                <a:solidFill>
                  <a:srgbClr val="FFC000"/>
                </a:solidFill>
                <a:latin typeface="Gill Sans MT" panose="020B0502020104020203" pitchFamily="34" charset="0"/>
                <a:cs typeface="MS PGothic"/>
              </a:rPr>
              <a:t>NDAYAMBAJE</a:t>
            </a:r>
            <a:endParaRPr sz="3200" b="1" dirty="0">
              <a:latin typeface="Gill Sans MT" panose="020B0502020104020203" pitchFamily="34" charset="0"/>
              <a:cs typeface="MS PGothic"/>
            </a:endParaRPr>
          </a:p>
        </p:txBody>
      </p:sp>
      <p:sp>
        <p:nvSpPr>
          <p:cNvPr id="6" name="object 6"/>
          <p:cNvSpPr txBox="1"/>
          <p:nvPr/>
        </p:nvSpPr>
        <p:spPr>
          <a:xfrm>
            <a:off x="4847083" y="6426504"/>
            <a:ext cx="3325956" cy="197490"/>
          </a:xfrm>
          <a:prstGeom prst="rect">
            <a:avLst/>
          </a:prstGeom>
        </p:spPr>
        <p:txBody>
          <a:bodyPr vert="horz" wrap="square" lIns="0" tIns="12700" rIns="0" bIns="0" rtlCol="0">
            <a:spAutoFit/>
          </a:bodyPr>
          <a:lstStyle/>
          <a:p>
            <a:pPr marL="12700">
              <a:spcBef>
                <a:spcPts val="100"/>
              </a:spcBef>
            </a:pPr>
            <a:r>
              <a:rPr lang="en-GB" sz="1200" b="1" dirty="0">
                <a:solidFill>
                  <a:schemeClr val="bg1"/>
                </a:solidFill>
              </a:rPr>
              <a:t>Server and Systems Administration , </a:t>
            </a:r>
            <a:r>
              <a:rPr lang="en-US" sz="1200" dirty="0">
                <a:solidFill>
                  <a:schemeClr val="bg1"/>
                </a:solidFill>
              </a:rPr>
              <a:t>CSC3504 </a:t>
            </a:r>
            <a:endParaRPr sz="1200" dirty="0">
              <a:solidFill>
                <a:schemeClr val="bg1"/>
              </a:solidFill>
              <a:latin typeface="Calibri"/>
              <a:cs typeface="Calibri"/>
            </a:endParaRPr>
          </a:p>
        </p:txBody>
      </p:sp>
      <p:sp>
        <p:nvSpPr>
          <p:cNvPr id="7" name="object 7"/>
          <p:cNvSpPr txBox="1"/>
          <p:nvPr/>
        </p:nvSpPr>
        <p:spPr>
          <a:xfrm>
            <a:off x="10028681" y="6426504"/>
            <a:ext cx="102870" cy="197490"/>
          </a:xfrm>
          <a:prstGeom prst="rect">
            <a:avLst/>
          </a:prstGeom>
        </p:spPr>
        <p:txBody>
          <a:bodyPr vert="horz" wrap="square" lIns="0" tIns="12700" rIns="0" bIns="0" rtlCol="0">
            <a:spAutoFit/>
          </a:bodyPr>
          <a:lstStyle/>
          <a:p>
            <a:pPr marL="12700">
              <a:spcBef>
                <a:spcPts val="100"/>
              </a:spcBef>
            </a:pPr>
            <a:r>
              <a:rPr sz="1200" dirty="0">
                <a:solidFill>
                  <a:srgbClr val="888888"/>
                </a:solidFill>
                <a:latin typeface="Calibri"/>
                <a:cs typeface="Calibri"/>
              </a:rPr>
              <a:t>1</a:t>
            </a:r>
            <a:endParaRPr sz="1200">
              <a:latin typeface="Calibri"/>
              <a:cs typeface="Calibri"/>
            </a:endParaRPr>
          </a:p>
        </p:txBody>
      </p:sp>
      <p:sp>
        <p:nvSpPr>
          <p:cNvPr id="9" name="Slide Number Placeholder 8"/>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1</a:t>
            </a:fld>
            <a:endParaRPr lang="en-US" dirty="0"/>
          </a:p>
        </p:txBody>
      </p:sp>
    </p:spTree>
    <p:extLst>
      <p:ext uri="{BB962C8B-B14F-4D97-AF65-F5344CB8AC3E}">
        <p14:creationId xmlns:p14="http://schemas.microsoft.com/office/powerpoint/2010/main" val="6785668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a:t>
            </a:fld>
            <a:endParaRPr lang="en-US" dirty="0"/>
          </a:p>
        </p:txBody>
      </p:sp>
      <p:sp>
        <p:nvSpPr>
          <p:cNvPr id="3" name="Rectangle 2"/>
          <p:cNvSpPr/>
          <p:nvPr/>
        </p:nvSpPr>
        <p:spPr>
          <a:xfrm>
            <a:off x="1560945" y="2145206"/>
            <a:ext cx="9512395" cy="1938992"/>
          </a:xfrm>
          <a:prstGeom prst="rect">
            <a:avLst/>
          </a:prstGeom>
        </p:spPr>
        <p:txBody>
          <a:bodyPr wrap="square">
            <a:spAutoFit/>
          </a:bodyPr>
          <a:lstStyle/>
          <a:p>
            <a:pPr algn="ctr"/>
            <a:r>
              <a:rPr lang="en-US" altLang="x-none" sz="4000" b="1" dirty="0">
                <a:solidFill>
                  <a:srgbClr val="C00000"/>
                </a:solidFill>
                <a:latin typeface="Gill Sans MT" panose="020B0502020104020203" pitchFamily="34" charset="0"/>
              </a:rPr>
              <a:t>Chapter 3</a:t>
            </a:r>
          </a:p>
          <a:p>
            <a:pPr algn="ctr"/>
            <a:endParaRPr lang="en-US" altLang="x-none" sz="4000" b="1" dirty="0">
              <a:solidFill>
                <a:srgbClr val="C00000"/>
              </a:solidFill>
              <a:latin typeface="Gill Sans MT" panose="020B0502020104020203" pitchFamily="34" charset="0"/>
            </a:endParaRPr>
          </a:p>
          <a:p>
            <a:pPr algn="ctr"/>
            <a:r>
              <a:rPr lang="en-US" altLang="x-none" sz="4000" b="1" dirty="0">
                <a:latin typeface="Gill Sans MT" panose="020B0502020104020203" pitchFamily="34" charset="0"/>
              </a:rPr>
              <a:t>Server Roles and Services</a:t>
            </a:r>
          </a:p>
        </p:txBody>
      </p:sp>
    </p:spTree>
    <p:extLst>
      <p:ext uri="{BB962C8B-B14F-4D97-AF65-F5344CB8AC3E}">
        <p14:creationId xmlns:p14="http://schemas.microsoft.com/office/powerpoint/2010/main" val="14987274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309553" y="614562"/>
            <a:ext cx="7772400" cy="615553"/>
          </a:xfrm>
        </p:spPr>
        <p:txBody>
          <a:bodyPr/>
          <a:lstStyle/>
          <a:p>
            <a:pPr algn="ctr"/>
            <a:r>
              <a:rPr lang="en-US" dirty="0">
                <a:latin typeface="Gill Sans MT" panose="020B0502020104020203" pitchFamily="34" charset="0"/>
              </a:rPr>
              <a:t>Contents</a:t>
            </a:r>
          </a:p>
        </p:txBody>
      </p:sp>
      <p:sp>
        <p:nvSpPr>
          <p:cNvPr id="5123" name="Content Placeholder 2"/>
          <p:cNvSpPr>
            <a:spLocks noGrp="1"/>
          </p:cNvSpPr>
          <p:nvPr>
            <p:ph idx="1"/>
          </p:nvPr>
        </p:nvSpPr>
        <p:spPr>
          <a:xfrm>
            <a:off x="780836" y="1325366"/>
            <a:ext cx="9020709" cy="1477328"/>
          </a:xfrm>
        </p:spPr>
        <p:txBody>
          <a:bodyPr/>
          <a:lstStyle/>
          <a:p>
            <a:pPr marL="457200" indent="-457200">
              <a:buFont typeface="Arial" panose="020B0604020202020204" pitchFamily="34" charset="0"/>
              <a:buChar char="•"/>
              <a:defRPr/>
            </a:pPr>
            <a:r>
              <a:rPr lang="en-US" altLang="en-US" dirty="0">
                <a:latin typeface="Gill Sans MT" panose="020B0502020104020203" pitchFamily="34" charset="0"/>
                <a:cs typeface="Times New Roman" panose="02020603050405020304" pitchFamily="18" charset="0"/>
              </a:rPr>
              <a:t>Lightweight Directory Access Protocol (LDAP)</a:t>
            </a:r>
          </a:p>
          <a:p>
            <a:pPr marL="457200" indent="-457200">
              <a:buFont typeface="Arial" panose="020B0604020202020204" pitchFamily="34" charset="0"/>
              <a:buChar char="•"/>
              <a:defRPr/>
            </a:pPr>
            <a:r>
              <a:rPr lang="en-US" dirty="0">
                <a:latin typeface="Gill Sans MT" panose="020B0502020104020203" pitchFamily="34" charset="0"/>
              </a:rPr>
              <a:t>Domain name system (DNS) server</a:t>
            </a:r>
            <a:r>
              <a:rPr lang="en-US" b="1" dirty="0">
                <a:latin typeface="Gill Sans MT" panose="020B0502020104020203" pitchFamily="34" charset="0"/>
              </a:rPr>
              <a:t> </a:t>
            </a:r>
          </a:p>
          <a:p>
            <a:pPr marL="457200" indent="-457200">
              <a:buFont typeface="Arial" panose="020B0604020202020204" pitchFamily="34" charset="0"/>
              <a:buChar char="•"/>
              <a:defRPr/>
            </a:pPr>
            <a:r>
              <a:rPr lang="en-US" dirty="0">
                <a:latin typeface="Gill Sans MT" panose="020B0502020104020203" pitchFamily="34" charset="0"/>
              </a:rPr>
              <a:t>Dynamic Host Configuration Protocol (DHCP)</a:t>
            </a:r>
          </a:p>
        </p:txBody>
      </p:sp>
      <p:sp>
        <p:nvSpPr>
          <p:cNvPr id="2" name="Rectangle 1"/>
          <p:cNvSpPr/>
          <p:nvPr/>
        </p:nvSpPr>
        <p:spPr>
          <a:xfrm>
            <a:off x="780836" y="3902687"/>
            <a:ext cx="5774075" cy="2554545"/>
          </a:xfrm>
          <a:prstGeom prst="rect">
            <a:avLst/>
          </a:prstGeom>
        </p:spPr>
        <p:txBody>
          <a:bodyPr wrap="square">
            <a:spAutoFit/>
          </a:bodyPr>
          <a:lstStyle/>
          <a:p>
            <a:pPr marL="457200" indent="-457200">
              <a:buFont typeface="Arial" panose="020B0604020202020204" pitchFamily="34" charset="0"/>
              <a:buChar char="•"/>
              <a:defRPr/>
            </a:pPr>
            <a:r>
              <a:rPr lang="en-US" sz="3200" dirty="0">
                <a:latin typeface="Gill Sans MT" panose="020B0502020104020203" pitchFamily="34" charset="0"/>
              </a:rPr>
              <a:t>Server Manager</a:t>
            </a:r>
          </a:p>
          <a:p>
            <a:pPr marL="457200" indent="-457200">
              <a:buFont typeface="Arial" panose="020B0604020202020204" pitchFamily="34" charset="0"/>
              <a:buChar char="•"/>
              <a:defRPr/>
            </a:pPr>
            <a:r>
              <a:rPr lang="en-US" sz="3200" dirty="0">
                <a:latin typeface="Gill Sans MT" panose="020B0502020104020203" pitchFamily="34" charset="0"/>
              </a:rPr>
              <a:t>Application Server</a:t>
            </a:r>
          </a:p>
          <a:p>
            <a:pPr marL="457200" indent="-457200">
              <a:buFont typeface="Arial" panose="020B0604020202020204" pitchFamily="34" charset="0"/>
              <a:buChar char="•"/>
              <a:defRPr/>
            </a:pPr>
            <a:r>
              <a:rPr lang="en-US" sz="3200" dirty="0">
                <a:latin typeface="Gill Sans MT" panose="020B0502020104020203" pitchFamily="34" charset="0"/>
              </a:rPr>
              <a:t>Hyper-V</a:t>
            </a:r>
          </a:p>
          <a:p>
            <a:pPr marL="457200" indent="-457200">
              <a:buFont typeface="Arial" panose="020B0604020202020204" pitchFamily="34" charset="0"/>
              <a:buChar char="•"/>
              <a:defRPr/>
            </a:pPr>
            <a:r>
              <a:rPr lang="en-US" sz="3200" dirty="0">
                <a:latin typeface="Gill Sans MT" panose="020B0502020104020203" pitchFamily="34" charset="0"/>
              </a:rPr>
              <a:t>File Transfer Protocol( FTP)</a:t>
            </a:r>
          </a:p>
          <a:p>
            <a:pPr marL="457200" indent="-457200">
              <a:buFont typeface="Arial" panose="020B0604020202020204" pitchFamily="34" charset="0"/>
              <a:buChar char="•"/>
              <a:defRPr/>
            </a:pPr>
            <a:r>
              <a:rPr lang="en-US" sz="3200" dirty="0">
                <a:latin typeface="Gill Sans MT" panose="020B0502020104020203" pitchFamily="34" charset="0"/>
              </a:rPr>
              <a:t>Server Backup</a:t>
            </a:r>
          </a:p>
        </p:txBody>
      </p:sp>
      <p:sp>
        <p:nvSpPr>
          <p:cNvPr id="3" name="Rectangle 2"/>
          <p:cNvSpPr/>
          <p:nvPr/>
        </p:nvSpPr>
        <p:spPr>
          <a:xfrm>
            <a:off x="6554912" y="3902687"/>
            <a:ext cx="3527041" cy="2554545"/>
          </a:xfrm>
          <a:prstGeom prst="rect">
            <a:avLst/>
          </a:prstGeom>
        </p:spPr>
        <p:txBody>
          <a:bodyPr wrap="square">
            <a:spAutoFit/>
          </a:bodyPr>
          <a:lstStyle/>
          <a:p>
            <a:pPr marL="457200" indent="-457200">
              <a:buFont typeface="Arial" panose="020B0604020202020204" pitchFamily="34" charset="0"/>
              <a:buChar char="•"/>
              <a:defRPr/>
            </a:pPr>
            <a:r>
              <a:rPr lang="en-US" sz="3200" dirty="0">
                <a:latin typeface="Gill Sans MT" panose="020B0502020104020203" pitchFamily="34" charset="0"/>
              </a:rPr>
              <a:t>Directory</a:t>
            </a:r>
          </a:p>
          <a:p>
            <a:pPr marL="457200" indent="-457200">
              <a:buFont typeface="Arial" panose="020B0604020202020204" pitchFamily="34" charset="0"/>
              <a:buChar char="•"/>
              <a:defRPr/>
            </a:pPr>
            <a:r>
              <a:rPr lang="en-US" sz="3200" dirty="0">
                <a:latin typeface="Gill Sans MT" panose="020B0502020104020203" pitchFamily="34" charset="0"/>
              </a:rPr>
              <a:t>Web Server</a:t>
            </a:r>
          </a:p>
          <a:p>
            <a:pPr marL="457200" indent="-457200">
              <a:buFont typeface="Arial" panose="020B0604020202020204" pitchFamily="34" charset="0"/>
              <a:buChar char="•"/>
              <a:defRPr/>
            </a:pPr>
            <a:r>
              <a:rPr lang="en-US" sz="3200" dirty="0">
                <a:latin typeface="Gill Sans MT" panose="020B0502020104020203" pitchFamily="34" charset="0"/>
              </a:rPr>
              <a:t>Network policy</a:t>
            </a:r>
          </a:p>
          <a:p>
            <a:pPr marL="457200" indent="-457200">
              <a:buFont typeface="Arial" panose="020B0604020202020204" pitchFamily="34" charset="0"/>
              <a:buChar char="•"/>
              <a:defRPr/>
            </a:pPr>
            <a:r>
              <a:rPr lang="en-US" sz="3200" dirty="0">
                <a:latin typeface="Gill Sans MT" panose="020B0502020104020203" pitchFamily="34" charset="0"/>
              </a:rPr>
              <a:t>Print Services</a:t>
            </a:r>
          </a:p>
          <a:p>
            <a:pPr marL="457200" indent="-457200">
              <a:buFont typeface="Arial" panose="020B0604020202020204" pitchFamily="34" charset="0"/>
              <a:buChar char="•"/>
              <a:defRPr/>
            </a:pPr>
            <a:r>
              <a:rPr lang="en-US" sz="3200" dirty="0">
                <a:latin typeface="Gill Sans MT" panose="020B0502020104020203" pitchFamily="34" charset="0"/>
              </a:rPr>
              <a:t>Terminal Services</a:t>
            </a:r>
            <a:endParaRPr lang="en-US" sz="3200" b="1" dirty="0">
              <a:latin typeface="Gill Sans MT" panose="020B0502020104020203" pitchFamily="34" charset="0"/>
            </a:endParaRPr>
          </a:p>
        </p:txBody>
      </p:sp>
    </p:spTree>
    <p:extLst>
      <p:ext uri="{BB962C8B-B14F-4D97-AF65-F5344CB8AC3E}">
        <p14:creationId xmlns:p14="http://schemas.microsoft.com/office/powerpoint/2010/main" val="30727324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309553" y="614562"/>
            <a:ext cx="7772400" cy="615553"/>
          </a:xfrm>
        </p:spPr>
        <p:txBody>
          <a:bodyPr/>
          <a:lstStyle/>
          <a:p>
            <a:pPr algn="ctr"/>
            <a:r>
              <a:rPr lang="en-US" dirty="0">
                <a:latin typeface="Gill Sans MT" panose="020B0502020104020203" pitchFamily="34" charset="0"/>
              </a:rPr>
              <a:t>Directory</a:t>
            </a:r>
          </a:p>
        </p:txBody>
      </p:sp>
      <p:sp>
        <p:nvSpPr>
          <p:cNvPr id="5123" name="Content Placeholder 2"/>
          <p:cNvSpPr>
            <a:spLocks noGrp="1"/>
          </p:cNvSpPr>
          <p:nvPr>
            <p:ph idx="1"/>
          </p:nvPr>
        </p:nvSpPr>
        <p:spPr>
          <a:xfrm>
            <a:off x="1795548" y="1836738"/>
            <a:ext cx="5104016" cy="4630563"/>
          </a:xfrm>
        </p:spPr>
        <p:txBody>
          <a:bodyPr/>
          <a:lstStyle/>
          <a:p>
            <a:pPr>
              <a:defRPr/>
            </a:pPr>
            <a:r>
              <a:rPr lang="en-US" b="1" dirty="0">
                <a:solidFill>
                  <a:schemeClr val="accent2"/>
                </a:solidFill>
                <a:latin typeface="Gill Sans MT" panose="020B0502020104020203" pitchFamily="34" charset="0"/>
              </a:rPr>
              <a:t>Active Directory </a:t>
            </a:r>
          </a:p>
          <a:p>
            <a:pPr>
              <a:defRPr/>
            </a:pPr>
            <a:r>
              <a:rPr lang="en-US" dirty="0">
                <a:latin typeface="Gill Sans MT" panose="020B0502020104020203" pitchFamily="34" charset="0"/>
              </a:rPr>
              <a:t>Enables the server to be configured as a domain controller to centrally manage, authenticate, and authorize users, groups, and computers on the network.</a:t>
            </a:r>
          </a:p>
        </p:txBody>
      </p:sp>
      <p:pic>
        <p:nvPicPr>
          <p:cNvPr id="4098" name="Picture 2" descr="Active Directory CORE (Simplified) - Overview (O11) | OutSystem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1765" y="2002646"/>
            <a:ext cx="3442190" cy="3442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3836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2309553" y="614562"/>
            <a:ext cx="7772400" cy="615553"/>
          </a:xfrm>
        </p:spPr>
        <p:txBody>
          <a:bodyPr/>
          <a:lstStyle/>
          <a:p>
            <a:pPr algn="ctr"/>
            <a:r>
              <a:rPr lang="en-US" dirty="0">
                <a:latin typeface="Gill Sans MT" panose="020B0502020104020203" pitchFamily="34" charset="0"/>
              </a:rPr>
              <a:t>Directory</a:t>
            </a:r>
          </a:p>
        </p:txBody>
      </p:sp>
      <p:sp>
        <p:nvSpPr>
          <p:cNvPr id="5123" name="Content Placeholder 2"/>
          <p:cNvSpPr>
            <a:spLocks noGrp="1"/>
          </p:cNvSpPr>
          <p:nvPr>
            <p:ph idx="1"/>
          </p:nvPr>
        </p:nvSpPr>
        <p:spPr>
          <a:xfrm>
            <a:off x="706581" y="1429415"/>
            <a:ext cx="10257906" cy="4431983"/>
          </a:xfrm>
        </p:spPr>
        <p:txBody>
          <a:bodyPr/>
          <a:lstStyle/>
          <a:p>
            <a:pPr>
              <a:defRPr/>
            </a:pPr>
            <a:r>
              <a:rPr lang="en-US" b="1" i="1" dirty="0">
                <a:solidFill>
                  <a:schemeClr val="accent2"/>
                </a:solidFill>
                <a:latin typeface="Gill Sans MT" panose="020B0502020104020203" pitchFamily="34" charset="0"/>
              </a:rPr>
              <a:t>Directory service</a:t>
            </a:r>
            <a:r>
              <a:rPr lang="en-US" b="1" dirty="0">
                <a:solidFill>
                  <a:schemeClr val="accent2"/>
                </a:solidFill>
                <a:latin typeface="Gill Sans MT" panose="020B0502020104020203" pitchFamily="34" charset="0"/>
              </a:rPr>
              <a:t> </a:t>
            </a:r>
          </a:p>
          <a:p>
            <a:pPr marL="914400" lvl="1" indent="-457200">
              <a:buFont typeface="Arial" panose="020B0604020202020204" pitchFamily="34" charset="0"/>
              <a:buChar char="•"/>
              <a:defRPr/>
            </a:pPr>
            <a:r>
              <a:rPr lang="en-US" sz="3200" dirty="0">
                <a:latin typeface="Gill Sans MT" panose="020B0502020104020203" pitchFamily="34" charset="0"/>
              </a:rPr>
              <a:t>refers to the collection of software, hardware, and processes that store information about an enterprise and make that information available to users.</a:t>
            </a:r>
          </a:p>
          <a:p>
            <a:pPr marL="914400" lvl="1" indent="-457200">
              <a:buFont typeface="Arial" panose="020B0604020202020204" pitchFamily="34" charset="0"/>
              <a:buChar char="•"/>
              <a:defRPr/>
            </a:pPr>
            <a:r>
              <a:rPr lang="en-US" sz="3200" dirty="0">
                <a:latin typeface="Gill Sans MT" panose="020B0502020104020203" pitchFamily="34" charset="0"/>
              </a:rPr>
              <a:t>A directory service is a centralized database that stores and organizes information about users, devices, resources, and other objects in a network.</a:t>
            </a:r>
          </a:p>
          <a:p>
            <a:pPr marL="914400" lvl="1" indent="-457200">
              <a:buFont typeface="Arial" panose="020B0604020202020204" pitchFamily="34" charset="0"/>
              <a:buChar char="•"/>
              <a:defRPr/>
            </a:pPr>
            <a:r>
              <a:rPr lang="en-US" sz="3200" dirty="0">
                <a:latin typeface="Gill Sans MT" panose="020B0502020104020203" pitchFamily="34" charset="0"/>
              </a:rPr>
              <a:t>An example of a directory service is a domain name system (DNS) server. </a:t>
            </a:r>
            <a:endParaRPr lang="en-US" sz="3200"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37723879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947650" y="983672"/>
            <a:ext cx="10582102" cy="1231106"/>
          </a:xfrm>
        </p:spPr>
        <p:txBody>
          <a:bodyPr/>
          <a:lstStyle/>
          <a:p>
            <a:pPr>
              <a:defRPr/>
            </a:pPr>
            <a:r>
              <a:rPr lang="en-US" dirty="0">
                <a:latin typeface="Gill Sans MT" panose="020B0502020104020203" pitchFamily="34" charset="0"/>
              </a:rPr>
              <a:t>Characteristics of Good directory services</a:t>
            </a:r>
          </a:p>
        </p:txBody>
      </p:sp>
      <p:sp>
        <p:nvSpPr>
          <p:cNvPr id="5123" name="Content Placeholder 2"/>
          <p:cNvSpPr>
            <a:spLocks noGrp="1"/>
          </p:cNvSpPr>
          <p:nvPr>
            <p:ph idx="1"/>
          </p:nvPr>
        </p:nvSpPr>
        <p:spPr>
          <a:xfrm>
            <a:off x="282633" y="1687109"/>
            <a:ext cx="11729258" cy="8863965"/>
          </a:xfrm>
        </p:spPr>
        <p:txBody>
          <a:bodyPr/>
          <a:lstStyle/>
          <a:p>
            <a:pPr>
              <a:defRPr/>
            </a:pPr>
            <a:r>
              <a:rPr lang="en-US" dirty="0">
                <a:latin typeface="Gill Sans MT" panose="020B0502020104020203" pitchFamily="34" charset="0"/>
              </a:rPr>
              <a:t>With </a:t>
            </a:r>
            <a:r>
              <a:rPr lang="en-US" b="1" dirty="0">
                <a:latin typeface="Gill Sans MT" panose="020B0502020104020203" pitchFamily="34" charset="0"/>
              </a:rPr>
              <a:t>directory</a:t>
            </a:r>
            <a:r>
              <a:rPr lang="en-US" b="1" cap="all" dirty="0">
                <a:solidFill>
                  <a:schemeClr val="accent1"/>
                </a:solidFill>
                <a:latin typeface="Gill Sans MT" panose="020B0502020104020203" pitchFamily="34" charset="0"/>
              </a:rPr>
              <a:t> </a:t>
            </a:r>
            <a:r>
              <a:rPr lang="en-US" dirty="0">
                <a:latin typeface="Gill Sans MT" panose="020B0502020104020203" pitchFamily="34" charset="0"/>
              </a:rPr>
              <a:t>A system should meet the following criteria:</a:t>
            </a:r>
          </a:p>
          <a:p>
            <a:pPr marL="914400" lvl="1" indent="-457200">
              <a:buFont typeface="+mj-lt"/>
              <a:buAutoNum type="arabicPeriod"/>
              <a:defRPr/>
            </a:pPr>
            <a:r>
              <a:rPr lang="en-US" sz="3200" dirty="0">
                <a:latin typeface="Gill Sans MT" panose="020B0502020104020203" pitchFamily="34" charset="0"/>
              </a:rPr>
              <a:t>information store can be distributed among many different physical locations and appears as a single database.</a:t>
            </a:r>
          </a:p>
          <a:p>
            <a:pPr marL="914400" lvl="1" indent="-457200">
              <a:buFont typeface="+mj-lt"/>
              <a:buAutoNum type="arabicPeriod"/>
              <a:defRPr/>
            </a:pPr>
            <a:r>
              <a:rPr lang="en-US" sz="3200" dirty="0">
                <a:latin typeface="Gill Sans MT" panose="020B0502020104020203" pitchFamily="34" charset="0"/>
              </a:rPr>
              <a:t>The information store can accommodate new types of objects, as necessary, to meet the network’s changing needs.</a:t>
            </a:r>
          </a:p>
          <a:p>
            <a:pPr marL="914400" lvl="1" indent="-457200">
              <a:buFont typeface="+mj-lt"/>
              <a:buAutoNum type="arabicPeriod"/>
              <a:defRPr/>
            </a:pPr>
            <a:r>
              <a:rPr lang="en-US" sz="3200" dirty="0">
                <a:latin typeface="Gill Sans MT" panose="020B0502020104020203" pitchFamily="34" charset="0"/>
              </a:rPr>
              <a:t>Users and administrators can easily search for information from various locations throughout the network.</a:t>
            </a:r>
          </a:p>
          <a:p>
            <a:pPr marL="914400" lvl="1" indent="-457200">
              <a:buFont typeface="+mj-lt"/>
              <a:buAutoNum type="arabicPeriod"/>
              <a:defRPr/>
            </a:pPr>
            <a:r>
              <a:rPr lang="en-US" sz="3200" dirty="0">
                <a:latin typeface="Gill Sans MT" panose="020B0502020104020203" pitchFamily="34" charset="0"/>
              </a:rPr>
              <a:t>The system has no dependency upon physical location.</a:t>
            </a:r>
          </a:p>
          <a:p>
            <a:pPr marL="914400" lvl="1" indent="-457200">
              <a:buFont typeface="+mj-lt"/>
              <a:buAutoNum type="arabicPeriod"/>
              <a:defRPr/>
            </a:pPr>
            <a:r>
              <a:rPr lang="en-US" sz="3200" dirty="0">
                <a:latin typeface="Gill Sans MT" panose="020B0502020104020203" pitchFamily="34" charset="0"/>
              </a:rPr>
              <a:t>The information store is accessible from many different operating systems. </a:t>
            </a:r>
          </a:p>
          <a:p>
            <a:pPr>
              <a:defRPr/>
            </a:pPr>
            <a:endParaRPr lang="en-US" b="1" dirty="0">
              <a:solidFill>
                <a:schemeClr val="accent1"/>
              </a:solidFill>
              <a:latin typeface="Gill Sans MT" panose="020B0502020104020203" pitchFamily="34" charset="0"/>
            </a:endParaRPr>
          </a:p>
          <a:p>
            <a:pPr>
              <a:defRPr/>
            </a:pPr>
            <a:endParaRPr lang="en-US" dirty="0">
              <a:latin typeface="Gill Sans MT" panose="020B0502020104020203" pitchFamily="34" charset="0"/>
            </a:endParaRPr>
          </a:p>
          <a:p>
            <a:pPr>
              <a:defRPr/>
            </a:pPr>
            <a:endParaRPr lang="en-US" dirty="0">
              <a:solidFill>
                <a:schemeClr val="accent1"/>
              </a:solidFill>
              <a:latin typeface="Gill Sans MT" panose="020B0502020104020203" pitchFamily="34" charset="0"/>
            </a:endParaRPr>
          </a:p>
        </p:txBody>
      </p:sp>
    </p:spTree>
    <p:extLst>
      <p:ext uri="{BB962C8B-B14F-4D97-AF65-F5344CB8AC3E}">
        <p14:creationId xmlns:p14="http://schemas.microsoft.com/office/powerpoint/2010/main" val="32956657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706582" y="1745299"/>
            <a:ext cx="9529156" cy="5416868"/>
          </a:xfrm>
        </p:spPr>
        <p:txBody>
          <a:bodyPr/>
          <a:lstStyle/>
          <a:p>
            <a:pPr>
              <a:defRPr/>
            </a:pPr>
            <a:r>
              <a:rPr lang="en-US" dirty="0">
                <a:latin typeface="Gill Sans MT" panose="020B0502020104020203" pitchFamily="34" charset="0"/>
              </a:rPr>
              <a:t>A system should meet the following criteria:</a:t>
            </a:r>
          </a:p>
          <a:p>
            <a:pPr marL="914400" lvl="1" indent="-457200">
              <a:buFont typeface="+mj-lt"/>
              <a:buAutoNum type="arabicPeriod"/>
              <a:defRPr/>
            </a:pPr>
            <a:r>
              <a:rPr lang="en-US" sz="3200" b="1" dirty="0">
                <a:solidFill>
                  <a:schemeClr val="accent1"/>
                </a:solidFill>
                <a:latin typeface="Gill Sans MT" panose="020B0502020104020203" pitchFamily="34" charset="0"/>
              </a:rPr>
              <a:t>Hierarchical naming model: </a:t>
            </a:r>
            <a:r>
              <a:rPr lang="en-US" sz="3200" dirty="0">
                <a:latin typeface="Gill Sans MT" panose="020B0502020104020203" pitchFamily="34" charset="0"/>
              </a:rPr>
              <a:t>Uses the concept of containment to reduce ambiguity between names and simplify administration. </a:t>
            </a:r>
            <a:endParaRPr lang="en-US" sz="3200" b="1" dirty="0">
              <a:solidFill>
                <a:schemeClr val="accent1"/>
              </a:solidFill>
              <a:latin typeface="Gill Sans MT" panose="020B0502020104020203" pitchFamily="34" charset="0"/>
            </a:endParaRPr>
          </a:p>
          <a:p>
            <a:pPr marL="914400" lvl="1" indent="-457200">
              <a:buFont typeface="+mj-lt"/>
              <a:buAutoNum type="arabicPeriod"/>
              <a:defRPr/>
            </a:pPr>
            <a:r>
              <a:rPr lang="en-US" sz="3200" b="1" dirty="0">
                <a:solidFill>
                  <a:schemeClr val="accent1"/>
                </a:solidFill>
                <a:latin typeface="Gill Sans MT" panose="020B0502020104020203" pitchFamily="34" charset="0"/>
              </a:rPr>
              <a:t>Extended search capability: </a:t>
            </a:r>
            <a:r>
              <a:rPr lang="en-US" sz="3200" dirty="0">
                <a:latin typeface="Gill Sans MT" panose="020B0502020104020203" pitchFamily="34" charset="0"/>
              </a:rPr>
              <a:t>allowing searches on individual attributes of entries.</a:t>
            </a:r>
          </a:p>
          <a:p>
            <a:pPr marL="914400" lvl="1" indent="-457200">
              <a:buFont typeface="+mj-lt"/>
              <a:buAutoNum type="arabicPeriod"/>
              <a:defRPr/>
            </a:pPr>
            <a:r>
              <a:rPr lang="en-US" sz="3200" b="1" dirty="0">
                <a:solidFill>
                  <a:schemeClr val="accent1"/>
                </a:solidFill>
                <a:latin typeface="Gill Sans MT" panose="020B0502020104020203" pitchFamily="34" charset="0"/>
              </a:rPr>
              <a:t>Distributed information model: </a:t>
            </a:r>
            <a:r>
              <a:rPr lang="en-US" sz="3200" dirty="0">
                <a:latin typeface="Gill Sans MT" panose="020B0502020104020203" pitchFamily="34" charset="0"/>
              </a:rPr>
              <a:t>A directory service enables directory data to be distributed across multiple servers within a network.</a:t>
            </a:r>
          </a:p>
          <a:p>
            <a:pPr>
              <a:defRPr/>
            </a:pPr>
            <a:endParaRPr lang="en-US" dirty="0">
              <a:latin typeface="Gill Sans MT" panose="020B0502020104020203" pitchFamily="34" charset="0"/>
            </a:endParaRPr>
          </a:p>
          <a:p>
            <a:pPr>
              <a:defRPr/>
            </a:pPr>
            <a:endParaRPr lang="en-US" dirty="0">
              <a:solidFill>
                <a:schemeClr val="accent1"/>
              </a:solidFill>
              <a:latin typeface="Gill Sans MT" panose="020B0502020104020203" pitchFamily="34" charset="0"/>
            </a:endParaRPr>
          </a:p>
        </p:txBody>
      </p:sp>
      <p:sp>
        <p:nvSpPr>
          <p:cNvPr id="5" name="Title 1"/>
          <p:cNvSpPr>
            <a:spLocks noGrp="1"/>
          </p:cNvSpPr>
          <p:nvPr>
            <p:ph type="title"/>
          </p:nvPr>
        </p:nvSpPr>
        <p:spPr>
          <a:xfrm>
            <a:off x="947650" y="983672"/>
            <a:ext cx="10582102" cy="1231106"/>
          </a:xfrm>
        </p:spPr>
        <p:txBody>
          <a:bodyPr/>
          <a:lstStyle/>
          <a:p>
            <a:pPr>
              <a:defRPr/>
            </a:pPr>
            <a:r>
              <a:rPr lang="en-US" dirty="0">
                <a:latin typeface="Gill Sans MT" panose="020B0502020104020203" pitchFamily="34" charset="0"/>
              </a:rPr>
              <a:t>Characteristics of Good directory services</a:t>
            </a:r>
          </a:p>
        </p:txBody>
      </p:sp>
    </p:spTree>
    <p:extLst>
      <p:ext uri="{BB962C8B-B14F-4D97-AF65-F5344CB8AC3E}">
        <p14:creationId xmlns:p14="http://schemas.microsoft.com/office/powerpoint/2010/main" val="13999214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640080" y="1803862"/>
            <a:ext cx="10507287" cy="3447098"/>
          </a:xfrm>
        </p:spPr>
        <p:txBody>
          <a:bodyPr/>
          <a:lstStyle/>
          <a:p>
            <a:pPr>
              <a:defRPr/>
            </a:pPr>
            <a:r>
              <a:rPr lang="en-US" dirty="0">
                <a:latin typeface="Gill Sans MT" panose="020B0502020104020203" pitchFamily="34" charset="0"/>
              </a:rPr>
              <a:t>A system should meet the following criteria:</a:t>
            </a:r>
          </a:p>
          <a:p>
            <a:pPr>
              <a:defRPr/>
            </a:pPr>
            <a:r>
              <a:rPr lang="en-US" b="1" dirty="0">
                <a:solidFill>
                  <a:schemeClr val="accent1"/>
                </a:solidFill>
                <a:latin typeface="Gill Sans MT" panose="020B0502020104020203" pitchFamily="34" charset="0"/>
              </a:rPr>
              <a:t>4. Shared network access: </a:t>
            </a:r>
            <a:r>
              <a:rPr lang="en-US" dirty="0">
                <a:latin typeface="Gill Sans MT" panose="020B0502020104020203" pitchFamily="34" charset="0"/>
              </a:rPr>
              <a:t>While databases are defined in terms of APIs, directories are defined in terms of protocols. </a:t>
            </a:r>
          </a:p>
          <a:p>
            <a:pPr>
              <a:defRPr/>
            </a:pPr>
            <a:r>
              <a:rPr lang="en-US" b="1" dirty="0">
                <a:solidFill>
                  <a:schemeClr val="accent1"/>
                </a:solidFill>
                <a:latin typeface="Gill Sans MT" panose="020B0502020104020203" pitchFamily="34" charset="0"/>
              </a:rPr>
              <a:t>5. Replicated data: </a:t>
            </a:r>
            <a:r>
              <a:rPr lang="en-US" dirty="0">
                <a:latin typeface="Gill Sans MT" panose="020B0502020104020203" pitchFamily="34" charset="0"/>
              </a:rPr>
              <a:t>Directories support replication (copies of directory data on more than one server) which make information systems more accessible and more resistant to failure.</a:t>
            </a:r>
          </a:p>
        </p:txBody>
      </p:sp>
      <p:sp>
        <p:nvSpPr>
          <p:cNvPr id="5" name="Title 1"/>
          <p:cNvSpPr>
            <a:spLocks noGrp="1"/>
          </p:cNvSpPr>
          <p:nvPr>
            <p:ph type="title"/>
          </p:nvPr>
        </p:nvSpPr>
        <p:spPr>
          <a:xfrm>
            <a:off x="947650" y="983672"/>
            <a:ext cx="10582102" cy="1231106"/>
          </a:xfrm>
        </p:spPr>
        <p:txBody>
          <a:bodyPr/>
          <a:lstStyle/>
          <a:p>
            <a:pPr>
              <a:defRPr/>
            </a:pPr>
            <a:r>
              <a:rPr lang="en-US" dirty="0">
                <a:latin typeface="Gill Sans MT" panose="020B0502020104020203" pitchFamily="34" charset="0"/>
              </a:rPr>
              <a:t>Characteristics of Good directory services</a:t>
            </a:r>
          </a:p>
        </p:txBody>
      </p:sp>
    </p:spTree>
    <p:extLst>
      <p:ext uri="{BB962C8B-B14F-4D97-AF65-F5344CB8AC3E}">
        <p14:creationId xmlns:p14="http://schemas.microsoft.com/office/powerpoint/2010/main" val="42369215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1231106"/>
          </a:xfrm>
        </p:spPr>
        <p:txBody>
          <a:bodyPr/>
          <a:lstStyle/>
          <a:p>
            <a:r>
              <a:rPr lang="en-US" b="0" dirty="0">
                <a:latin typeface="Gill Sans MT" panose="020B0502020104020203" pitchFamily="34" charset="0"/>
              </a:rPr>
              <a:t>Enterprise-Wide Directory Services</a:t>
            </a:r>
            <a:br>
              <a:rPr lang="en-US" dirty="0"/>
            </a:br>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9</a:t>
            </a:fld>
            <a:endParaRPr lang="en-US" dirty="0"/>
          </a:p>
        </p:txBody>
      </p:sp>
      <p:sp>
        <p:nvSpPr>
          <p:cNvPr id="5" name="Rectangle 1"/>
          <p:cNvSpPr>
            <a:spLocks noGrp="1" noChangeArrowheads="1"/>
          </p:cNvSpPr>
          <p:nvPr>
            <p:ph type="body" idx="1"/>
          </p:nvPr>
        </p:nvSpPr>
        <p:spPr bwMode="auto">
          <a:xfrm>
            <a:off x="1463039" y="1861516"/>
            <a:ext cx="938030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rPr>
              <a:t>Directory Server provides two ways in which applications can access its enterprise-wide directory:</a:t>
            </a:r>
            <a:endParaRPr kumimoji="0" lang="en-US" altLang="en-US" b="0" i="0" u="none" strike="noStrike" cap="none" normalizeH="0" baseline="0" dirty="0">
              <a:ln>
                <a:noFill/>
              </a:ln>
              <a:solidFill>
                <a:schemeClr val="tx1"/>
              </a:solidFill>
              <a:effectLst/>
              <a:latin typeface="Gill Sans MT" panose="020B0502020104020203" pitchFamily="34" charset="0"/>
            </a:endParaRPr>
          </a:p>
          <a:p>
            <a:pPr lvl="1" algn="l" rtl="0">
              <a:buFontTx/>
              <a:buChar char="•"/>
            </a:pPr>
            <a:r>
              <a:rPr kumimoji="0" lang="en-US" altLang="en-US" sz="3200"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rPr>
              <a:t>Lightweight Directory Access Protocol (</a:t>
            </a:r>
            <a:r>
              <a:rPr kumimoji="0" lang="en-US" altLang="en-US" sz="3200" b="0" i="0" u="none" strike="noStrike" cap="none" normalizeH="0" baseline="0" dirty="0">
                <a:ln>
                  <a:noFill/>
                </a:ln>
                <a:solidFill>
                  <a:srgbClr val="C00000"/>
                </a:solidFill>
                <a:effectLst/>
                <a:latin typeface="Gill Sans MT" panose="020B0502020104020203" pitchFamily="34" charset="0"/>
                <a:cs typeface="Times New Roman" panose="02020603050405020304" pitchFamily="18" charset="0"/>
              </a:rPr>
              <a:t>LDAP</a:t>
            </a:r>
            <a:r>
              <a:rPr kumimoji="0" lang="en-US" altLang="en-US" sz="3200"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rPr>
              <a:t>)</a:t>
            </a:r>
          </a:p>
          <a:p>
            <a:pPr lvl="1" algn="l" rtl="0">
              <a:buFontTx/>
              <a:buChar char="•"/>
            </a:pPr>
            <a:r>
              <a:rPr kumimoji="0" lang="en-US" altLang="en-US" sz="3200"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rPr>
              <a:t>Directory Services Markup Language (</a:t>
            </a:r>
            <a:r>
              <a:rPr kumimoji="0" lang="en-US" altLang="en-US" sz="3200" b="0" i="0" u="none" strike="noStrike" cap="none" normalizeH="0" baseline="0" dirty="0">
                <a:ln>
                  <a:noFill/>
                </a:ln>
                <a:solidFill>
                  <a:srgbClr val="C00000"/>
                </a:solidFill>
                <a:effectLst/>
                <a:latin typeface="Gill Sans MT" panose="020B0502020104020203" pitchFamily="34" charset="0"/>
                <a:cs typeface="Times New Roman" panose="02020603050405020304" pitchFamily="18" charset="0"/>
              </a:rPr>
              <a:t>DSML</a:t>
            </a:r>
            <a:r>
              <a:rPr kumimoji="0" lang="en-US" altLang="en-US" sz="3200"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rPr>
              <a:t>)</a:t>
            </a:r>
            <a:endParaRPr kumimoji="0" lang="en-US" altLang="en-US" b="0" i="0" u="none" strike="noStrike" cap="none" normalizeH="0" baseline="0" dirty="0">
              <a:ln>
                <a:noFill/>
              </a:ln>
              <a:solidFill>
                <a:srgbClr val="000000"/>
              </a:solidFill>
              <a:effectLst/>
              <a:latin typeface="Gill Sans MT" panose="020B0502020104020203" pitchFamily="34" charset="0"/>
              <a:cs typeface="Times New Roman" panose="02020603050405020304" pitchFamily="18" charset="0"/>
            </a:endParaRPr>
          </a:p>
        </p:txBody>
      </p:sp>
      <p:pic>
        <p:nvPicPr>
          <p:cNvPr id="7" name="Picture 3" descr="Active Directory Basics. ¿What is Active Directory? | by Alan Arley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39" y="4041878"/>
            <a:ext cx="871537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4778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588" y="796000"/>
            <a:ext cx="10299776" cy="729556"/>
          </a:xfrm>
        </p:spPr>
        <p:txBody>
          <a:bodyPr/>
          <a:lstStyle/>
          <a:p>
            <a:pPr lvl="0" rtl="0"/>
            <a:r>
              <a:rPr lang="en-US" altLang="en-US" b="0" dirty="0">
                <a:latin typeface="Gill Sans MT" panose="020B0502020104020203" pitchFamily="34" charset="0"/>
                <a:cs typeface="Times New Roman" panose="02020603050405020304" pitchFamily="18" charset="0"/>
              </a:rPr>
              <a:t>Lightweight Directory Access Protocol (LDAP)</a:t>
            </a:r>
            <a:br>
              <a:rPr lang="en-US" altLang="en-US" b="0" dirty="0">
                <a:latin typeface="Gill Sans MT" panose="020B0502020104020203" pitchFamily="34" charset="0"/>
                <a:cs typeface="Times New Roman" panose="02020603050405020304" pitchFamily="18" charset="0"/>
              </a:rPr>
            </a:br>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10</a:t>
            </a:fld>
            <a:endParaRPr lang="en-US" dirty="0"/>
          </a:p>
        </p:txBody>
      </p:sp>
      <p:pic>
        <p:nvPicPr>
          <p:cNvPr id="7170" name="Picture 2" descr="Lightweight Directory Access Protocol (LDAP) - CyberHo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88" y="2054571"/>
            <a:ext cx="7146915" cy="353158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963593" y="1755699"/>
            <a:ext cx="3547517" cy="4708981"/>
          </a:xfrm>
          <a:prstGeom prst="rect">
            <a:avLst/>
          </a:prstGeom>
        </p:spPr>
        <p:txBody>
          <a:bodyPr wrap="square">
            <a:spAutoFit/>
          </a:bodyPr>
          <a:lstStyle/>
          <a:p>
            <a:pPr marL="457200" indent="-457200">
              <a:buFont typeface="Arial" panose="020B0604020202020204" pitchFamily="34" charset="0"/>
              <a:buChar char="•"/>
            </a:pPr>
            <a:r>
              <a:rPr lang="en-US" sz="2500" b="1" dirty="0"/>
              <a:t>LDAP</a:t>
            </a:r>
            <a:r>
              <a:rPr lang="en-US" sz="2500" dirty="0"/>
              <a:t> allow client applications and servers use to communicate with one another. </a:t>
            </a:r>
          </a:p>
          <a:p>
            <a:pPr marL="457200" indent="-457200">
              <a:buFont typeface="Arial" panose="020B0604020202020204" pitchFamily="34" charset="0"/>
              <a:buChar char="•"/>
            </a:pPr>
            <a:r>
              <a:rPr lang="en-US" sz="2500" b="1" dirty="0">
                <a:latin typeface="Gill Sans MT" panose="020B0502020104020203" pitchFamily="34" charset="0"/>
              </a:rPr>
              <a:t>LDAP</a:t>
            </a:r>
            <a:r>
              <a:rPr lang="en-US" sz="2500" dirty="0">
                <a:latin typeface="Gill Sans MT" panose="020B0502020104020203" pitchFamily="34" charset="0"/>
              </a:rPr>
              <a:t> is a widely used open standard protocol used for accessing and managing directory services over a network. </a:t>
            </a:r>
          </a:p>
        </p:txBody>
      </p:sp>
    </p:spTree>
    <p:extLst>
      <p:ext uri="{BB962C8B-B14F-4D97-AF65-F5344CB8AC3E}">
        <p14:creationId xmlns:p14="http://schemas.microsoft.com/office/powerpoint/2010/main" val="1472907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4" y="617104"/>
            <a:ext cx="7505192" cy="615553"/>
          </a:xfrm>
        </p:spPr>
        <p:txBody>
          <a:bodyPr/>
          <a:lstStyle/>
          <a:p>
            <a:pPr algn="ctr"/>
            <a:r>
              <a:rPr lang="en-US" dirty="0"/>
              <a:t>LDAP Operations</a:t>
            </a:r>
          </a:p>
        </p:txBody>
      </p:sp>
      <p:sp>
        <p:nvSpPr>
          <p:cNvPr id="3" name="Text Placeholder 2"/>
          <p:cNvSpPr>
            <a:spLocks noGrp="1"/>
          </p:cNvSpPr>
          <p:nvPr>
            <p:ph type="body" idx="1"/>
          </p:nvPr>
        </p:nvSpPr>
        <p:spPr>
          <a:xfrm>
            <a:off x="714587" y="1232657"/>
            <a:ext cx="10762825" cy="5909310"/>
          </a:xfrm>
        </p:spPr>
        <p:txBody>
          <a:bodyPr/>
          <a:lstStyle/>
          <a:p>
            <a:r>
              <a:rPr lang="en-US" dirty="0">
                <a:latin typeface="Gill Sans MT" panose="020B0502020104020203" pitchFamily="34" charset="0"/>
              </a:rPr>
              <a:t>LDAP defines several operations for interacting with directory services, including:</a:t>
            </a:r>
          </a:p>
          <a:p>
            <a:pPr marL="742950" lvl="1" indent="-285750">
              <a:buFont typeface="Arial" panose="020B0604020202020204" pitchFamily="34" charset="0"/>
              <a:buChar char="•"/>
            </a:pPr>
            <a:r>
              <a:rPr lang="en-US" sz="3200" b="1" dirty="0">
                <a:latin typeface="Gill Sans MT" panose="020B0502020104020203" pitchFamily="34" charset="0"/>
              </a:rPr>
              <a:t>Bind</a:t>
            </a:r>
            <a:r>
              <a:rPr lang="en-US" sz="3200" dirty="0">
                <a:latin typeface="Gill Sans MT" panose="020B0502020104020203" pitchFamily="34" charset="0"/>
              </a:rPr>
              <a:t>: Establishes a connection between the client and server, typically with authentication.</a:t>
            </a:r>
          </a:p>
          <a:p>
            <a:pPr marL="742950" lvl="1" indent="-285750">
              <a:buFont typeface="Arial" panose="020B0604020202020204" pitchFamily="34" charset="0"/>
              <a:buChar char="•"/>
            </a:pPr>
            <a:r>
              <a:rPr lang="en-US" sz="3200" b="1" dirty="0">
                <a:latin typeface="Gill Sans MT" panose="020B0502020104020203" pitchFamily="34" charset="0"/>
              </a:rPr>
              <a:t>Search</a:t>
            </a:r>
            <a:r>
              <a:rPr lang="en-US" sz="3200" dirty="0">
                <a:latin typeface="Gill Sans MT" panose="020B0502020104020203" pitchFamily="34" charset="0"/>
              </a:rPr>
              <a:t>: Retrieves information from the directory based on specified criteria.</a:t>
            </a:r>
          </a:p>
          <a:p>
            <a:pPr marL="742950" lvl="1" indent="-285750">
              <a:buFont typeface="Arial" panose="020B0604020202020204" pitchFamily="34" charset="0"/>
              <a:buChar char="•"/>
            </a:pPr>
            <a:r>
              <a:rPr lang="en-US" sz="3200" dirty="0">
                <a:latin typeface="Gill Sans MT" panose="020B0502020104020203" pitchFamily="34" charset="0"/>
              </a:rPr>
              <a:t>Creating(add), delete, and update directory entries.</a:t>
            </a:r>
          </a:p>
          <a:p>
            <a:pPr marL="742950" lvl="1" indent="-285750">
              <a:buFont typeface="Arial" panose="020B0604020202020204" pitchFamily="34" charset="0"/>
              <a:buChar char="•"/>
            </a:pPr>
            <a:r>
              <a:rPr lang="en-US" sz="3200" b="1" dirty="0">
                <a:latin typeface="Gill Sans MT" panose="020B0502020104020203" pitchFamily="34" charset="0"/>
              </a:rPr>
              <a:t>Compare</a:t>
            </a:r>
            <a:r>
              <a:rPr lang="en-US" sz="3200" dirty="0">
                <a:latin typeface="Gill Sans MT" panose="020B0502020104020203" pitchFamily="34" charset="0"/>
              </a:rPr>
              <a:t>: Compares an attribute value of an entry with a specified value.</a:t>
            </a:r>
          </a:p>
          <a:p>
            <a:pPr marL="742950" lvl="1" indent="-285750">
              <a:buFont typeface="Arial" panose="020B0604020202020204" pitchFamily="34" charset="0"/>
              <a:buChar char="•"/>
            </a:pPr>
            <a:r>
              <a:rPr lang="en-US" sz="3200" b="1" dirty="0">
                <a:latin typeface="Gill Sans MT" panose="020B0502020104020203" pitchFamily="34" charset="0"/>
              </a:rPr>
              <a:t>Unbind</a:t>
            </a:r>
            <a:r>
              <a:rPr lang="en-US" sz="3200" dirty="0">
                <a:latin typeface="Gill Sans MT" panose="020B0502020104020203" pitchFamily="34" charset="0"/>
              </a:rPr>
              <a:t>: Terminates the connection between the client and server.</a:t>
            </a:r>
          </a:p>
          <a:p>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11</a:t>
            </a:fld>
            <a:endParaRPr lang="en-US" dirty="0"/>
          </a:p>
        </p:txBody>
      </p:sp>
    </p:spTree>
    <p:extLst>
      <p:ext uri="{BB962C8B-B14F-4D97-AF65-F5344CB8AC3E}">
        <p14:creationId xmlns:p14="http://schemas.microsoft.com/office/powerpoint/2010/main" val="1656169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ill Sans MT" panose="020B0502020104020203" pitchFamily="34" charset="0"/>
              </a:rPr>
              <a:t>LDAP Structure</a:t>
            </a:r>
            <a:endParaRPr lang="en-US" dirty="0"/>
          </a:p>
        </p:txBody>
      </p:sp>
      <p:sp>
        <p:nvSpPr>
          <p:cNvPr id="3" name="Text Placeholder 2"/>
          <p:cNvSpPr>
            <a:spLocks noGrp="1"/>
          </p:cNvSpPr>
          <p:nvPr>
            <p:ph type="body" idx="1"/>
          </p:nvPr>
        </p:nvSpPr>
        <p:spPr>
          <a:xfrm>
            <a:off x="714589" y="2027047"/>
            <a:ext cx="10216648" cy="5324535"/>
          </a:xfrm>
        </p:spPr>
        <p:txBody>
          <a:bodyPr/>
          <a:lstStyle/>
          <a:p>
            <a:pPr marL="457200" indent="-457200">
              <a:buFont typeface="Arial" panose="020B0604020202020204" pitchFamily="34" charset="0"/>
              <a:buChar char="•"/>
            </a:pPr>
            <a:r>
              <a:rPr lang="en-US" b="1" dirty="0">
                <a:latin typeface="Gill Sans MT" panose="020B0502020104020203" pitchFamily="34" charset="0"/>
              </a:rPr>
              <a:t>Client-Server Architecture</a:t>
            </a:r>
            <a:r>
              <a:rPr lang="en-US" dirty="0">
                <a:latin typeface="Gill Sans MT" panose="020B0502020104020203" pitchFamily="34" charset="0"/>
              </a:rPr>
              <a:t>: </a:t>
            </a:r>
          </a:p>
          <a:p>
            <a:pPr marL="914400" lvl="1" indent="-457200">
              <a:buFont typeface="Arial" panose="020B0604020202020204" pitchFamily="34" charset="0"/>
              <a:buChar char="•"/>
            </a:pPr>
            <a:r>
              <a:rPr lang="en-US" sz="2500" dirty="0">
                <a:latin typeface="Gill Sans MT" panose="020B0502020104020203" pitchFamily="34" charset="0"/>
              </a:rPr>
              <a:t>LDAP clients send requests to LDAP servers, LDAP servers process those requests and return the results. </a:t>
            </a:r>
          </a:p>
          <a:p>
            <a:pPr marL="914400" lvl="1" indent="-457200">
              <a:buFont typeface="Arial" panose="020B0604020202020204" pitchFamily="34" charset="0"/>
              <a:buChar char="•"/>
            </a:pPr>
            <a:r>
              <a:rPr lang="en-US" sz="2500" dirty="0">
                <a:latin typeface="Gill Sans MT" panose="020B0502020104020203" pitchFamily="34" charset="0"/>
              </a:rPr>
              <a:t>The server typically hosts the directory database and responds to queries from clients.</a:t>
            </a:r>
          </a:p>
          <a:p>
            <a:pPr marL="457200" indent="-457200">
              <a:buFont typeface="Arial" panose="020B0604020202020204" pitchFamily="34" charset="0"/>
              <a:buChar char="•"/>
            </a:pPr>
            <a:r>
              <a:rPr lang="en-US" b="1" dirty="0">
                <a:latin typeface="Gill Sans MT" panose="020B0502020104020203" pitchFamily="34" charset="0"/>
              </a:rPr>
              <a:t>Hierarchical Structure</a:t>
            </a:r>
            <a:r>
              <a:rPr lang="en-US" dirty="0">
                <a:latin typeface="Gill Sans MT" panose="020B0502020104020203" pitchFamily="34" charset="0"/>
              </a:rPr>
              <a:t>: </a:t>
            </a:r>
          </a:p>
          <a:p>
            <a:pPr marL="914400" lvl="1" indent="-457200">
              <a:buFont typeface="Arial" panose="020B0604020202020204" pitchFamily="34" charset="0"/>
              <a:buChar char="•"/>
            </a:pPr>
            <a:r>
              <a:rPr lang="en-US" sz="2500" dirty="0">
                <a:latin typeface="Gill Sans MT" panose="020B0502020104020203" pitchFamily="34" charset="0"/>
              </a:rPr>
              <a:t>LDAP directories typically organize information in a hierarchical structure similar to a tree. </a:t>
            </a:r>
          </a:p>
          <a:p>
            <a:pPr marL="914400" lvl="1" indent="-457200">
              <a:buFont typeface="Arial" panose="020B0604020202020204" pitchFamily="34" charset="0"/>
              <a:buChar char="•"/>
            </a:pPr>
            <a:r>
              <a:rPr lang="en-US" sz="2500" dirty="0">
                <a:latin typeface="Gill Sans MT" panose="020B0502020104020203" pitchFamily="34" charset="0"/>
              </a:rPr>
              <a:t>Each entry in the directory represents an object, such as a user or a device, and is uniquely identified by a distinguished name (DN). </a:t>
            </a:r>
          </a:p>
          <a:p>
            <a:pPr marL="914400" lvl="1" indent="-457200">
              <a:buFont typeface="Arial" panose="020B0604020202020204" pitchFamily="34" charset="0"/>
              <a:buChar char="•"/>
            </a:pPr>
            <a:r>
              <a:rPr lang="en-US" sz="2500" dirty="0">
                <a:latin typeface="Gill Sans MT" panose="020B0502020104020203" pitchFamily="34" charset="0"/>
              </a:rPr>
              <a:t>Entries can contain attributes, which are pieces of information associated with the object.</a:t>
            </a:r>
          </a:p>
          <a:p>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12</a:t>
            </a:fld>
            <a:endParaRPr lang="en-US" dirty="0"/>
          </a:p>
        </p:txBody>
      </p:sp>
    </p:spTree>
    <p:extLst>
      <p:ext uri="{BB962C8B-B14F-4D97-AF65-F5344CB8AC3E}">
        <p14:creationId xmlns:p14="http://schemas.microsoft.com/office/powerpoint/2010/main" val="32228166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ill Sans MT" panose="020B0502020104020203" pitchFamily="34" charset="0"/>
              </a:rPr>
              <a:t>LDAP Security and Standard</a:t>
            </a:r>
            <a:endParaRPr lang="en-US" dirty="0"/>
          </a:p>
        </p:txBody>
      </p:sp>
      <p:sp>
        <p:nvSpPr>
          <p:cNvPr id="3" name="Text Placeholder 2"/>
          <p:cNvSpPr>
            <a:spLocks noGrp="1"/>
          </p:cNvSpPr>
          <p:nvPr>
            <p:ph type="body" idx="1"/>
          </p:nvPr>
        </p:nvSpPr>
        <p:spPr>
          <a:xfrm>
            <a:off x="714588" y="2027047"/>
            <a:ext cx="10762825" cy="3939540"/>
          </a:xfrm>
        </p:spPr>
        <p:txBody>
          <a:bodyPr/>
          <a:lstStyle/>
          <a:p>
            <a:pPr marL="457200" indent="-457200">
              <a:buFont typeface="Arial" panose="020B0604020202020204" pitchFamily="34" charset="0"/>
              <a:buChar char="•"/>
            </a:pPr>
            <a:r>
              <a:rPr lang="en-US" b="1" dirty="0">
                <a:latin typeface="Gill Sans MT" panose="020B0502020104020203" pitchFamily="34" charset="0"/>
              </a:rPr>
              <a:t>Security</a:t>
            </a:r>
            <a:r>
              <a:rPr lang="en-US" dirty="0">
                <a:latin typeface="Gill Sans MT" panose="020B0502020104020203" pitchFamily="34" charset="0"/>
              </a:rPr>
              <a:t>: LDAP supports various authentication mechanisms, including simple authentication with username and password, as well as more secure methods like Transport Layer Security (TLS) for encrypted communication.</a:t>
            </a:r>
          </a:p>
          <a:p>
            <a:pPr marL="457200" indent="-457200">
              <a:buFont typeface="Arial" panose="020B0604020202020204" pitchFamily="34" charset="0"/>
              <a:buChar char="•"/>
            </a:pPr>
            <a:r>
              <a:rPr lang="en-US" b="1" dirty="0">
                <a:latin typeface="Gill Sans MT" panose="020B0502020104020203" pitchFamily="34" charset="0"/>
              </a:rPr>
              <a:t>Standardization</a:t>
            </a:r>
            <a:r>
              <a:rPr lang="en-US" dirty="0">
                <a:latin typeface="Gill Sans MT" panose="020B0502020104020203" pitchFamily="34" charset="0"/>
              </a:rPr>
              <a:t>: LDAP is standardized by the Internet Engineering Task Force (IETF) to ensuring interoperability between different implementations.</a:t>
            </a:r>
          </a:p>
          <a:p>
            <a:pPr marL="457200" indent="-457200">
              <a:buFont typeface="Arial" panose="020B0604020202020204" pitchFamily="34" charset="0"/>
              <a:buChar char="•"/>
            </a:pPr>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13</a:t>
            </a:fld>
            <a:endParaRPr lang="en-US" dirty="0"/>
          </a:p>
        </p:txBody>
      </p:sp>
    </p:spTree>
    <p:extLst>
      <p:ext uri="{BB962C8B-B14F-4D97-AF65-F5344CB8AC3E}">
        <p14:creationId xmlns:p14="http://schemas.microsoft.com/office/powerpoint/2010/main" val="812224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540625" y="1216314"/>
            <a:ext cx="9144000" cy="461665"/>
          </a:xfrm>
        </p:spPr>
        <p:txBody>
          <a:bodyPr/>
          <a:lstStyle/>
          <a:p>
            <a:pPr algn="ctr"/>
            <a:r>
              <a:rPr lang="en-US" sz="3000" dirty="0">
                <a:latin typeface="Gill Sans MT" panose="020B0502020104020203" pitchFamily="34" charset="0"/>
              </a:rPr>
              <a:t>Domain name system (DNS) server</a:t>
            </a:r>
          </a:p>
        </p:txBody>
      </p:sp>
      <p:sp>
        <p:nvSpPr>
          <p:cNvPr id="11267" name="Content Placeholder 2"/>
          <p:cNvSpPr>
            <a:spLocks noGrp="1"/>
          </p:cNvSpPr>
          <p:nvPr>
            <p:ph idx="1"/>
          </p:nvPr>
        </p:nvSpPr>
        <p:spPr>
          <a:xfrm>
            <a:off x="1158241" y="2062941"/>
            <a:ext cx="5694622" cy="3447098"/>
          </a:xfrm>
        </p:spPr>
        <p:txBody>
          <a:bodyPr/>
          <a:lstStyle/>
          <a:p>
            <a:r>
              <a:rPr lang="en-US" dirty="0">
                <a:latin typeface="Gill Sans MT" panose="020B0502020104020203" pitchFamily="34" charset="0"/>
              </a:rPr>
              <a:t>The Domain Name System (</a:t>
            </a:r>
            <a:r>
              <a:rPr lang="en-US" b="1" dirty="0">
                <a:latin typeface="Gill Sans MT" panose="020B0502020104020203" pitchFamily="34" charset="0"/>
              </a:rPr>
              <a:t>DNS</a:t>
            </a:r>
            <a:r>
              <a:rPr lang="en-US" dirty="0">
                <a:latin typeface="Gill Sans MT" panose="020B0502020104020203" pitchFamily="34" charset="0"/>
              </a:rPr>
              <a:t>) is a distributed directory that resolves human-readable hostnames, such as </a:t>
            </a:r>
            <a:r>
              <a:rPr lang="en-US" dirty="0">
                <a:solidFill>
                  <a:schemeClr val="accent2"/>
                </a:solidFill>
                <a:latin typeface="Gill Sans MT" panose="020B0502020104020203" pitchFamily="34" charset="0"/>
              </a:rPr>
              <a:t>www.uok.ac.rw</a:t>
            </a:r>
            <a:r>
              <a:rPr lang="en-US" dirty="0">
                <a:latin typeface="Gill Sans MT" panose="020B0502020104020203" pitchFamily="34" charset="0"/>
              </a:rPr>
              <a:t>, into machine-readable IP addresses like </a:t>
            </a:r>
            <a:r>
              <a:rPr lang="en-US" dirty="0">
                <a:solidFill>
                  <a:schemeClr val="accent3"/>
                </a:solidFill>
                <a:latin typeface="Gill Sans MT" panose="020B0502020104020203" pitchFamily="34" charset="0"/>
              </a:rPr>
              <a:t>50.16.85.103</a:t>
            </a:r>
            <a:r>
              <a:rPr lang="en-US" dirty="0">
                <a:latin typeface="Gill Sans MT" panose="020B0502020104020203" pitchFamily="34" charset="0"/>
              </a:rPr>
              <a:t>.</a:t>
            </a:r>
          </a:p>
        </p:txBody>
      </p:sp>
      <p:pic>
        <p:nvPicPr>
          <p:cNvPr id="8194" name="Picture 2" descr="Working of Domain Name System (DNS) Server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0790" y="2311296"/>
            <a:ext cx="4267671" cy="338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6944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idx="1"/>
          </p:nvPr>
        </p:nvSpPr>
        <p:spPr>
          <a:xfrm>
            <a:off x="1524000" y="990601"/>
            <a:ext cx="9144000" cy="5416868"/>
          </a:xfrm>
        </p:spPr>
        <p:txBody>
          <a:bodyPr/>
          <a:lstStyle/>
          <a:p>
            <a:pPr algn="ctr"/>
            <a:r>
              <a:rPr lang="en-US" b="1" dirty="0">
                <a:solidFill>
                  <a:schemeClr val="accent1"/>
                </a:solidFill>
              </a:rPr>
              <a:t>How does DNS work?</a:t>
            </a:r>
          </a:p>
          <a:p>
            <a:pPr algn="ctr"/>
            <a:endParaRPr lang="en-US" b="1" dirty="0">
              <a:solidFill>
                <a:schemeClr val="accent1"/>
              </a:solidFill>
            </a:endParaRPr>
          </a:p>
          <a:p>
            <a:pPr marL="457200" indent="-457200">
              <a:buFont typeface="Arial" panose="020B0604020202020204" pitchFamily="34" charset="0"/>
              <a:buChar char="•"/>
            </a:pPr>
            <a:r>
              <a:rPr lang="en-US" dirty="0">
                <a:latin typeface="Gill Sans MT" panose="020B0502020104020203" pitchFamily="34" charset="0"/>
              </a:rPr>
              <a:t>The process of DNS resolution involves converting a hostname (such as www.example.com) into a computer-friendly IP address (such as 192.168.1.1). </a:t>
            </a:r>
          </a:p>
          <a:p>
            <a:pPr marL="457200" indent="-457200">
              <a:buFont typeface="Arial" panose="020B0604020202020204" pitchFamily="34" charset="0"/>
              <a:buChar char="•"/>
            </a:pPr>
            <a:endParaRPr lang="en-US" dirty="0">
              <a:latin typeface="Gill Sans MT" panose="020B0502020104020203" pitchFamily="34" charset="0"/>
            </a:endParaRPr>
          </a:p>
          <a:p>
            <a:pPr marL="457200" indent="-457200">
              <a:buFont typeface="Arial" panose="020B0604020202020204" pitchFamily="34" charset="0"/>
              <a:buChar char="•"/>
            </a:pPr>
            <a:r>
              <a:rPr lang="en-US" dirty="0">
                <a:latin typeface="Gill Sans MT" panose="020B0502020104020203" pitchFamily="34" charset="0"/>
              </a:rPr>
              <a:t>DNS is like a phone book for the internet. If you know a person’s name but don’t know their telephone number, you can search it from phone book.</a:t>
            </a:r>
          </a:p>
          <a:p>
            <a:endParaRPr lang="en-US" dirty="0"/>
          </a:p>
        </p:txBody>
      </p:sp>
    </p:spTree>
    <p:extLst>
      <p:ext uri="{BB962C8B-B14F-4D97-AF65-F5344CB8AC3E}">
        <p14:creationId xmlns:p14="http://schemas.microsoft.com/office/powerpoint/2010/main" val="5315092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588" y="997527"/>
            <a:ext cx="11139361" cy="850683"/>
          </a:xfrm>
        </p:spPr>
        <p:txBody>
          <a:bodyPr/>
          <a:lstStyle/>
          <a:p>
            <a:r>
              <a:rPr lang="en-US" dirty="0">
                <a:latin typeface="Gill Sans MT" panose="020B0502020104020203" pitchFamily="34" charset="0"/>
              </a:rPr>
              <a:t>DHCP (Dynamic Host Configuration Protocol)</a:t>
            </a:r>
            <a:endParaRPr lang="en-US" dirty="0"/>
          </a:p>
        </p:txBody>
      </p:sp>
      <p:sp>
        <p:nvSpPr>
          <p:cNvPr id="3" name="Text Placeholder 2"/>
          <p:cNvSpPr>
            <a:spLocks noGrp="1"/>
          </p:cNvSpPr>
          <p:nvPr>
            <p:ph type="body" idx="1"/>
          </p:nvPr>
        </p:nvSpPr>
        <p:spPr>
          <a:xfrm>
            <a:off x="714588" y="2027046"/>
            <a:ext cx="4198233" cy="3447098"/>
          </a:xfrm>
        </p:spPr>
        <p:txBody>
          <a:bodyPr/>
          <a:lstStyle/>
          <a:p>
            <a:r>
              <a:rPr lang="en-US" b="1" dirty="0">
                <a:solidFill>
                  <a:srgbClr val="C00000"/>
                </a:solidFill>
                <a:latin typeface="Gill Sans MT" panose="020B0502020104020203" pitchFamily="34" charset="0"/>
              </a:rPr>
              <a:t>DHCP</a:t>
            </a:r>
            <a:r>
              <a:rPr lang="en-US" dirty="0">
                <a:latin typeface="Gill Sans MT" panose="020B0502020104020203" pitchFamily="34" charset="0"/>
              </a:rPr>
              <a:t> is a network management protocol used to dynamically assign an IP address to any device, or </a:t>
            </a:r>
            <a:r>
              <a:rPr lang="en-US" u="sng" dirty="0">
                <a:latin typeface="Gill Sans MT" panose="020B0502020104020203" pitchFamily="34" charset="0"/>
                <a:hlinkClick r:id="rId2"/>
              </a:rPr>
              <a:t>node</a:t>
            </a:r>
            <a:r>
              <a:rPr lang="en-US" dirty="0">
                <a:latin typeface="Gill Sans MT" panose="020B0502020104020203" pitchFamily="34" charset="0"/>
              </a:rPr>
              <a:t>, on a network so it can communicate using IP.</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16</a:t>
            </a:fld>
            <a:endParaRPr lang="en-US" dirty="0"/>
          </a:p>
        </p:txBody>
      </p:sp>
      <p:pic>
        <p:nvPicPr>
          <p:cNvPr id="9218" name="Picture 2" descr="What Is DHC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851" y="2171455"/>
            <a:ext cx="5464564" cy="288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4615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74072" y="903001"/>
            <a:ext cx="11188931" cy="1231106"/>
          </a:xfrm>
        </p:spPr>
        <p:txBody>
          <a:bodyPr/>
          <a:lstStyle/>
          <a:p>
            <a:pPr algn="ctr"/>
            <a:r>
              <a:rPr lang="en-US" dirty="0">
                <a:latin typeface="Gill Sans MT" panose="020B0502020104020203" pitchFamily="34" charset="0"/>
              </a:rPr>
              <a:t>Dynamic Host Configuration Protocol (DHCP)</a:t>
            </a:r>
          </a:p>
        </p:txBody>
      </p:sp>
      <p:sp>
        <p:nvSpPr>
          <p:cNvPr id="14339" name="Content Placeholder 2"/>
          <p:cNvSpPr>
            <a:spLocks noGrp="1"/>
          </p:cNvSpPr>
          <p:nvPr>
            <p:ph idx="1"/>
          </p:nvPr>
        </p:nvSpPr>
        <p:spPr>
          <a:xfrm>
            <a:off x="448886" y="1620608"/>
            <a:ext cx="10418619" cy="5570756"/>
          </a:xfrm>
        </p:spPr>
        <p:txBody>
          <a:bodyPr/>
          <a:lstStyle/>
          <a:p>
            <a:pPr marL="457200" indent="-457200">
              <a:buFont typeface="Arial" panose="020B0604020202020204" pitchFamily="34" charset="0"/>
              <a:buChar char="•"/>
            </a:pPr>
            <a:r>
              <a:rPr lang="en-US" sz="3000" b="1" dirty="0">
                <a:latin typeface="Gill Sans MT" panose="020B0502020104020203" pitchFamily="34" charset="0"/>
              </a:rPr>
              <a:t>DHCP </a:t>
            </a:r>
            <a:r>
              <a:rPr lang="en-US" sz="3000" dirty="0">
                <a:latin typeface="Gill Sans MT" panose="020B0502020104020203" pitchFamily="34" charset="0"/>
              </a:rPr>
              <a:t>(Dynamic Host Configuration Protocol) is a protocol used to provide quick, automatic, and central management for the distribution of </a:t>
            </a:r>
            <a:r>
              <a:rPr lang="en-US" sz="3000" dirty="0">
                <a:latin typeface="Gill Sans MT" panose="020B0502020104020203" pitchFamily="34" charset="0"/>
                <a:hlinkClick r:id="rId2"/>
              </a:rPr>
              <a:t>IP addresses</a:t>
            </a:r>
            <a:r>
              <a:rPr lang="en-US" sz="3000" dirty="0">
                <a:latin typeface="Gill Sans MT" panose="020B0502020104020203" pitchFamily="34" charset="0"/>
              </a:rPr>
              <a:t> within a network.</a:t>
            </a:r>
          </a:p>
          <a:p>
            <a:pPr marL="457200" indent="-457200">
              <a:buFont typeface="Arial" panose="020B0604020202020204" pitchFamily="34" charset="0"/>
              <a:buChar char="•"/>
            </a:pPr>
            <a:r>
              <a:rPr lang="en-US" b="1" dirty="0">
                <a:latin typeface="Gill Sans MT" panose="020B0502020104020203" pitchFamily="34" charset="0"/>
              </a:rPr>
              <a:t>DHCP port number</a:t>
            </a:r>
            <a:r>
              <a:rPr lang="en-US" dirty="0">
                <a:latin typeface="Gill Sans MT" panose="020B0502020104020203" pitchFamily="34" charset="0"/>
              </a:rPr>
              <a:t> are : server is </a:t>
            </a:r>
            <a:r>
              <a:rPr lang="en-US" dirty="0">
                <a:solidFill>
                  <a:schemeClr val="accent2"/>
                </a:solidFill>
                <a:latin typeface="Gill Sans MT" panose="020B0502020104020203" pitchFamily="34" charset="0"/>
              </a:rPr>
              <a:t>67</a:t>
            </a:r>
            <a:r>
              <a:rPr lang="en-US" dirty="0">
                <a:latin typeface="Gill Sans MT" panose="020B0502020104020203" pitchFamily="34" charset="0"/>
              </a:rPr>
              <a:t> &amp; client is </a:t>
            </a:r>
            <a:r>
              <a:rPr lang="en-US" dirty="0">
                <a:solidFill>
                  <a:schemeClr val="accent2"/>
                </a:solidFill>
                <a:latin typeface="Gill Sans MT" panose="020B0502020104020203" pitchFamily="34" charset="0"/>
              </a:rPr>
              <a:t>68</a:t>
            </a:r>
            <a:r>
              <a:rPr lang="en-US" dirty="0">
                <a:latin typeface="Gill Sans MT" panose="020B0502020104020203" pitchFamily="34" charset="0"/>
              </a:rPr>
              <a:t> </a:t>
            </a:r>
          </a:p>
          <a:p>
            <a:pPr marL="457200" indent="-457200">
              <a:buFont typeface="Arial" panose="020B0604020202020204" pitchFamily="34" charset="0"/>
              <a:buChar char="•"/>
            </a:pPr>
            <a:r>
              <a:rPr lang="en-US" sz="3000" b="1" dirty="0">
                <a:latin typeface="Gill Sans MT" panose="020B0502020104020203" pitchFamily="34" charset="0"/>
              </a:rPr>
              <a:t>DHCP</a:t>
            </a:r>
            <a:r>
              <a:rPr lang="en-US" sz="3000" dirty="0">
                <a:latin typeface="Gill Sans MT" panose="020B0502020104020203" pitchFamily="34" charset="0"/>
              </a:rPr>
              <a:t> is also used to configure the proper </a:t>
            </a:r>
            <a:r>
              <a:rPr lang="en-US" sz="3000" dirty="0">
                <a:latin typeface="Gill Sans MT" panose="020B0502020104020203" pitchFamily="34" charset="0"/>
                <a:hlinkClick r:id="rId3"/>
              </a:rPr>
              <a:t>subnet mask</a:t>
            </a:r>
            <a:r>
              <a:rPr lang="en-US" sz="3000" dirty="0">
                <a:latin typeface="Gill Sans MT" panose="020B0502020104020203" pitchFamily="34" charset="0"/>
              </a:rPr>
              <a:t>, </a:t>
            </a:r>
            <a:r>
              <a:rPr lang="en-US" sz="3000" dirty="0">
                <a:latin typeface="Gill Sans MT" panose="020B0502020104020203" pitchFamily="34" charset="0"/>
                <a:hlinkClick r:id="rId4"/>
              </a:rPr>
              <a:t>default gateway</a:t>
            </a:r>
            <a:r>
              <a:rPr lang="en-US" sz="3000" dirty="0">
                <a:latin typeface="Gill Sans MT" panose="020B0502020104020203" pitchFamily="34" charset="0"/>
              </a:rPr>
              <a:t>, and </a:t>
            </a:r>
            <a:r>
              <a:rPr lang="en-US" sz="3000" dirty="0">
                <a:latin typeface="Gill Sans MT" panose="020B0502020104020203" pitchFamily="34" charset="0"/>
                <a:hlinkClick r:id="rId5"/>
              </a:rPr>
              <a:t>DNS server</a:t>
            </a:r>
            <a:r>
              <a:rPr lang="en-US" sz="3000" dirty="0">
                <a:latin typeface="Gill Sans MT" panose="020B0502020104020203" pitchFamily="34" charset="0"/>
              </a:rPr>
              <a:t> information on the</a:t>
            </a:r>
          </a:p>
          <a:p>
            <a:pPr marL="457200" indent="-457200">
              <a:buFont typeface="Arial" panose="020B0604020202020204" pitchFamily="34" charset="0"/>
              <a:buChar char="•"/>
            </a:pPr>
            <a:r>
              <a:rPr lang="en-US" sz="3000" b="1" dirty="0">
                <a:latin typeface="Gill Sans MT" panose="020B0502020104020203" pitchFamily="34" charset="0"/>
              </a:rPr>
              <a:t>Components of DHCP</a:t>
            </a:r>
          </a:p>
          <a:p>
            <a:pPr marL="1371600" lvl="2" indent="-457200">
              <a:buFont typeface="Arial" panose="020B0604020202020204" pitchFamily="34" charset="0"/>
              <a:buChar char="•"/>
              <a:defRPr/>
            </a:pPr>
            <a:r>
              <a:rPr lang="en-US" sz="3000" dirty="0">
                <a:latin typeface="Gill Sans MT" panose="020B0502020104020203" pitchFamily="34" charset="0"/>
              </a:rPr>
              <a:t>A </a:t>
            </a:r>
            <a:r>
              <a:rPr lang="en-US" sz="3000" b="1" dirty="0">
                <a:solidFill>
                  <a:schemeClr val="accent2"/>
                </a:solidFill>
                <a:latin typeface="Gill Sans MT" panose="020B0502020104020203" pitchFamily="34" charset="0"/>
              </a:rPr>
              <a:t>protocol</a:t>
            </a:r>
            <a:r>
              <a:rPr lang="en-US" sz="3000" dirty="0">
                <a:latin typeface="Gill Sans MT" panose="020B0502020104020203" pitchFamily="34" charset="0"/>
              </a:rPr>
              <a:t> that delivers host-specific configuration parameters from a DHCP server to a host.</a:t>
            </a:r>
          </a:p>
          <a:p>
            <a:pPr marL="1371600" lvl="2" indent="-457200">
              <a:buFont typeface="Arial" panose="020B0604020202020204" pitchFamily="34" charset="0"/>
              <a:buChar char="•"/>
              <a:defRPr/>
            </a:pPr>
            <a:r>
              <a:rPr lang="en-US" sz="3000" dirty="0">
                <a:latin typeface="Gill Sans MT" panose="020B0502020104020203" pitchFamily="34" charset="0"/>
              </a:rPr>
              <a:t>A </a:t>
            </a:r>
            <a:r>
              <a:rPr lang="en-US" sz="3000" b="1" dirty="0">
                <a:solidFill>
                  <a:schemeClr val="accent2"/>
                </a:solidFill>
                <a:latin typeface="Gill Sans MT" panose="020B0502020104020203" pitchFamily="34" charset="0"/>
              </a:rPr>
              <a:t>mechanism</a:t>
            </a:r>
            <a:r>
              <a:rPr lang="en-US" sz="3000" dirty="0">
                <a:latin typeface="Gill Sans MT" panose="020B0502020104020203" pitchFamily="34" charset="0"/>
              </a:rPr>
              <a:t> for the allocation of network addresses to hosts.</a:t>
            </a:r>
          </a:p>
          <a:p>
            <a:pPr marL="457200" indent="-457200">
              <a:buFont typeface="Arial" panose="020B0604020202020204" pitchFamily="34" charset="0"/>
              <a:buChar char="•"/>
            </a:pPr>
            <a:endParaRPr lang="en-US" sz="3000" dirty="0">
              <a:latin typeface="Gill Sans MT" panose="020B0502020104020203" pitchFamily="34" charset="0"/>
            </a:endParaRPr>
          </a:p>
        </p:txBody>
      </p:sp>
    </p:spTree>
    <p:extLst>
      <p:ext uri="{BB962C8B-B14F-4D97-AF65-F5344CB8AC3E}">
        <p14:creationId xmlns:p14="http://schemas.microsoft.com/office/powerpoint/2010/main" val="37900827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781397" y="1579043"/>
            <a:ext cx="10548850" cy="4924425"/>
          </a:xfrm>
        </p:spPr>
        <p:txBody>
          <a:bodyPr/>
          <a:lstStyle/>
          <a:p>
            <a:pPr>
              <a:defRPr/>
            </a:pPr>
            <a:r>
              <a:rPr lang="en-US" b="1" dirty="0">
                <a:solidFill>
                  <a:schemeClr val="accent1">
                    <a:lumMod val="75000"/>
                  </a:schemeClr>
                </a:solidFill>
                <a:latin typeface="Gill Sans MT" panose="020B0502020104020203" pitchFamily="34" charset="0"/>
              </a:rPr>
              <a:t>Three Mechanisms supported by DHCP for IP address allocation?</a:t>
            </a:r>
          </a:p>
          <a:p>
            <a:pPr>
              <a:defRPr/>
            </a:pPr>
            <a:endParaRPr lang="en-US" dirty="0">
              <a:solidFill>
                <a:schemeClr val="accent1"/>
              </a:solidFill>
              <a:latin typeface="Gill Sans MT" panose="020B0502020104020203" pitchFamily="34" charset="0"/>
            </a:endParaRPr>
          </a:p>
          <a:p>
            <a:pPr marL="971550" lvl="1" indent="-514350">
              <a:buFont typeface="+mj-lt"/>
              <a:buAutoNum type="arabicPeriod"/>
              <a:defRPr/>
            </a:pPr>
            <a:r>
              <a:rPr lang="en-US" sz="3200" b="1" dirty="0">
                <a:solidFill>
                  <a:schemeClr val="tx2"/>
                </a:solidFill>
                <a:latin typeface="Gill Sans MT" panose="020B0502020104020203" pitchFamily="34" charset="0"/>
              </a:rPr>
              <a:t>Automatic allocation:</a:t>
            </a:r>
            <a:r>
              <a:rPr lang="en-US" sz="3200" dirty="0">
                <a:solidFill>
                  <a:schemeClr val="tx2"/>
                </a:solidFill>
                <a:latin typeface="Gill Sans MT" panose="020B0502020104020203" pitchFamily="34" charset="0"/>
              </a:rPr>
              <a:t> </a:t>
            </a:r>
            <a:r>
              <a:rPr lang="en-US" sz="3200" dirty="0">
                <a:latin typeface="Gill Sans MT" panose="020B0502020104020203" pitchFamily="34" charset="0"/>
              </a:rPr>
              <a:t>DHCP assigns a permanent IP address to the host.</a:t>
            </a:r>
          </a:p>
          <a:p>
            <a:pPr marL="971550" lvl="1" indent="-514350">
              <a:buFont typeface="+mj-lt"/>
              <a:buAutoNum type="arabicPeriod"/>
              <a:defRPr/>
            </a:pPr>
            <a:r>
              <a:rPr lang="en-US" sz="3200" b="1" dirty="0">
                <a:solidFill>
                  <a:schemeClr val="tx2"/>
                </a:solidFill>
                <a:latin typeface="Gill Sans MT" panose="020B0502020104020203" pitchFamily="34" charset="0"/>
              </a:rPr>
              <a:t>Dynamic allocation:</a:t>
            </a:r>
            <a:r>
              <a:rPr lang="en-US" sz="3200" dirty="0">
                <a:solidFill>
                  <a:schemeClr val="tx2"/>
                </a:solidFill>
                <a:latin typeface="Gill Sans MT" panose="020B0502020104020203" pitchFamily="34" charset="0"/>
              </a:rPr>
              <a:t> </a:t>
            </a:r>
            <a:r>
              <a:rPr lang="en-US" sz="3200" dirty="0">
                <a:latin typeface="Gill Sans MT" panose="020B0502020104020203" pitchFamily="34" charset="0"/>
              </a:rPr>
              <a:t>DHCP assigns an IP address for a limited period of time. Such a network address is called a </a:t>
            </a:r>
            <a:r>
              <a:rPr lang="en-US" sz="3200" i="1" dirty="0">
                <a:latin typeface="Gill Sans MT" panose="020B0502020104020203" pitchFamily="34" charset="0"/>
              </a:rPr>
              <a:t>lease</a:t>
            </a:r>
            <a:r>
              <a:rPr lang="en-US" sz="3200" dirty="0">
                <a:latin typeface="Gill Sans MT" panose="020B0502020104020203" pitchFamily="34" charset="0"/>
              </a:rPr>
              <a:t>. </a:t>
            </a:r>
          </a:p>
          <a:p>
            <a:pPr marL="971550" lvl="1" indent="-514350">
              <a:buFont typeface="+mj-lt"/>
              <a:buAutoNum type="arabicPeriod"/>
              <a:defRPr/>
            </a:pPr>
            <a:r>
              <a:rPr lang="en-US" sz="3200" b="1" dirty="0">
                <a:solidFill>
                  <a:schemeClr val="tx2"/>
                </a:solidFill>
                <a:latin typeface="Gill Sans MT" panose="020B0502020104020203" pitchFamily="34" charset="0"/>
              </a:rPr>
              <a:t>Manual allocation: </a:t>
            </a:r>
            <a:r>
              <a:rPr lang="en-US" sz="3200" dirty="0">
                <a:latin typeface="Gill Sans MT" panose="020B0502020104020203" pitchFamily="34" charset="0"/>
              </a:rPr>
              <a:t>The host's address is assigned by a network administrator.</a:t>
            </a:r>
          </a:p>
        </p:txBody>
      </p:sp>
    </p:spTree>
    <p:extLst>
      <p:ext uri="{BB962C8B-B14F-4D97-AF65-F5344CB8AC3E}">
        <p14:creationId xmlns:p14="http://schemas.microsoft.com/office/powerpoint/2010/main" val="33356507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19</a:t>
            </a:fld>
            <a:endParaRPr lang="en-US" dirty="0"/>
          </a:p>
        </p:txBody>
      </p:sp>
      <p:pic>
        <p:nvPicPr>
          <p:cNvPr id="3074" name="Picture 2" descr="Day 30: Network Services and Applic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738" y="1245775"/>
            <a:ext cx="7646023" cy="516623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792480" y="685118"/>
            <a:ext cx="10058401" cy="461665"/>
          </a:xfrm>
        </p:spPr>
        <p:txBody>
          <a:bodyPr/>
          <a:lstStyle/>
          <a:p>
            <a:pPr algn="ctr"/>
            <a:r>
              <a:rPr lang="en-US" sz="3000" dirty="0">
                <a:latin typeface="Gill Sans MT" panose="020B0502020104020203" pitchFamily="34" charset="0"/>
              </a:rPr>
              <a:t>DHCP Process</a:t>
            </a:r>
          </a:p>
        </p:txBody>
      </p:sp>
    </p:spTree>
    <p:extLst>
      <p:ext uri="{BB962C8B-B14F-4D97-AF65-F5344CB8AC3E}">
        <p14:creationId xmlns:p14="http://schemas.microsoft.com/office/powerpoint/2010/main" val="30069412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a:xfrm>
            <a:off x="601288" y="1275939"/>
            <a:ext cx="9144000" cy="4431983"/>
          </a:xfrm>
        </p:spPr>
        <p:txBody>
          <a:bodyPr/>
          <a:lstStyle/>
          <a:p>
            <a:r>
              <a:rPr lang="en-US" b="1" dirty="0">
                <a:solidFill>
                  <a:schemeClr val="accent1"/>
                </a:solidFill>
                <a:latin typeface="Gill Sans MT" panose="020B0502020104020203" pitchFamily="34" charset="0"/>
              </a:rPr>
              <a:t>DHCP Discover message (step 1)</a:t>
            </a:r>
            <a:r>
              <a:rPr lang="en-US" b="1" dirty="0">
                <a:latin typeface="Gill Sans MT" panose="020B0502020104020203" pitchFamily="34" charset="0"/>
              </a:rPr>
              <a:t>–</a:t>
            </a:r>
          </a:p>
          <a:p>
            <a:pPr marL="914400" lvl="1" indent="-457200">
              <a:buFont typeface="Arial" panose="020B0604020202020204" pitchFamily="34" charset="0"/>
              <a:buChar char="•"/>
            </a:pPr>
            <a:r>
              <a:rPr lang="en-US" sz="3200" dirty="0">
                <a:latin typeface="Gill Sans MT" panose="020B0502020104020203" pitchFamily="34" charset="0"/>
              </a:rPr>
              <a:t>This is a first message generated in the communication process between server and client. </a:t>
            </a:r>
          </a:p>
          <a:p>
            <a:pPr marL="914400" lvl="1" indent="-457200">
              <a:buFont typeface="Arial" panose="020B0604020202020204" pitchFamily="34" charset="0"/>
              <a:buChar char="•"/>
            </a:pPr>
            <a:r>
              <a:rPr lang="en-US" sz="3200" dirty="0">
                <a:latin typeface="Gill Sans MT" panose="020B0502020104020203" pitchFamily="34" charset="0"/>
              </a:rPr>
              <a:t>This message is generated (broadcasted)by Client host in order to discover if there is any DHCP server/servers are present in a network or not. </a:t>
            </a:r>
          </a:p>
          <a:p>
            <a:pPr marL="914400" lvl="1" indent="-457200">
              <a:buFont typeface="Arial" panose="020B0604020202020204" pitchFamily="34" charset="0"/>
              <a:buChar char="•"/>
            </a:pPr>
            <a:r>
              <a:rPr lang="en-US" sz="3200" dirty="0">
                <a:latin typeface="Gill Sans MT" panose="020B0502020104020203" pitchFamily="34" charset="0"/>
              </a:rPr>
              <a:t>This message is broadcasted to all devices present in a network to find the DHCP server. </a:t>
            </a:r>
          </a:p>
        </p:txBody>
      </p:sp>
    </p:spTree>
    <p:extLst>
      <p:ext uri="{BB962C8B-B14F-4D97-AF65-F5344CB8AC3E}">
        <p14:creationId xmlns:p14="http://schemas.microsoft.com/office/powerpoint/2010/main" val="1207874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1349433" y="1221596"/>
            <a:ext cx="9144000" cy="3939540"/>
          </a:xfrm>
        </p:spPr>
        <p:txBody>
          <a:bodyPr/>
          <a:lstStyle/>
          <a:p>
            <a:r>
              <a:rPr lang="en-US" b="1" dirty="0">
                <a:solidFill>
                  <a:schemeClr val="accent1"/>
                </a:solidFill>
                <a:latin typeface="Gill Sans MT" panose="020B0502020104020203" pitchFamily="34" charset="0"/>
              </a:rPr>
              <a:t>DHCP offer message (step 2)</a:t>
            </a:r>
            <a:r>
              <a:rPr lang="en-US" b="1" dirty="0">
                <a:latin typeface="Gill Sans MT" panose="020B0502020104020203" pitchFamily="34" charset="0"/>
              </a:rPr>
              <a:t>–</a:t>
            </a:r>
            <a:r>
              <a:rPr lang="en-US" b="1" dirty="0">
                <a:solidFill>
                  <a:schemeClr val="accent1"/>
                </a:solidFill>
                <a:latin typeface="Gill Sans MT" panose="020B0502020104020203" pitchFamily="34" charset="0"/>
              </a:rPr>
              <a:t> </a:t>
            </a:r>
          </a:p>
          <a:p>
            <a:pPr marL="457200" indent="-457200">
              <a:buFont typeface="Arial" panose="020B0604020202020204" pitchFamily="34" charset="0"/>
              <a:buChar char="•"/>
            </a:pPr>
            <a:r>
              <a:rPr lang="en-US" dirty="0">
                <a:latin typeface="Gill Sans MT" panose="020B0502020104020203" pitchFamily="34" charset="0"/>
              </a:rPr>
              <a:t>The server will respond to host </a:t>
            </a:r>
          </a:p>
          <a:p>
            <a:pPr marL="457200" indent="-457200">
              <a:buFont typeface="Arial" panose="020B0604020202020204" pitchFamily="34" charset="0"/>
              <a:buChar char="•"/>
            </a:pPr>
            <a:r>
              <a:rPr lang="en-US" dirty="0">
                <a:latin typeface="Gill Sans MT" panose="020B0502020104020203" pitchFamily="34" charset="0"/>
              </a:rPr>
              <a:t>This message is broadcasted by server. </a:t>
            </a:r>
          </a:p>
          <a:p>
            <a:pPr marL="457200" indent="-457200">
              <a:buFont typeface="Arial" panose="020B0604020202020204" pitchFamily="34" charset="0"/>
              <a:buChar char="•"/>
            </a:pPr>
            <a:r>
              <a:rPr lang="en-US" dirty="0">
                <a:latin typeface="Gill Sans MT" panose="020B0502020104020203" pitchFamily="34" charset="0"/>
              </a:rPr>
              <a:t>If there are more than one DHCP servers present in the network then client host will accept the first DHCP OFFER message it receives. </a:t>
            </a:r>
          </a:p>
          <a:p>
            <a:pPr marL="457200" indent="-457200">
              <a:buFont typeface="Arial" panose="020B0604020202020204" pitchFamily="34" charset="0"/>
              <a:buChar char="•"/>
            </a:pPr>
            <a:r>
              <a:rPr lang="en-US" dirty="0">
                <a:latin typeface="Gill Sans MT" panose="020B0502020104020203" pitchFamily="34" charset="0"/>
              </a:rPr>
              <a:t>Also a server ID is specified in the packet in order to identify the server.</a:t>
            </a:r>
          </a:p>
        </p:txBody>
      </p:sp>
    </p:spTree>
    <p:extLst>
      <p:ext uri="{BB962C8B-B14F-4D97-AF65-F5344CB8AC3E}">
        <p14:creationId xmlns:p14="http://schemas.microsoft.com/office/powerpoint/2010/main" val="20440969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1158239" y="1071968"/>
            <a:ext cx="9144000" cy="3939540"/>
          </a:xfrm>
        </p:spPr>
        <p:txBody>
          <a:bodyPr/>
          <a:lstStyle/>
          <a:p>
            <a:r>
              <a:rPr lang="en-US" b="1" dirty="0">
                <a:solidFill>
                  <a:schemeClr val="accent1"/>
                </a:solidFill>
                <a:latin typeface="Gill Sans MT" panose="020B0502020104020203" pitchFamily="34" charset="0"/>
              </a:rPr>
              <a:t>DHCP request message (step 3)</a:t>
            </a:r>
            <a:r>
              <a:rPr lang="en-US" b="1" dirty="0">
                <a:latin typeface="Gill Sans MT" panose="020B0502020104020203" pitchFamily="34" charset="0"/>
              </a:rPr>
              <a:t>–</a:t>
            </a:r>
            <a:endParaRPr lang="en-US" b="1" dirty="0">
              <a:solidFill>
                <a:schemeClr val="accent1"/>
              </a:solidFill>
              <a:latin typeface="Gill Sans MT" panose="020B0502020104020203" pitchFamily="34" charset="0"/>
            </a:endParaRPr>
          </a:p>
          <a:p>
            <a:pPr marL="457200" indent="-457200">
              <a:buFont typeface="Arial" panose="020B0604020202020204" pitchFamily="34" charset="0"/>
              <a:buChar char="•"/>
            </a:pPr>
            <a:endParaRPr lang="en-US" dirty="0">
              <a:latin typeface="Gill Sans MT" panose="020B0502020104020203" pitchFamily="34" charset="0"/>
            </a:endParaRPr>
          </a:p>
          <a:p>
            <a:pPr marL="457200" indent="-457200">
              <a:buFont typeface="Arial" panose="020B0604020202020204" pitchFamily="34" charset="0"/>
              <a:buChar char="•"/>
            </a:pPr>
            <a:r>
              <a:rPr lang="en-US" dirty="0">
                <a:latin typeface="Gill Sans MT" panose="020B0502020104020203" pitchFamily="34" charset="0"/>
              </a:rPr>
              <a:t>When a client receives a offer message, it responds by broadcasting a DHCP request message. </a:t>
            </a:r>
          </a:p>
          <a:p>
            <a:pPr marL="457200" indent="-457200">
              <a:buFont typeface="Arial" panose="020B0604020202020204" pitchFamily="34" charset="0"/>
              <a:buChar char="•"/>
            </a:pPr>
            <a:r>
              <a:rPr lang="en-US" dirty="0">
                <a:latin typeface="Gill Sans MT" panose="020B0502020104020203" pitchFamily="34" charset="0"/>
              </a:rPr>
              <a:t>Sent by clients to request or confirm the offer of an IP address from a specific server and to confirm an existing lease.</a:t>
            </a:r>
          </a:p>
          <a:p>
            <a:pPr marL="457200" indent="-457200">
              <a:buFont typeface="Arial" panose="020B0604020202020204" pitchFamily="34" charset="0"/>
              <a:buChar char="•"/>
            </a:pPr>
            <a:r>
              <a:rPr lang="en-US" dirty="0">
                <a:latin typeface="Gill Sans MT" panose="020B0502020104020203" pitchFamily="34" charset="0"/>
              </a:rPr>
              <a:t>.A Client ID is also added in this message.</a:t>
            </a:r>
          </a:p>
        </p:txBody>
      </p:sp>
    </p:spTree>
    <p:extLst>
      <p:ext uri="{BB962C8B-B14F-4D97-AF65-F5344CB8AC3E}">
        <p14:creationId xmlns:p14="http://schemas.microsoft.com/office/powerpoint/2010/main" val="8521603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a:xfrm>
            <a:off x="1490749" y="1412789"/>
            <a:ext cx="9144000" cy="2954655"/>
          </a:xfrm>
        </p:spPr>
        <p:txBody>
          <a:bodyPr/>
          <a:lstStyle/>
          <a:p>
            <a:r>
              <a:rPr lang="en-US" b="1" dirty="0">
                <a:solidFill>
                  <a:schemeClr val="accent1"/>
                </a:solidFill>
                <a:latin typeface="Gill Sans MT" panose="020B0502020104020203" pitchFamily="34" charset="0"/>
              </a:rPr>
              <a:t>DHCP acknowledgement message (step 4)</a:t>
            </a:r>
            <a:r>
              <a:rPr lang="en-US" b="1" dirty="0">
                <a:latin typeface="Gill Sans MT" panose="020B0502020104020203" pitchFamily="34" charset="0"/>
              </a:rPr>
              <a:t>–</a:t>
            </a:r>
            <a:r>
              <a:rPr lang="en-US" b="1" dirty="0">
                <a:solidFill>
                  <a:schemeClr val="accent1"/>
                </a:solidFill>
                <a:latin typeface="Gill Sans MT" panose="020B0502020104020203" pitchFamily="34" charset="0"/>
              </a:rPr>
              <a:t> </a:t>
            </a:r>
            <a:endParaRPr lang="en-US" dirty="0">
              <a:latin typeface="Gill Sans MT" panose="020B0502020104020203" pitchFamily="34" charset="0"/>
            </a:endParaRPr>
          </a:p>
          <a:p>
            <a:pPr marL="914400" lvl="1" indent="-457200">
              <a:buFont typeface="Arial" panose="020B0604020202020204" pitchFamily="34" charset="0"/>
              <a:buChar char="•"/>
            </a:pPr>
            <a:r>
              <a:rPr lang="en-US" sz="3200" dirty="0">
                <a:latin typeface="Gill Sans MT" panose="020B0502020104020203" pitchFamily="34" charset="0"/>
              </a:rPr>
              <a:t>In response to the request message received, the server will make an entry with specified client ID and bind the IP address offered with lease time. </a:t>
            </a:r>
          </a:p>
          <a:p>
            <a:pPr marL="914400" lvl="1" indent="-457200">
              <a:buFont typeface="Arial" panose="020B0604020202020204" pitchFamily="34" charset="0"/>
              <a:buChar char="•"/>
            </a:pPr>
            <a:r>
              <a:rPr lang="en-US" sz="3200" dirty="0">
                <a:latin typeface="Gill Sans MT" panose="020B0502020104020203" pitchFamily="34" charset="0"/>
              </a:rPr>
              <a:t>Now, the client will have the IP address provided by server.</a:t>
            </a:r>
          </a:p>
        </p:txBody>
      </p:sp>
    </p:spTree>
    <p:extLst>
      <p:ext uri="{BB962C8B-B14F-4D97-AF65-F5344CB8AC3E}">
        <p14:creationId xmlns:p14="http://schemas.microsoft.com/office/powerpoint/2010/main" val="5348086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1524000" y="922339"/>
            <a:ext cx="9144000" cy="5909310"/>
          </a:xfrm>
        </p:spPr>
        <p:txBody>
          <a:bodyPr/>
          <a:lstStyle/>
          <a:p>
            <a:pPr>
              <a:defRPr/>
            </a:pPr>
            <a:r>
              <a:rPr lang="en-US" b="1" dirty="0">
                <a:solidFill>
                  <a:schemeClr val="accent1"/>
                </a:solidFill>
                <a:latin typeface="Gill Sans MT" panose="020B0502020104020203" pitchFamily="34" charset="0"/>
              </a:rPr>
              <a:t>Advantages of DHCP</a:t>
            </a:r>
          </a:p>
          <a:p>
            <a:pPr>
              <a:defRPr/>
            </a:pPr>
            <a:endParaRPr lang="en-US" dirty="0">
              <a:latin typeface="Gill Sans MT" panose="020B0502020104020203" pitchFamily="34" charset="0"/>
            </a:endParaRPr>
          </a:p>
          <a:p>
            <a:pPr>
              <a:defRPr/>
            </a:pPr>
            <a:r>
              <a:rPr lang="en-US" dirty="0">
                <a:latin typeface="Gill Sans MT" panose="020B0502020104020203" pitchFamily="34" charset="0"/>
              </a:rPr>
              <a:t>The advantages of using DHCP include:</a:t>
            </a:r>
          </a:p>
          <a:p>
            <a:pPr marL="914400" lvl="1" indent="-457200">
              <a:buFont typeface="Arial" panose="020B0604020202020204" pitchFamily="34" charset="0"/>
              <a:buChar char="•"/>
              <a:defRPr/>
            </a:pPr>
            <a:r>
              <a:rPr lang="en-US" sz="3200" dirty="0">
                <a:latin typeface="Gill Sans MT" panose="020B0502020104020203" pitchFamily="34" charset="0"/>
              </a:rPr>
              <a:t>Centralized management of IP addresses</a:t>
            </a:r>
          </a:p>
          <a:p>
            <a:pPr marL="914400" lvl="1" indent="-457200">
              <a:buFont typeface="Arial" panose="020B0604020202020204" pitchFamily="34" charset="0"/>
              <a:buChar char="•"/>
              <a:defRPr/>
            </a:pPr>
            <a:r>
              <a:rPr lang="en-US" sz="3200" dirty="0">
                <a:latin typeface="Gill Sans MT" panose="020B0502020104020203" pitchFamily="34" charset="0"/>
              </a:rPr>
              <a:t>Ease of adding new clients to a network</a:t>
            </a:r>
          </a:p>
          <a:p>
            <a:pPr marL="914400" lvl="1" indent="-457200">
              <a:buFont typeface="Arial" panose="020B0604020202020204" pitchFamily="34" charset="0"/>
              <a:buChar char="•"/>
              <a:defRPr/>
            </a:pPr>
            <a:r>
              <a:rPr lang="en-US" sz="3200" dirty="0">
                <a:latin typeface="Gill Sans MT" panose="020B0502020104020203" pitchFamily="34" charset="0"/>
              </a:rPr>
              <a:t>Reuse of IP addresses reducing the total number of IP addresses that are required</a:t>
            </a:r>
          </a:p>
          <a:p>
            <a:pPr marL="914400" lvl="1" indent="-457200">
              <a:buFont typeface="Arial" panose="020B0604020202020204" pitchFamily="34" charset="0"/>
              <a:buChar char="•"/>
              <a:defRPr/>
            </a:pPr>
            <a:r>
              <a:rPr lang="en-US" sz="3200" dirty="0">
                <a:latin typeface="Gill Sans MT" panose="020B0502020104020203" pitchFamily="34" charset="0"/>
              </a:rPr>
              <a:t>Simple reconfiguration of the IP address space on the DHCP server without needing to reconfigure each client</a:t>
            </a:r>
          </a:p>
          <a:p>
            <a:pPr>
              <a:defRPr/>
            </a:pPr>
            <a:br>
              <a:rPr lang="en-US" dirty="0">
                <a:latin typeface="Gill Sans MT" panose="020B0502020104020203" pitchFamily="34" charset="0"/>
              </a:rPr>
            </a:br>
            <a:endParaRPr lang="en-US" dirty="0">
              <a:latin typeface="Gill Sans MT" panose="020B0502020104020203" pitchFamily="34" charset="0"/>
            </a:endParaRPr>
          </a:p>
        </p:txBody>
      </p:sp>
    </p:spTree>
    <p:extLst>
      <p:ext uri="{BB962C8B-B14F-4D97-AF65-F5344CB8AC3E}">
        <p14:creationId xmlns:p14="http://schemas.microsoft.com/office/powerpoint/2010/main" val="9126126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615553"/>
          </a:xfrm>
        </p:spPr>
        <p:txBody>
          <a:bodyPr/>
          <a:lstStyle/>
          <a:p>
            <a:pPr algn="ctr"/>
            <a:r>
              <a:rPr lang="en-US" dirty="0">
                <a:latin typeface="Gill Sans MT" panose="020B0502020104020203" pitchFamily="34" charset="0"/>
              </a:rPr>
              <a:t>Server Manager</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25</a:t>
            </a:fld>
            <a:endParaRPr lang="en-US" dirty="0"/>
          </a:p>
        </p:txBody>
      </p:sp>
      <p:sp>
        <p:nvSpPr>
          <p:cNvPr id="5" name="Text Placeholder 2"/>
          <p:cNvSpPr>
            <a:spLocks noGrp="1"/>
          </p:cNvSpPr>
          <p:nvPr>
            <p:ph type="body" idx="1"/>
          </p:nvPr>
        </p:nvSpPr>
        <p:spPr>
          <a:xfrm>
            <a:off x="872836" y="1961804"/>
            <a:ext cx="5951913" cy="4322618"/>
          </a:xfrm>
        </p:spPr>
        <p:txBody>
          <a:bodyPr>
            <a:noAutofit/>
          </a:bodyPr>
          <a:lstStyle/>
          <a:p>
            <a:pPr marL="475488" indent="-457200">
              <a:buFont typeface="Arial" panose="020B0604020202020204" pitchFamily="34" charset="0"/>
              <a:buChar char="•"/>
            </a:pPr>
            <a:r>
              <a:rPr lang="en-US" b="1" dirty="0">
                <a:latin typeface="Gill Sans MT" panose="020B0502020104020203" pitchFamily="34" charset="0"/>
              </a:rPr>
              <a:t>Server Manager </a:t>
            </a:r>
            <a:r>
              <a:rPr lang="en-US" dirty="0">
                <a:latin typeface="Gill Sans MT" panose="020B0502020104020203" pitchFamily="34" charset="0"/>
              </a:rPr>
              <a:t>is a management console (MMC) in Windows Server 2012,2016……</a:t>
            </a:r>
          </a:p>
          <a:p>
            <a:pPr marL="475488" indent="-457200">
              <a:buFont typeface="Arial" panose="020B0604020202020204" pitchFamily="34" charset="0"/>
              <a:buChar char="•"/>
            </a:pPr>
            <a:r>
              <a:rPr lang="en-US" b="1" dirty="0">
                <a:latin typeface="Gill Sans MT" panose="020B0502020104020203" pitchFamily="34" charset="0"/>
              </a:rPr>
              <a:t>Server Manager </a:t>
            </a:r>
            <a:r>
              <a:rPr lang="en-US" dirty="0">
                <a:latin typeface="Gill Sans MT" panose="020B0502020104020203" pitchFamily="34" charset="0"/>
              </a:rPr>
              <a:t>allows you to add server roles / features, manage and deploy server remotely.</a:t>
            </a:r>
          </a:p>
          <a:p>
            <a:endParaRPr lang="en-US" dirty="0">
              <a:latin typeface="Gill Sans MT" panose="020B0502020104020203" pitchFamily="34" charset="0"/>
            </a:endParaRPr>
          </a:p>
          <a:p>
            <a:pPr lvl="1" eaLnBrk="1" hangingPunct="1"/>
            <a:endParaRPr lang="en-US" sz="3200" dirty="0">
              <a:latin typeface="Gill Sans MT" panose="020B0502020104020203" pitchFamily="34" charset="0"/>
            </a:endParaRPr>
          </a:p>
          <a:p>
            <a:pPr lvl="1" eaLnBrk="1" hangingPunct="1"/>
            <a:r>
              <a:rPr lang="en-US" sz="3200" dirty="0">
                <a:latin typeface="Gill Sans MT" panose="020B0502020104020203" pitchFamily="34" charset="0"/>
              </a:rPr>
              <a:t> </a:t>
            </a:r>
          </a:p>
          <a:p>
            <a:pPr lvl="1" eaLnBrk="1" hangingPunct="1"/>
            <a:endParaRPr lang="en-US" sz="3200" dirty="0">
              <a:latin typeface="Gill Sans MT" panose="020B0502020104020203" pitchFamily="34" charset="0"/>
            </a:endParaRPr>
          </a:p>
        </p:txBody>
      </p:sp>
      <p:pic>
        <p:nvPicPr>
          <p:cNvPr id="10242" name="Picture 2" descr="Configuring Windows Server 2012 for SmartHub ASE — Appspace Core v5.7  Documen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263" y="2152996"/>
            <a:ext cx="3649284" cy="364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30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615440" y="690245"/>
            <a:ext cx="8991600" cy="677108"/>
          </a:xfrm>
        </p:spPr>
        <p:txBody>
          <a:bodyPr/>
          <a:lstStyle/>
          <a:p>
            <a:pPr algn="ctr"/>
            <a:r>
              <a:rPr lang="en-US" sz="4400" dirty="0">
                <a:latin typeface="Gill Sans MT" panose="020B0502020104020203" pitchFamily="34" charset="0"/>
              </a:rPr>
              <a:t>Application Server</a:t>
            </a:r>
            <a:endParaRPr lang="en-US" b="1" dirty="0">
              <a:latin typeface="Gill Sans MT" panose="020B0502020104020203" pitchFamily="34" charset="0"/>
            </a:endParaRPr>
          </a:p>
        </p:txBody>
      </p:sp>
      <p:sp>
        <p:nvSpPr>
          <p:cNvPr id="3" name="Content Placeholder 2"/>
          <p:cNvSpPr>
            <a:spLocks noGrp="1"/>
          </p:cNvSpPr>
          <p:nvPr>
            <p:ph idx="1"/>
          </p:nvPr>
        </p:nvSpPr>
        <p:spPr>
          <a:xfrm>
            <a:off x="756457" y="1479666"/>
            <a:ext cx="4488874" cy="4621876"/>
          </a:xfrm>
        </p:spPr>
        <p:txBody>
          <a:bodyPr>
            <a:noAutofit/>
          </a:bodyPr>
          <a:lstStyle/>
          <a:p>
            <a:r>
              <a:rPr lang="en-US" b="1" dirty="0">
                <a:latin typeface="Gill Sans MT" panose="020B0502020104020203" pitchFamily="34" charset="0"/>
              </a:rPr>
              <a:t>Application Server </a:t>
            </a:r>
            <a:r>
              <a:rPr lang="en-US" dirty="0">
                <a:latin typeface="Gill Sans MT" panose="020B0502020104020203" pitchFamily="34" charset="0"/>
              </a:rPr>
              <a:t>Supports hosting and managing high-performance distributed business applications through the .NET Framework, web services, and application communications services.</a:t>
            </a:r>
          </a:p>
          <a:p>
            <a:pPr>
              <a:defRPr/>
            </a:pPr>
            <a:endParaRPr lang="en-US" dirty="0">
              <a:latin typeface="Gill Sans MT" panose="020B0502020104020203" pitchFamily="34" charset="0"/>
            </a:endParaRPr>
          </a:p>
          <a:p>
            <a:pPr>
              <a:buFont typeface="Wingdings" panose="05000000000000000000" pitchFamily="2" charset="2"/>
              <a:buChar char="v"/>
              <a:defRPr/>
            </a:pPr>
            <a:endParaRPr lang="en-US" dirty="0">
              <a:latin typeface="Gill Sans MT" panose="020B0502020104020203" pitchFamily="34" charset="0"/>
            </a:endParaRPr>
          </a:p>
          <a:p>
            <a:pPr>
              <a:defRPr/>
            </a:pPr>
            <a:r>
              <a:rPr lang="en-US" dirty="0">
                <a:latin typeface="Gill Sans MT" panose="020B0502020104020203" pitchFamily="34" charset="0"/>
              </a:rPr>
              <a:t>                            </a:t>
            </a:r>
          </a:p>
        </p:txBody>
      </p:sp>
      <p:pic>
        <p:nvPicPr>
          <p:cNvPr id="11266" name="Picture 2" descr="Easy Comparison Between Web Servers and Application Serv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387" y="2348345"/>
            <a:ext cx="5703263" cy="3046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47997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615553"/>
          </a:xfrm>
        </p:spPr>
        <p:txBody>
          <a:bodyPr/>
          <a:lstStyle/>
          <a:p>
            <a:pPr algn="ctr"/>
            <a:r>
              <a:rPr lang="en-US" dirty="0">
                <a:latin typeface="Gill Sans MT" panose="020B0502020104020203" pitchFamily="34" charset="0"/>
              </a:rPr>
              <a:t>Hyper-V</a:t>
            </a:r>
          </a:p>
        </p:txBody>
      </p:sp>
      <p:sp>
        <p:nvSpPr>
          <p:cNvPr id="3" name="Text Placeholder 2"/>
          <p:cNvSpPr>
            <a:spLocks noGrp="1"/>
          </p:cNvSpPr>
          <p:nvPr>
            <p:ph type="body" idx="1"/>
          </p:nvPr>
        </p:nvSpPr>
        <p:spPr>
          <a:xfrm>
            <a:off x="1429789" y="2027047"/>
            <a:ext cx="3906981" cy="3725360"/>
          </a:xfrm>
        </p:spPr>
        <p:txBody>
          <a:bodyPr/>
          <a:lstStyle/>
          <a:p>
            <a:r>
              <a:rPr lang="en-US" dirty="0">
                <a:latin typeface="Gill Sans MT" panose="020B0502020104020203" pitchFamily="34" charset="0"/>
              </a:rPr>
              <a:t>Supports hosting and managing virtual machines, including both Windows and non-Windows guests.</a:t>
            </a:r>
          </a:p>
          <a:p>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27</a:t>
            </a:fld>
            <a:endParaRPr lang="en-US" dirty="0"/>
          </a:p>
        </p:txBody>
      </p:sp>
      <p:pic>
        <p:nvPicPr>
          <p:cNvPr id="12290" name="Picture 2" descr="Which virtualization methods are used in the virtual server?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119" y="2236810"/>
            <a:ext cx="5080544" cy="2567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8273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8341" y="625417"/>
            <a:ext cx="7505192" cy="615553"/>
          </a:xfrm>
        </p:spPr>
        <p:txBody>
          <a:bodyPr/>
          <a:lstStyle/>
          <a:p>
            <a:pPr algn="ctr"/>
            <a:r>
              <a:rPr lang="en-US" dirty="0">
                <a:latin typeface="Gill Sans MT" panose="020B0502020104020203" pitchFamily="34" charset="0"/>
              </a:rPr>
              <a:t>Network Policy</a:t>
            </a:r>
          </a:p>
        </p:txBody>
      </p:sp>
      <p:sp>
        <p:nvSpPr>
          <p:cNvPr id="3" name="Text Placeholder 2"/>
          <p:cNvSpPr>
            <a:spLocks noGrp="1"/>
          </p:cNvSpPr>
          <p:nvPr>
            <p:ph type="body" idx="1"/>
          </p:nvPr>
        </p:nvSpPr>
        <p:spPr>
          <a:xfrm>
            <a:off x="800325" y="1316669"/>
            <a:ext cx="2976261" cy="2954655"/>
          </a:xfrm>
        </p:spPr>
        <p:txBody>
          <a:bodyPr/>
          <a:lstStyle/>
          <a:p>
            <a:r>
              <a:rPr lang="en-US" dirty="0">
                <a:latin typeface="Gill Sans MT" panose="020B0502020104020203" pitchFamily="34" charset="0"/>
              </a:rPr>
              <a:t>Network policy is a collection of rules that govern the behaviors of network devices. </a:t>
            </a:r>
          </a:p>
          <a:p>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28</a:t>
            </a:fld>
            <a:endParaRPr lang="en-US" dirty="0"/>
          </a:p>
        </p:txBody>
      </p:sp>
      <p:pic>
        <p:nvPicPr>
          <p:cNvPr id="13314" name="Picture 2" descr="What Is Network Policy? - Cisc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8315" y="1388072"/>
            <a:ext cx="6516213" cy="366277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00325" y="3879357"/>
            <a:ext cx="3687990" cy="2308324"/>
          </a:xfrm>
          <a:prstGeom prst="rect">
            <a:avLst/>
          </a:prstGeom>
        </p:spPr>
        <p:txBody>
          <a:bodyPr wrap="square">
            <a:spAutoFit/>
          </a:bodyPr>
          <a:lstStyle/>
          <a:p>
            <a:r>
              <a:rPr lang="en-US" dirty="0" err="1">
                <a:latin typeface="Gill Sans MT" panose="020B0502020104020203" pitchFamily="34" charset="0"/>
              </a:rPr>
              <a:t>Eg</a:t>
            </a:r>
            <a:r>
              <a:rPr lang="en-US" dirty="0">
                <a:latin typeface="Gill Sans MT" panose="020B0502020104020203" pitchFamily="34" charset="0"/>
              </a:rPr>
              <a:t>: Just as a federal or central government may lay down policies for state or districts to follow to achieve national objectives, network administrators define policies for network devices to follow to achieve business objectives. </a:t>
            </a:r>
          </a:p>
          <a:p>
            <a:endParaRPr lang="en-US" dirty="0"/>
          </a:p>
        </p:txBody>
      </p:sp>
    </p:spTree>
    <p:extLst>
      <p:ext uri="{BB962C8B-B14F-4D97-AF65-F5344CB8AC3E}">
        <p14:creationId xmlns:p14="http://schemas.microsoft.com/office/powerpoint/2010/main" val="2670521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615553"/>
          </a:xfrm>
        </p:spPr>
        <p:txBody>
          <a:bodyPr/>
          <a:lstStyle/>
          <a:p>
            <a:pPr algn="ctr"/>
            <a:r>
              <a:rPr lang="en-US" dirty="0">
                <a:latin typeface="Gill Sans MT" panose="020B0502020104020203" pitchFamily="34" charset="0"/>
              </a:rPr>
              <a:t>Print Services</a:t>
            </a:r>
          </a:p>
        </p:txBody>
      </p:sp>
      <p:sp>
        <p:nvSpPr>
          <p:cNvPr id="3" name="Text Placeholder 2"/>
          <p:cNvSpPr>
            <a:spLocks noGrp="1"/>
          </p:cNvSpPr>
          <p:nvPr>
            <p:ph type="body" idx="1"/>
          </p:nvPr>
        </p:nvSpPr>
        <p:spPr>
          <a:xfrm>
            <a:off x="2011681" y="2027047"/>
            <a:ext cx="2542390" cy="1477328"/>
          </a:xfrm>
        </p:spPr>
        <p:txBody>
          <a:bodyPr/>
          <a:lstStyle/>
          <a:p>
            <a:r>
              <a:rPr lang="en-US" dirty="0"/>
              <a:t>The Print Services role supports printer sharing and printers management.</a:t>
            </a:r>
          </a:p>
          <a:p>
            <a:endParaRPr lang="en-US"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29</a:t>
            </a:fld>
            <a:endParaRPr lang="en-US" dirty="0"/>
          </a:p>
        </p:txBody>
      </p:sp>
      <p:pic>
        <p:nvPicPr>
          <p:cNvPr id="5" name="Picture 4"/>
          <p:cNvPicPr>
            <a:picLocks noChangeAspect="1"/>
          </p:cNvPicPr>
          <p:nvPr/>
        </p:nvPicPr>
        <p:blipFill>
          <a:blip r:embed="rId2"/>
          <a:stretch>
            <a:fillRect/>
          </a:stretch>
        </p:blipFill>
        <p:spPr>
          <a:xfrm>
            <a:off x="4867275" y="1905840"/>
            <a:ext cx="5810250" cy="3476625"/>
          </a:xfrm>
          <a:prstGeom prst="rect">
            <a:avLst/>
          </a:prstGeom>
        </p:spPr>
      </p:pic>
    </p:spTree>
    <p:extLst>
      <p:ext uri="{BB962C8B-B14F-4D97-AF65-F5344CB8AC3E}">
        <p14:creationId xmlns:p14="http://schemas.microsoft.com/office/powerpoint/2010/main" val="29217028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3403" y="999490"/>
            <a:ext cx="7505192" cy="615553"/>
          </a:xfrm>
        </p:spPr>
        <p:txBody>
          <a:bodyPr/>
          <a:lstStyle/>
          <a:p>
            <a:pPr algn="ctr"/>
            <a:r>
              <a:rPr lang="en-US" dirty="0">
                <a:latin typeface="Gill Sans MT" panose="020B0502020104020203" pitchFamily="34" charset="0"/>
              </a:rPr>
              <a:t>Terminal Services</a:t>
            </a:r>
          </a:p>
        </p:txBody>
      </p:sp>
      <p:sp>
        <p:nvSpPr>
          <p:cNvPr id="3" name="Text Placeholder 2"/>
          <p:cNvSpPr>
            <a:spLocks noGrp="1"/>
          </p:cNvSpPr>
          <p:nvPr>
            <p:ph type="body" idx="1"/>
          </p:nvPr>
        </p:nvSpPr>
        <p:spPr>
          <a:xfrm>
            <a:off x="1421476" y="2027047"/>
            <a:ext cx="9493135" cy="2129173"/>
          </a:xfrm>
        </p:spPr>
        <p:txBody>
          <a:bodyPr/>
          <a:lstStyle/>
          <a:p>
            <a:pPr>
              <a:lnSpc>
                <a:spcPct val="150000"/>
              </a:lnSpc>
            </a:pPr>
            <a:r>
              <a:rPr lang="en-US" dirty="0">
                <a:latin typeface="Gill Sans MT" panose="020B0502020104020203" pitchFamily="34" charset="0"/>
              </a:rPr>
              <a:t>The Terminal Services role supports access to remote desktop services, remote applications, and may function as a gateway to remote clients.</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30</a:t>
            </a:fld>
            <a:endParaRPr lang="en-US" dirty="0"/>
          </a:p>
        </p:txBody>
      </p:sp>
    </p:spTree>
    <p:extLst>
      <p:ext uri="{BB962C8B-B14F-4D97-AF65-F5344CB8AC3E}">
        <p14:creationId xmlns:p14="http://schemas.microsoft.com/office/powerpoint/2010/main" val="28781392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8465" y="1007803"/>
            <a:ext cx="7505192" cy="615553"/>
          </a:xfrm>
        </p:spPr>
        <p:txBody>
          <a:bodyPr/>
          <a:lstStyle/>
          <a:p>
            <a:pPr algn="ctr"/>
            <a:r>
              <a:rPr lang="en-US" dirty="0">
                <a:latin typeface="Gill Sans MT" panose="020B0502020104020203" pitchFamily="34" charset="0"/>
              </a:rPr>
              <a:t>Web Server</a:t>
            </a:r>
          </a:p>
        </p:txBody>
      </p:sp>
      <p:sp>
        <p:nvSpPr>
          <p:cNvPr id="3" name="Text Placeholder 2"/>
          <p:cNvSpPr>
            <a:spLocks noGrp="1"/>
          </p:cNvSpPr>
          <p:nvPr>
            <p:ph type="body" idx="1"/>
          </p:nvPr>
        </p:nvSpPr>
        <p:spPr>
          <a:xfrm>
            <a:off x="777342" y="2130386"/>
            <a:ext cx="3113340" cy="2420471"/>
          </a:xfrm>
        </p:spPr>
        <p:txBody>
          <a:bodyPr/>
          <a:lstStyle/>
          <a:p>
            <a:r>
              <a:rPr lang="en-US" dirty="0">
                <a:latin typeface="Gill Sans MT" panose="020B0502020104020203" pitchFamily="34" charset="0"/>
              </a:rPr>
              <a:t>The Web Server role allows the server to host HTTP, HTTPS, and FTP sites.</a:t>
            </a:r>
          </a:p>
          <a:p>
            <a:endParaRPr lang="en-US" dirty="0">
              <a:latin typeface="Gill Sans MT" panose="020B0502020104020203" pitchFamily="34"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US" smtClean="0"/>
              <a:pPr marL="38100">
                <a:lnSpc>
                  <a:spcPts val="1240"/>
                </a:lnSpc>
              </a:pPr>
              <a:t>31</a:t>
            </a:fld>
            <a:endParaRPr lang="en-US" dirty="0"/>
          </a:p>
        </p:txBody>
      </p:sp>
      <p:pic>
        <p:nvPicPr>
          <p:cNvPr id="14338" name="Picture 2" descr="Easy Comparison Between Web Servers and Application Serv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0683" y="2130385"/>
            <a:ext cx="6624918" cy="4047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8901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Gill Sans MT" panose="020B0502020104020203" pitchFamily="34" charset="0"/>
              </a:rPr>
              <a:t>Windows Server Backup</a:t>
            </a:r>
          </a:p>
        </p:txBody>
      </p:sp>
      <p:sp>
        <p:nvSpPr>
          <p:cNvPr id="3" name="Content Placeholder 2"/>
          <p:cNvSpPr>
            <a:spLocks noGrp="1"/>
          </p:cNvSpPr>
          <p:nvPr>
            <p:ph idx="1"/>
          </p:nvPr>
        </p:nvSpPr>
        <p:spPr>
          <a:xfrm>
            <a:off x="1778925" y="2027047"/>
            <a:ext cx="3671616" cy="2966294"/>
          </a:xfrm>
        </p:spPr>
        <p:txBody>
          <a:bodyPr/>
          <a:lstStyle/>
          <a:p>
            <a:r>
              <a:rPr lang="en-US" dirty="0">
                <a:latin typeface="Gill Sans MT" panose="020B0502020104020203" pitchFamily="34" charset="0"/>
              </a:rPr>
              <a:t>Installs a Microsoft Management Console to support backup and recovery of Windows servers.</a:t>
            </a:r>
          </a:p>
          <a:p>
            <a:endParaRPr lang="en-US" dirty="0">
              <a:latin typeface="Gill Sans MT" panose="020B0502020104020203" pitchFamily="34" charset="0"/>
            </a:endParaRPr>
          </a:p>
        </p:txBody>
      </p:sp>
      <p:sp>
        <p:nvSpPr>
          <p:cNvPr id="4" name="Footer Placeholder 3"/>
          <p:cNvSpPr>
            <a:spLocks noGrp="1"/>
          </p:cNvSpPr>
          <p:nvPr>
            <p:ph type="ftr" sz="quarter" idx="4294967295"/>
          </p:nvPr>
        </p:nvSpPr>
        <p:spPr/>
        <p:txBody>
          <a:bodyPr/>
          <a:lstStyle/>
          <a:p>
            <a:r>
              <a:rPr lang="en-GB"/>
              <a:t>Labor for the future</a:t>
            </a:r>
            <a:endParaRPr lang="en-GB" dirty="0"/>
          </a:p>
        </p:txBody>
      </p:sp>
      <p:sp>
        <p:nvSpPr>
          <p:cNvPr id="5" name="Slide Number Placeholder 4"/>
          <p:cNvSpPr>
            <a:spLocks noGrp="1"/>
          </p:cNvSpPr>
          <p:nvPr>
            <p:ph type="sldNum" sz="quarter" idx="4294967295"/>
          </p:nvPr>
        </p:nvSpPr>
        <p:spPr/>
        <p:txBody>
          <a:bodyPr/>
          <a:lstStyle/>
          <a:p>
            <a:fld id="{462C6507-2242-4096-87B2-B8983FFE7867}" type="slidenum">
              <a:rPr lang="en-GB" smtClean="0"/>
              <a:t>32</a:t>
            </a:fld>
            <a:endParaRPr lang="en-GB"/>
          </a:p>
        </p:txBody>
      </p:sp>
      <p:pic>
        <p:nvPicPr>
          <p:cNvPr id="7" name="Picture 6"/>
          <p:cNvPicPr>
            <a:picLocks noChangeAspect="1"/>
          </p:cNvPicPr>
          <p:nvPr/>
        </p:nvPicPr>
        <p:blipFill>
          <a:blip r:embed="rId2"/>
          <a:stretch>
            <a:fillRect/>
          </a:stretch>
        </p:blipFill>
        <p:spPr>
          <a:xfrm>
            <a:off x="5827339" y="1829823"/>
            <a:ext cx="4786873" cy="4342616"/>
          </a:xfrm>
          <a:prstGeom prst="rect">
            <a:avLst/>
          </a:prstGeom>
        </p:spPr>
      </p:pic>
    </p:spTree>
    <p:extLst>
      <p:ext uri="{BB962C8B-B14F-4D97-AF65-F5344CB8AC3E}">
        <p14:creationId xmlns:p14="http://schemas.microsoft.com/office/powerpoint/2010/main" val="2712774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1590501" y="866955"/>
            <a:ext cx="9144000" cy="615553"/>
          </a:xfrm>
        </p:spPr>
        <p:txBody>
          <a:bodyPr/>
          <a:lstStyle/>
          <a:p>
            <a:pPr algn="ctr"/>
            <a:r>
              <a:rPr lang="en-US" dirty="0">
                <a:latin typeface="Gill Sans MT" panose="020B0502020104020203" pitchFamily="34" charset="0"/>
              </a:rPr>
              <a:t>File Transfer Protocol( FTP)</a:t>
            </a:r>
          </a:p>
        </p:txBody>
      </p:sp>
      <p:sp>
        <p:nvSpPr>
          <p:cNvPr id="31747" name="Content Placeholder 2"/>
          <p:cNvSpPr>
            <a:spLocks noGrp="1"/>
          </p:cNvSpPr>
          <p:nvPr>
            <p:ph idx="1"/>
          </p:nvPr>
        </p:nvSpPr>
        <p:spPr>
          <a:xfrm>
            <a:off x="1147482" y="1595718"/>
            <a:ext cx="4500283" cy="4862870"/>
          </a:xfrm>
        </p:spPr>
        <p:txBody>
          <a:bodyPr/>
          <a:lstStyle/>
          <a:p>
            <a:pPr marL="457200" indent="-457200">
              <a:buFont typeface="Arial" panose="020B0604020202020204" pitchFamily="34" charset="0"/>
              <a:buChar char="•"/>
            </a:pPr>
            <a:r>
              <a:rPr lang="en-US" sz="2800" b="1" dirty="0">
                <a:latin typeface="Gill Sans MT" panose="020B0502020104020203" pitchFamily="34" charset="0"/>
              </a:rPr>
              <a:t>FTP </a:t>
            </a:r>
            <a:r>
              <a:rPr lang="en-US" sz="2800" dirty="0">
                <a:latin typeface="Gill Sans MT" panose="020B0502020104020203" pitchFamily="34" charset="0"/>
              </a:rPr>
              <a:t>is a network protocol used to transfer data from one computer to another through a network.</a:t>
            </a:r>
          </a:p>
          <a:p>
            <a:pPr marL="457200" indent="-457200">
              <a:buFont typeface="Arial" panose="020B0604020202020204" pitchFamily="34" charset="0"/>
              <a:buChar char="•"/>
            </a:pPr>
            <a:r>
              <a:rPr lang="en-US" sz="2800" dirty="0">
                <a:latin typeface="Gill Sans MT" panose="020B0502020104020203" pitchFamily="34" charset="0"/>
              </a:rPr>
              <a:t>The most common use for FTP is to download files from the Internet to a local computer, or upload files from a local computer to a remote server.</a:t>
            </a:r>
          </a:p>
          <a:p>
            <a:br>
              <a:rPr lang="en-US" dirty="0">
                <a:latin typeface="Gill Sans MT" panose="020B0502020104020203" pitchFamily="34" charset="0"/>
              </a:rPr>
            </a:br>
            <a:endParaRPr lang="en-US" dirty="0">
              <a:latin typeface="Gill Sans MT" panose="020B0502020104020203" pitchFamily="34" charset="0"/>
            </a:endParaRPr>
          </a:p>
        </p:txBody>
      </p:sp>
      <p:pic>
        <p:nvPicPr>
          <p:cNvPr id="16386" name="Picture 2" descr="What is file transfer protocol (FT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4775" y="1595718"/>
            <a:ext cx="5549726" cy="2797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9046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1999" cy="6857996"/>
          </a:xfrm>
          <a:prstGeom prst="rect">
            <a:avLst/>
          </a:prstGeom>
        </p:spPr>
      </p:pic>
      <p:sp>
        <p:nvSpPr>
          <p:cNvPr id="3" name="object 3"/>
          <p:cNvSpPr txBox="1">
            <a:spLocks noGrp="1"/>
          </p:cNvSpPr>
          <p:nvPr>
            <p:ph type="title"/>
          </p:nvPr>
        </p:nvSpPr>
        <p:spPr>
          <a:xfrm>
            <a:off x="4714495" y="2483307"/>
            <a:ext cx="2762885" cy="788670"/>
          </a:xfrm>
          <a:prstGeom prst="rect">
            <a:avLst/>
          </a:prstGeom>
        </p:spPr>
        <p:txBody>
          <a:bodyPr vert="horz" wrap="square" lIns="0" tIns="13335" rIns="0" bIns="0" rtlCol="0">
            <a:spAutoFit/>
          </a:bodyPr>
          <a:lstStyle/>
          <a:p>
            <a:pPr marL="12700">
              <a:spcBef>
                <a:spcPts val="105"/>
              </a:spcBef>
            </a:pPr>
            <a:r>
              <a:rPr sz="5000" b="0" dirty="0">
                <a:solidFill>
                  <a:srgbClr val="FFFFFF"/>
                </a:solidFill>
              </a:rPr>
              <a:t>Thank</a:t>
            </a:r>
            <a:r>
              <a:rPr sz="5000" b="0" spc="-70" dirty="0">
                <a:solidFill>
                  <a:srgbClr val="FFFFFF"/>
                </a:solidFill>
              </a:rPr>
              <a:t> </a:t>
            </a:r>
            <a:r>
              <a:rPr sz="5000" b="0" dirty="0">
                <a:solidFill>
                  <a:srgbClr val="FFFFFF"/>
                </a:solidFill>
              </a:rPr>
              <a:t>you</a:t>
            </a:r>
            <a:endParaRPr sz="5000"/>
          </a:p>
        </p:txBody>
      </p:sp>
      <p:sp>
        <p:nvSpPr>
          <p:cNvPr id="5" name="Slide Number Placeholder 4"/>
          <p:cNvSpPr>
            <a:spLocks noGrp="1"/>
          </p:cNvSpPr>
          <p:nvPr>
            <p:ph type="sldNum" sz="quarter" idx="4294967295"/>
          </p:nvPr>
        </p:nvSpPr>
        <p:spPr>
          <a:xfrm>
            <a:off x="11202077" y="6464680"/>
            <a:ext cx="309033" cy="153888"/>
          </a:xfrm>
          <a:prstGeom prst="rect">
            <a:avLst/>
          </a:prstGeom>
        </p:spPr>
        <p:txBody>
          <a:bodyPr/>
          <a:lstStyle/>
          <a:p>
            <a:pPr marL="38100">
              <a:lnSpc>
                <a:spcPts val="1240"/>
              </a:lnSpc>
            </a:pPr>
            <a:fld id="{81D60167-4931-47E6-BA6A-407CBD079E47}" type="slidenum">
              <a:rPr lang="en-US" smtClean="0"/>
              <a:pPr marL="38100">
                <a:lnSpc>
                  <a:spcPts val="1240"/>
                </a:lnSpc>
              </a:pPr>
              <a:t>34</a:t>
            </a:fld>
            <a:endParaRPr lang="en-US" dirty="0"/>
          </a:p>
        </p:txBody>
      </p:sp>
    </p:spTree>
    <p:extLst>
      <p:ext uri="{BB962C8B-B14F-4D97-AF65-F5344CB8AC3E}">
        <p14:creationId xmlns:p14="http://schemas.microsoft.com/office/powerpoint/2010/main" val="31610756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8032</TotalTime>
  <Words>1629</Words>
  <Application>Microsoft Office PowerPoint</Application>
  <PresentationFormat>Widescreen</PresentationFormat>
  <Paragraphs>168</Paragraphs>
  <Slides>34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34</vt:i4>
      </vt:variant>
    </vt:vector>
  </HeadingPairs>
  <TitlesOfParts>
    <vt:vector size="43" baseType="lpstr">
      <vt:lpstr>MS PGothic</vt:lpstr>
      <vt:lpstr>Arial</vt:lpstr>
      <vt:lpstr>Calibri</vt:lpstr>
      <vt:lpstr>Calibri Light</vt:lpstr>
      <vt:lpstr>Gill Sans MT</vt:lpstr>
      <vt:lpstr>Times New Roman</vt:lpstr>
      <vt:lpstr>Wingdings</vt:lpstr>
      <vt:lpstr>Office Theme</vt:lpstr>
      <vt:lpstr>1_Office Theme</vt:lpstr>
      <vt:lpstr> Server and Systems Administration  Module Code : CSC3504  </vt:lpstr>
      <vt:lpstr>PowerPoint Presentation</vt:lpstr>
      <vt:lpstr>Contents</vt:lpstr>
      <vt:lpstr>Directory</vt:lpstr>
      <vt:lpstr>Directory</vt:lpstr>
      <vt:lpstr>Characteristics of Good directory services</vt:lpstr>
      <vt:lpstr>Characteristics of Good directory services</vt:lpstr>
      <vt:lpstr>Characteristics of Good directory services</vt:lpstr>
      <vt:lpstr>Enterprise-Wide Directory Services </vt:lpstr>
      <vt:lpstr>Lightweight Directory Access Protocol (LDAP) </vt:lpstr>
      <vt:lpstr>LDAP Operations</vt:lpstr>
      <vt:lpstr>LDAP Structure</vt:lpstr>
      <vt:lpstr>LDAP Security and Standard</vt:lpstr>
      <vt:lpstr>Domain name system (DNS) server</vt:lpstr>
      <vt:lpstr>PowerPoint Presentation</vt:lpstr>
      <vt:lpstr>DHCP (Dynamic Host Configuration Protocol)</vt:lpstr>
      <vt:lpstr>Dynamic Host Configuration Protocol (DHCP)</vt:lpstr>
      <vt:lpstr>PowerPoint Presentation</vt:lpstr>
      <vt:lpstr>DHCP Process</vt:lpstr>
      <vt:lpstr>PowerPoint Presentation</vt:lpstr>
      <vt:lpstr>PowerPoint Presentation</vt:lpstr>
      <vt:lpstr>PowerPoint Presentation</vt:lpstr>
      <vt:lpstr>PowerPoint Presentation</vt:lpstr>
      <vt:lpstr>PowerPoint Presentation</vt:lpstr>
      <vt:lpstr>Server Manager</vt:lpstr>
      <vt:lpstr>Application Server</vt:lpstr>
      <vt:lpstr>Hyper-V</vt:lpstr>
      <vt:lpstr>Network Policy</vt:lpstr>
      <vt:lpstr>Print Services</vt:lpstr>
      <vt:lpstr>Terminal Services</vt:lpstr>
      <vt:lpstr>Web Server</vt:lpstr>
      <vt:lpstr>Windows Server Backup</vt:lpstr>
      <vt:lpstr>File Transfer Protocol( FTP)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INEZA</dc:creator>
  <cp:lastModifiedBy>Simeon NDAYAMBAJE</cp:lastModifiedBy>
  <cp:revision>201</cp:revision>
  <dcterms:created xsi:type="dcterms:W3CDTF">2021-09-06T15:03:47Z</dcterms:created>
  <dcterms:modified xsi:type="dcterms:W3CDTF">2026-03-08T14:27:55Z</dcterms:modified>
</cp:coreProperties>
</file>