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648" r:id="rId1"/>
    <p:sldMasterId id="2147483660" r:id="rId2"/>
  </p:sldMasterIdLst>
  <p:notesMasterIdLst>
    <p:notesMasterId r:id="rId33"/>
  </p:notesMasterIdLst>
  <p:sldIdLst>
    <p:sldId id="257" r:id="rId3"/>
    <p:sldId id="411" r:id="rId4"/>
    <p:sldId id="453" r:id="rId5"/>
    <p:sldId id="479" r:id="rId6"/>
    <p:sldId id="495" r:id="rId7"/>
    <p:sldId id="488" r:id="rId8"/>
    <p:sldId id="496" r:id="rId9"/>
    <p:sldId id="489" r:id="rId10"/>
    <p:sldId id="490" r:id="rId11"/>
    <p:sldId id="491" r:id="rId12"/>
    <p:sldId id="492" r:id="rId13"/>
    <p:sldId id="493" r:id="rId14"/>
    <p:sldId id="494" r:id="rId15"/>
    <p:sldId id="456" r:id="rId16"/>
    <p:sldId id="459" r:id="rId17"/>
    <p:sldId id="478" r:id="rId18"/>
    <p:sldId id="463" r:id="rId19"/>
    <p:sldId id="464" r:id="rId20"/>
    <p:sldId id="465" r:id="rId21"/>
    <p:sldId id="466" r:id="rId22"/>
    <p:sldId id="467" r:id="rId23"/>
    <p:sldId id="497" r:id="rId24"/>
    <p:sldId id="471" r:id="rId25"/>
    <p:sldId id="472" r:id="rId26"/>
    <p:sldId id="473" r:id="rId27"/>
    <p:sldId id="474" r:id="rId28"/>
    <p:sldId id="475" r:id="rId29"/>
    <p:sldId id="476" r:id="rId30"/>
    <p:sldId id="477" r:id="rId31"/>
    <p:sldId id="312"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3197" autoAdjust="0"/>
    <p:restoredTop sz="92459" autoAdjust="0"/>
  </p:normalViewPr>
  <p:slideViewPr>
    <p:cSldViewPr snapToGrid="0">
      <p:cViewPr varScale="1">
        <p:scale>
          <a:sx n="62" d="100"/>
          <a:sy n="62" d="100"/>
        </p:scale>
        <p:origin x="516" y="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159EB8-F0F6-4DC6-A647-6A5C1CFF84A9}" type="datetimeFigureOut">
              <a:rPr lang="en-US" smtClean="0"/>
              <a:t>3/17/2025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358CC0-D8AB-4D70-B3A7-EFDBBA065C02}" type="slidenum">
              <a:rPr lang="en-US" smtClean="0"/>
              <a:t>‹#›</a:t>
            </a:fld>
            <a:endParaRPr lang="en-US"/>
          </a:p>
        </p:txBody>
      </p:sp>
    </p:spTree>
    <p:extLst>
      <p:ext uri="{BB962C8B-B14F-4D97-AF65-F5344CB8AC3E}">
        <p14:creationId xmlns:p14="http://schemas.microsoft.com/office/powerpoint/2010/main" val="4307838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a:ln/>
        </p:spPr>
      </p:sp>
      <p:sp>
        <p:nvSpPr>
          <p:cNvPr id="22531" name="Notes Placeholder 2"/>
          <p:cNvSpPr>
            <a:spLocks noGrp="1"/>
          </p:cNvSpPr>
          <p:nvPr>
            <p:ph type="body" idx="1"/>
          </p:nvPr>
        </p:nvSpPr>
        <p:spPr>
          <a:noFill/>
        </p:spPr>
        <p:txBody>
          <a:bodyPr/>
          <a:lstStyle/>
          <a:p>
            <a:r>
              <a:rPr lang="en-US" b="1" smtClean="0"/>
              <a:t>Passive attack: </a:t>
            </a:r>
            <a:r>
              <a:rPr lang="en-US" smtClean="0"/>
              <a:t>In this attack an adversary deploys a sniffer tool, traffic analysis software, filtering clear text passwords from unencrypted traffic and waits for sensitive information to be captured. This information can be used for other types of attacks. Once an adversary found any sensitive or authentication information, he will use that without the knowledge of the user.</a:t>
            </a:r>
          </a:p>
          <a:p>
            <a:pPr lvl="1"/>
            <a:endParaRPr lang="en-US" sz="2400" smtClean="0"/>
          </a:p>
          <a:p>
            <a:endParaRPr lang="en-US" smtClean="0"/>
          </a:p>
          <a:p>
            <a:r>
              <a:rPr lang="en-US" smtClean="0"/>
              <a:t>                   </a:t>
            </a:r>
          </a:p>
          <a:p>
            <a:endParaRPr lang="en-US" smtClean="0"/>
          </a:p>
        </p:txBody>
      </p:sp>
      <p:sp>
        <p:nvSpPr>
          <p:cNvPr id="22532" name="Slide Number Placeholder 3"/>
          <p:cNvSpPr>
            <a:spLocks noGrp="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E1EC469A-C682-4737-83C3-097C958305DD}" type="slidenum">
              <a:rPr lang="en-CA" sz="1200" smtClean="0"/>
              <a:pPr/>
              <a:t>19</a:t>
            </a:fld>
            <a:endParaRPr lang="en-CA" sz="1200" smtClean="0"/>
          </a:p>
        </p:txBody>
      </p:sp>
    </p:spTree>
    <p:extLst>
      <p:ext uri="{BB962C8B-B14F-4D97-AF65-F5344CB8AC3E}">
        <p14:creationId xmlns:p14="http://schemas.microsoft.com/office/powerpoint/2010/main" val="41372662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a:ln/>
        </p:spPr>
      </p:sp>
      <p:sp>
        <p:nvSpPr>
          <p:cNvPr id="24579" name="Notes Placeholder 2"/>
          <p:cNvSpPr>
            <a:spLocks noGrp="1"/>
          </p:cNvSpPr>
          <p:nvPr>
            <p:ph type="body" idx="1"/>
          </p:nvPr>
        </p:nvSpPr>
        <p:spPr>
          <a:noFill/>
        </p:spPr>
        <p:txBody>
          <a:bodyPr/>
          <a:lstStyle/>
          <a:p>
            <a:r>
              <a:rPr lang="en-US" b="1" smtClean="0"/>
              <a:t>Passive attack: </a:t>
            </a:r>
            <a:r>
              <a:rPr lang="en-US" smtClean="0"/>
              <a:t>In this attack an adversary deploys a sniffer tool, traffic analysis software, filtering clear text passwords from unencrypted traffic and waits for sensitive information to be captured. This information can be used for other types of attacks. Once an adversary found any sensitive or authentication information, he will use that without the knowledge of the user.</a:t>
            </a:r>
          </a:p>
          <a:p>
            <a:pPr lvl="1"/>
            <a:endParaRPr lang="en-US" sz="2400" smtClean="0"/>
          </a:p>
          <a:p>
            <a:endParaRPr lang="en-US" smtClean="0"/>
          </a:p>
          <a:p>
            <a:r>
              <a:rPr lang="en-US" smtClean="0"/>
              <a:t>                   </a:t>
            </a:r>
          </a:p>
          <a:p>
            <a:endParaRPr lang="en-US" smtClean="0"/>
          </a:p>
        </p:txBody>
      </p:sp>
      <p:sp>
        <p:nvSpPr>
          <p:cNvPr id="24580" name="Slide Number Placeholder 3"/>
          <p:cNvSpPr>
            <a:spLocks noGrp="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22661DDD-4C32-404F-B61A-2D749A4E6CD5}" type="slidenum">
              <a:rPr lang="en-CA" sz="1200" smtClean="0"/>
              <a:pPr/>
              <a:t>20</a:t>
            </a:fld>
            <a:endParaRPr lang="en-CA" sz="1200" smtClean="0"/>
          </a:p>
        </p:txBody>
      </p:sp>
    </p:spTree>
    <p:extLst>
      <p:ext uri="{BB962C8B-B14F-4D97-AF65-F5344CB8AC3E}">
        <p14:creationId xmlns:p14="http://schemas.microsoft.com/office/powerpoint/2010/main" val="28830184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TextEdit="1"/>
          </p:cNvSpPr>
          <p:nvPr>
            <p:ph type="sldImg"/>
          </p:nvPr>
        </p:nvSpPr>
        <p:spPr>
          <a:ln/>
        </p:spPr>
      </p:sp>
      <p:sp>
        <p:nvSpPr>
          <p:cNvPr id="26627" name="Notes Placeholder 2"/>
          <p:cNvSpPr>
            <a:spLocks noGrp="1"/>
          </p:cNvSpPr>
          <p:nvPr>
            <p:ph type="body" idx="1"/>
          </p:nvPr>
        </p:nvSpPr>
        <p:spPr>
          <a:noFill/>
        </p:spPr>
        <p:txBody>
          <a:bodyPr/>
          <a:lstStyle/>
          <a:p>
            <a:r>
              <a:rPr lang="en-US" b="1" smtClean="0"/>
              <a:t>Passive attack: </a:t>
            </a:r>
            <a:r>
              <a:rPr lang="en-US" smtClean="0"/>
              <a:t>In this attack an adversary deploys a sniffer tool, traffic analysis software, filtering clear text passwords from unencrypted traffic and waits for sensitive information to be captured. This information can be used for other types of attacks. Once an adversary found any sensitive or authentication information, he will use that without the knowledge of the user.</a:t>
            </a:r>
          </a:p>
          <a:p>
            <a:pPr lvl="1"/>
            <a:endParaRPr lang="en-US" sz="2400" smtClean="0"/>
          </a:p>
          <a:p>
            <a:endParaRPr lang="en-US" smtClean="0"/>
          </a:p>
          <a:p>
            <a:r>
              <a:rPr lang="en-US" smtClean="0"/>
              <a:t>                   </a:t>
            </a:r>
          </a:p>
          <a:p>
            <a:endParaRPr lang="en-US" smtClean="0"/>
          </a:p>
        </p:txBody>
      </p:sp>
      <p:sp>
        <p:nvSpPr>
          <p:cNvPr id="26628" name="Slide Number Placeholder 3"/>
          <p:cNvSpPr>
            <a:spLocks noGrp="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A2B38A9B-0343-4266-AD2B-6CBA749BCCC4}" type="slidenum">
              <a:rPr lang="en-CA" sz="1200" smtClean="0"/>
              <a:pPr/>
              <a:t>21</a:t>
            </a:fld>
            <a:endParaRPr lang="en-CA" sz="1200" smtClean="0"/>
          </a:p>
        </p:txBody>
      </p:sp>
    </p:spTree>
    <p:extLst>
      <p:ext uri="{BB962C8B-B14F-4D97-AF65-F5344CB8AC3E}">
        <p14:creationId xmlns:p14="http://schemas.microsoft.com/office/powerpoint/2010/main" val="9510150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4DFE42F-2F17-4DD7-8DFC-FAC4895B1DCE}" type="datetime1">
              <a:rPr lang="en-GB" smtClean="0"/>
              <a:t>17/03/2025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505657-62C7-42E2-9234-1DE12381E0A2}" type="slidenum">
              <a:rPr lang="en-US" smtClean="0"/>
              <a:t>‹#›</a:t>
            </a:fld>
            <a:endParaRPr lang="en-US"/>
          </a:p>
        </p:txBody>
      </p:sp>
    </p:spTree>
    <p:extLst>
      <p:ext uri="{BB962C8B-B14F-4D97-AF65-F5344CB8AC3E}">
        <p14:creationId xmlns:p14="http://schemas.microsoft.com/office/powerpoint/2010/main" val="230511671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E025135-96B0-4D59-9477-C1C029711266}" type="datetime1">
              <a:rPr lang="en-GB" smtClean="0"/>
              <a:t>17/03/2025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505657-62C7-42E2-9234-1DE12381E0A2}" type="slidenum">
              <a:rPr lang="en-US" smtClean="0"/>
              <a:t>‹#›</a:t>
            </a:fld>
            <a:endParaRPr lang="en-US"/>
          </a:p>
        </p:txBody>
      </p:sp>
    </p:spTree>
    <p:extLst>
      <p:ext uri="{BB962C8B-B14F-4D97-AF65-F5344CB8AC3E}">
        <p14:creationId xmlns:p14="http://schemas.microsoft.com/office/powerpoint/2010/main" val="117978936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C316361-7B81-44C5-9A3A-71D6D100AD56}" type="datetime1">
              <a:rPr lang="en-GB" smtClean="0"/>
              <a:t>17/03/2025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505657-62C7-42E2-9234-1DE12381E0A2}" type="slidenum">
              <a:rPr lang="en-US" smtClean="0"/>
              <a:t>‹#›</a:t>
            </a:fld>
            <a:endParaRPr lang="en-US"/>
          </a:p>
        </p:txBody>
      </p:sp>
    </p:spTree>
    <p:extLst>
      <p:ext uri="{BB962C8B-B14F-4D97-AF65-F5344CB8AC3E}">
        <p14:creationId xmlns:p14="http://schemas.microsoft.com/office/powerpoint/2010/main" val="264401453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9CA27118-AD8C-45DB-8E9A-71884D9D7FC1}" type="datetime1">
              <a:rPr lang="en-GB" smtClean="0"/>
              <a:t>17/03/2025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4505657-62C7-42E2-9234-1DE12381E0A2}" type="slidenum">
              <a:rPr lang="en-US" smtClean="0"/>
              <a:t>‹#›</a:t>
            </a:fld>
            <a:endParaRPr lang="en-US"/>
          </a:p>
        </p:txBody>
      </p:sp>
    </p:spTree>
    <p:extLst>
      <p:ext uri="{BB962C8B-B14F-4D97-AF65-F5344CB8AC3E}">
        <p14:creationId xmlns:p14="http://schemas.microsoft.com/office/powerpoint/2010/main" val="3882130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CBDCFC8-89B1-4D57-A51F-48F51F844B81}" type="datetime1">
              <a:rPr lang="en-GB" smtClean="0"/>
              <a:t>17/03/2025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4505657-62C7-42E2-9234-1DE12381E0A2}" type="slidenum">
              <a:rPr lang="en-US" smtClean="0"/>
              <a:t>‹#›</a:t>
            </a:fld>
            <a:endParaRPr lang="en-US"/>
          </a:p>
        </p:txBody>
      </p:sp>
    </p:spTree>
    <p:extLst>
      <p:ext uri="{BB962C8B-B14F-4D97-AF65-F5344CB8AC3E}">
        <p14:creationId xmlns:p14="http://schemas.microsoft.com/office/powerpoint/2010/main" val="280791495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7F1FA51-64D4-4EB8-BFEE-804D4C829154}" type="datetime1">
              <a:rPr lang="en-GB" smtClean="0"/>
              <a:t>17/03/2025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4505657-62C7-42E2-9234-1DE12381E0A2}" type="slidenum">
              <a:rPr lang="en-US" smtClean="0"/>
              <a:t>‹#›</a:t>
            </a:fld>
            <a:endParaRPr lang="en-US"/>
          </a:p>
        </p:txBody>
      </p:sp>
    </p:spTree>
    <p:extLst>
      <p:ext uri="{BB962C8B-B14F-4D97-AF65-F5344CB8AC3E}">
        <p14:creationId xmlns:p14="http://schemas.microsoft.com/office/powerpoint/2010/main" val="421796270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C594CCD-74AE-4BD3-AC04-46933177CAC8}" type="datetime1">
              <a:rPr lang="en-GB" smtClean="0"/>
              <a:t>17/03/2025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4505657-62C7-42E2-9234-1DE12381E0A2}" type="slidenum">
              <a:rPr lang="en-US" smtClean="0"/>
              <a:t>‹#›</a:t>
            </a:fld>
            <a:endParaRPr lang="en-US"/>
          </a:p>
        </p:txBody>
      </p:sp>
    </p:spTree>
    <p:extLst>
      <p:ext uri="{BB962C8B-B14F-4D97-AF65-F5344CB8AC3E}">
        <p14:creationId xmlns:p14="http://schemas.microsoft.com/office/powerpoint/2010/main" val="342624162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95D1212-F654-46B9-975F-0DD54868612F}" type="datetime1">
              <a:rPr lang="en-GB" smtClean="0"/>
              <a:t>17/03/2025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4505657-62C7-42E2-9234-1DE12381E0A2}" type="slidenum">
              <a:rPr lang="en-US" smtClean="0"/>
              <a:t>‹#›</a:t>
            </a:fld>
            <a:endParaRPr lang="en-US"/>
          </a:p>
        </p:txBody>
      </p:sp>
    </p:spTree>
    <p:extLst>
      <p:ext uri="{BB962C8B-B14F-4D97-AF65-F5344CB8AC3E}">
        <p14:creationId xmlns:p14="http://schemas.microsoft.com/office/powerpoint/2010/main" val="406931701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70123D7-5D51-46E5-A289-80F4A83CCE3E}" type="datetime1">
              <a:rPr lang="en-GB" smtClean="0"/>
              <a:t>17/03/2025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4505657-62C7-42E2-9234-1DE12381E0A2}" type="slidenum">
              <a:rPr lang="en-US" smtClean="0"/>
              <a:t>‹#›</a:t>
            </a:fld>
            <a:endParaRPr lang="en-US"/>
          </a:p>
        </p:txBody>
      </p:sp>
    </p:spTree>
    <p:extLst>
      <p:ext uri="{BB962C8B-B14F-4D97-AF65-F5344CB8AC3E}">
        <p14:creationId xmlns:p14="http://schemas.microsoft.com/office/powerpoint/2010/main" val="212185332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1DCBE30-9A89-4B91-A84C-4D4D55CA1321}" type="datetime1">
              <a:rPr lang="en-GB" smtClean="0"/>
              <a:t>17/03/2025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505657-62C7-42E2-9234-1DE12381E0A2}" type="slidenum">
              <a:rPr lang="en-US" smtClean="0"/>
              <a:t>‹#›</a:t>
            </a:fld>
            <a:endParaRPr lang="en-US"/>
          </a:p>
        </p:txBody>
      </p:sp>
    </p:spTree>
    <p:extLst>
      <p:ext uri="{BB962C8B-B14F-4D97-AF65-F5344CB8AC3E}">
        <p14:creationId xmlns:p14="http://schemas.microsoft.com/office/powerpoint/2010/main" val="388301828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4623C09-AE49-422C-81E3-52DA06B4BA2B}" type="datetime1">
              <a:rPr lang="en-GB" smtClean="0"/>
              <a:t>17/03/2025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505657-62C7-42E2-9234-1DE12381E0A2}" type="slidenum">
              <a:rPr lang="en-US" smtClean="0"/>
              <a:t>‹#›</a:t>
            </a:fld>
            <a:endParaRPr lang="en-US"/>
          </a:p>
        </p:txBody>
      </p:sp>
    </p:spTree>
    <p:extLst>
      <p:ext uri="{BB962C8B-B14F-4D97-AF65-F5344CB8AC3E}">
        <p14:creationId xmlns:p14="http://schemas.microsoft.com/office/powerpoint/2010/main" val="383549148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2105659" y="1270457"/>
            <a:ext cx="7980680" cy="615553"/>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828800" y="3840480"/>
            <a:ext cx="8534400" cy="492443"/>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endParaRPr lang="en-US"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46058D21-266C-455A-8CEC-12FEFF750694}" type="datetime1">
              <a:rPr lang="en-GB" smtClean="0">
                <a:solidFill>
                  <a:prstClr val="black">
                    <a:tint val="75000"/>
                  </a:prstClr>
                </a:solidFill>
              </a:rPr>
              <a:t>17/03/2025</a:t>
            </a:fld>
            <a:endParaRPr lang="en-US">
              <a:solidFill>
                <a:prstClr val="black">
                  <a:tint val="75000"/>
                </a:prstClr>
              </a:solidFill>
            </a:endParaRPr>
          </a:p>
        </p:txBody>
      </p:sp>
      <p:sp>
        <p:nvSpPr>
          <p:cNvPr id="6" name="Holder 6"/>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38100">
              <a:lnSpc>
                <a:spcPts val="1240"/>
              </a:lnSpc>
            </a:pPr>
            <a:fld id="{81D60167-4931-47E6-BA6A-407CBD079E47}" type="slidenum">
              <a:rPr lang="en-US" smtClean="0"/>
              <a:pPr marL="38100">
                <a:lnSpc>
                  <a:spcPts val="1240"/>
                </a:lnSpc>
              </a:pPr>
              <a:t>‹#›</a:t>
            </a:fld>
            <a:endParaRPr lang="en-US" dirty="0"/>
          </a:p>
        </p:txBody>
      </p:sp>
    </p:spTree>
    <p:extLst>
      <p:ext uri="{BB962C8B-B14F-4D97-AF65-F5344CB8AC3E}">
        <p14:creationId xmlns:p14="http://schemas.microsoft.com/office/powerpoint/2010/main" val="50836926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rgbClr val="C00000"/>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3200" b="0" i="0">
                <a:solidFill>
                  <a:schemeClr val="tx1"/>
                </a:solidFill>
                <a:latin typeface="MS PGothic"/>
                <a:cs typeface="MS PGothic"/>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endParaRPr lang="en-US"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3AEF6960-003F-4D8C-B8AC-3E1FC3BD80D6}" type="datetime1">
              <a:rPr lang="en-GB" smtClean="0">
                <a:solidFill>
                  <a:prstClr val="black">
                    <a:tint val="75000"/>
                  </a:prstClr>
                </a:solidFill>
              </a:rPr>
              <a:t>17/03/2025</a:t>
            </a:fld>
            <a:endParaRPr lang="en-US">
              <a:solidFill>
                <a:prstClr val="black">
                  <a:tint val="75000"/>
                </a:prstClr>
              </a:solidFill>
            </a:endParaRPr>
          </a:p>
        </p:txBody>
      </p:sp>
      <p:sp>
        <p:nvSpPr>
          <p:cNvPr id="6" name="Holder 6"/>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38100">
              <a:lnSpc>
                <a:spcPts val="1240"/>
              </a:lnSpc>
            </a:pPr>
            <a:fld id="{81D60167-4931-47E6-BA6A-407CBD079E47}" type="slidenum">
              <a:rPr lang="en-US" smtClean="0"/>
              <a:pPr marL="38100">
                <a:lnSpc>
                  <a:spcPts val="1240"/>
                </a:lnSpc>
              </a:pPr>
              <a:t>‹#›</a:t>
            </a:fld>
            <a:endParaRPr lang="en-US" dirty="0"/>
          </a:p>
        </p:txBody>
      </p:sp>
    </p:spTree>
    <p:extLst>
      <p:ext uri="{BB962C8B-B14F-4D97-AF65-F5344CB8AC3E}">
        <p14:creationId xmlns:p14="http://schemas.microsoft.com/office/powerpoint/2010/main" val="222473894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rgbClr val="C00000"/>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92443"/>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92443"/>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endParaRPr lang="en-US"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EE47835-96A5-46B5-A6A8-AF6AD0478162}" type="datetime1">
              <a:rPr lang="en-GB" smtClean="0">
                <a:solidFill>
                  <a:prstClr val="black">
                    <a:tint val="75000"/>
                  </a:prstClr>
                </a:solidFill>
              </a:rPr>
              <a:t>17/03/2025</a:t>
            </a:fld>
            <a:endParaRPr lang="en-US">
              <a:solidFill>
                <a:prstClr val="black">
                  <a:tint val="75000"/>
                </a:prstClr>
              </a:solidFill>
            </a:endParaRPr>
          </a:p>
        </p:txBody>
      </p:sp>
      <p:sp>
        <p:nvSpPr>
          <p:cNvPr id="7" name="Holder 7"/>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38100">
              <a:lnSpc>
                <a:spcPts val="1240"/>
              </a:lnSpc>
            </a:pPr>
            <a:fld id="{81D60167-4931-47E6-BA6A-407CBD079E47}" type="slidenum">
              <a:rPr lang="en-US" smtClean="0"/>
              <a:pPr marL="38100">
                <a:lnSpc>
                  <a:spcPts val="1240"/>
                </a:lnSpc>
              </a:pPr>
              <a:t>‹#›</a:t>
            </a:fld>
            <a:endParaRPr lang="en-US" dirty="0"/>
          </a:p>
        </p:txBody>
      </p:sp>
    </p:spTree>
    <p:extLst>
      <p:ext uri="{BB962C8B-B14F-4D97-AF65-F5344CB8AC3E}">
        <p14:creationId xmlns:p14="http://schemas.microsoft.com/office/powerpoint/2010/main" val="7689481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rgbClr val="C00000"/>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endParaRPr lang="en-US" dirty="0"/>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AA0611C2-7913-467E-A42C-29D9E21C6938}" type="datetime1">
              <a:rPr lang="en-GB" smtClean="0">
                <a:solidFill>
                  <a:prstClr val="black">
                    <a:tint val="75000"/>
                  </a:prstClr>
                </a:solidFill>
              </a:rPr>
              <a:t>17/03/2025</a:t>
            </a:fld>
            <a:endParaRPr lang="en-US">
              <a:solidFill>
                <a:prstClr val="black">
                  <a:tint val="75000"/>
                </a:prstClr>
              </a:solidFill>
            </a:endParaRPr>
          </a:p>
        </p:txBody>
      </p:sp>
      <p:sp>
        <p:nvSpPr>
          <p:cNvPr id="5" name="Holder 5"/>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38100">
              <a:lnSpc>
                <a:spcPts val="1240"/>
              </a:lnSpc>
            </a:pPr>
            <a:fld id="{81D60167-4931-47E6-BA6A-407CBD079E47}" type="slidenum">
              <a:rPr lang="en-US" smtClean="0"/>
              <a:pPr marL="38100">
                <a:lnSpc>
                  <a:spcPts val="1240"/>
                </a:lnSpc>
              </a:pPr>
              <a:t>‹#›</a:t>
            </a:fld>
            <a:endParaRPr lang="en-US" dirty="0"/>
          </a:p>
        </p:txBody>
      </p:sp>
    </p:spTree>
    <p:extLst>
      <p:ext uri="{BB962C8B-B14F-4D97-AF65-F5344CB8AC3E}">
        <p14:creationId xmlns:p14="http://schemas.microsoft.com/office/powerpoint/2010/main" val="125670141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endParaRPr lang="en-US" dirty="0"/>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0B8C551E-F4C7-4FD6-86C5-A4F3C46DF6D9}" type="datetime1">
              <a:rPr lang="en-GB" smtClean="0">
                <a:solidFill>
                  <a:prstClr val="black">
                    <a:tint val="75000"/>
                  </a:prstClr>
                </a:solidFill>
              </a:rPr>
              <a:t>17/03/2025</a:t>
            </a:fld>
            <a:endParaRPr lang="en-US">
              <a:solidFill>
                <a:prstClr val="black">
                  <a:tint val="75000"/>
                </a:prstClr>
              </a:solidFill>
            </a:endParaRPr>
          </a:p>
        </p:txBody>
      </p:sp>
      <p:sp>
        <p:nvSpPr>
          <p:cNvPr id="4" name="Holder 4"/>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38100">
              <a:lnSpc>
                <a:spcPts val="1240"/>
              </a:lnSpc>
            </a:pPr>
            <a:fld id="{81D60167-4931-47E6-BA6A-407CBD079E47}" type="slidenum">
              <a:rPr lang="en-US" smtClean="0"/>
              <a:pPr marL="38100">
                <a:lnSpc>
                  <a:spcPts val="1240"/>
                </a:lnSpc>
              </a:pPr>
              <a:t>‹#›</a:t>
            </a:fld>
            <a:endParaRPr lang="en-US" dirty="0"/>
          </a:p>
        </p:txBody>
      </p:sp>
    </p:spTree>
    <p:extLst>
      <p:ext uri="{BB962C8B-B14F-4D97-AF65-F5344CB8AC3E}">
        <p14:creationId xmlns:p14="http://schemas.microsoft.com/office/powerpoint/2010/main" val="297371510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7" Type="http://schemas.openxmlformats.org/officeDocument/2006/relationships/image" Target="../media/image1.png"/><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724A620-4D63-450A-BD74-3876FFB6A025}" type="datetime1">
              <a:rPr lang="en-GB" smtClean="0"/>
              <a:t>17/03/2025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505657-62C7-42E2-9234-1DE12381E0A2}" type="slidenum">
              <a:rPr lang="en-US" smtClean="0"/>
              <a:t>‹#›</a:t>
            </a:fld>
            <a:endParaRPr lang="en-US"/>
          </a:p>
        </p:txBody>
      </p:sp>
    </p:spTree>
    <p:extLst>
      <p:ext uri="{BB962C8B-B14F-4D97-AF65-F5344CB8AC3E}">
        <p14:creationId xmlns:p14="http://schemas.microsoft.com/office/powerpoint/2010/main" val="9546130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1" y="0"/>
            <a:ext cx="12191999" cy="6857996"/>
          </a:xfrm>
          <a:prstGeom prst="rect">
            <a:avLst/>
          </a:prstGeom>
        </p:spPr>
      </p:pic>
      <p:sp>
        <p:nvSpPr>
          <p:cNvPr id="2" name="Holder 2"/>
          <p:cNvSpPr>
            <a:spLocks noGrp="1"/>
          </p:cNvSpPr>
          <p:nvPr>
            <p:ph type="title"/>
          </p:nvPr>
        </p:nvSpPr>
        <p:spPr>
          <a:xfrm>
            <a:off x="2343403" y="999490"/>
            <a:ext cx="7505192" cy="615553"/>
          </a:xfrm>
          <a:prstGeom prst="rect">
            <a:avLst/>
          </a:prstGeom>
        </p:spPr>
        <p:txBody>
          <a:bodyPr wrap="square" lIns="0" tIns="0" rIns="0" bIns="0">
            <a:spAutoFit/>
          </a:bodyPr>
          <a:lstStyle>
            <a:lvl1pPr>
              <a:defRPr sz="4000" b="1" i="0">
                <a:solidFill>
                  <a:srgbClr val="C00000"/>
                </a:solidFill>
                <a:latin typeface="Times New Roman"/>
                <a:cs typeface="Times New Roman"/>
              </a:defRPr>
            </a:lvl1pPr>
          </a:lstStyle>
          <a:p>
            <a:endParaRPr/>
          </a:p>
        </p:txBody>
      </p:sp>
      <p:sp>
        <p:nvSpPr>
          <p:cNvPr id="3" name="Holder 3"/>
          <p:cNvSpPr>
            <a:spLocks noGrp="1"/>
          </p:cNvSpPr>
          <p:nvPr>
            <p:ph type="body" idx="1"/>
          </p:nvPr>
        </p:nvSpPr>
        <p:spPr>
          <a:xfrm>
            <a:off x="714588" y="2027047"/>
            <a:ext cx="10762825" cy="492443"/>
          </a:xfrm>
          <a:prstGeom prst="rect">
            <a:avLst/>
          </a:prstGeom>
        </p:spPr>
        <p:txBody>
          <a:bodyPr wrap="square" lIns="0" tIns="0" rIns="0" bIns="0">
            <a:spAutoFit/>
          </a:bodyPr>
          <a:lstStyle>
            <a:lvl1pPr>
              <a:defRPr sz="3200" b="0" i="0">
                <a:solidFill>
                  <a:schemeClr val="tx1"/>
                </a:solidFill>
                <a:latin typeface="MS PGothic"/>
                <a:cs typeface="MS PGothic"/>
              </a:defRPr>
            </a:lvl1pPr>
          </a:lstStyle>
          <a:p>
            <a:endParaRPr/>
          </a:p>
        </p:txBody>
      </p:sp>
      <p:sp>
        <p:nvSpPr>
          <p:cNvPr id="4" name="Holder 4"/>
          <p:cNvSpPr>
            <a:spLocks noGrp="1"/>
          </p:cNvSpPr>
          <p:nvPr>
            <p:ph type="ftr" sz="quarter" idx="5"/>
          </p:nvPr>
        </p:nvSpPr>
        <p:spPr>
          <a:xfrm>
            <a:off x="714587" y="6464680"/>
            <a:ext cx="916940" cy="153888"/>
          </a:xfrm>
          <a:prstGeom prst="rect">
            <a:avLst/>
          </a:prstGeom>
        </p:spPr>
        <p:txBody>
          <a:bodyPr wrap="square" lIns="0" tIns="0" rIns="0" bIns="0">
            <a:spAutoFit/>
          </a:bodyPr>
          <a:lstStyle>
            <a:lvl1pPr>
              <a:defRPr sz="1200" b="0" i="0">
                <a:solidFill>
                  <a:srgbClr val="888888"/>
                </a:solidFill>
                <a:latin typeface="Calibri"/>
                <a:cs typeface="Calibri"/>
              </a:defRPr>
            </a:lvl1pPr>
          </a:lstStyle>
          <a:p>
            <a:pPr marL="12700">
              <a:lnSpc>
                <a:spcPts val="1240"/>
              </a:lnSpc>
            </a:pPr>
            <a:endParaRPr lang="en-US" dirty="0"/>
          </a:p>
        </p:txBody>
      </p:sp>
      <p:sp>
        <p:nvSpPr>
          <p:cNvPr id="5" name="Holder 5"/>
          <p:cNvSpPr>
            <a:spLocks noGrp="1"/>
          </p:cNvSpPr>
          <p:nvPr>
            <p:ph type="dt" sz="half" idx="6"/>
          </p:nvPr>
        </p:nvSpPr>
        <p:spPr>
          <a:xfrm>
            <a:off x="609600" y="6377940"/>
            <a:ext cx="2804160" cy="276999"/>
          </a:xfrm>
          <a:prstGeom prst="rect">
            <a:avLst/>
          </a:prstGeom>
        </p:spPr>
        <p:txBody>
          <a:bodyPr wrap="square" lIns="0" tIns="0" rIns="0" bIns="0">
            <a:spAutoFit/>
          </a:bodyPr>
          <a:lstStyle>
            <a:lvl1pPr algn="l">
              <a:defRPr>
                <a:solidFill>
                  <a:schemeClr val="tx1">
                    <a:tint val="75000"/>
                  </a:schemeClr>
                </a:solidFill>
              </a:defRPr>
            </a:lvl1pPr>
          </a:lstStyle>
          <a:p>
            <a:fld id="{A7D0E563-AC30-4883-9709-5124BD668EAD}" type="datetime1">
              <a:rPr lang="en-GB" smtClean="0">
                <a:solidFill>
                  <a:prstClr val="black">
                    <a:tint val="75000"/>
                  </a:prstClr>
                </a:solidFill>
              </a:rPr>
              <a:t>17/03/2025</a:t>
            </a:fld>
            <a:endParaRPr lang="en-US">
              <a:solidFill>
                <a:prstClr val="black">
                  <a:tint val="75000"/>
                </a:prstClr>
              </a:solidFill>
            </a:endParaRPr>
          </a:p>
        </p:txBody>
      </p:sp>
      <p:sp>
        <p:nvSpPr>
          <p:cNvPr id="6" name="Holder 6"/>
          <p:cNvSpPr>
            <a:spLocks noGrp="1"/>
          </p:cNvSpPr>
          <p:nvPr>
            <p:ph type="sldNum" sz="quarter" idx="7"/>
          </p:nvPr>
        </p:nvSpPr>
        <p:spPr>
          <a:xfrm>
            <a:off x="11202077" y="6464680"/>
            <a:ext cx="309033" cy="153888"/>
          </a:xfrm>
          <a:prstGeom prst="rect">
            <a:avLst/>
          </a:prstGeom>
        </p:spPr>
        <p:txBody>
          <a:bodyPr wrap="square" lIns="0" tIns="0" rIns="0" bIns="0">
            <a:spAutoFit/>
          </a:bodyPr>
          <a:lstStyle>
            <a:lvl1pPr>
              <a:defRPr sz="1200" b="0" i="0">
                <a:solidFill>
                  <a:srgbClr val="888888"/>
                </a:solidFill>
                <a:latin typeface="Calibri"/>
                <a:cs typeface="Calibri"/>
              </a:defRPr>
            </a:lvl1pPr>
          </a:lstStyle>
          <a:p>
            <a:pPr marL="38100">
              <a:lnSpc>
                <a:spcPts val="1240"/>
              </a:lnSpc>
            </a:pPr>
            <a:fld id="{81D60167-4931-47E6-BA6A-407CBD079E47}" type="slidenum">
              <a:rPr lang="en-US" smtClean="0"/>
              <a:pPr marL="38100">
                <a:lnSpc>
                  <a:spcPts val="1240"/>
                </a:lnSpc>
              </a:pPr>
              <a:t>‹#›</a:t>
            </a:fld>
            <a:endParaRPr lang="en-US" dirty="0"/>
          </a:p>
        </p:txBody>
      </p:sp>
    </p:spTree>
    <p:extLst>
      <p:ext uri="{BB962C8B-B14F-4D97-AF65-F5344CB8AC3E}">
        <p14:creationId xmlns:p14="http://schemas.microsoft.com/office/powerpoint/2010/main" val="289462048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hf hdr="0" ft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hyperlink" Target="https://med.stanford.edu/irt/security/protecting/set-passwds.html" TargetMode="Externa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2192000" cy="6857996"/>
          </a:xfrm>
          <a:prstGeom prst="rect">
            <a:avLst/>
          </a:prstGeom>
        </p:spPr>
      </p:pic>
      <p:sp>
        <p:nvSpPr>
          <p:cNvPr id="3" name="object 3"/>
          <p:cNvSpPr txBox="1">
            <a:spLocks noGrp="1"/>
          </p:cNvSpPr>
          <p:nvPr>
            <p:ph type="title"/>
          </p:nvPr>
        </p:nvSpPr>
        <p:spPr>
          <a:xfrm>
            <a:off x="0" y="-348661"/>
            <a:ext cx="12191999" cy="3347070"/>
          </a:xfrm>
          <a:prstGeom prst="rect">
            <a:avLst/>
          </a:prstGeom>
        </p:spPr>
        <p:txBody>
          <a:bodyPr vert="horz" wrap="square" lIns="0" tIns="12700" rIns="0" bIns="0" rtlCol="0">
            <a:spAutoFit/>
          </a:bodyPr>
          <a:lstStyle/>
          <a:p>
            <a:pPr algn="ctr">
              <a:lnSpc>
                <a:spcPts val="5230"/>
              </a:lnSpc>
              <a:spcBef>
                <a:spcPts val="100"/>
              </a:spcBef>
            </a:pPr>
            <a:r>
              <a:rPr lang="en-GB" b="1" dirty="0" smtClean="0">
                <a:solidFill>
                  <a:schemeClr val="bg1"/>
                </a:solidFill>
                <a:latin typeface="Gill Sans MT" panose="020B0502020104020203" pitchFamily="34" charset="0"/>
              </a:rPr>
              <a:t/>
            </a:r>
            <a:br>
              <a:rPr lang="en-GB" b="1" dirty="0" smtClean="0">
                <a:solidFill>
                  <a:schemeClr val="bg1"/>
                </a:solidFill>
                <a:latin typeface="Gill Sans MT" panose="020B0502020104020203" pitchFamily="34" charset="0"/>
              </a:rPr>
            </a:br>
            <a:r>
              <a:rPr lang="en-GB" b="1" dirty="0" smtClean="0">
                <a:solidFill>
                  <a:schemeClr val="bg1"/>
                </a:solidFill>
                <a:latin typeface="Gill Sans MT" panose="020B0502020104020203" pitchFamily="34" charset="0"/>
              </a:rPr>
              <a:t>Server </a:t>
            </a:r>
            <a:r>
              <a:rPr lang="en-GB" b="1" dirty="0">
                <a:solidFill>
                  <a:schemeClr val="bg1"/>
                </a:solidFill>
                <a:latin typeface="Gill Sans MT" panose="020B0502020104020203" pitchFamily="34" charset="0"/>
              </a:rPr>
              <a:t>and Systems Administration</a:t>
            </a:r>
            <a:r>
              <a:rPr lang="en-US" b="1" dirty="0">
                <a:solidFill>
                  <a:schemeClr val="bg1"/>
                </a:solidFill>
                <a:latin typeface="Gill Sans MT" panose="020B0502020104020203" pitchFamily="34" charset="0"/>
                <a:ea typeface="Times New Roman" panose="02020603050405020304" pitchFamily="18" charset="0"/>
                <a:cs typeface="Times New Roman" panose="02020603050405020304" pitchFamily="18" charset="0"/>
              </a:rPr>
              <a:t/>
            </a:r>
            <a:br>
              <a:rPr lang="en-US" b="1" dirty="0">
                <a:solidFill>
                  <a:schemeClr val="bg1"/>
                </a:solidFill>
                <a:latin typeface="Gill Sans MT" panose="020B0502020104020203" pitchFamily="34" charset="0"/>
                <a:ea typeface="Times New Roman" panose="02020603050405020304" pitchFamily="18" charset="0"/>
                <a:cs typeface="Times New Roman" panose="02020603050405020304" pitchFamily="18" charset="0"/>
              </a:rPr>
            </a:br>
            <a:r>
              <a:rPr lang="en-US" b="1" dirty="0" smtClean="0">
                <a:solidFill>
                  <a:schemeClr val="bg1"/>
                </a:solidFill>
                <a:latin typeface="Gill Sans MT" panose="020B0502020104020203" pitchFamily="34" charset="0"/>
                <a:ea typeface="Times New Roman" panose="02020603050405020304" pitchFamily="18" charset="0"/>
                <a:cs typeface="Times New Roman" panose="02020603050405020304" pitchFamily="18" charset="0"/>
              </a:rPr>
              <a:t/>
            </a:r>
            <a:br>
              <a:rPr lang="en-US" b="1" dirty="0" smtClean="0">
                <a:solidFill>
                  <a:schemeClr val="bg1"/>
                </a:solidFill>
                <a:latin typeface="Gill Sans MT" panose="020B0502020104020203" pitchFamily="34" charset="0"/>
                <a:ea typeface="Times New Roman" panose="02020603050405020304" pitchFamily="18" charset="0"/>
                <a:cs typeface="Times New Roman" panose="02020603050405020304" pitchFamily="18" charset="0"/>
              </a:rPr>
            </a:br>
            <a:r>
              <a:rPr lang="en-US" dirty="0" smtClean="0">
                <a:solidFill>
                  <a:schemeClr val="bg1"/>
                </a:solidFill>
                <a:latin typeface="Gill Sans MT" panose="020B0502020104020203" pitchFamily="34" charset="0"/>
              </a:rPr>
              <a:t>Module Code : CSC3504 </a:t>
            </a:r>
            <a:r>
              <a:rPr lang="en-US" dirty="0" smtClean="0">
                <a:solidFill>
                  <a:schemeClr val="accent1"/>
                </a:solidFill>
                <a:latin typeface="Gill Sans MT" panose="020B0502020104020203" pitchFamily="34" charset="0"/>
              </a:rPr>
              <a:t/>
            </a:r>
            <a:br>
              <a:rPr lang="en-US" dirty="0" smtClean="0">
                <a:solidFill>
                  <a:schemeClr val="accent1"/>
                </a:solidFill>
                <a:latin typeface="Gill Sans MT" panose="020B0502020104020203" pitchFamily="34" charset="0"/>
              </a:rPr>
            </a:br>
            <a:endParaRPr sz="4400" dirty="0">
              <a:latin typeface="Gill Sans MT" panose="020B0502020104020203" pitchFamily="34" charset="0"/>
            </a:endParaRPr>
          </a:p>
        </p:txBody>
      </p:sp>
      <p:sp>
        <p:nvSpPr>
          <p:cNvPr id="4" name="object 4"/>
          <p:cNvSpPr txBox="1"/>
          <p:nvPr/>
        </p:nvSpPr>
        <p:spPr>
          <a:xfrm>
            <a:off x="3995461" y="2529031"/>
            <a:ext cx="5029200" cy="505908"/>
          </a:xfrm>
          <a:prstGeom prst="rect">
            <a:avLst/>
          </a:prstGeom>
        </p:spPr>
        <p:txBody>
          <a:bodyPr vert="horz" wrap="square" lIns="0" tIns="13335" rIns="0" bIns="0" rtlCol="0">
            <a:spAutoFit/>
          </a:bodyPr>
          <a:lstStyle/>
          <a:p>
            <a:pPr marL="12700">
              <a:spcBef>
                <a:spcPts val="105"/>
              </a:spcBef>
            </a:pPr>
            <a:r>
              <a:rPr lang="en-US" sz="3200" b="1" dirty="0" smtClean="0">
                <a:solidFill>
                  <a:srgbClr val="FFC000"/>
                </a:solidFill>
                <a:latin typeface="MS PGothic"/>
                <a:cs typeface="MS PGothic"/>
              </a:rPr>
              <a:t>Simeon </a:t>
            </a:r>
            <a:r>
              <a:rPr lang="en-US" sz="3200" b="1" dirty="0" smtClean="0">
                <a:solidFill>
                  <a:srgbClr val="FFC000"/>
                </a:solidFill>
                <a:latin typeface="Gill Sans MT" panose="020B0502020104020203" pitchFamily="34" charset="0"/>
                <a:cs typeface="MS PGothic"/>
              </a:rPr>
              <a:t>NDAYAMBAJE</a:t>
            </a:r>
            <a:endParaRPr sz="3200" b="1" dirty="0">
              <a:latin typeface="Gill Sans MT" panose="020B0502020104020203" pitchFamily="34" charset="0"/>
              <a:cs typeface="MS PGothic"/>
            </a:endParaRPr>
          </a:p>
        </p:txBody>
      </p:sp>
      <p:sp>
        <p:nvSpPr>
          <p:cNvPr id="6" name="object 6"/>
          <p:cNvSpPr txBox="1"/>
          <p:nvPr/>
        </p:nvSpPr>
        <p:spPr>
          <a:xfrm>
            <a:off x="4847083" y="6426504"/>
            <a:ext cx="3325956" cy="197490"/>
          </a:xfrm>
          <a:prstGeom prst="rect">
            <a:avLst/>
          </a:prstGeom>
        </p:spPr>
        <p:txBody>
          <a:bodyPr vert="horz" wrap="square" lIns="0" tIns="12700" rIns="0" bIns="0" rtlCol="0">
            <a:spAutoFit/>
          </a:bodyPr>
          <a:lstStyle/>
          <a:p>
            <a:pPr marL="12700">
              <a:spcBef>
                <a:spcPts val="100"/>
              </a:spcBef>
            </a:pPr>
            <a:r>
              <a:rPr lang="en-GB" sz="1200" b="1" dirty="0">
                <a:solidFill>
                  <a:schemeClr val="bg1"/>
                </a:solidFill>
              </a:rPr>
              <a:t>Server and Systems Administration </a:t>
            </a:r>
            <a:r>
              <a:rPr lang="en-GB" sz="1200" b="1" dirty="0" smtClean="0">
                <a:solidFill>
                  <a:schemeClr val="bg1"/>
                </a:solidFill>
              </a:rPr>
              <a:t>, </a:t>
            </a:r>
            <a:r>
              <a:rPr lang="en-US" sz="1200" dirty="0" smtClean="0">
                <a:solidFill>
                  <a:schemeClr val="bg1"/>
                </a:solidFill>
              </a:rPr>
              <a:t>CSC3504 </a:t>
            </a:r>
            <a:endParaRPr sz="1200" dirty="0">
              <a:solidFill>
                <a:schemeClr val="bg1"/>
              </a:solidFill>
              <a:latin typeface="Calibri"/>
              <a:cs typeface="Calibri"/>
            </a:endParaRPr>
          </a:p>
        </p:txBody>
      </p:sp>
      <p:sp>
        <p:nvSpPr>
          <p:cNvPr id="7" name="object 7"/>
          <p:cNvSpPr txBox="1"/>
          <p:nvPr/>
        </p:nvSpPr>
        <p:spPr>
          <a:xfrm>
            <a:off x="10028681" y="6426504"/>
            <a:ext cx="102870" cy="197490"/>
          </a:xfrm>
          <a:prstGeom prst="rect">
            <a:avLst/>
          </a:prstGeom>
        </p:spPr>
        <p:txBody>
          <a:bodyPr vert="horz" wrap="square" lIns="0" tIns="12700" rIns="0" bIns="0" rtlCol="0">
            <a:spAutoFit/>
          </a:bodyPr>
          <a:lstStyle/>
          <a:p>
            <a:pPr marL="12700">
              <a:spcBef>
                <a:spcPts val="100"/>
              </a:spcBef>
            </a:pPr>
            <a:r>
              <a:rPr sz="1200" dirty="0">
                <a:solidFill>
                  <a:srgbClr val="888888"/>
                </a:solidFill>
                <a:latin typeface="Calibri"/>
                <a:cs typeface="Calibri"/>
              </a:rPr>
              <a:t>1</a:t>
            </a:r>
            <a:endParaRPr sz="1200">
              <a:latin typeface="Calibri"/>
              <a:cs typeface="Calibri"/>
            </a:endParaRPr>
          </a:p>
        </p:txBody>
      </p:sp>
      <p:sp>
        <p:nvSpPr>
          <p:cNvPr id="9" name="Slide Number Placeholder 8"/>
          <p:cNvSpPr>
            <a:spLocks noGrp="1"/>
          </p:cNvSpPr>
          <p:nvPr>
            <p:ph type="sldNum" sz="quarter" idx="4294967295"/>
          </p:nvPr>
        </p:nvSpPr>
        <p:spPr>
          <a:xfrm>
            <a:off x="11202077" y="6464680"/>
            <a:ext cx="309033" cy="153888"/>
          </a:xfrm>
          <a:prstGeom prst="rect">
            <a:avLst/>
          </a:prstGeom>
        </p:spPr>
        <p:txBody>
          <a:bodyPr/>
          <a:lstStyle/>
          <a:p>
            <a:pPr marL="38100">
              <a:lnSpc>
                <a:spcPts val="1240"/>
              </a:lnSpc>
            </a:pPr>
            <a:fld id="{81D60167-4931-47E6-BA6A-407CBD079E47}" type="slidenum">
              <a:rPr lang="en-US" smtClean="0"/>
              <a:pPr marL="38100">
                <a:lnSpc>
                  <a:spcPts val="1240"/>
                </a:lnSpc>
              </a:pPr>
              <a:t>1</a:t>
            </a:fld>
            <a:endParaRPr lang="en-US" dirty="0"/>
          </a:p>
        </p:txBody>
      </p:sp>
    </p:spTree>
    <p:extLst>
      <p:ext uri="{BB962C8B-B14F-4D97-AF65-F5344CB8AC3E}">
        <p14:creationId xmlns:p14="http://schemas.microsoft.com/office/powerpoint/2010/main" val="67856684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2</a:t>
            </a:fld>
            <a:endParaRPr lang="en-US" dirty="0"/>
          </a:p>
        </p:txBody>
      </p:sp>
      <p:sp>
        <p:nvSpPr>
          <p:cNvPr id="3" name="Rectangle 2"/>
          <p:cNvSpPr/>
          <p:nvPr/>
        </p:nvSpPr>
        <p:spPr>
          <a:xfrm>
            <a:off x="1560945" y="2145206"/>
            <a:ext cx="9512395" cy="1938992"/>
          </a:xfrm>
          <a:prstGeom prst="rect">
            <a:avLst/>
          </a:prstGeom>
        </p:spPr>
        <p:txBody>
          <a:bodyPr wrap="square">
            <a:spAutoFit/>
          </a:bodyPr>
          <a:lstStyle/>
          <a:p>
            <a:pPr algn="ctr"/>
            <a:r>
              <a:rPr lang="en-US" altLang="x-none" sz="4000" b="1" dirty="0" smtClean="0">
                <a:solidFill>
                  <a:srgbClr val="C00000"/>
                </a:solidFill>
                <a:latin typeface="Gill Sans MT" panose="020B0502020104020203" pitchFamily="34" charset="0"/>
              </a:rPr>
              <a:t>Chapter 5</a:t>
            </a:r>
          </a:p>
          <a:p>
            <a:pPr algn="ctr"/>
            <a:endParaRPr lang="en-US" altLang="x-none" sz="4000" b="1" dirty="0" smtClean="0">
              <a:solidFill>
                <a:srgbClr val="C00000"/>
              </a:solidFill>
              <a:latin typeface="Gill Sans MT" panose="020B0502020104020203" pitchFamily="34" charset="0"/>
            </a:endParaRPr>
          </a:p>
          <a:p>
            <a:pPr algn="ctr"/>
            <a:r>
              <a:rPr lang="en-US" altLang="x-none" sz="4000" b="1" dirty="0" smtClean="0">
                <a:latin typeface="Gill Sans MT" panose="020B0502020104020203" pitchFamily="34" charset="0"/>
              </a:rPr>
              <a:t>Security Principals</a:t>
            </a:r>
            <a:endParaRPr lang="en-US" altLang="x-none" sz="4000" b="1" dirty="0">
              <a:latin typeface="Gill Sans MT" panose="020B0502020104020203" pitchFamily="34" charset="0"/>
            </a:endParaRPr>
          </a:p>
        </p:txBody>
      </p:sp>
    </p:spTree>
    <p:extLst>
      <p:ext uri="{BB962C8B-B14F-4D97-AF65-F5344CB8AC3E}">
        <p14:creationId xmlns:p14="http://schemas.microsoft.com/office/powerpoint/2010/main" val="149872743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1524000" y="1378449"/>
            <a:ext cx="9144000" cy="615553"/>
          </a:xfrm>
        </p:spPr>
        <p:txBody>
          <a:bodyPr/>
          <a:lstStyle/>
          <a:p>
            <a:pPr eaLnBrk="1" hangingPunct="1"/>
            <a:r>
              <a:rPr lang="en-US" b="1" dirty="0" smtClean="0">
                <a:latin typeface="Gill Sans MT" panose="020B0502020104020203" pitchFamily="34" charset="0"/>
              </a:rPr>
              <a:t>What Server and System Security? </a:t>
            </a:r>
            <a:endParaRPr lang="en-CA" dirty="0" smtClean="0">
              <a:latin typeface="Gill Sans MT" panose="020B0502020104020203" pitchFamily="34" charset="0"/>
            </a:endParaRPr>
          </a:p>
        </p:txBody>
      </p:sp>
      <p:sp>
        <p:nvSpPr>
          <p:cNvPr id="6147" name="Rectangle 3"/>
          <p:cNvSpPr>
            <a:spLocks noGrp="1" noChangeArrowheads="1"/>
          </p:cNvSpPr>
          <p:nvPr>
            <p:ph type="body" idx="1"/>
          </p:nvPr>
        </p:nvSpPr>
        <p:spPr>
          <a:xfrm>
            <a:off x="1524000" y="2679844"/>
            <a:ext cx="9685106" cy="2462213"/>
          </a:xfrm>
        </p:spPr>
        <p:txBody>
          <a:bodyPr/>
          <a:lstStyle/>
          <a:p>
            <a:r>
              <a:rPr lang="en-US" sz="4000" dirty="0" smtClean="0">
                <a:latin typeface="Gill Sans MT" panose="020B0502020104020203" pitchFamily="34" charset="0"/>
              </a:rPr>
              <a:t>Server </a:t>
            </a:r>
            <a:r>
              <a:rPr lang="en-US" sz="4000" dirty="0">
                <a:latin typeface="Gill Sans MT" panose="020B0502020104020203" pitchFamily="34" charset="0"/>
              </a:rPr>
              <a:t>and System security is the protection of </a:t>
            </a:r>
            <a:r>
              <a:rPr lang="en-US" sz="4000" dirty="0" smtClean="0">
                <a:latin typeface="Gill Sans MT" panose="020B0502020104020203" pitchFamily="34" charset="0"/>
              </a:rPr>
              <a:t>assets (</a:t>
            </a:r>
            <a:r>
              <a:rPr lang="en-US" dirty="0">
                <a:latin typeface="Gill Sans MT" panose="020B0502020104020203" pitchFamily="34" charset="0"/>
              </a:rPr>
              <a:t>computer systems, networks, and data</a:t>
            </a:r>
            <a:r>
              <a:rPr lang="en-US" sz="4000" dirty="0" smtClean="0">
                <a:latin typeface="Gill Sans MT" panose="020B0502020104020203" pitchFamily="34" charset="0"/>
              </a:rPr>
              <a:t>) </a:t>
            </a:r>
            <a:r>
              <a:rPr lang="en-US" sz="4000" dirty="0">
                <a:latin typeface="Gill Sans MT" panose="020B0502020104020203" pitchFamily="34" charset="0"/>
              </a:rPr>
              <a:t>from unauthorized access, use, alteration, or destruction. </a:t>
            </a:r>
            <a:endParaRPr lang="en-CA" sz="2800" dirty="0">
              <a:latin typeface="Gill Sans MT" panose="020B0502020104020203" pitchFamily="34" charset="0"/>
            </a:endParaRPr>
          </a:p>
        </p:txBody>
      </p:sp>
    </p:spTree>
    <p:extLst>
      <p:ext uri="{BB962C8B-B14F-4D97-AF65-F5344CB8AC3E}">
        <p14:creationId xmlns:p14="http://schemas.microsoft.com/office/powerpoint/2010/main" val="6539850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4</a:t>
            </a:fld>
            <a:endParaRPr lang="en-US" dirty="0"/>
          </a:p>
        </p:txBody>
      </p:sp>
      <p:sp>
        <p:nvSpPr>
          <p:cNvPr id="5" name="Title 1"/>
          <p:cNvSpPr>
            <a:spLocks noGrp="1"/>
          </p:cNvSpPr>
          <p:nvPr>
            <p:ph type="title"/>
          </p:nvPr>
        </p:nvSpPr>
        <p:spPr>
          <a:xfrm>
            <a:off x="714588" y="999490"/>
            <a:ext cx="9134007" cy="492443"/>
          </a:xfrm>
        </p:spPr>
        <p:txBody>
          <a:bodyPr/>
          <a:lstStyle/>
          <a:p>
            <a:r>
              <a:rPr lang="en-GB" sz="3200" dirty="0">
                <a:latin typeface="Gill Sans MT" panose="020B0502020104020203" pitchFamily="34" charset="0"/>
              </a:rPr>
              <a:t>E</a:t>
            </a:r>
            <a:r>
              <a:rPr lang="en-GB" sz="3200" dirty="0" smtClean="0">
                <a:latin typeface="Gill Sans MT" panose="020B0502020104020203" pitchFamily="34" charset="0"/>
              </a:rPr>
              <a:t>ssential </a:t>
            </a:r>
            <a:r>
              <a:rPr lang="en-US" altLang="en-US" sz="3200" dirty="0" smtClean="0">
                <a:latin typeface="Gill Sans MT" panose="020B0502020104020203" pitchFamily="34" charset="0"/>
              </a:rPr>
              <a:t>Dimensions</a:t>
            </a:r>
            <a:r>
              <a:rPr lang="en-GB" sz="3200" dirty="0" smtClean="0">
                <a:latin typeface="Gill Sans MT" panose="020B0502020104020203" pitchFamily="34" charset="0"/>
              </a:rPr>
              <a:t> </a:t>
            </a:r>
            <a:r>
              <a:rPr lang="en-GB" sz="3200" dirty="0">
                <a:latin typeface="Gill Sans MT" panose="020B0502020104020203" pitchFamily="34" charset="0"/>
              </a:rPr>
              <a:t>for </a:t>
            </a:r>
            <a:r>
              <a:rPr lang="en-US" sz="3200" dirty="0" smtClean="0">
                <a:latin typeface="Gill Sans MT" panose="020B0502020104020203" pitchFamily="34" charset="0"/>
              </a:rPr>
              <a:t>Server Security</a:t>
            </a:r>
            <a:endParaRPr lang="en-GB" sz="3200" dirty="0">
              <a:latin typeface="Gill Sans MT" panose="020B0502020104020203" pitchFamily="34" charset="0"/>
            </a:endParaRPr>
          </a:p>
        </p:txBody>
      </p:sp>
      <p:sp>
        <p:nvSpPr>
          <p:cNvPr id="6" name="Text Placeholder 2"/>
          <p:cNvSpPr>
            <a:spLocks noGrp="1"/>
          </p:cNvSpPr>
          <p:nvPr>
            <p:ph type="body" idx="1"/>
          </p:nvPr>
        </p:nvSpPr>
        <p:spPr>
          <a:xfrm>
            <a:off x="748285" y="1636629"/>
            <a:ext cx="10762825" cy="4981939"/>
          </a:xfrm>
        </p:spPr>
        <p:txBody>
          <a:bodyPr/>
          <a:lstStyle/>
          <a:p>
            <a:pPr marL="514350" indent="-514350">
              <a:buFont typeface="+mj-lt"/>
              <a:buAutoNum type="arabicPeriod"/>
              <a:defRPr/>
            </a:pPr>
            <a:r>
              <a:rPr lang="en-US" sz="2800" b="1" dirty="0" smtClean="0">
                <a:solidFill>
                  <a:schemeClr val="accent6"/>
                </a:solidFill>
                <a:latin typeface="Gill Sans MT" panose="020B0502020104020203" pitchFamily="34" charset="0"/>
              </a:rPr>
              <a:t>Integrity</a:t>
            </a:r>
            <a:r>
              <a:rPr lang="en-US" sz="2800" b="1" dirty="0">
                <a:solidFill>
                  <a:schemeClr val="accent6"/>
                </a:solidFill>
                <a:latin typeface="Gill Sans MT" panose="020B0502020104020203" pitchFamily="34" charset="0"/>
              </a:rPr>
              <a:t>: </a:t>
            </a:r>
            <a:r>
              <a:rPr lang="en-US" sz="2800" dirty="0">
                <a:latin typeface="Gill Sans MT" panose="020B0502020104020203" pitchFamily="34" charset="0"/>
              </a:rPr>
              <a:t>prevention against unauthorized data modification</a:t>
            </a:r>
          </a:p>
          <a:p>
            <a:pPr marL="514350" indent="-514350">
              <a:buFont typeface="+mj-lt"/>
              <a:buAutoNum type="arabicPeriod"/>
              <a:defRPr/>
            </a:pPr>
            <a:r>
              <a:rPr lang="en-US" sz="2800" b="1" dirty="0" smtClean="0">
                <a:solidFill>
                  <a:schemeClr val="accent6"/>
                </a:solidFill>
                <a:latin typeface="Gill Sans MT" panose="020B0502020104020203" pitchFamily="34" charset="0"/>
              </a:rPr>
              <a:t>Nonrepudiation</a:t>
            </a:r>
            <a:r>
              <a:rPr lang="en-US" sz="2800" b="1" dirty="0">
                <a:solidFill>
                  <a:schemeClr val="accent6"/>
                </a:solidFill>
                <a:latin typeface="Gill Sans MT" panose="020B0502020104020203" pitchFamily="34" charset="0"/>
              </a:rPr>
              <a:t>: </a:t>
            </a:r>
            <a:r>
              <a:rPr lang="en-US" sz="2800" dirty="0">
                <a:latin typeface="Gill Sans MT" panose="020B0502020104020203" pitchFamily="34" charset="0"/>
              </a:rPr>
              <a:t>prevention against any one party from reneging on an agreement after the fact</a:t>
            </a:r>
          </a:p>
          <a:p>
            <a:pPr marL="514350" indent="-514350">
              <a:buFont typeface="+mj-lt"/>
              <a:buAutoNum type="arabicPeriod"/>
              <a:defRPr/>
            </a:pPr>
            <a:r>
              <a:rPr lang="en-US" sz="2800" b="1" dirty="0" smtClean="0">
                <a:solidFill>
                  <a:schemeClr val="accent6"/>
                </a:solidFill>
                <a:latin typeface="Gill Sans MT" panose="020B0502020104020203" pitchFamily="34" charset="0"/>
              </a:rPr>
              <a:t>Authenticity</a:t>
            </a:r>
            <a:r>
              <a:rPr lang="en-US" sz="2800" b="1" dirty="0">
                <a:solidFill>
                  <a:schemeClr val="accent6"/>
                </a:solidFill>
                <a:latin typeface="Gill Sans MT" panose="020B0502020104020203" pitchFamily="34" charset="0"/>
              </a:rPr>
              <a:t>: </a:t>
            </a:r>
            <a:r>
              <a:rPr lang="en-US" sz="2800" dirty="0">
                <a:latin typeface="Gill Sans MT" panose="020B0502020104020203" pitchFamily="34" charset="0"/>
              </a:rPr>
              <a:t>authentication of data source</a:t>
            </a:r>
          </a:p>
          <a:p>
            <a:pPr marL="514350" indent="-514350">
              <a:buFont typeface="+mj-lt"/>
              <a:buAutoNum type="arabicPeriod"/>
              <a:defRPr/>
            </a:pPr>
            <a:r>
              <a:rPr lang="en-US" sz="2800" b="1" dirty="0" smtClean="0">
                <a:solidFill>
                  <a:schemeClr val="accent6"/>
                </a:solidFill>
                <a:latin typeface="Gill Sans MT" panose="020B0502020104020203" pitchFamily="34" charset="0"/>
              </a:rPr>
              <a:t>Confidentiality</a:t>
            </a:r>
            <a:r>
              <a:rPr lang="en-US" sz="2800" b="1" dirty="0">
                <a:solidFill>
                  <a:schemeClr val="accent6"/>
                </a:solidFill>
                <a:latin typeface="Gill Sans MT" panose="020B0502020104020203" pitchFamily="34" charset="0"/>
              </a:rPr>
              <a:t>: </a:t>
            </a:r>
            <a:r>
              <a:rPr lang="en-US" sz="2800" dirty="0">
                <a:latin typeface="Gill Sans MT" panose="020B0502020104020203" pitchFamily="34" charset="0"/>
              </a:rPr>
              <a:t>protection against unauthorized data disclosure</a:t>
            </a:r>
          </a:p>
          <a:p>
            <a:pPr marL="514350" indent="-514350">
              <a:buFont typeface="+mj-lt"/>
              <a:buAutoNum type="arabicPeriod"/>
              <a:defRPr/>
            </a:pPr>
            <a:r>
              <a:rPr lang="en-US" sz="2800" b="1" dirty="0" smtClean="0">
                <a:solidFill>
                  <a:schemeClr val="accent6"/>
                </a:solidFill>
                <a:latin typeface="Gill Sans MT" panose="020B0502020104020203" pitchFamily="34" charset="0"/>
              </a:rPr>
              <a:t>Privacy</a:t>
            </a:r>
            <a:r>
              <a:rPr lang="en-US" sz="2800" b="1" dirty="0">
                <a:solidFill>
                  <a:schemeClr val="accent6"/>
                </a:solidFill>
                <a:latin typeface="Gill Sans MT" panose="020B0502020104020203" pitchFamily="34" charset="0"/>
              </a:rPr>
              <a:t>: </a:t>
            </a:r>
            <a:r>
              <a:rPr lang="en-US" altLang="x-none" sz="2800" dirty="0">
                <a:latin typeface="Gill Sans MT" panose="020B0502020104020203" pitchFamily="34" charset="0"/>
              </a:rPr>
              <a:t>protection of individual rights to </a:t>
            </a:r>
            <a:r>
              <a:rPr lang="en-US" altLang="x-none" sz="2800" dirty="0" smtClean="0">
                <a:latin typeface="Gill Sans MT" panose="020B0502020104020203" pitchFamily="34" charset="0"/>
              </a:rPr>
              <a:t>non-disclosure</a:t>
            </a:r>
          </a:p>
          <a:p>
            <a:pPr marL="514350" indent="-514350">
              <a:buFont typeface="+mj-lt"/>
              <a:buAutoNum type="arabicPeriod"/>
              <a:defRPr/>
            </a:pPr>
            <a:r>
              <a:rPr lang="en-US" sz="2800" b="1" dirty="0" smtClean="0">
                <a:solidFill>
                  <a:schemeClr val="accent6"/>
                </a:solidFill>
                <a:latin typeface="Gill Sans MT" panose="020B0502020104020203" pitchFamily="34" charset="0"/>
              </a:rPr>
              <a:t>Availability</a:t>
            </a:r>
            <a:r>
              <a:rPr lang="en-US" sz="2800" b="1" dirty="0">
                <a:solidFill>
                  <a:schemeClr val="accent6"/>
                </a:solidFill>
                <a:latin typeface="Gill Sans MT" panose="020B0502020104020203" pitchFamily="34" charset="0"/>
              </a:rPr>
              <a:t>: </a:t>
            </a:r>
            <a:r>
              <a:rPr lang="en-US" sz="2800" dirty="0">
                <a:latin typeface="Gill Sans MT" panose="020B0502020104020203" pitchFamily="34" charset="0"/>
              </a:rPr>
              <a:t>prevention against data delays or </a:t>
            </a:r>
            <a:r>
              <a:rPr lang="en-US" sz="2800" dirty="0" smtClean="0">
                <a:latin typeface="Gill Sans MT" panose="020B0502020104020203" pitchFamily="34" charset="0"/>
              </a:rPr>
              <a:t>removal</a:t>
            </a:r>
          </a:p>
          <a:p>
            <a:pPr marL="514350" indent="-514350">
              <a:buFont typeface="+mj-lt"/>
              <a:buAutoNum type="arabicPeriod"/>
              <a:defRPr/>
            </a:pPr>
            <a:r>
              <a:rPr lang="en-US" sz="2800" b="1" dirty="0" smtClean="0">
                <a:solidFill>
                  <a:schemeClr val="accent6"/>
                </a:solidFill>
                <a:latin typeface="Gill Sans MT" panose="020B0502020104020203" pitchFamily="34" charset="0"/>
              </a:rPr>
              <a:t>Auditability: </a:t>
            </a:r>
            <a:r>
              <a:rPr lang="en-US" sz="2800" dirty="0" smtClean="0">
                <a:latin typeface="Gill Sans MT" panose="020B0502020104020203" pitchFamily="34" charset="0"/>
              </a:rPr>
              <a:t>Data </a:t>
            </a:r>
            <a:r>
              <a:rPr lang="en-US" sz="2800" dirty="0">
                <a:latin typeface="Gill Sans MT" panose="020B0502020104020203" pitchFamily="34" charset="0"/>
              </a:rPr>
              <a:t>should be recorded in such a way that it can be audited for integrity requirements</a:t>
            </a:r>
            <a:r>
              <a:rPr lang="en-US" sz="2800" dirty="0" smtClean="0"/>
              <a:t>.</a:t>
            </a:r>
          </a:p>
          <a:p>
            <a:pPr marL="514350" indent="-514350">
              <a:buFont typeface="+mj-lt"/>
              <a:buAutoNum type="arabicPeriod"/>
              <a:defRPr/>
            </a:pPr>
            <a:r>
              <a:rPr lang="en-US" sz="2800" b="1" dirty="0" smtClean="0">
                <a:solidFill>
                  <a:schemeClr val="accent6"/>
                </a:solidFill>
                <a:latin typeface="Gill Sans MT" panose="020B0502020104020203" pitchFamily="34" charset="0"/>
              </a:rPr>
              <a:t>Encryption</a:t>
            </a:r>
            <a:r>
              <a:rPr lang="en-US" sz="2800" dirty="0" smtClean="0">
                <a:solidFill>
                  <a:schemeClr val="accent6"/>
                </a:solidFill>
                <a:latin typeface="Gill Sans MT" panose="020B0502020104020203" pitchFamily="34" charset="0"/>
              </a:rPr>
              <a:t>: </a:t>
            </a:r>
            <a:r>
              <a:rPr lang="en-US" sz="2800" dirty="0" smtClean="0">
                <a:latin typeface="Gill Sans MT" panose="020B0502020104020203" pitchFamily="34" charset="0"/>
              </a:rPr>
              <a:t>Information </a:t>
            </a:r>
            <a:r>
              <a:rPr lang="en-US" sz="2800" dirty="0">
                <a:latin typeface="Gill Sans MT" panose="020B0502020104020203" pitchFamily="34" charset="0"/>
              </a:rPr>
              <a:t>should be encrypted and decrypted only by an authorized user.</a:t>
            </a:r>
          </a:p>
          <a:p>
            <a:pPr marL="514350" indent="-514350">
              <a:buFont typeface="+mj-lt"/>
              <a:buAutoNum type="arabicPeriod"/>
              <a:defRPr/>
            </a:pPr>
            <a:endParaRPr lang="en-US" sz="2800" dirty="0"/>
          </a:p>
          <a:p>
            <a:pPr marL="514350" indent="-514350">
              <a:buFont typeface="+mj-lt"/>
              <a:buAutoNum type="arabicPeriod"/>
              <a:defRPr/>
            </a:pPr>
            <a:endParaRPr lang="en-US" sz="2800" dirty="0">
              <a:latin typeface="Gill Sans MT" panose="020B0502020104020203" pitchFamily="34" charset="0"/>
            </a:endParaRPr>
          </a:p>
          <a:p>
            <a:endParaRPr lang="en-GB" sz="2800" dirty="0"/>
          </a:p>
        </p:txBody>
      </p:sp>
    </p:spTree>
    <p:extLst>
      <p:ext uri="{BB962C8B-B14F-4D97-AF65-F5344CB8AC3E}">
        <p14:creationId xmlns:p14="http://schemas.microsoft.com/office/powerpoint/2010/main" val="84077416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02306" y="537153"/>
            <a:ext cx="7505192" cy="615553"/>
          </a:xfrm>
        </p:spPr>
        <p:txBody>
          <a:bodyPr/>
          <a:lstStyle/>
          <a:p>
            <a:pPr algn="ctr"/>
            <a:r>
              <a:rPr lang="en-US" dirty="0" smtClean="0">
                <a:latin typeface="Gill Sans MT" panose="020B0502020104020203" pitchFamily="34" charset="0"/>
              </a:rPr>
              <a:t>CIA and DAD</a:t>
            </a:r>
            <a:endParaRPr lang="en-GB" dirty="0">
              <a:latin typeface="Gill Sans MT" panose="020B0502020104020203" pitchFamily="34" charset="0"/>
            </a:endParaRPr>
          </a:p>
        </p:txBody>
      </p:sp>
      <p:sp>
        <p:nvSpPr>
          <p:cNvPr id="4" name="Slide Number Placeholder 3"/>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5</a:t>
            </a:fld>
            <a:endParaRPr lang="en-US" dirty="0"/>
          </a:p>
        </p:txBody>
      </p:sp>
      <p:pic>
        <p:nvPicPr>
          <p:cNvPr id="6" name="Picture 5"/>
          <p:cNvPicPr>
            <a:picLocks noChangeAspect="1"/>
          </p:cNvPicPr>
          <p:nvPr/>
        </p:nvPicPr>
        <p:blipFill>
          <a:blip r:embed="rId2"/>
          <a:stretch>
            <a:fillRect/>
          </a:stretch>
        </p:blipFill>
        <p:spPr>
          <a:xfrm>
            <a:off x="939925" y="1038298"/>
            <a:ext cx="9392661" cy="4152988"/>
          </a:xfrm>
          <a:prstGeom prst="rect">
            <a:avLst/>
          </a:prstGeom>
        </p:spPr>
      </p:pic>
      <p:sp>
        <p:nvSpPr>
          <p:cNvPr id="3" name="Rectangle 2"/>
          <p:cNvSpPr/>
          <p:nvPr/>
        </p:nvSpPr>
        <p:spPr>
          <a:xfrm>
            <a:off x="1476054" y="5191286"/>
            <a:ext cx="4010346" cy="923330"/>
          </a:xfrm>
          <a:prstGeom prst="rect">
            <a:avLst/>
          </a:prstGeom>
        </p:spPr>
        <p:txBody>
          <a:bodyPr wrap="square">
            <a:spAutoFit/>
          </a:bodyPr>
          <a:lstStyle/>
          <a:p>
            <a:r>
              <a:rPr lang="en-US" b="1" dirty="0">
                <a:solidFill>
                  <a:schemeClr val="accent1"/>
                </a:solidFill>
                <a:latin typeface="Gill Sans MT" panose="020B0502020104020203" pitchFamily="34" charset="0"/>
              </a:rPr>
              <a:t>CIA Triad </a:t>
            </a:r>
            <a:r>
              <a:rPr lang="en-US" dirty="0">
                <a:latin typeface="Gill Sans MT" panose="020B0502020104020203" pitchFamily="34" charset="0"/>
              </a:rPr>
              <a:t>– </a:t>
            </a:r>
          </a:p>
          <a:p>
            <a:r>
              <a:rPr lang="en-US" dirty="0">
                <a:latin typeface="Gill Sans MT" panose="020B0502020104020203" pitchFamily="34" charset="0"/>
              </a:rPr>
              <a:t>Goals for implementing </a:t>
            </a:r>
          </a:p>
          <a:p>
            <a:r>
              <a:rPr lang="en-US" dirty="0" smtClean="0">
                <a:latin typeface="Gill Sans MT" panose="020B0502020104020203" pitchFamily="34" charset="0"/>
              </a:rPr>
              <a:t>What can we do?</a:t>
            </a:r>
            <a:endParaRPr lang="en-US" dirty="0">
              <a:latin typeface="Gill Sans MT" panose="020B0502020104020203" pitchFamily="34" charset="0"/>
            </a:endParaRPr>
          </a:p>
        </p:txBody>
      </p:sp>
      <p:sp>
        <p:nvSpPr>
          <p:cNvPr id="7" name="Rectangle 6"/>
          <p:cNvSpPr/>
          <p:nvPr/>
        </p:nvSpPr>
        <p:spPr>
          <a:xfrm>
            <a:off x="5904320" y="5117654"/>
            <a:ext cx="4010346" cy="646331"/>
          </a:xfrm>
          <a:prstGeom prst="rect">
            <a:avLst/>
          </a:prstGeom>
        </p:spPr>
        <p:txBody>
          <a:bodyPr wrap="square">
            <a:spAutoFit/>
          </a:bodyPr>
          <a:lstStyle/>
          <a:p>
            <a:r>
              <a:rPr lang="en-US" b="1" dirty="0" smtClean="0">
                <a:solidFill>
                  <a:schemeClr val="accent1"/>
                </a:solidFill>
                <a:latin typeface="Gill Sans MT" panose="020B0502020104020203" pitchFamily="34" charset="0"/>
              </a:rPr>
              <a:t>DAD </a:t>
            </a:r>
            <a:r>
              <a:rPr lang="en-US" b="1" dirty="0">
                <a:solidFill>
                  <a:schemeClr val="accent1"/>
                </a:solidFill>
                <a:latin typeface="Gill Sans MT" panose="020B0502020104020203" pitchFamily="34" charset="0"/>
              </a:rPr>
              <a:t>Triad </a:t>
            </a:r>
            <a:r>
              <a:rPr lang="en-US" dirty="0">
                <a:latin typeface="Gill Sans MT" panose="020B0502020104020203" pitchFamily="34" charset="0"/>
              </a:rPr>
              <a:t>– </a:t>
            </a:r>
          </a:p>
          <a:p>
            <a:r>
              <a:rPr lang="en-US" dirty="0" smtClean="0">
                <a:latin typeface="Gill Sans MT" panose="020B0502020104020203" pitchFamily="34" charset="0"/>
              </a:rPr>
              <a:t>What can we avoid</a:t>
            </a:r>
            <a:endParaRPr lang="en-US" dirty="0">
              <a:latin typeface="Gill Sans MT" panose="020B0502020104020203" pitchFamily="34" charset="0"/>
            </a:endParaRPr>
          </a:p>
        </p:txBody>
      </p:sp>
    </p:spTree>
    <p:extLst>
      <p:ext uri="{BB962C8B-B14F-4D97-AF65-F5344CB8AC3E}">
        <p14:creationId xmlns:p14="http://schemas.microsoft.com/office/powerpoint/2010/main" val="183138968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43402" y="999491"/>
            <a:ext cx="8537033" cy="1231106"/>
          </a:xfrm>
        </p:spPr>
        <p:txBody>
          <a:bodyPr/>
          <a:lstStyle/>
          <a:p>
            <a:r>
              <a:rPr lang="en-US" dirty="0">
                <a:latin typeface="Gill Sans MT" panose="020B0502020104020203" pitchFamily="34" charset="0"/>
              </a:rPr>
              <a:t>Cyber Security </a:t>
            </a:r>
            <a:r>
              <a:rPr lang="en-US" dirty="0" smtClean="0">
                <a:latin typeface="Gill Sans MT" panose="020B0502020104020203" pitchFamily="34" charset="0"/>
              </a:rPr>
              <a:t>Goals (CIA Triad)</a:t>
            </a:r>
            <a:r>
              <a:rPr lang="en-US" dirty="0">
                <a:latin typeface="Gill Sans MT" panose="020B0502020104020203" pitchFamily="34" charset="0"/>
              </a:rPr>
              <a:t/>
            </a:r>
            <a:br>
              <a:rPr lang="en-US" dirty="0">
                <a:latin typeface="Gill Sans MT" panose="020B0502020104020203" pitchFamily="34" charset="0"/>
              </a:rPr>
            </a:br>
            <a:endParaRPr lang="en-GB" dirty="0">
              <a:latin typeface="Gill Sans MT" panose="020B0502020104020203" pitchFamily="34" charset="0"/>
            </a:endParaRPr>
          </a:p>
        </p:txBody>
      </p:sp>
      <p:sp>
        <p:nvSpPr>
          <p:cNvPr id="3" name="Text Placeholder 2"/>
          <p:cNvSpPr>
            <a:spLocks noGrp="1"/>
          </p:cNvSpPr>
          <p:nvPr>
            <p:ph type="body" idx="1"/>
          </p:nvPr>
        </p:nvSpPr>
        <p:spPr>
          <a:xfrm>
            <a:off x="714589" y="2027046"/>
            <a:ext cx="7524248" cy="4437633"/>
          </a:xfrm>
        </p:spPr>
        <p:txBody>
          <a:bodyPr/>
          <a:lstStyle/>
          <a:p>
            <a:pPr marL="457200" indent="-457200">
              <a:buFont typeface="Wingdings" panose="05000000000000000000" pitchFamily="2" charset="2"/>
              <a:buChar char="§"/>
            </a:pPr>
            <a:r>
              <a:rPr lang="en-US" sz="2800" dirty="0" smtClean="0">
                <a:latin typeface="Gill Sans MT" panose="020B0502020104020203" pitchFamily="34" charset="0"/>
              </a:rPr>
              <a:t>The </a:t>
            </a:r>
            <a:r>
              <a:rPr lang="en-US" sz="2800" dirty="0">
                <a:latin typeface="Gill Sans MT" panose="020B0502020104020203" pitchFamily="34" charset="0"/>
              </a:rPr>
              <a:t>objective of Cybersecurity is to protect information from being stolen, compromised or attacked. </a:t>
            </a:r>
            <a:endParaRPr lang="en-US" sz="2800" dirty="0" smtClean="0">
              <a:latin typeface="Gill Sans MT" panose="020B0502020104020203" pitchFamily="34" charset="0"/>
            </a:endParaRPr>
          </a:p>
          <a:p>
            <a:pPr marL="457200" indent="-457200">
              <a:buFont typeface="Wingdings" panose="05000000000000000000" pitchFamily="2" charset="2"/>
              <a:buChar char="§"/>
            </a:pPr>
            <a:r>
              <a:rPr lang="en-US" sz="2800" dirty="0" smtClean="0">
                <a:latin typeface="Gill Sans MT" panose="020B0502020104020203" pitchFamily="34" charset="0"/>
              </a:rPr>
              <a:t>Cybersecurity </a:t>
            </a:r>
            <a:r>
              <a:rPr lang="en-US" sz="2800" dirty="0">
                <a:latin typeface="Gill Sans MT" panose="020B0502020104020203" pitchFamily="34" charset="0"/>
              </a:rPr>
              <a:t>can be measured by at least one of three goals-</a:t>
            </a:r>
          </a:p>
          <a:p>
            <a:pPr marL="1828800" lvl="3" indent="-457200">
              <a:buFont typeface="Wingdings" panose="05000000000000000000" pitchFamily="2" charset="2"/>
              <a:buChar char="q"/>
            </a:pPr>
            <a:r>
              <a:rPr lang="en-US" sz="2800" dirty="0">
                <a:latin typeface="Gill Sans MT" panose="020B0502020104020203" pitchFamily="34" charset="0"/>
              </a:rPr>
              <a:t>Protect the </a:t>
            </a:r>
            <a:r>
              <a:rPr lang="en-US" sz="2800" b="1" dirty="0">
                <a:latin typeface="Gill Sans MT" panose="020B0502020104020203" pitchFamily="34" charset="0"/>
              </a:rPr>
              <a:t>confidentiality</a:t>
            </a:r>
            <a:r>
              <a:rPr lang="en-US" sz="2800" dirty="0">
                <a:latin typeface="Gill Sans MT" panose="020B0502020104020203" pitchFamily="34" charset="0"/>
              </a:rPr>
              <a:t> of data.</a:t>
            </a:r>
          </a:p>
          <a:p>
            <a:pPr marL="1828800" lvl="3" indent="-457200">
              <a:buFont typeface="Wingdings" panose="05000000000000000000" pitchFamily="2" charset="2"/>
              <a:buChar char="q"/>
            </a:pPr>
            <a:r>
              <a:rPr lang="en-US" sz="2800" dirty="0">
                <a:latin typeface="Gill Sans MT" panose="020B0502020104020203" pitchFamily="34" charset="0"/>
              </a:rPr>
              <a:t>Preserve the </a:t>
            </a:r>
            <a:r>
              <a:rPr lang="en-US" sz="2800" b="1" dirty="0">
                <a:latin typeface="Gill Sans MT" panose="020B0502020104020203" pitchFamily="34" charset="0"/>
              </a:rPr>
              <a:t>integrity</a:t>
            </a:r>
            <a:r>
              <a:rPr lang="en-US" sz="2800" dirty="0">
                <a:latin typeface="Gill Sans MT" panose="020B0502020104020203" pitchFamily="34" charset="0"/>
              </a:rPr>
              <a:t> of data.</a:t>
            </a:r>
          </a:p>
          <a:p>
            <a:pPr marL="1828800" lvl="3" indent="-457200">
              <a:buFont typeface="Wingdings" panose="05000000000000000000" pitchFamily="2" charset="2"/>
              <a:buChar char="q"/>
            </a:pPr>
            <a:r>
              <a:rPr lang="en-US" sz="2800" dirty="0">
                <a:latin typeface="Gill Sans MT" panose="020B0502020104020203" pitchFamily="34" charset="0"/>
              </a:rPr>
              <a:t>Promote the </a:t>
            </a:r>
            <a:r>
              <a:rPr lang="en-US" sz="2800" b="1" dirty="0">
                <a:latin typeface="Gill Sans MT" panose="020B0502020104020203" pitchFamily="34" charset="0"/>
              </a:rPr>
              <a:t>availability</a:t>
            </a:r>
            <a:r>
              <a:rPr lang="en-US" sz="2800" dirty="0">
                <a:latin typeface="Gill Sans MT" panose="020B0502020104020203" pitchFamily="34" charset="0"/>
              </a:rPr>
              <a:t> of data for authorized users.</a:t>
            </a:r>
          </a:p>
          <a:p>
            <a:endParaRPr lang="en-GB" dirty="0"/>
          </a:p>
        </p:txBody>
      </p:sp>
      <p:sp>
        <p:nvSpPr>
          <p:cNvPr id="4" name="Slide Number Placeholder 3"/>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6</a:t>
            </a:fld>
            <a:endParaRPr lang="en-US" dirty="0"/>
          </a:p>
        </p:txBody>
      </p:sp>
      <p:pic>
        <p:nvPicPr>
          <p:cNvPr id="1026" name="Picture 2" descr="The CIA Triad: Confidentiality, Integrity, Availability - Panmore Institut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55139" y="2349356"/>
            <a:ext cx="4876800" cy="28479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666950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2567964" y="1119883"/>
            <a:ext cx="7812360" cy="615553"/>
          </a:xfrm>
        </p:spPr>
        <p:txBody>
          <a:bodyPr/>
          <a:lstStyle/>
          <a:p>
            <a:pPr eaLnBrk="1" hangingPunct="1"/>
            <a:r>
              <a:rPr lang="en-US" dirty="0" smtClean="0">
                <a:latin typeface="Gill Sans MT" panose="020B0502020104020203" pitchFamily="34" charset="0"/>
              </a:rPr>
              <a:t>CIA Triad</a:t>
            </a:r>
            <a:endParaRPr lang="en-CA" dirty="0" smtClean="0">
              <a:latin typeface="Gill Sans MT" panose="020B0502020104020203" pitchFamily="34" charset="0"/>
            </a:endParaRPr>
          </a:p>
        </p:txBody>
      </p:sp>
      <p:sp>
        <p:nvSpPr>
          <p:cNvPr id="8195" name="Rectangle 3"/>
          <p:cNvSpPr>
            <a:spLocks noGrp="1" noChangeArrowheads="1"/>
          </p:cNvSpPr>
          <p:nvPr>
            <p:ph type="body" idx="1"/>
          </p:nvPr>
        </p:nvSpPr>
        <p:spPr>
          <a:xfrm>
            <a:off x="503434" y="2239766"/>
            <a:ext cx="10849510" cy="4029048"/>
          </a:xfrm>
        </p:spPr>
        <p:txBody>
          <a:bodyPr>
            <a:normAutofit/>
          </a:bodyPr>
          <a:lstStyle/>
          <a:p>
            <a:pPr marL="788670" lvl="1" indent="-514350">
              <a:buFont typeface="Arial Black" panose="020B0A04020102020204" pitchFamily="34" charset="0"/>
              <a:buAutoNum type="arabicPeriod"/>
            </a:pPr>
            <a:r>
              <a:rPr lang="en-US" sz="3000" b="1" dirty="0">
                <a:solidFill>
                  <a:schemeClr val="accent1"/>
                </a:solidFill>
                <a:latin typeface="Gill Sans MT" panose="020B0502020104020203" pitchFamily="34" charset="0"/>
              </a:rPr>
              <a:t>Confidentiality</a:t>
            </a:r>
            <a:r>
              <a:rPr lang="en-US" sz="3000" b="1" dirty="0">
                <a:latin typeface="Gill Sans MT" panose="020B0502020104020203" pitchFamily="34" charset="0"/>
              </a:rPr>
              <a:t> </a:t>
            </a:r>
            <a:r>
              <a:rPr lang="en-US" sz="3000" dirty="0">
                <a:latin typeface="Gill Sans MT" panose="020B0502020104020203" pitchFamily="34" charset="0"/>
              </a:rPr>
              <a:t>– confidentiality Mechanism ensure that Confidential information(</a:t>
            </a:r>
            <a:r>
              <a:rPr lang="en-US" sz="3000" dirty="0" err="1">
                <a:latin typeface="Gill Sans MT" panose="020B0502020104020203" pitchFamily="34" charset="0"/>
              </a:rPr>
              <a:t>eg</a:t>
            </a:r>
            <a:r>
              <a:rPr lang="en-US" sz="3000" dirty="0">
                <a:latin typeface="Gill Sans MT" panose="020B0502020104020203" pitchFamily="34" charset="0"/>
              </a:rPr>
              <a:t>: Username, Password, Pin Number,..) should not be accessible to unauthorized users. </a:t>
            </a:r>
          </a:p>
          <a:p>
            <a:pPr marL="788670" lvl="1" indent="-514350">
              <a:buFont typeface="Arial Black" panose="020B0A04020102020204" pitchFamily="34" charset="0"/>
              <a:buAutoNum type="arabicPeriod"/>
            </a:pPr>
            <a:r>
              <a:rPr lang="en-US" sz="3000" b="1" dirty="0">
                <a:solidFill>
                  <a:schemeClr val="accent1"/>
                </a:solidFill>
                <a:latin typeface="Gill Sans MT" panose="020B0502020104020203" pitchFamily="34" charset="0"/>
              </a:rPr>
              <a:t>Integrity</a:t>
            </a:r>
            <a:r>
              <a:rPr lang="en-US" sz="3000" b="1" dirty="0">
                <a:latin typeface="Gill Sans MT" panose="020B0502020104020203" pitchFamily="34" charset="0"/>
              </a:rPr>
              <a:t> </a:t>
            </a:r>
            <a:r>
              <a:rPr lang="en-US" sz="3000" dirty="0">
                <a:latin typeface="Gill Sans MT" panose="020B0502020104020203" pitchFamily="34" charset="0"/>
              </a:rPr>
              <a:t>– Integrity mechanism ensure that Data may only be modified through an authorized mechanism.(from Database repository or During Transmission) </a:t>
            </a:r>
          </a:p>
          <a:p>
            <a:pPr marL="788670" lvl="1" indent="-514350">
              <a:buFont typeface="Arial Black" panose="020B0A04020102020204" pitchFamily="34" charset="0"/>
              <a:buAutoNum type="arabicPeriod"/>
            </a:pPr>
            <a:r>
              <a:rPr lang="en-US" sz="3000" b="1" dirty="0">
                <a:solidFill>
                  <a:schemeClr val="accent1"/>
                </a:solidFill>
                <a:latin typeface="Gill Sans MT" panose="020B0502020104020203" pitchFamily="34" charset="0"/>
              </a:rPr>
              <a:t>Availability</a:t>
            </a:r>
            <a:r>
              <a:rPr lang="en-US" sz="3000" b="1" dirty="0">
                <a:latin typeface="Gill Sans MT" panose="020B0502020104020203" pitchFamily="34" charset="0"/>
              </a:rPr>
              <a:t> </a:t>
            </a:r>
            <a:r>
              <a:rPr lang="en-US" sz="3000" dirty="0">
                <a:latin typeface="Gill Sans MT" panose="020B0502020104020203" pitchFamily="34" charset="0"/>
              </a:rPr>
              <a:t>– Authorized users should be able to access data on time in case is needed.</a:t>
            </a:r>
            <a:endParaRPr lang="en-CA" sz="3000" dirty="0">
              <a:latin typeface="Gill Sans MT" panose="020B0502020104020203" pitchFamily="34" charset="0"/>
            </a:endParaRPr>
          </a:p>
        </p:txBody>
      </p:sp>
    </p:spTree>
    <p:extLst>
      <p:ext uri="{BB962C8B-B14F-4D97-AF65-F5344CB8AC3E}">
        <p14:creationId xmlns:p14="http://schemas.microsoft.com/office/powerpoint/2010/main" val="350980556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Gill Sans MT" panose="020B0502020104020203" pitchFamily="34" charset="0"/>
              </a:rPr>
              <a:t>Confidentiality </a:t>
            </a:r>
            <a:r>
              <a:rPr lang="en-US" dirty="0">
                <a:latin typeface="Gill Sans MT" panose="020B0502020104020203" pitchFamily="34" charset="0"/>
              </a:rPr>
              <a:t>models</a:t>
            </a:r>
            <a:endParaRPr lang="en-GB" dirty="0">
              <a:latin typeface="Gill Sans MT" panose="020B0502020104020203" pitchFamily="34" charset="0"/>
            </a:endParaRPr>
          </a:p>
        </p:txBody>
      </p:sp>
      <p:sp>
        <p:nvSpPr>
          <p:cNvPr id="3" name="Text Placeholder 2"/>
          <p:cNvSpPr>
            <a:spLocks noGrp="1"/>
          </p:cNvSpPr>
          <p:nvPr>
            <p:ph type="body" idx="1"/>
          </p:nvPr>
        </p:nvSpPr>
        <p:spPr>
          <a:xfrm>
            <a:off x="714588" y="2027047"/>
            <a:ext cx="10762825" cy="2462213"/>
          </a:xfrm>
        </p:spPr>
        <p:txBody>
          <a:bodyPr/>
          <a:lstStyle/>
          <a:p>
            <a:r>
              <a:rPr lang="en-US" b="1" dirty="0">
                <a:latin typeface="Gill Sans MT" panose="020B0502020104020203" pitchFamily="34" charset="0"/>
              </a:rPr>
              <a:t>Confidentiality can be archived by </a:t>
            </a:r>
            <a:r>
              <a:rPr lang="en-US" b="1" dirty="0" smtClean="0">
                <a:latin typeface="Gill Sans MT" panose="020B0502020104020203" pitchFamily="34" charset="0"/>
              </a:rPr>
              <a:t>implementing the following </a:t>
            </a:r>
            <a:r>
              <a:rPr lang="en-US" b="1" dirty="0">
                <a:latin typeface="Gill Sans MT" panose="020B0502020104020203" pitchFamily="34" charset="0"/>
              </a:rPr>
              <a:t>security </a:t>
            </a:r>
            <a:r>
              <a:rPr lang="en-US" b="1" dirty="0" smtClean="0">
                <a:latin typeface="Gill Sans MT" panose="020B0502020104020203" pitchFamily="34" charset="0"/>
              </a:rPr>
              <a:t>mechanisms:</a:t>
            </a:r>
          </a:p>
          <a:p>
            <a:pPr marL="457200" indent="-457200">
              <a:buFont typeface="Arial" panose="020B0604020202020204" pitchFamily="34" charset="0"/>
              <a:buChar char="•"/>
            </a:pPr>
            <a:r>
              <a:rPr lang="en-US" dirty="0" smtClean="0">
                <a:latin typeface="Gill Sans MT" panose="020B0502020104020203" pitchFamily="34" charset="0"/>
              </a:rPr>
              <a:t>usernames</a:t>
            </a:r>
            <a:r>
              <a:rPr lang="en-US" dirty="0">
                <a:latin typeface="Gill Sans MT" panose="020B0502020104020203" pitchFamily="34" charset="0"/>
              </a:rPr>
              <a:t>, passwords, </a:t>
            </a:r>
            <a:endParaRPr lang="en-US" dirty="0" smtClean="0">
              <a:latin typeface="Gill Sans MT" panose="020B0502020104020203" pitchFamily="34" charset="0"/>
            </a:endParaRPr>
          </a:p>
          <a:p>
            <a:pPr marL="457200" indent="-457200">
              <a:buFont typeface="Arial" panose="020B0604020202020204" pitchFamily="34" charset="0"/>
              <a:buChar char="•"/>
            </a:pPr>
            <a:r>
              <a:rPr lang="en-US" dirty="0" smtClean="0">
                <a:latin typeface="Gill Sans MT" panose="020B0502020104020203" pitchFamily="34" charset="0"/>
              </a:rPr>
              <a:t>access </a:t>
            </a:r>
            <a:r>
              <a:rPr lang="en-US" dirty="0">
                <a:latin typeface="Gill Sans MT" panose="020B0502020104020203" pitchFamily="34" charset="0"/>
              </a:rPr>
              <a:t>control lists (ACLs), </a:t>
            </a:r>
            <a:endParaRPr lang="en-US" dirty="0" smtClean="0">
              <a:latin typeface="Gill Sans MT" panose="020B0502020104020203" pitchFamily="34" charset="0"/>
            </a:endParaRPr>
          </a:p>
          <a:p>
            <a:pPr marL="457200" indent="-457200">
              <a:buFont typeface="Arial" panose="020B0604020202020204" pitchFamily="34" charset="0"/>
              <a:buChar char="•"/>
            </a:pPr>
            <a:r>
              <a:rPr lang="en-US" dirty="0" smtClean="0">
                <a:latin typeface="Gill Sans MT" panose="020B0502020104020203" pitchFamily="34" charset="0"/>
              </a:rPr>
              <a:t>encryption</a:t>
            </a:r>
            <a:r>
              <a:rPr lang="en-US" dirty="0">
                <a:latin typeface="Gill Sans MT" panose="020B0502020104020203" pitchFamily="34" charset="0"/>
              </a:rPr>
              <a:t>. </a:t>
            </a:r>
            <a:endParaRPr lang="en-GB" dirty="0">
              <a:latin typeface="Gill Sans MT" panose="020B0502020104020203" pitchFamily="34" charset="0"/>
            </a:endParaRPr>
          </a:p>
        </p:txBody>
      </p:sp>
      <p:sp>
        <p:nvSpPr>
          <p:cNvPr id="4" name="Slide Number Placeholder 3"/>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8</a:t>
            </a:fld>
            <a:endParaRPr lang="en-US" dirty="0"/>
          </a:p>
        </p:txBody>
      </p:sp>
    </p:spTree>
    <p:extLst>
      <p:ext uri="{BB962C8B-B14F-4D97-AF65-F5344CB8AC3E}">
        <p14:creationId xmlns:p14="http://schemas.microsoft.com/office/powerpoint/2010/main" val="271152616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Gill Sans MT" panose="020B0502020104020203" pitchFamily="34" charset="0"/>
              </a:rPr>
              <a:t>Integrity models</a:t>
            </a:r>
            <a:endParaRPr lang="en-GB" dirty="0">
              <a:latin typeface="Gill Sans MT" panose="020B0502020104020203" pitchFamily="34" charset="0"/>
            </a:endParaRPr>
          </a:p>
        </p:txBody>
      </p:sp>
      <p:sp>
        <p:nvSpPr>
          <p:cNvPr id="3" name="Text Placeholder 2"/>
          <p:cNvSpPr>
            <a:spLocks noGrp="1"/>
          </p:cNvSpPr>
          <p:nvPr>
            <p:ph type="body" idx="1"/>
          </p:nvPr>
        </p:nvSpPr>
        <p:spPr>
          <a:xfrm>
            <a:off x="714588" y="2027047"/>
            <a:ext cx="6840757" cy="4001095"/>
          </a:xfrm>
        </p:spPr>
        <p:txBody>
          <a:bodyPr/>
          <a:lstStyle/>
          <a:p>
            <a:r>
              <a:rPr lang="en-US" sz="2800" b="1" dirty="0">
                <a:latin typeface="Gill Sans MT" panose="020B0502020104020203" pitchFamily="34" charset="0"/>
              </a:rPr>
              <a:t>Integrity models have three goals:</a:t>
            </a:r>
          </a:p>
          <a:p>
            <a:pPr marL="457200" indent="-457200">
              <a:buFont typeface="Wingdings" panose="05000000000000000000" pitchFamily="2" charset="2"/>
              <a:buChar char="q"/>
            </a:pPr>
            <a:r>
              <a:rPr lang="en-US" sz="2800" dirty="0">
                <a:latin typeface="Gill Sans MT" panose="020B0502020104020203" pitchFamily="34" charset="0"/>
              </a:rPr>
              <a:t>Prevent unauthorized users from making modifications to data or programs</a:t>
            </a:r>
          </a:p>
          <a:p>
            <a:pPr marL="457200" indent="-457200">
              <a:buFont typeface="Wingdings" panose="05000000000000000000" pitchFamily="2" charset="2"/>
              <a:buChar char="q"/>
            </a:pPr>
            <a:r>
              <a:rPr lang="en-US" sz="2800" dirty="0">
                <a:latin typeface="Gill Sans MT" panose="020B0502020104020203" pitchFamily="34" charset="0"/>
              </a:rPr>
              <a:t>Prevent authorized users from making improper or unauthorized modifications</a:t>
            </a:r>
          </a:p>
          <a:p>
            <a:pPr marL="457200" indent="-457200">
              <a:buFont typeface="Wingdings" panose="05000000000000000000" pitchFamily="2" charset="2"/>
              <a:buChar char="q"/>
            </a:pPr>
            <a:r>
              <a:rPr lang="en-US" sz="2800" dirty="0">
                <a:latin typeface="Gill Sans MT" panose="020B0502020104020203" pitchFamily="34" charset="0"/>
              </a:rPr>
              <a:t>Maintain internal and external consistency of data and </a:t>
            </a:r>
            <a:r>
              <a:rPr lang="en-US" sz="2800" dirty="0" smtClean="0">
                <a:latin typeface="Gill Sans MT" panose="020B0502020104020203" pitchFamily="34" charset="0"/>
              </a:rPr>
              <a:t>programs</a:t>
            </a:r>
          </a:p>
          <a:p>
            <a:endParaRPr lang="en-US" dirty="0">
              <a:latin typeface="Gill Sans MT" panose="020B0502020104020203" pitchFamily="34" charset="0"/>
            </a:endParaRPr>
          </a:p>
          <a:p>
            <a:endParaRPr lang="en-GB" dirty="0"/>
          </a:p>
        </p:txBody>
      </p:sp>
      <p:sp>
        <p:nvSpPr>
          <p:cNvPr id="4" name="Slide Number Placeholder 3"/>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9</a:t>
            </a:fld>
            <a:endParaRPr lang="en-US" dirty="0"/>
          </a:p>
        </p:txBody>
      </p:sp>
    </p:spTree>
    <p:extLst>
      <p:ext uri="{BB962C8B-B14F-4D97-AF65-F5344CB8AC3E}">
        <p14:creationId xmlns:p14="http://schemas.microsoft.com/office/powerpoint/2010/main" val="275330826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714588" y="2027047"/>
            <a:ext cx="10762825" cy="3447098"/>
          </a:xfrm>
        </p:spPr>
        <p:txBody>
          <a:bodyPr/>
          <a:lstStyle/>
          <a:p>
            <a:r>
              <a:rPr lang="en-US" b="1" dirty="0">
                <a:latin typeface="Gill Sans MT" panose="020B0502020104020203" pitchFamily="34" charset="0"/>
              </a:rPr>
              <a:t>Integrity can be archived by implementing the following security mechanisms:</a:t>
            </a:r>
          </a:p>
          <a:p>
            <a:pPr marL="342900" indent="-342900">
              <a:buFont typeface="Wingdings" panose="05000000000000000000" pitchFamily="2" charset="2"/>
              <a:buChar char="§"/>
            </a:pPr>
            <a:r>
              <a:rPr lang="en-US" dirty="0" smtClean="0">
                <a:latin typeface="Gill Sans MT" panose="020B0502020104020203" pitchFamily="34" charset="0"/>
              </a:rPr>
              <a:t>Data </a:t>
            </a:r>
            <a:r>
              <a:rPr lang="en-US" dirty="0">
                <a:latin typeface="Gill Sans MT" panose="020B0502020104020203" pitchFamily="34" charset="0"/>
              </a:rPr>
              <a:t>encryption </a:t>
            </a:r>
          </a:p>
          <a:p>
            <a:pPr marL="342900" indent="-342900">
              <a:buFont typeface="Wingdings" panose="05000000000000000000" pitchFamily="2" charset="2"/>
              <a:buChar char="§"/>
            </a:pPr>
            <a:r>
              <a:rPr lang="en-US" dirty="0">
                <a:latin typeface="Gill Sans MT" panose="020B0502020104020203" pitchFamily="34" charset="0"/>
              </a:rPr>
              <a:t>Digital Signatures</a:t>
            </a:r>
          </a:p>
          <a:p>
            <a:pPr marL="342900" indent="-342900">
              <a:buFont typeface="Wingdings" panose="05000000000000000000" pitchFamily="2" charset="2"/>
              <a:buChar char="§"/>
            </a:pPr>
            <a:r>
              <a:rPr lang="en-US" dirty="0">
                <a:latin typeface="Gill Sans MT" panose="020B0502020104020203" pitchFamily="34" charset="0"/>
              </a:rPr>
              <a:t>Certificates</a:t>
            </a:r>
          </a:p>
          <a:p>
            <a:pPr marL="342900" indent="-342900">
              <a:buFont typeface="Wingdings" panose="05000000000000000000" pitchFamily="2" charset="2"/>
              <a:buChar char="§"/>
            </a:pPr>
            <a:r>
              <a:rPr lang="en-US" dirty="0">
                <a:latin typeface="Gill Sans MT" panose="020B0502020104020203" pitchFamily="34" charset="0"/>
              </a:rPr>
              <a:t>Non-repudiation</a:t>
            </a:r>
          </a:p>
          <a:p>
            <a:endParaRPr lang="en-GB" dirty="0"/>
          </a:p>
        </p:txBody>
      </p:sp>
      <p:sp>
        <p:nvSpPr>
          <p:cNvPr id="4" name="Slide Number Placeholder 3"/>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10</a:t>
            </a:fld>
            <a:endParaRPr lang="en-US" dirty="0"/>
          </a:p>
        </p:txBody>
      </p:sp>
      <p:sp>
        <p:nvSpPr>
          <p:cNvPr id="5" name="Title 1"/>
          <p:cNvSpPr>
            <a:spLocks noGrp="1"/>
          </p:cNvSpPr>
          <p:nvPr>
            <p:ph type="title"/>
          </p:nvPr>
        </p:nvSpPr>
        <p:spPr>
          <a:xfrm>
            <a:off x="2343403" y="999490"/>
            <a:ext cx="7505192" cy="615553"/>
          </a:xfrm>
        </p:spPr>
        <p:txBody>
          <a:bodyPr/>
          <a:lstStyle/>
          <a:p>
            <a:r>
              <a:rPr lang="en-US" dirty="0">
                <a:latin typeface="Gill Sans MT" panose="020B0502020104020203" pitchFamily="34" charset="0"/>
              </a:rPr>
              <a:t>Integrity models</a:t>
            </a:r>
            <a:endParaRPr lang="en-GB" dirty="0">
              <a:latin typeface="Gill Sans MT" panose="020B0502020104020203" pitchFamily="34" charset="0"/>
            </a:endParaRPr>
          </a:p>
        </p:txBody>
      </p:sp>
    </p:spTree>
    <p:extLst>
      <p:ext uri="{BB962C8B-B14F-4D97-AF65-F5344CB8AC3E}">
        <p14:creationId xmlns:p14="http://schemas.microsoft.com/office/powerpoint/2010/main" val="205305483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43403" y="999490"/>
            <a:ext cx="7505192" cy="1231106"/>
          </a:xfrm>
        </p:spPr>
        <p:txBody>
          <a:bodyPr/>
          <a:lstStyle/>
          <a:p>
            <a:r>
              <a:rPr lang="en-US" dirty="0">
                <a:latin typeface="Gill Sans MT" panose="020B0502020104020203" pitchFamily="34" charset="0"/>
              </a:rPr>
              <a:t>Availability Models</a:t>
            </a:r>
            <a:r>
              <a:rPr lang="en-US" dirty="0"/>
              <a:t/>
            </a:r>
            <a:br>
              <a:rPr lang="en-US" dirty="0"/>
            </a:br>
            <a:endParaRPr lang="en-GB" dirty="0"/>
          </a:p>
        </p:txBody>
      </p:sp>
      <p:sp>
        <p:nvSpPr>
          <p:cNvPr id="3" name="Text Placeholder 2"/>
          <p:cNvSpPr>
            <a:spLocks noGrp="1"/>
          </p:cNvSpPr>
          <p:nvPr>
            <p:ph type="body" idx="1"/>
          </p:nvPr>
        </p:nvSpPr>
        <p:spPr>
          <a:xfrm>
            <a:off x="714588" y="2027047"/>
            <a:ext cx="10762825" cy="4431983"/>
          </a:xfrm>
        </p:spPr>
        <p:txBody>
          <a:bodyPr/>
          <a:lstStyle/>
          <a:p>
            <a:pPr marL="457200" indent="-457200">
              <a:buFont typeface="Arial" panose="020B0604020202020204" pitchFamily="34" charset="0"/>
              <a:buChar char="•"/>
            </a:pPr>
            <a:r>
              <a:rPr lang="en-US" dirty="0" smtClean="0">
                <a:latin typeface="Gill Sans MT" panose="020B0502020104020203" pitchFamily="34" charset="0"/>
              </a:rPr>
              <a:t>Availability </a:t>
            </a:r>
            <a:r>
              <a:rPr lang="en-US" dirty="0">
                <a:latin typeface="Gill Sans MT" panose="020B0502020104020203" pitchFamily="34" charset="0"/>
              </a:rPr>
              <a:t>models keep data and resources available for authorized use, especially during emergencies or </a:t>
            </a:r>
            <a:r>
              <a:rPr lang="en-US" dirty="0" smtClean="0">
                <a:latin typeface="Gill Sans MT" panose="020B0502020104020203" pitchFamily="34" charset="0"/>
              </a:rPr>
              <a:t>disasters.</a:t>
            </a:r>
          </a:p>
          <a:p>
            <a:pPr marL="457200" indent="-457200">
              <a:buFont typeface="Arial" panose="020B0604020202020204" pitchFamily="34" charset="0"/>
              <a:buChar char="•"/>
            </a:pPr>
            <a:r>
              <a:rPr lang="en-US" dirty="0" smtClean="0">
                <a:latin typeface="Gill Sans MT" panose="020B0502020104020203" pitchFamily="34" charset="0"/>
              </a:rPr>
              <a:t>Three </a:t>
            </a:r>
            <a:r>
              <a:rPr lang="en-US" dirty="0">
                <a:latin typeface="Gill Sans MT" panose="020B0502020104020203" pitchFamily="34" charset="0"/>
              </a:rPr>
              <a:t>common challenges to availability:</a:t>
            </a:r>
          </a:p>
          <a:p>
            <a:pPr marL="1828800" lvl="3" indent="-457200">
              <a:buFont typeface="Wingdings" panose="05000000000000000000" pitchFamily="2" charset="2"/>
              <a:buChar char="q"/>
            </a:pPr>
            <a:r>
              <a:rPr lang="en-US" sz="3200" dirty="0">
                <a:latin typeface="Gill Sans MT" panose="020B0502020104020203" pitchFamily="34" charset="0"/>
              </a:rPr>
              <a:t>Denial of service (</a:t>
            </a:r>
            <a:r>
              <a:rPr lang="en-US" sz="3200" dirty="0" err="1">
                <a:latin typeface="Gill Sans MT" panose="020B0502020104020203" pitchFamily="34" charset="0"/>
              </a:rPr>
              <a:t>DoS</a:t>
            </a:r>
            <a:r>
              <a:rPr lang="en-US" sz="3200" dirty="0">
                <a:latin typeface="Gill Sans MT" panose="020B0502020104020203" pitchFamily="34" charset="0"/>
              </a:rPr>
              <a:t>) </a:t>
            </a:r>
            <a:endParaRPr lang="en-US" sz="3200" dirty="0" smtClean="0">
              <a:latin typeface="Gill Sans MT" panose="020B0502020104020203" pitchFamily="34" charset="0"/>
            </a:endParaRPr>
          </a:p>
          <a:p>
            <a:pPr marL="1828800" lvl="3" indent="-457200">
              <a:buFont typeface="Wingdings" panose="05000000000000000000" pitchFamily="2" charset="2"/>
              <a:buChar char="q"/>
            </a:pPr>
            <a:r>
              <a:rPr lang="en-US" sz="3200" dirty="0" smtClean="0">
                <a:latin typeface="Gill Sans MT" panose="020B0502020104020203" pitchFamily="34" charset="0"/>
              </a:rPr>
              <a:t>Loss </a:t>
            </a:r>
            <a:r>
              <a:rPr lang="en-US" sz="3200" dirty="0">
                <a:latin typeface="Gill Sans MT" panose="020B0502020104020203" pitchFamily="34" charset="0"/>
              </a:rPr>
              <a:t>of information system capabilities because of natural disasters (fires, floods, storms, or earthquakes) or human actions (bombs or </a:t>
            </a:r>
            <a:r>
              <a:rPr lang="en-US" sz="3200" dirty="0" smtClean="0">
                <a:latin typeface="Gill Sans MT" panose="020B0502020104020203" pitchFamily="34" charset="0"/>
              </a:rPr>
              <a:t>strikes)</a:t>
            </a:r>
          </a:p>
          <a:p>
            <a:pPr marL="1828800" lvl="3" indent="-457200">
              <a:buFont typeface="Wingdings" panose="05000000000000000000" pitchFamily="2" charset="2"/>
              <a:buChar char="q"/>
            </a:pPr>
            <a:r>
              <a:rPr lang="en-US" sz="3200" dirty="0" smtClean="0">
                <a:latin typeface="Gill Sans MT" panose="020B0502020104020203" pitchFamily="34" charset="0"/>
              </a:rPr>
              <a:t>Equipment </a:t>
            </a:r>
            <a:r>
              <a:rPr lang="en-US" sz="3200" dirty="0">
                <a:latin typeface="Gill Sans MT" panose="020B0502020104020203" pitchFamily="34" charset="0"/>
              </a:rPr>
              <a:t>failures during normal use</a:t>
            </a:r>
          </a:p>
          <a:p>
            <a:endParaRPr lang="en-GB" dirty="0"/>
          </a:p>
        </p:txBody>
      </p:sp>
      <p:sp>
        <p:nvSpPr>
          <p:cNvPr id="4" name="Slide Number Placeholder 3"/>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11</a:t>
            </a:fld>
            <a:endParaRPr lang="en-US" dirty="0"/>
          </a:p>
        </p:txBody>
      </p:sp>
    </p:spTree>
    <p:extLst>
      <p:ext uri="{BB962C8B-B14F-4D97-AF65-F5344CB8AC3E}">
        <p14:creationId xmlns:p14="http://schemas.microsoft.com/office/powerpoint/2010/main" val="161332290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Gill Sans MT" panose="020B0502020104020203" pitchFamily="34" charset="0"/>
              </a:rPr>
              <a:t>Availability Models</a:t>
            </a:r>
            <a:endParaRPr lang="en-GB" dirty="0"/>
          </a:p>
        </p:txBody>
      </p:sp>
      <p:sp>
        <p:nvSpPr>
          <p:cNvPr id="3" name="Text Placeholder 2"/>
          <p:cNvSpPr>
            <a:spLocks noGrp="1"/>
          </p:cNvSpPr>
          <p:nvPr>
            <p:ph type="body" idx="1"/>
          </p:nvPr>
        </p:nvSpPr>
        <p:spPr>
          <a:xfrm>
            <a:off x="714588" y="3440210"/>
            <a:ext cx="5861703" cy="1923604"/>
          </a:xfrm>
        </p:spPr>
        <p:txBody>
          <a:bodyPr/>
          <a:lstStyle/>
          <a:p>
            <a:pPr marL="457200" indent="-457200">
              <a:buFont typeface="Wingdings" panose="05000000000000000000" pitchFamily="2" charset="2"/>
              <a:buChar char="q"/>
            </a:pPr>
            <a:r>
              <a:rPr lang="en-US" sz="2500" dirty="0" smtClean="0">
                <a:latin typeface="Gill Sans MT" panose="020B0502020104020203" pitchFamily="34" charset="0"/>
              </a:rPr>
              <a:t>Processes </a:t>
            </a:r>
            <a:r>
              <a:rPr lang="en-US" sz="2500" dirty="0">
                <a:latin typeface="Gill Sans MT" panose="020B0502020104020203" pitchFamily="34" charset="0"/>
              </a:rPr>
              <a:t>such as </a:t>
            </a:r>
            <a:endParaRPr lang="en-US" sz="2500" dirty="0" smtClean="0">
              <a:latin typeface="Gill Sans MT" panose="020B0502020104020203" pitchFamily="34" charset="0"/>
            </a:endParaRPr>
          </a:p>
          <a:p>
            <a:pPr marL="1371600" lvl="2" indent="-457200">
              <a:buFont typeface="Arial" panose="020B0604020202020204" pitchFamily="34" charset="0"/>
              <a:buChar char="•"/>
            </a:pPr>
            <a:r>
              <a:rPr lang="en-US" sz="2500" dirty="0" smtClean="0">
                <a:latin typeface="Gill Sans MT" panose="020B0502020104020203" pitchFamily="34" charset="0"/>
              </a:rPr>
              <a:t>redundancy</a:t>
            </a:r>
            <a:r>
              <a:rPr lang="en-US" sz="2500" dirty="0">
                <a:latin typeface="Gill Sans MT" panose="020B0502020104020203" pitchFamily="34" charset="0"/>
              </a:rPr>
              <a:t>, </a:t>
            </a:r>
            <a:endParaRPr lang="en-US" sz="2500" dirty="0" smtClean="0">
              <a:latin typeface="Gill Sans MT" panose="020B0502020104020203" pitchFamily="34" charset="0"/>
            </a:endParaRPr>
          </a:p>
          <a:p>
            <a:pPr marL="1371600" lvl="2" indent="-457200">
              <a:buFont typeface="Arial" panose="020B0604020202020204" pitchFamily="34" charset="0"/>
              <a:buChar char="•"/>
            </a:pPr>
            <a:r>
              <a:rPr lang="en-US" sz="2500" dirty="0" smtClean="0">
                <a:latin typeface="Gill Sans MT" panose="020B0502020104020203" pitchFamily="34" charset="0"/>
              </a:rPr>
              <a:t>failover</a:t>
            </a:r>
            <a:r>
              <a:rPr lang="en-US" sz="2500" dirty="0">
                <a:latin typeface="Gill Sans MT" panose="020B0502020104020203" pitchFamily="34" charset="0"/>
              </a:rPr>
              <a:t>, </a:t>
            </a:r>
            <a:endParaRPr lang="en-US" sz="2500" dirty="0" smtClean="0">
              <a:latin typeface="Gill Sans MT" panose="020B0502020104020203" pitchFamily="34" charset="0"/>
            </a:endParaRPr>
          </a:p>
          <a:p>
            <a:pPr marL="1371600" lvl="2" indent="-457200">
              <a:buFont typeface="Arial" panose="020B0604020202020204" pitchFamily="34" charset="0"/>
              <a:buChar char="•"/>
            </a:pPr>
            <a:r>
              <a:rPr lang="en-US" sz="2500" dirty="0" smtClean="0">
                <a:latin typeface="Gill Sans MT" panose="020B0502020104020203" pitchFamily="34" charset="0"/>
              </a:rPr>
              <a:t>RAID </a:t>
            </a:r>
          </a:p>
          <a:p>
            <a:pPr marL="1371600" lvl="2" indent="-457200">
              <a:buFont typeface="Arial" panose="020B0604020202020204" pitchFamily="34" charset="0"/>
              <a:buChar char="•"/>
            </a:pPr>
            <a:r>
              <a:rPr lang="en-US" sz="2500" dirty="0" smtClean="0"/>
              <a:t>high-availability clusters</a:t>
            </a:r>
          </a:p>
        </p:txBody>
      </p:sp>
      <p:sp>
        <p:nvSpPr>
          <p:cNvPr id="4" name="Slide Number Placeholder 3"/>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12</a:t>
            </a:fld>
            <a:endParaRPr lang="en-US" dirty="0"/>
          </a:p>
        </p:txBody>
      </p:sp>
      <p:sp>
        <p:nvSpPr>
          <p:cNvPr id="5" name="Rectangle 4"/>
          <p:cNvSpPr/>
          <p:nvPr/>
        </p:nvSpPr>
        <p:spPr>
          <a:xfrm>
            <a:off x="5708073" y="3440210"/>
            <a:ext cx="6096000" cy="1631216"/>
          </a:xfrm>
          <a:prstGeom prst="rect">
            <a:avLst/>
          </a:prstGeom>
        </p:spPr>
        <p:txBody>
          <a:bodyPr>
            <a:spAutoFit/>
          </a:bodyPr>
          <a:lstStyle/>
          <a:p>
            <a:pPr marL="457200" indent="-457200">
              <a:buFont typeface="Wingdings" panose="05000000000000000000" pitchFamily="2" charset="2"/>
              <a:buChar char="q"/>
            </a:pPr>
            <a:r>
              <a:rPr lang="en-US" sz="2500" dirty="0">
                <a:latin typeface="Gill Sans MT" panose="020B0502020104020203" pitchFamily="34" charset="0"/>
              </a:rPr>
              <a:t>it is implemented using methods such as </a:t>
            </a:r>
          </a:p>
          <a:p>
            <a:pPr marL="1371600" lvl="2" indent="-457200">
              <a:buFont typeface="Arial" panose="020B0604020202020204" pitchFamily="34" charset="0"/>
              <a:buChar char="•"/>
            </a:pPr>
            <a:r>
              <a:rPr lang="en-US" sz="2500" dirty="0">
                <a:latin typeface="Gill Sans MT" panose="020B0502020104020203" pitchFamily="34" charset="0"/>
              </a:rPr>
              <a:t>hardware maintenance, </a:t>
            </a:r>
          </a:p>
          <a:p>
            <a:pPr marL="1371600" lvl="2" indent="-457200">
              <a:buFont typeface="Arial" panose="020B0604020202020204" pitchFamily="34" charset="0"/>
              <a:buChar char="•"/>
            </a:pPr>
            <a:r>
              <a:rPr lang="en-US" sz="2500" dirty="0">
                <a:latin typeface="Gill Sans MT" panose="020B0502020104020203" pitchFamily="34" charset="0"/>
              </a:rPr>
              <a:t>software patching </a:t>
            </a:r>
          </a:p>
          <a:p>
            <a:pPr marL="1371600" lvl="2" indent="-457200">
              <a:buFont typeface="Arial" panose="020B0604020202020204" pitchFamily="34" charset="0"/>
              <a:buChar char="•"/>
            </a:pPr>
            <a:r>
              <a:rPr lang="en-US" sz="2500" dirty="0">
                <a:latin typeface="Gill Sans MT" panose="020B0502020104020203" pitchFamily="34" charset="0"/>
              </a:rPr>
              <a:t>network optimization. </a:t>
            </a:r>
          </a:p>
        </p:txBody>
      </p:sp>
      <p:sp>
        <p:nvSpPr>
          <p:cNvPr id="6" name="Rectangle 5"/>
          <p:cNvSpPr/>
          <p:nvPr/>
        </p:nvSpPr>
        <p:spPr>
          <a:xfrm>
            <a:off x="895926" y="2138019"/>
            <a:ext cx="10843491" cy="1077218"/>
          </a:xfrm>
          <a:prstGeom prst="rect">
            <a:avLst/>
          </a:prstGeom>
        </p:spPr>
        <p:txBody>
          <a:bodyPr wrap="square">
            <a:spAutoFit/>
          </a:bodyPr>
          <a:lstStyle/>
          <a:p>
            <a:r>
              <a:rPr lang="en-US" sz="3200" b="1" dirty="0">
                <a:latin typeface="Gill Sans MT" panose="020B0502020104020203" pitchFamily="34" charset="0"/>
              </a:rPr>
              <a:t>Availability can be archived by implementing the following security mechanisms:</a:t>
            </a:r>
          </a:p>
        </p:txBody>
      </p:sp>
    </p:spTree>
    <p:extLst>
      <p:ext uri="{BB962C8B-B14F-4D97-AF65-F5344CB8AC3E}">
        <p14:creationId xmlns:p14="http://schemas.microsoft.com/office/powerpoint/2010/main" val="359792453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37798" y="888653"/>
            <a:ext cx="3595888" cy="615553"/>
          </a:xfrm>
        </p:spPr>
        <p:txBody>
          <a:bodyPr/>
          <a:lstStyle/>
          <a:p>
            <a:r>
              <a:rPr lang="en-US" dirty="0" smtClean="0">
                <a:latin typeface="Gill Sans MT" panose="020B0502020104020203" pitchFamily="34" charset="0"/>
              </a:rPr>
              <a:t>DAD Triad</a:t>
            </a:r>
            <a:endParaRPr lang="en-GB" dirty="0">
              <a:latin typeface="Gill Sans MT" panose="020B0502020104020203" pitchFamily="34" charset="0"/>
            </a:endParaRPr>
          </a:p>
        </p:txBody>
      </p:sp>
      <p:sp>
        <p:nvSpPr>
          <p:cNvPr id="4" name="Slide Number Placeholder 3"/>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13</a:t>
            </a:fld>
            <a:endParaRPr lang="en-US" dirty="0"/>
          </a:p>
        </p:txBody>
      </p:sp>
      <p:pic>
        <p:nvPicPr>
          <p:cNvPr id="6" name="Picture 5"/>
          <p:cNvPicPr>
            <a:picLocks noChangeAspect="1"/>
          </p:cNvPicPr>
          <p:nvPr/>
        </p:nvPicPr>
        <p:blipFill>
          <a:blip r:embed="rId2"/>
          <a:stretch>
            <a:fillRect/>
          </a:stretch>
        </p:blipFill>
        <p:spPr>
          <a:xfrm>
            <a:off x="1187982" y="849797"/>
            <a:ext cx="5849815" cy="5614883"/>
          </a:xfrm>
          <a:prstGeom prst="rect">
            <a:avLst/>
          </a:prstGeom>
        </p:spPr>
      </p:pic>
    </p:spTree>
    <p:extLst>
      <p:ext uri="{BB962C8B-B14F-4D97-AF65-F5344CB8AC3E}">
        <p14:creationId xmlns:p14="http://schemas.microsoft.com/office/powerpoint/2010/main" val="103301145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2608704" y="1245564"/>
            <a:ext cx="8100392" cy="615553"/>
          </a:xfrm>
        </p:spPr>
        <p:txBody>
          <a:bodyPr/>
          <a:lstStyle/>
          <a:p>
            <a:pPr eaLnBrk="1" hangingPunct="1"/>
            <a:r>
              <a:rPr lang="en-US" dirty="0" smtClean="0">
                <a:latin typeface="Gill Sans MT" panose="020B0502020104020203" pitchFamily="34" charset="0"/>
              </a:rPr>
              <a:t>DAD Triad</a:t>
            </a:r>
            <a:endParaRPr lang="en-CA" dirty="0" smtClean="0">
              <a:latin typeface="Gill Sans MT" panose="020B0502020104020203" pitchFamily="34" charset="0"/>
            </a:endParaRPr>
          </a:p>
        </p:txBody>
      </p:sp>
      <p:sp>
        <p:nvSpPr>
          <p:cNvPr id="9219" name="Rectangle 3"/>
          <p:cNvSpPr>
            <a:spLocks noGrp="1" noChangeArrowheads="1"/>
          </p:cNvSpPr>
          <p:nvPr>
            <p:ph type="body" idx="1"/>
          </p:nvPr>
        </p:nvSpPr>
        <p:spPr>
          <a:xfrm>
            <a:off x="1068512" y="2363056"/>
            <a:ext cx="9447088" cy="4190144"/>
          </a:xfrm>
        </p:spPr>
        <p:txBody>
          <a:bodyPr>
            <a:normAutofit/>
          </a:bodyPr>
          <a:lstStyle/>
          <a:p>
            <a:pPr marL="514350" indent="-514350">
              <a:buFont typeface="Arial Black" panose="020B0A04020102020204" pitchFamily="34" charset="0"/>
              <a:buAutoNum type="arabicPeriod"/>
            </a:pPr>
            <a:r>
              <a:rPr lang="en-US" sz="3000" b="1" dirty="0">
                <a:solidFill>
                  <a:schemeClr val="accent1"/>
                </a:solidFill>
                <a:latin typeface="Gill Sans MT" panose="020B0502020104020203" pitchFamily="34" charset="0"/>
              </a:rPr>
              <a:t>Disclosure</a:t>
            </a:r>
            <a:r>
              <a:rPr lang="en-US" sz="3000" dirty="0">
                <a:latin typeface="Gill Sans MT" panose="020B0502020104020203" pitchFamily="34" charset="0"/>
              </a:rPr>
              <a:t> – Unauthorized individuals gain access to confidential information and use it to disclosure purpose.</a:t>
            </a:r>
          </a:p>
          <a:p>
            <a:pPr marL="514350" indent="-514350">
              <a:buFont typeface="Arial Black" panose="020B0A04020102020204" pitchFamily="34" charset="0"/>
              <a:buAutoNum type="arabicPeriod"/>
            </a:pPr>
            <a:r>
              <a:rPr lang="en-US" sz="3000" b="1" dirty="0">
                <a:solidFill>
                  <a:schemeClr val="accent1"/>
                </a:solidFill>
                <a:latin typeface="Gill Sans MT" panose="020B0502020104020203" pitchFamily="34" charset="0"/>
              </a:rPr>
              <a:t>Alteration</a:t>
            </a:r>
            <a:r>
              <a:rPr lang="en-US" sz="3000" dirty="0">
                <a:latin typeface="Gill Sans MT" panose="020B0502020104020203" pitchFamily="34" charset="0"/>
              </a:rPr>
              <a:t> – Data is modified through some unauthorized mechanism by unauthorized users. </a:t>
            </a:r>
          </a:p>
          <a:p>
            <a:pPr marL="514350" indent="-514350">
              <a:buFont typeface="Arial Black" panose="020B0A04020102020204" pitchFamily="34" charset="0"/>
              <a:buAutoNum type="arabicPeriod"/>
            </a:pPr>
            <a:r>
              <a:rPr lang="en-US" sz="3000" b="1" dirty="0">
                <a:solidFill>
                  <a:schemeClr val="accent1"/>
                </a:solidFill>
                <a:latin typeface="Gill Sans MT" panose="020B0502020104020203" pitchFamily="34" charset="0"/>
              </a:rPr>
              <a:t>Denial</a:t>
            </a:r>
            <a:r>
              <a:rPr lang="en-US" sz="3000" dirty="0">
                <a:latin typeface="Gill Sans MT" panose="020B0502020104020203" pitchFamily="34" charset="0"/>
              </a:rPr>
              <a:t> – Authorized users cannot gain access to a system for legitimate purposes.</a:t>
            </a:r>
          </a:p>
        </p:txBody>
      </p:sp>
    </p:spTree>
    <p:extLst>
      <p:ext uri="{BB962C8B-B14F-4D97-AF65-F5344CB8AC3E}">
        <p14:creationId xmlns:p14="http://schemas.microsoft.com/office/powerpoint/2010/main" val="22037782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1648534" y="729821"/>
            <a:ext cx="9144000" cy="615553"/>
          </a:xfrm>
        </p:spPr>
        <p:txBody>
          <a:bodyPr/>
          <a:lstStyle/>
          <a:p>
            <a:pPr algn="ctr"/>
            <a:r>
              <a:rPr lang="en-US" dirty="0">
                <a:latin typeface="Gill Sans MT" panose="020B0502020104020203" pitchFamily="34" charset="0"/>
              </a:rPr>
              <a:t>Threats </a:t>
            </a:r>
          </a:p>
        </p:txBody>
      </p:sp>
      <p:sp>
        <p:nvSpPr>
          <p:cNvPr id="3" name="Content Placeholder 2"/>
          <p:cNvSpPr>
            <a:spLocks noGrp="1"/>
          </p:cNvSpPr>
          <p:nvPr>
            <p:ph idx="1"/>
          </p:nvPr>
        </p:nvSpPr>
        <p:spPr>
          <a:xfrm>
            <a:off x="667352" y="2378636"/>
            <a:ext cx="11106364" cy="2994749"/>
          </a:xfrm>
        </p:spPr>
        <p:txBody>
          <a:bodyPr>
            <a:normAutofit/>
          </a:bodyPr>
          <a:lstStyle/>
          <a:p>
            <a:pPr>
              <a:defRPr/>
            </a:pPr>
            <a:r>
              <a:rPr lang="en-US" b="1" dirty="0">
                <a:solidFill>
                  <a:schemeClr val="tx2"/>
                </a:solidFill>
                <a:latin typeface="Gill Sans MT" panose="020B0502020104020203" pitchFamily="34" charset="0"/>
              </a:rPr>
              <a:t>What is </a:t>
            </a:r>
            <a:r>
              <a:rPr lang="en-US" b="1" dirty="0">
                <a:solidFill>
                  <a:schemeClr val="accent5">
                    <a:lumMod val="50000"/>
                  </a:schemeClr>
                </a:solidFill>
                <a:latin typeface="Gill Sans MT" panose="020B0502020104020203" pitchFamily="34" charset="0"/>
              </a:rPr>
              <a:t>Threats?</a:t>
            </a:r>
          </a:p>
          <a:p>
            <a:pPr>
              <a:defRPr/>
            </a:pPr>
            <a:r>
              <a:rPr lang="en-US" dirty="0">
                <a:latin typeface="Gill Sans MT" panose="020B0502020104020203" pitchFamily="34" charset="0"/>
              </a:rPr>
              <a:t>is anyone (foreign or domestic, internal or external, Terrorists, insiders, employees, hackers state-sponsored or a single element) with the capability, technology, opportunity, and intent to do harm or interrupt the system functionality is threats.                            </a:t>
            </a:r>
          </a:p>
        </p:txBody>
      </p:sp>
    </p:spTree>
    <p:extLst>
      <p:ext uri="{BB962C8B-B14F-4D97-AF65-F5344CB8AC3E}">
        <p14:creationId xmlns:p14="http://schemas.microsoft.com/office/powerpoint/2010/main" val="144936848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2608704" y="1245564"/>
            <a:ext cx="8100392" cy="615553"/>
          </a:xfrm>
        </p:spPr>
        <p:txBody>
          <a:bodyPr/>
          <a:lstStyle/>
          <a:p>
            <a:pPr eaLnBrk="1" hangingPunct="1"/>
            <a:r>
              <a:rPr lang="en-US" dirty="0">
                <a:latin typeface="Gill Sans MT" panose="020B0502020104020203" pitchFamily="34" charset="0"/>
              </a:rPr>
              <a:t>Why do we need client security?</a:t>
            </a:r>
            <a:endParaRPr lang="en-CA" dirty="0" smtClean="0">
              <a:latin typeface="Gill Sans MT" panose="020B0502020104020203" pitchFamily="34" charset="0"/>
            </a:endParaRPr>
          </a:p>
        </p:txBody>
      </p:sp>
      <p:sp>
        <p:nvSpPr>
          <p:cNvPr id="9219" name="Rectangle 3"/>
          <p:cNvSpPr>
            <a:spLocks noGrp="1" noChangeArrowheads="1"/>
          </p:cNvSpPr>
          <p:nvPr>
            <p:ph type="body" idx="1"/>
          </p:nvPr>
        </p:nvSpPr>
        <p:spPr>
          <a:xfrm>
            <a:off x="1068512" y="2363056"/>
            <a:ext cx="9447088" cy="4190144"/>
          </a:xfrm>
        </p:spPr>
        <p:txBody>
          <a:bodyPr>
            <a:normAutofit/>
          </a:bodyPr>
          <a:lstStyle/>
          <a:p>
            <a:pPr marL="457200" indent="-457200">
              <a:lnSpc>
                <a:spcPct val="150000"/>
              </a:lnSpc>
              <a:buFont typeface="Wingdings" panose="05000000000000000000" pitchFamily="2" charset="2"/>
              <a:buChar char="q"/>
              <a:defRPr/>
            </a:pPr>
            <a:r>
              <a:rPr lang="en-US" dirty="0" smtClean="0">
                <a:latin typeface="Gill Sans MT" panose="020B0502020104020203" pitchFamily="34" charset="0"/>
              </a:rPr>
              <a:t>If </a:t>
            </a:r>
            <a:r>
              <a:rPr lang="en-US" dirty="0">
                <a:latin typeface="Gill Sans MT" panose="020B0502020104020203" pitchFamily="34" charset="0"/>
              </a:rPr>
              <a:t>client left open or not secured, provide entry points for hackers and other unauthorized user to manipulate the system. </a:t>
            </a:r>
          </a:p>
          <a:p>
            <a:pPr marL="457200" indent="-457200">
              <a:lnSpc>
                <a:spcPct val="150000"/>
              </a:lnSpc>
              <a:buFont typeface="Wingdings" panose="05000000000000000000" pitchFamily="2" charset="2"/>
              <a:buChar char="q"/>
              <a:defRPr/>
            </a:pPr>
            <a:r>
              <a:rPr lang="en-US" dirty="0" smtClean="0">
                <a:latin typeface="Gill Sans MT" panose="020B0502020104020203" pitchFamily="34" charset="0"/>
              </a:rPr>
              <a:t>Unauthorized </a:t>
            </a:r>
            <a:r>
              <a:rPr lang="en-US" dirty="0">
                <a:latin typeface="Gill Sans MT" panose="020B0502020104020203" pitchFamily="34" charset="0"/>
              </a:rPr>
              <a:t>software, Virus will infect files and Network operating system  </a:t>
            </a:r>
          </a:p>
        </p:txBody>
      </p:sp>
    </p:spTree>
    <p:extLst>
      <p:ext uri="{BB962C8B-B14F-4D97-AF65-F5344CB8AC3E}">
        <p14:creationId xmlns:p14="http://schemas.microsoft.com/office/powerpoint/2010/main" val="226590256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2209800" y="832355"/>
            <a:ext cx="7772400" cy="615553"/>
          </a:xfrm>
        </p:spPr>
        <p:txBody>
          <a:bodyPr/>
          <a:lstStyle/>
          <a:p>
            <a:r>
              <a:rPr lang="en-US" dirty="0">
                <a:latin typeface="Gill Sans MT" panose="020B0502020104020203" pitchFamily="34" charset="0"/>
              </a:rPr>
              <a:t>Cryptography</a:t>
            </a:r>
          </a:p>
        </p:txBody>
      </p:sp>
      <p:sp>
        <p:nvSpPr>
          <p:cNvPr id="19459" name="Content Placeholder 2"/>
          <p:cNvSpPr>
            <a:spLocks noGrp="1"/>
          </p:cNvSpPr>
          <p:nvPr>
            <p:ph idx="1"/>
          </p:nvPr>
        </p:nvSpPr>
        <p:spPr>
          <a:xfrm>
            <a:off x="575353" y="1674688"/>
            <a:ext cx="10092647" cy="1969770"/>
          </a:xfrm>
        </p:spPr>
        <p:txBody>
          <a:bodyPr/>
          <a:lstStyle/>
          <a:p>
            <a:pPr>
              <a:buFont typeface="Wingdings" panose="05000000000000000000" pitchFamily="2" charset="2"/>
              <a:buChar char="q"/>
            </a:pPr>
            <a:r>
              <a:rPr lang="en-US" dirty="0" smtClean="0">
                <a:latin typeface="Gill Sans MT" panose="020B0502020104020203" pitchFamily="34" charset="0"/>
              </a:rPr>
              <a:t>What is “Cryptography”?  is a Greek word that means “hidden writing”  </a:t>
            </a:r>
          </a:p>
          <a:p>
            <a:pPr>
              <a:buFont typeface="Wingdings" panose="05000000000000000000" pitchFamily="2" charset="2"/>
              <a:buChar char="q"/>
            </a:pPr>
            <a:r>
              <a:rPr lang="en-US" dirty="0" smtClean="0">
                <a:latin typeface="Gill Sans MT" panose="020B0502020104020203" pitchFamily="34" charset="0"/>
              </a:rPr>
              <a:t>Used to hide message from someone, and sometimes prevent them from creating a new message                   </a:t>
            </a:r>
          </a:p>
        </p:txBody>
      </p:sp>
      <p:pic>
        <p:nvPicPr>
          <p:cNvPr id="19460"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16655" y="4179014"/>
            <a:ext cx="6728792" cy="23330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0362786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2065962" y="1053263"/>
            <a:ext cx="7772400" cy="615553"/>
          </a:xfrm>
        </p:spPr>
        <p:txBody>
          <a:bodyPr/>
          <a:lstStyle/>
          <a:p>
            <a:r>
              <a:rPr lang="en-US" dirty="0">
                <a:latin typeface="Gill Sans MT" panose="020B0502020104020203" pitchFamily="34" charset="0"/>
              </a:rPr>
              <a:t>Encryption </a:t>
            </a:r>
            <a:r>
              <a:rPr lang="en-US" dirty="0" smtClean="0">
                <a:latin typeface="Gill Sans MT" panose="020B0502020104020203" pitchFamily="34" charset="0"/>
              </a:rPr>
              <a:t>&amp; </a:t>
            </a:r>
            <a:r>
              <a:rPr lang="en-US" dirty="0">
                <a:latin typeface="Gill Sans MT" panose="020B0502020104020203" pitchFamily="34" charset="0"/>
              </a:rPr>
              <a:t>Decryption</a:t>
            </a:r>
          </a:p>
        </p:txBody>
      </p:sp>
      <p:sp>
        <p:nvSpPr>
          <p:cNvPr id="3" name="Content Placeholder 2"/>
          <p:cNvSpPr>
            <a:spLocks noGrp="1"/>
          </p:cNvSpPr>
          <p:nvPr>
            <p:ph idx="1"/>
          </p:nvPr>
        </p:nvSpPr>
        <p:spPr>
          <a:xfrm>
            <a:off x="811658" y="1900719"/>
            <a:ext cx="9856342" cy="1475895"/>
          </a:xfrm>
        </p:spPr>
        <p:txBody>
          <a:bodyPr/>
          <a:lstStyle/>
          <a:p>
            <a:pPr>
              <a:buFont typeface="Wingdings" panose="05000000000000000000" pitchFamily="2" charset="2"/>
              <a:buChar char="q"/>
              <a:defRPr/>
            </a:pPr>
            <a:r>
              <a:rPr lang="en-US" b="1" dirty="0" smtClean="0">
                <a:latin typeface="Gill Sans MT" panose="020B0502020104020203" pitchFamily="34" charset="0"/>
              </a:rPr>
              <a:t>Encryption</a:t>
            </a:r>
            <a:r>
              <a:rPr lang="en-US" dirty="0" smtClean="0">
                <a:latin typeface="Gill Sans MT" panose="020B0502020104020203" pitchFamily="34" charset="0"/>
              </a:rPr>
              <a:t> means translate </a:t>
            </a:r>
            <a:r>
              <a:rPr lang="en-US" dirty="0">
                <a:latin typeface="Gill Sans MT" panose="020B0502020104020203" pitchFamily="34" charset="0"/>
              </a:rPr>
              <a:t>Plain </a:t>
            </a:r>
            <a:r>
              <a:rPr lang="en-US" dirty="0" smtClean="0">
                <a:latin typeface="Gill Sans MT" panose="020B0502020104020203" pitchFamily="34" charset="0"/>
              </a:rPr>
              <a:t>text Into </a:t>
            </a:r>
            <a:r>
              <a:rPr lang="en-US" dirty="0">
                <a:latin typeface="Gill Sans MT" panose="020B0502020104020203" pitchFamily="34" charset="0"/>
              </a:rPr>
              <a:t>cipher text </a:t>
            </a:r>
            <a:endParaRPr lang="en-US" dirty="0" smtClean="0">
              <a:latin typeface="Gill Sans MT" panose="020B0502020104020203" pitchFamily="34" charset="0"/>
            </a:endParaRPr>
          </a:p>
          <a:p>
            <a:pPr>
              <a:buFont typeface="Wingdings" panose="05000000000000000000" pitchFamily="2" charset="2"/>
              <a:buChar char="q"/>
              <a:defRPr/>
            </a:pPr>
            <a:r>
              <a:rPr lang="en-US" b="1" dirty="0" smtClean="0">
                <a:latin typeface="Gill Sans MT" panose="020B0502020104020203" pitchFamily="34" charset="0"/>
              </a:rPr>
              <a:t>Decryption</a:t>
            </a:r>
            <a:r>
              <a:rPr lang="en-US" dirty="0" smtClean="0">
                <a:latin typeface="Gill Sans MT" panose="020B0502020104020203" pitchFamily="34" charset="0"/>
              </a:rPr>
              <a:t> </a:t>
            </a:r>
            <a:r>
              <a:rPr lang="en-US" dirty="0">
                <a:latin typeface="Gill Sans MT" panose="020B0502020104020203" pitchFamily="34" charset="0"/>
              </a:rPr>
              <a:t>means translate cipher </a:t>
            </a:r>
            <a:r>
              <a:rPr lang="en-US" dirty="0" smtClean="0">
                <a:latin typeface="Gill Sans MT" panose="020B0502020104020203" pitchFamily="34" charset="0"/>
              </a:rPr>
              <a:t>text Into </a:t>
            </a:r>
            <a:r>
              <a:rPr lang="en-US" dirty="0">
                <a:latin typeface="Gill Sans MT" panose="020B0502020104020203" pitchFamily="34" charset="0"/>
              </a:rPr>
              <a:t>Plain text</a:t>
            </a:r>
          </a:p>
          <a:p>
            <a:pPr>
              <a:defRPr/>
            </a:pPr>
            <a:endParaRPr lang="en-US" dirty="0">
              <a:latin typeface="Gill Sans MT" panose="020B0502020104020203" pitchFamily="34" charset="0"/>
            </a:endParaRPr>
          </a:p>
        </p:txBody>
      </p:sp>
      <p:pic>
        <p:nvPicPr>
          <p:cNvPr id="20484"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92496" y="3376614"/>
            <a:ext cx="7681615" cy="3023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6370409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a:xfrm>
            <a:off x="2127606" y="898740"/>
            <a:ext cx="7772400" cy="584775"/>
          </a:xfrm>
        </p:spPr>
        <p:txBody>
          <a:bodyPr/>
          <a:lstStyle/>
          <a:p>
            <a:r>
              <a:rPr lang="en-US" sz="3800" dirty="0">
                <a:latin typeface="Gill Sans MT" panose="020B0502020104020203" pitchFamily="34" charset="0"/>
              </a:rPr>
              <a:t>Types of network security attacks</a:t>
            </a:r>
          </a:p>
        </p:txBody>
      </p:sp>
      <p:sp>
        <p:nvSpPr>
          <p:cNvPr id="3" name="Content Placeholder 2"/>
          <p:cNvSpPr>
            <a:spLocks noGrp="1"/>
          </p:cNvSpPr>
          <p:nvPr>
            <p:ph idx="1"/>
          </p:nvPr>
        </p:nvSpPr>
        <p:spPr>
          <a:xfrm>
            <a:off x="739739" y="1633591"/>
            <a:ext cx="9963757" cy="2831544"/>
          </a:xfrm>
        </p:spPr>
        <p:txBody>
          <a:bodyPr/>
          <a:lstStyle/>
          <a:p>
            <a:pPr marL="82296">
              <a:defRPr/>
            </a:pPr>
            <a:r>
              <a:rPr lang="en-US" b="1" dirty="0">
                <a:solidFill>
                  <a:schemeClr val="accent5">
                    <a:lumMod val="50000"/>
                  </a:schemeClr>
                </a:solidFill>
                <a:latin typeface="Gill Sans MT" panose="020B0502020104020203" pitchFamily="34" charset="0"/>
              </a:rPr>
              <a:t>Passive attack: </a:t>
            </a:r>
            <a:r>
              <a:rPr lang="en-US" sz="2800" dirty="0">
                <a:latin typeface="Gill Sans MT" panose="020B0502020104020203" pitchFamily="34" charset="0"/>
              </a:rPr>
              <a:t>In this attack an adversary deploys a sniffer tool and waits for sensitive information to be captured. </a:t>
            </a:r>
            <a:endParaRPr lang="en-US" sz="2800" dirty="0" smtClean="0">
              <a:latin typeface="Gill Sans MT" panose="020B0502020104020203" pitchFamily="34" charset="0"/>
            </a:endParaRPr>
          </a:p>
          <a:p>
            <a:pPr marL="539496" indent="-457200">
              <a:buFont typeface="Arial" panose="020B0604020202020204" pitchFamily="34" charset="0"/>
              <a:buChar char="•"/>
              <a:defRPr/>
            </a:pPr>
            <a:r>
              <a:rPr lang="en-US" dirty="0">
                <a:latin typeface="Gill Sans MT" panose="020B0502020104020203" pitchFamily="34" charset="0"/>
              </a:rPr>
              <a:t>P</a:t>
            </a:r>
            <a:r>
              <a:rPr lang="en-US" dirty="0" smtClean="0">
                <a:latin typeface="Gill Sans MT" panose="020B0502020104020203" pitchFamily="34" charset="0"/>
              </a:rPr>
              <a:t>assive </a:t>
            </a:r>
            <a:r>
              <a:rPr lang="en-US" dirty="0">
                <a:latin typeface="Gill Sans MT" panose="020B0502020104020203" pitchFamily="34" charset="0"/>
              </a:rPr>
              <a:t>attacks attempt to steal or monitor sensitive data</a:t>
            </a:r>
            <a:r>
              <a:rPr lang="en-US" dirty="0" smtClean="0">
                <a:latin typeface="Gill Sans MT" panose="020B0502020104020203" pitchFamily="34" charset="0"/>
              </a:rPr>
              <a:t>.</a:t>
            </a:r>
          </a:p>
          <a:p>
            <a:pPr marL="539496" indent="-457200">
              <a:buFont typeface="Arial" panose="020B0604020202020204" pitchFamily="34" charset="0"/>
              <a:buChar char="•"/>
              <a:defRPr/>
            </a:pPr>
            <a:r>
              <a:rPr lang="en-US" sz="2800" dirty="0" smtClean="0">
                <a:latin typeface="Gill Sans MT" panose="020B0502020104020203" pitchFamily="34" charset="0"/>
              </a:rPr>
              <a:t>This </a:t>
            </a:r>
            <a:r>
              <a:rPr lang="en-US" sz="2800" dirty="0">
                <a:latin typeface="Gill Sans MT" panose="020B0502020104020203" pitchFamily="34" charset="0"/>
              </a:rPr>
              <a:t>information can be used without the knowledge of the user.</a:t>
            </a:r>
          </a:p>
          <a:p>
            <a:pPr>
              <a:defRPr/>
            </a:pPr>
            <a:endParaRPr lang="en-US" dirty="0">
              <a:latin typeface="Gill Sans MT" panose="020B0502020104020203" pitchFamily="34" charset="0"/>
            </a:endParaRPr>
          </a:p>
        </p:txBody>
      </p:sp>
      <p:pic>
        <p:nvPicPr>
          <p:cNvPr id="5" name="Picture 4" descr="Image result for active attack"/>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3843" y="4168207"/>
            <a:ext cx="5715000" cy="2600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9964908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a:xfrm>
            <a:off x="1524000" y="978831"/>
            <a:ext cx="8458200" cy="1231106"/>
          </a:xfrm>
        </p:spPr>
        <p:txBody>
          <a:bodyPr/>
          <a:lstStyle/>
          <a:p>
            <a:r>
              <a:rPr lang="en-US" dirty="0">
                <a:latin typeface="Gill Sans MT" panose="020B0502020104020203" pitchFamily="34" charset="0"/>
              </a:rPr>
              <a:t>Types of network security attacks</a:t>
            </a:r>
          </a:p>
        </p:txBody>
      </p:sp>
      <p:sp>
        <p:nvSpPr>
          <p:cNvPr id="3" name="Content Placeholder 2"/>
          <p:cNvSpPr>
            <a:spLocks noGrp="1"/>
          </p:cNvSpPr>
          <p:nvPr>
            <p:ph idx="1"/>
          </p:nvPr>
        </p:nvSpPr>
        <p:spPr>
          <a:xfrm>
            <a:off x="821933" y="1828800"/>
            <a:ext cx="10500188" cy="1969770"/>
          </a:xfrm>
        </p:spPr>
        <p:txBody>
          <a:bodyPr/>
          <a:lstStyle/>
          <a:p>
            <a:pPr>
              <a:defRPr/>
            </a:pPr>
            <a:r>
              <a:rPr lang="en-US" b="1" dirty="0">
                <a:solidFill>
                  <a:schemeClr val="accent5">
                    <a:lumMod val="50000"/>
                  </a:schemeClr>
                </a:solidFill>
                <a:latin typeface="Gill Sans MT" panose="020B0502020104020203" pitchFamily="34" charset="0"/>
              </a:rPr>
              <a:t>Active Attack: </a:t>
            </a:r>
            <a:r>
              <a:rPr lang="en-US" dirty="0" smtClean="0"/>
              <a:t>Active </a:t>
            </a:r>
            <a:r>
              <a:rPr lang="en-US" dirty="0"/>
              <a:t>attacks attempt to modify, destroy or disrupt network or system </a:t>
            </a:r>
            <a:r>
              <a:rPr lang="en-US" dirty="0" smtClean="0"/>
              <a:t>resources.</a:t>
            </a:r>
            <a:endParaRPr lang="en-US" b="1" dirty="0" smtClean="0">
              <a:solidFill>
                <a:schemeClr val="accent5">
                  <a:lumMod val="50000"/>
                </a:schemeClr>
              </a:solidFill>
              <a:latin typeface="Gill Sans MT" panose="020B0502020104020203" pitchFamily="34" charset="0"/>
            </a:endParaRPr>
          </a:p>
          <a:p>
            <a:pPr>
              <a:defRPr/>
            </a:pPr>
            <a:r>
              <a:rPr lang="en-US" dirty="0" smtClean="0">
                <a:latin typeface="Gill Sans MT" panose="020B0502020104020203" pitchFamily="34" charset="0"/>
              </a:rPr>
              <a:t>It </a:t>
            </a:r>
            <a:r>
              <a:rPr lang="en-US" dirty="0">
                <a:latin typeface="Gill Sans MT" panose="020B0502020104020203" pitchFamily="34" charset="0"/>
              </a:rPr>
              <a:t>results in disclosing sensitive information, modification of data or complete data lost.</a:t>
            </a:r>
          </a:p>
        </p:txBody>
      </p:sp>
      <p:pic>
        <p:nvPicPr>
          <p:cNvPr id="4" name="Picture 3"/>
          <p:cNvPicPr>
            <a:picLocks noChangeAspect="1"/>
          </p:cNvPicPr>
          <p:nvPr/>
        </p:nvPicPr>
        <p:blipFill>
          <a:blip r:embed="rId3"/>
          <a:stretch>
            <a:fillRect/>
          </a:stretch>
        </p:blipFill>
        <p:spPr>
          <a:xfrm>
            <a:off x="1972596" y="3849441"/>
            <a:ext cx="5016758" cy="2400423"/>
          </a:xfrm>
          <a:prstGeom prst="rect">
            <a:avLst/>
          </a:prstGeom>
        </p:spPr>
      </p:pic>
    </p:spTree>
    <p:extLst>
      <p:ext uri="{BB962C8B-B14F-4D97-AF65-F5344CB8AC3E}">
        <p14:creationId xmlns:p14="http://schemas.microsoft.com/office/powerpoint/2010/main" val="39379703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1942671" y="1159776"/>
            <a:ext cx="7772400" cy="615553"/>
          </a:xfrm>
        </p:spPr>
        <p:txBody>
          <a:bodyPr/>
          <a:lstStyle/>
          <a:p>
            <a:r>
              <a:rPr lang="en-US" dirty="0">
                <a:latin typeface="Gill Sans MT" panose="020B0502020104020203" pitchFamily="34" charset="0"/>
              </a:rPr>
              <a:t>What is Firewalls</a:t>
            </a:r>
            <a:endParaRPr lang="en-US" sz="3800" dirty="0">
              <a:latin typeface="Gill Sans MT" panose="020B0502020104020203" pitchFamily="34" charset="0"/>
            </a:endParaRPr>
          </a:p>
        </p:txBody>
      </p:sp>
      <p:sp>
        <p:nvSpPr>
          <p:cNvPr id="3" name="Content Placeholder 2"/>
          <p:cNvSpPr>
            <a:spLocks noGrp="1"/>
          </p:cNvSpPr>
          <p:nvPr>
            <p:ph idx="1"/>
          </p:nvPr>
        </p:nvSpPr>
        <p:spPr>
          <a:xfrm>
            <a:off x="739165" y="2110484"/>
            <a:ext cx="9836367" cy="1969770"/>
          </a:xfrm>
        </p:spPr>
        <p:txBody>
          <a:bodyPr/>
          <a:lstStyle/>
          <a:p>
            <a:pPr>
              <a:defRPr/>
            </a:pPr>
            <a:r>
              <a:rPr lang="en-US" b="1" dirty="0">
                <a:solidFill>
                  <a:schemeClr val="accent5">
                    <a:lumMod val="50000"/>
                  </a:schemeClr>
                </a:solidFill>
                <a:latin typeface="Gill Sans MT" panose="020B0502020104020203" pitchFamily="34" charset="0"/>
              </a:rPr>
              <a:t>Firewall </a:t>
            </a:r>
            <a:r>
              <a:rPr lang="en-US" dirty="0">
                <a:latin typeface="Gill Sans MT" panose="020B0502020104020203" pitchFamily="34" charset="0"/>
              </a:rPr>
              <a:t>is a network device that isolates organization’s internal network from larger outside network/Internet. It can be a hardware, software, or combined system that prevents unauthorized access to or from internal network.</a:t>
            </a:r>
          </a:p>
        </p:txBody>
      </p:sp>
      <p:pic>
        <p:nvPicPr>
          <p:cNvPr id="25604" name="Picture 4" descr="Firewal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1633" y="4415409"/>
            <a:ext cx="6463020" cy="218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1962870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94774" y="2581710"/>
            <a:ext cx="7505192" cy="615553"/>
          </a:xfrm>
        </p:spPr>
        <p:txBody>
          <a:bodyPr/>
          <a:lstStyle/>
          <a:p>
            <a:pPr algn="ctr"/>
            <a:r>
              <a:rPr lang="en-US" dirty="0">
                <a:latin typeface="Gill Sans MT" panose="020B0502020104020203" pitchFamily="34" charset="0"/>
              </a:rPr>
              <a:t>Hardware threat</a:t>
            </a:r>
            <a:endParaRPr lang="en-US" dirty="0"/>
          </a:p>
        </p:txBody>
      </p:sp>
      <p:sp>
        <p:nvSpPr>
          <p:cNvPr id="4" name="Slide Number Placeholder 3"/>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22</a:t>
            </a:fld>
            <a:endParaRPr lang="en-US" dirty="0"/>
          </a:p>
        </p:txBody>
      </p:sp>
    </p:spTree>
    <p:extLst>
      <p:ext uri="{BB962C8B-B14F-4D97-AF65-F5344CB8AC3E}">
        <p14:creationId xmlns:p14="http://schemas.microsoft.com/office/powerpoint/2010/main" val="119173212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a:xfrm>
            <a:off x="2281719" y="1220912"/>
            <a:ext cx="7772400" cy="615553"/>
          </a:xfrm>
        </p:spPr>
        <p:txBody>
          <a:bodyPr/>
          <a:lstStyle/>
          <a:p>
            <a:r>
              <a:rPr lang="en-US" b="1" dirty="0" smtClean="0">
                <a:latin typeface="Gill Sans MT" panose="020B0502020104020203" pitchFamily="34" charset="0"/>
              </a:rPr>
              <a:t>Hardware threat</a:t>
            </a:r>
            <a:endParaRPr lang="en-US" dirty="0" smtClean="0">
              <a:latin typeface="Gill Sans MT" panose="020B0502020104020203" pitchFamily="34" charset="0"/>
            </a:endParaRPr>
          </a:p>
        </p:txBody>
      </p:sp>
      <p:sp>
        <p:nvSpPr>
          <p:cNvPr id="5123" name="Content Placeholder 2"/>
          <p:cNvSpPr>
            <a:spLocks noGrp="1"/>
          </p:cNvSpPr>
          <p:nvPr>
            <p:ph idx="1"/>
          </p:nvPr>
        </p:nvSpPr>
        <p:spPr>
          <a:xfrm>
            <a:off x="1407559" y="2206609"/>
            <a:ext cx="8646560" cy="2462213"/>
          </a:xfrm>
        </p:spPr>
        <p:txBody>
          <a:bodyPr/>
          <a:lstStyle/>
          <a:p>
            <a:pPr>
              <a:defRPr/>
            </a:pPr>
            <a:r>
              <a:rPr lang="en-US" dirty="0" smtClean="0"/>
              <a:t>Hardware </a:t>
            </a:r>
            <a:r>
              <a:rPr lang="en-US" dirty="0"/>
              <a:t>threats involve four types of threats: -</a:t>
            </a:r>
          </a:p>
          <a:p>
            <a:pPr marL="914400" lvl="1" indent="-457200">
              <a:buFont typeface="Arial" panose="020B0604020202020204" pitchFamily="34" charset="0"/>
              <a:buChar char="•"/>
              <a:defRPr/>
            </a:pPr>
            <a:r>
              <a:rPr lang="en-US" sz="3200" dirty="0">
                <a:latin typeface="Gill Sans MT" panose="020B0502020104020203" pitchFamily="34" charset="0"/>
              </a:rPr>
              <a:t>Physical</a:t>
            </a:r>
          </a:p>
          <a:p>
            <a:pPr marL="914400" lvl="1" indent="-457200">
              <a:buFont typeface="Arial" panose="020B0604020202020204" pitchFamily="34" charset="0"/>
              <a:buChar char="•"/>
              <a:defRPr/>
            </a:pPr>
            <a:r>
              <a:rPr lang="en-US" sz="3200" dirty="0">
                <a:latin typeface="Gill Sans MT" panose="020B0502020104020203" pitchFamily="34" charset="0"/>
              </a:rPr>
              <a:t>Electrical</a:t>
            </a:r>
          </a:p>
          <a:p>
            <a:pPr marL="914400" lvl="1" indent="-457200">
              <a:buFont typeface="Arial" panose="020B0604020202020204" pitchFamily="34" charset="0"/>
              <a:buChar char="•"/>
              <a:defRPr/>
            </a:pPr>
            <a:r>
              <a:rPr lang="en-US" sz="3200" dirty="0">
                <a:latin typeface="Gill Sans MT" panose="020B0502020104020203" pitchFamily="34" charset="0"/>
              </a:rPr>
              <a:t>Environmental</a:t>
            </a:r>
          </a:p>
          <a:p>
            <a:pPr marL="914400" lvl="1" indent="-457200">
              <a:buFont typeface="Arial" panose="020B0604020202020204" pitchFamily="34" charset="0"/>
              <a:buChar char="•"/>
              <a:defRPr/>
            </a:pPr>
            <a:r>
              <a:rPr lang="en-US" sz="3200" dirty="0">
                <a:latin typeface="Gill Sans MT" panose="020B0502020104020203" pitchFamily="34" charset="0"/>
              </a:rPr>
              <a:t>Maintenance</a:t>
            </a:r>
          </a:p>
        </p:txBody>
      </p:sp>
    </p:spTree>
    <p:extLst>
      <p:ext uri="{BB962C8B-B14F-4D97-AF65-F5344CB8AC3E}">
        <p14:creationId xmlns:p14="http://schemas.microsoft.com/office/powerpoint/2010/main" val="283987990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a:xfrm>
            <a:off x="4086545" y="699539"/>
            <a:ext cx="4656763" cy="615553"/>
          </a:xfrm>
        </p:spPr>
        <p:txBody>
          <a:bodyPr/>
          <a:lstStyle/>
          <a:p>
            <a:r>
              <a:rPr lang="en-US" b="1" dirty="0" smtClean="0">
                <a:latin typeface="Gill Sans MT" panose="020B0502020104020203" pitchFamily="34" charset="0"/>
              </a:rPr>
              <a:t>Hardware threat</a:t>
            </a:r>
            <a:endParaRPr lang="en-US" dirty="0" smtClean="0">
              <a:latin typeface="Gill Sans MT" panose="020B0502020104020203" pitchFamily="34" charset="0"/>
            </a:endParaRPr>
          </a:p>
        </p:txBody>
      </p:sp>
      <p:sp>
        <p:nvSpPr>
          <p:cNvPr id="6147" name="Content Placeholder 2"/>
          <p:cNvSpPr>
            <a:spLocks noGrp="1"/>
          </p:cNvSpPr>
          <p:nvPr>
            <p:ph idx="1"/>
          </p:nvPr>
        </p:nvSpPr>
        <p:spPr>
          <a:xfrm>
            <a:off x="441789" y="1407559"/>
            <a:ext cx="11239927" cy="4955203"/>
          </a:xfrm>
        </p:spPr>
        <p:txBody>
          <a:bodyPr/>
          <a:lstStyle/>
          <a:p>
            <a:pPr marL="514350" indent="-514350">
              <a:buAutoNum type="arabicPeriod"/>
              <a:defRPr/>
            </a:pPr>
            <a:r>
              <a:rPr lang="en-US" b="1" dirty="0" smtClean="0">
                <a:solidFill>
                  <a:schemeClr val="accent1"/>
                </a:solidFill>
                <a:latin typeface="Gill Sans MT" panose="020B0502020104020203" pitchFamily="34" charset="0"/>
              </a:rPr>
              <a:t>Physical Problems:</a:t>
            </a:r>
            <a:r>
              <a:rPr lang="en-US" b="1" dirty="0">
                <a:solidFill>
                  <a:schemeClr val="accent1"/>
                </a:solidFill>
                <a:latin typeface="Gill Sans MT" panose="020B0502020104020203" pitchFamily="34" charset="0"/>
              </a:rPr>
              <a:t> </a:t>
            </a:r>
            <a:endParaRPr lang="en-US" b="1" dirty="0" smtClean="0">
              <a:solidFill>
                <a:schemeClr val="accent1"/>
              </a:solidFill>
              <a:latin typeface="Gill Sans MT" panose="020B0502020104020203" pitchFamily="34" charset="0"/>
            </a:endParaRPr>
          </a:p>
          <a:p>
            <a:pPr lvl="2">
              <a:defRPr/>
            </a:pPr>
            <a:r>
              <a:rPr lang="en-US" sz="3000" dirty="0" smtClean="0">
                <a:latin typeface="Gill Sans MT" panose="020B0502020104020203" pitchFamily="34" charset="0"/>
              </a:rPr>
              <a:t>Improper </a:t>
            </a:r>
            <a:r>
              <a:rPr lang="en-US" sz="3000" dirty="0">
                <a:latin typeface="Gill Sans MT" panose="020B0502020104020203" pitchFamily="34" charset="0"/>
              </a:rPr>
              <a:t>installation, selecting wrong components, incomplete devices, lack of knowledge, unsecure or less secure network components </a:t>
            </a:r>
          </a:p>
          <a:p>
            <a:pPr>
              <a:defRPr/>
            </a:pPr>
            <a:r>
              <a:rPr lang="en-US" b="1" dirty="0">
                <a:solidFill>
                  <a:schemeClr val="accent1"/>
                </a:solidFill>
                <a:latin typeface="Gill Sans MT" panose="020B0502020104020203" pitchFamily="34" charset="0"/>
              </a:rPr>
              <a:t>Measurement should be taken (Solutions)</a:t>
            </a:r>
          </a:p>
          <a:p>
            <a:pPr marL="1371600" lvl="2" indent="-457200">
              <a:buFont typeface="Arial" panose="020B0604020202020204" pitchFamily="34" charset="0"/>
              <a:buChar char="•"/>
              <a:defRPr/>
            </a:pPr>
            <a:r>
              <a:rPr lang="en-US" sz="2800" dirty="0">
                <a:latin typeface="Gill Sans MT" panose="020B0502020104020203" pitchFamily="34" charset="0"/>
              </a:rPr>
              <a:t>Always purchase branded and genuine components.</a:t>
            </a:r>
          </a:p>
          <a:p>
            <a:pPr marL="1371600" lvl="2" indent="-457200">
              <a:buFont typeface="Arial" panose="020B0604020202020204" pitchFamily="34" charset="0"/>
              <a:buChar char="•"/>
              <a:defRPr/>
            </a:pPr>
            <a:r>
              <a:rPr lang="en-US" sz="2800" dirty="0">
                <a:latin typeface="Gill Sans MT" panose="020B0502020104020203" pitchFamily="34" charset="0"/>
              </a:rPr>
              <a:t>Hire experienced and knowledgeable technical staff.</a:t>
            </a:r>
          </a:p>
          <a:p>
            <a:pPr marL="1371600" lvl="2" indent="-457200">
              <a:buFont typeface="Arial" panose="020B0604020202020204" pitchFamily="34" charset="0"/>
              <a:buChar char="•"/>
              <a:defRPr/>
            </a:pPr>
            <a:r>
              <a:rPr lang="en-US" sz="2800" dirty="0">
                <a:latin typeface="Gill Sans MT" panose="020B0502020104020203" pitchFamily="34" charset="0"/>
              </a:rPr>
              <a:t>Always remove console cable after use.</a:t>
            </a:r>
          </a:p>
          <a:p>
            <a:pPr marL="1371600" lvl="2" indent="-457200">
              <a:buFont typeface="Arial" panose="020B0604020202020204" pitchFamily="34" charset="0"/>
              <a:buChar char="•"/>
              <a:defRPr/>
            </a:pPr>
            <a:r>
              <a:rPr lang="en-US" sz="2800" dirty="0">
                <a:latin typeface="Gill Sans MT" panose="020B0502020104020203" pitchFamily="34" charset="0"/>
              </a:rPr>
              <a:t>Always log off from administrative interfaces before leaving a station.</a:t>
            </a:r>
          </a:p>
          <a:p>
            <a:pPr marL="1371600" lvl="2" indent="-457200">
              <a:buFont typeface="Arial" panose="020B0604020202020204" pitchFamily="34" charset="0"/>
              <a:buChar char="•"/>
              <a:defRPr/>
            </a:pPr>
            <a:r>
              <a:rPr lang="en-US" sz="2800" dirty="0">
                <a:latin typeface="Gill Sans MT" panose="020B0502020104020203" pitchFamily="34" charset="0"/>
              </a:rPr>
              <a:t>Critical resources should be kept in secured room or location</a:t>
            </a:r>
            <a:endParaRPr lang="en-US" sz="2800" dirty="0">
              <a:solidFill>
                <a:schemeClr val="accent1"/>
              </a:solidFill>
              <a:latin typeface="Gill Sans MT" panose="020B0502020104020203" pitchFamily="34" charset="0"/>
            </a:endParaRPr>
          </a:p>
        </p:txBody>
      </p:sp>
    </p:spTree>
    <p:extLst>
      <p:ext uri="{BB962C8B-B14F-4D97-AF65-F5344CB8AC3E}">
        <p14:creationId xmlns:p14="http://schemas.microsoft.com/office/powerpoint/2010/main" val="414602889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4419600" y="542592"/>
            <a:ext cx="7772400" cy="615553"/>
          </a:xfrm>
        </p:spPr>
        <p:txBody>
          <a:bodyPr/>
          <a:lstStyle/>
          <a:p>
            <a:r>
              <a:rPr lang="en-US" b="1" dirty="0" smtClean="0">
                <a:latin typeface="Gill Sans MT" panose="020B0502020104020203" pitchFamily="34" charset="0"/>
              </a:rPr>
              <a:t>Hardware threat</a:t>
            </a:r>
            <a:endParaRPr lang="en-US" dirty="0" smtClean="0">
              <a:latin typeface="Gill Sans MT" panose="020B0502020104020203" pitchFamily="34" charset="0"/>
            </a:endParaRPr>
          </a:p>
        </p:txBody>
      </p:sp>
      <p:sp>
        <p:nvSpPr>
          <p:cNvPr id="6147" name="Content Placeholder 2"/>
          <p:cNvSpPr>
            <a:spLocks noGrp="1"/>
          </p:cNvSpPr>
          <p:nvPr>
            <p:ph idx="1"/>
          </p:nvPr>
        </p:nvSpPr>
        <p:spPr>
          <a:xfrm>
            <a:off x="616449" y="922338"/>
            <a:ext cx="11250203" cy="5591478"/>
          </a:xfrm>
        </p:spPr>
        <p:txBody>
          <a:bodyPr>
            <a:noAutofit/>
          </a:bodyPr>
          <a:lstStyle/>
          <a:p>
            <a:pPr>
              <a:defRPr/>
            </a:pPr>
            <a:r>
              <a:rPr lang="en-US" b="1" i="1" dirty="0">
                <a:solidFill>
                  <a:schemeClr val="accent1"/>
                </a:solidFill>
                <a:latin typeface="Gill Sans MT" panose="020B0502020104020203" pitchFamily="34" charset="0"/>
              </a:rPr>
              <a:t>2. Electrical</a:t>
            </a:r>
          </a:p>
          <a:p>
            <a:pPr lvl="1">
              <a:defRPr/>
            </a:pPr>
            <a:r>
              <a:rPr lang="en-US" sz="3000" dirty="0">
                <a:latin typeface="Gill Sans MT" panose="020B0502020104020203" pitchFamily="34" charset="0"/>
              </a:rPr>
              <a:t>Irregular power supply </a:t>
            </a:r>
            <a:r>
              <a:rPr lang="en-US" sz="3000" dirty="0" smtClean="0">
                <a:latin typeface="Gill Sans MT" panose="020B0502020104020203" pitchFamily="34" charset="0"/>
              </a:rPr>
              <a:t>(fluctuations</a:t>
            </a:r>
            <a:r>
              <a:rPr lang="en-US" sz="3000" dirty="0">
                <a:latin typeface="Gill Sans MT" panose="020B0502020104020203" pitchFamily="34" charset="0"/>
              </a:rPr>
              <a:t>, high voltage, low voltage or surge voltage) can cause serious damage to the network components. </a:t>
            </a:r>
          </a:p>
          <a:p>
            <a:pPr>
              <a:defRPr/>
            </a:pPr>
            <a:r>
              <a:rPr lang="en-US" b="1" dirty="0">
                <a:solidFill>
                  <a:schemeClr val="accent1"/>
                </a:solidFill>
                <a:latin typeface="Gill Sans MT" panose="020B0502020104020203" pitchFamily="34" charset="0"/>
              </a:rPr>
              <a:t>Precautions(Solution) </a:t>
            </a:r>
            <a:endParaRPr lang="en-US" b="1" dirty="0" smtClean="0">
              <a:solidFill>
                <a:schemeClr val="accent1"/>
              </a:solidFill>
              <a:latin typeface="Gill Sans MT" panose="020B0502020104020203" pitchFamily="34" charset="0"/>
            </a:endParaRPr>
          </a:p>
          <a:p>
            <a:pPr marL="457200" indent="-457200">
              <a:buFont typeface="Arial" panose="020B0604020202020204" pitchFamily="34" charset="0"/>
              <a:buChar char="•"/>
              <a:defRPr/>
            </a:pPr>
            <a:r>
              <a:rPr lang="en-US" sz="3000" dirty="0" smtClean="0">
                <a:latin typeface="Gill Sans MT" panose="020B0502020104020203" pitchFamily="34" charset="0"/>
              </a:rPr>
              <a:t>Use </a:t>
            </a:r>
            <a:r>
              <a:rPr lang="en-US" sz="3000" dirty="0">
                <a:latin typeface="Gill Sans MT" panose="020B0502020104020203" pitchFamily="34" charset="0"/>
              </a:rPr>
              <a:t>UPS (Uninterruptible Power Supply) for critical network </a:t>
            </a:r>
            <a:r>
              <a:rPr lang="en-US" sz="3000" dirty="0" smtClean="0">
                <a:latin typeface="Gill Sans MT" panose="020B0502020104020203" pitchFamily="34" charset="0"/>
              </a:rPr>
              <a:t>resources.</a:t>
            </a:r>
          </a:p>
          <a:p>
            <a:pPr marL="457200" indent="-457200">
              <a:buFont typeface="Arial" panose="020B0604020202020204" pitchFamily="34" charset="0"/>
              <a:buChar char="•"/>
              <a:defRPr/>
            </a:pPr>
            <a:r>
              <a:rPr lang="en-US" sz="3000" dirty="0" smtClean="0">
                <a:latin typeface="Gill Sans MT" panose="020B0502020104020203" pitchFamily="34" charset="0"/>
              </a:rPr>
              <a:t>Use </a:t>
            </a:r>
            <a:r>
              <a:rPr lang="en-US" sz="3000" dirty="0">
                <a:latin typeface="Gill Sans MT" panose="020B0502020104020203" pitchFamily="34" charset="0"/>
              </a:rPr>
              <a:t>RPS (Redundant power supplies) for critical </a:t>
            </a:r>
            <a:r>
              <a:rPr lang="en-US" sz="3000" dirty="0" smtClean="0">
                <a:latin typeface="Gill Sans MT" panose="020B0502020104020203" pitchFamily="34" charset="0"/>
              </a:rPr>
              <a:t>devices.</a:t>
            </a:r>
          </a:p>
          <a:p>
            <a:pPr marL="457200" indent="-457200">
              <a:buFont typeface="Arial" panose="020B0604020202020204" pitchFamily="34" charset="0"/>
              <a:buChar char="•"/>
              <a:defRPr/>
            </a:pPr>
            <a:r>
              <a:rPr lang="en-US" sz="3000" dirty="0" smtClean="0">
                <a:latin typeface="Gill Sans MT" panose="020B0502020104020203" pitchFamily="34" charset="0"/>
              </a:rPr>
              <a:t>Use </a:t>
            </a:r>
            <a:r>
              <a:rPr lang="en-US" sz="3000" dirty="0">
                <a:latin typeface="Gill Sans MT" panose="020B0502020104020203" pitchFamily="34" charset="0"/>
              </a:rPr>
              <a:t>backup generator systems with auto inverter technology that switches on backup power supply automatically if main supply went </a:t>
            </a:r>
            <a:r>
              <a:rPr lang="en-US" sz="3000" dirty="0" smtClean="0">
                <a:latin typeface="Gill Sans MT" panose="020B0502020104020203" pitchFamily="34" charset="0"/>
              </a:rPr>
              <a:t>down.</a:t>
            </a:r>
          </a:p>
          <a:p>
            <a:pPr marL="457200" indent="-457200">
              <a:buFont typeface="Arial" panose="020B0604020202020204" pitchFamily="34" charset="0"/>
              <a:buChar char="•"/>
              <a:defRPr/>
            </a:pPr>
            <a:r>
              <a:rPr lang="en-US" sz="3000" dirty="0" smtClean="0">
                <a:latin typeface="Gill Sans MT" panose="020B0502020104020203" pitchFamily="34" charset="0"/>
              </a:rPr>
              <a:t>Use </a:t>
            </a:r>
            <a:r>
              <a:rPr lang="en-US" sz="3000" dirty="0">
                <a:latin typeface="Gill Sans MT" panose="020B0502020104020203" pitchFamily="34" charset="0"/>
              </a:rPr>
              <a:t>monitor and alarm system at device levels.</a:t>
            </a:r>
          </a:p>
        </p:txBody>
      </p:sp>
    </p:spTree>
    <p:extLst>
      <p:ext uri="{BB962C8B-B14F-4D97-AF65-F5344CB8AC3E}">
        <p14:creationId xmlns:p14="http://schemas.microsoft.com/office/powerpoint/2010/main" val="307106656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a:xfrm>
            <a:off x="3724381" y="686656"/>
            <a:ext cx="7772400" cy="1231106"/>
          </a:xfrm>
        </p:spPr>
        <p:txBody>
          <a:bodyPr/>
          <a:lstStyle/>
          <a:p>
            <a:r>
              <a:rPr lang="en-US" i="1" dirty="0">
                <a:solidFill>
                  <a:srgbClr val="FF0000"/>
                </a:solidFill>
                <a:latin typeface="Gill Sans MT" panose="020B0502020104020203" pitchFamily="34" charset="0"/>
              </a:rPr>
              <a:t>Environmental</a:t>
            </a:r>
            <a:br>
              <a:rPr lang="en-US" i="1" dirty="0">
                <a:solidFill>
                  <a:srgbClr val="FF0000"/>
                </a:solidFill>
                <a:latin typeface="Gill Sans MT" panose="020B0502020104020203" pitchFamily="34" charset="0"/>
              </a:rPr>
            </a:br>
            <a:endParaRPr lang="en-US" dirty="0" smtClean="0">
              <a:solidFill>
                <a:srgbClr val="FF0000"/>
              </a:solidFill>
            </a:endParaRPr>
          </a:p>
        </p:txBody>
      </p:sp>
      <p:sp>
        <p:nvSpPr>
          <p:cNvPr id="6147" name="Content Placeholder 2"/>
          <p:cNvSpPr>
            <a:spLocks noGrp="1"/>
          </p:cNvSpPr>
          <p:nvPr>
            <p:ph idx="1"/>
          </p:nvPr>
        </p:nvSpPr>
        <p:spPr>
          <a:xfrm>
            <a:off x="534256" y="1376737"/>
            <a:ext cx="10962525" cy="5047536"/>
          </a:xfrm>
        </p:spPr>
        <p:txBody>
          <a:bodyPr/>
          <a:lstStyle/>
          <a:p>
            <a:pPr>
              <a:defRPr/>
            </a:pPr>
            <a:r>
              <a:rPr lang="en-US" b="1" i="1" dirty="0">
                <a:solidFill>
                  <a:schemeClr val="accent1"/>
                </a:solidFill>
                <a:latin typeface="Gill Sans MT" panose="020B0502020104020203" pitchFamily="34" charset="0"/>
              </a:rPr>
              <a:t>3. Environmental</a:t>
            </a:r>
          </a:p>
          <a:p>
            <a:pPr lvl="2">
              <a:defRPr/>
            </a:pPr>
            <a:r>
              <a:rPr lang="en-US" sz="3000" dirty="0">
                <a:latin typeface="Gill Sans MT" panose="020B0502020104020203" pitchFamily="34" charset="0"/>
              </a:rPr>
              <a:t>Extreme weather conditions (such as moisture, very high or low temperature and humidity) can also damage network devices. </a:t>
            </a:r>
          </a:p>
          <a:p>
            <a:pPr>
              <a:defRPr/>
            </a:pPr>
            <a:r>
              <a:rPr lang="en-US" b="1" dirty="0" smtClean="0">
                <a:solidFill>
                  <a:schemeClr val="accent1"/>
                </a:solidFill>
                <a:latin typeface="Gill Sans MT" panose="020B0502020104020203" pitchFamily="34" charset="0"/>
              </a:rPr>
              <a:t>Action(Solution</a:t>
            </a:r>
            <a:r>
              <a:rPr lang="en-US" b="1" dirty="0">
                <a:solidFill>
                  <a:schemeClr val="accent1"/>
                </a:solidFill>
                <a:latin typeface="Gill Sans MT" panose="020B0502020104020203" pitchFamily="34" charset="0"/>
              </a:rPr>
              <a:t>) should be taken:-</a:t>
            </a:r>
          </a:p>
          <a:p>
            <a:pPr marL="914400" lvl="1" indent="-457200">
              <a:buFont typeface="Arial" panose="020B0604020202020204" pitchFamily="34" charset="0"/>
              <a:buChar char="•"/>
              <a:defRPr/>
            </a:pPr>
            <a:r>
              <a:rPr lang="en-US" sz="3000" dirty="0" smtClean="0">
                <a:latin typeface="Gill Sans MT" panose="020B0502020104020203" pitchFamily="34" charset="0"/>
              </a:rPr>
              <a:t>keep </a:t>
            </a:r>
            <a:r>
              <a:rPr lang="en-US" sz="3000" dirty="0">
                <a:latin typeface="Gill Sans MT" panose="020B0502020104020203" pitchFamily="34" charset="0"/>
              </a:rPr>
              <a:t>away EMI (Electro Magnetic Interface) devices from critical networking devices such as routers, switches, PCs and Servers.</a:t>
            </a:r>
          </a:p>
          <a:p>
            <a:pPr marL="914400" lvl="1" indent="-457200">
              <a:buFont typeface="Arial" panose="020B0604020202020204" pitchFamily="34" charset="0"/>
              <a:buChar char="•"/>
              <a:defRPr/>
            </a:pPr>
            <a:r>
              <a:rPr lang="en-US" sz="3000" dirty="0" smtClean="0">
                <a:latin typeface="Gill Sans MT" panose="020B0502020104020203" pitchFamily="34" charset="0"/>
              </a:rPr>
              <a:t>Maintain </a:t>
            </a:r>
            <a:r>
              <a:rPr lang="en-US" sz="3000" dirty="0">
                <a:latin typeface="Gill Sans MT" panose="020B0502020104020203" pitchFamily="34" charset="0"/>
              </a:rPr>
              <a:t>room temperature and humidity </a:t>
            </a:r>
            <a:r>
              <a:rPr lang="en-US" sz="3000" dirty="0" smtClean="0">
                <a:latin typeface="Gill Sans MT" panose="020B0502020104020203" pitchFamily="34" charset="0"/>
              </a:rPr>
              <a:t>parameters.</a:t>
            </a:r>
          </a:p>
          <a:p>
            <a:pPr marL="1828800" lvl="3" indent="-457200">
              <a:buFont typeface="Arial" panose="020B0604020202020204" pitchFamily="34" charset="0"/>
              <a:buChar char="•"/>
            </a:pPr>
            <a:r>
              <a:rPr lang="en-US" dirty="0">
                <a:latin typeface="Gill Sans MT" panose="020B0502020104020203" pitchFamily="34" charset="0"/>
              </a:rPr>
              <a:t>The ideal temperature for servers to run efficiently is between </a:t>
            </a:r>
            <a:r>
              <a:rPr lang="en-US" b="1" dirty="0">
                <a:latin typeface="Gill Sans MT" panose="020B0502020104020203" pitchFamily="34" charset="0"/>
              </a:rPr>
              <a:t>19 – 21°C</a:t>
            </a:r>
            <a:r>
              <a:rPr lang="en-US" dirty="0">
                <a:latin typeface="Gill Sans MT" panose="020B0502020104020203" pitchFamily="34" charset="0"/>
              </a:rPr>
              <a:t>.</a:t>
            </a:r>
          </a:p>
          <a:p>
            <a:pPr marL="1828800" lvl="3" indent="-457200">
              <a:buFont typeface="Arial" panose="020B0604020202020204" pitchFamily="34" charset="0"/>
              <a:buChar char="•"/>
            </a:pPr>
            <a:r>
              <a:rPr lang="en-US" dirty="0" smtClean="0">
                <a:latin typeface="Gill Sans MT" panose="020B0502020104020203" pitchFamily="34" charset="0"/>
              </a:rPr>
              <a:t>Temperatures </a:t>
            </a:r>
            <a:r>
              <a:rPr lang="en-US" dirty="0">
                <a:latin typeface="Gill Sans MT" panose="020B0502020104020203" pitchFamily="34" charset="0"/>
              </a:rPr>
              <a:t>below 10°C or above 35°C need to be addressed immediately.</a:t>
            </a:r>
          </a:p>
          <a:p>
            <a:pPr marL="1828800" lvl="3" indent="-457200">
              <a:buFont typeface="Arial" panose="020B0604020202020204" pitchFamily="34" charset="0"/>
              <a:buChar char="•"/>
            </a:pPr>
            <a:r>
              <a:rPr lang="en-US" dirty="0">
                <a:latin typeface="Gill Sans MT" panose="020B0502020104020203" pitchFamily="34" charset="0"/>
              </a:rPr>
              <a:t>The humidity level should be between 40 – 60%.</a:t>
            </a:r>
          </a:p>
          <a:p>
            <a:pPr marL="914400" lvl="1" indent="-457200">
              <a:buFont typeface="Arial" panose="020B0604020202020204" pitchFamily="34" charset="0"/>
              <a:buChar char="•"/>
              <a:defRPr/>
            </a:pPr>
            <a:r>
              <a:rPr lang="en-US" sz="3000" dirty="0" smtClean="0">
                <a:latin typeface="Gill Sans MT" panose="020B0502020104020203" pitchFamily="34" charset="0"/>
              </a:rPr>
              <a:t>Keep </a:t>
            </a:r>
            <a:r>
              <a:rPr lang="en-US" sz="3000" dirty="0">
                <a:latin typeface="Gill Sans MT" panose="020B0502020104020203" pitchFamily="34" charset="0"/>
              </a:rPr>
              <a:t>the critical networking devices away from direct sun light and heavy winds.</a:t>
            </a:r>
          </a:p>
        </p:txBody>
      </p:sp>
    </p:spTree>
    <p:extLst>
      <p:ext uri="{BB962C8B-B14F-4D97-AF65-F5344CB8AC3E}">
        <p14:creationId xmlns:p14="http://schemas.microsoft.com/office/powerpoint/2010/main" val="97929092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a:xfrm>
            <a:off x="2959813" y="666382"/>
            <a:ext cx="7772400" cy="615553"/>
          </a:xfrm>
        </p:spPr>
        <p:txBody>
          <a:bodyPr/>
          <a:lstStyle/>
          <a:p>
            <a:r>
              <a:rPr lang="en-US" i="1" dirty="0" smtClean="0">
                <a:solidFill>
                  <a:srgbClr val="FF0000"/>
                </a:solidFill>
                <a:latin typeface="Gill Sans MT" panose="020B0502020104020203" pitchFamily="34" charset="0"/>
              </a:rPr>
              <a:t>Maintenance </a:t>
            </a:r>
            <a:r>
              <a:rPr lang="en-US" b="1" dirty="0" smtClean="0">
                <a:solidFill>
                  <a:srgbClr val="FF0000"/>
                </a:solidFill>
                <a:latin typeface="Gill Sans MT" panose="020B0502020104020203" pitchFamily="34" charset="0"/>
              </a:rPr>
              <a:t> threat</a:t>
            </a:r>
            <a:endParaRPr lang="en-US" dirty="0" smtClean="0">
              <a:solidFill>
                <a:srgbClr val="FF0000"/>
              </a:solidFill>
              <a:latin typeface="Gill Sans MT" panose="020B0502020104020203" pitchFamily="34" charset="0"/>
            </a:endParaRPr>
          </a:p>
        </p:txBody>
      </p:sp>
      <p:sp>
        <p:nvSpPr>
          <p:cNvPr id="6147" name="Content Placeholder 2"/>
          <p:cNvSpPr>
            <a:spLocks noGrp="1"/>
          </p:cNvSpPr>
          <p:nvPr>
            <p:ph idx="1"/>
          </p:nvPr>
        </p:nvSpPr>
        <p:spPr>
          <a:xfrm>
            <a:off x="630148" y="1281935"/>
            <a:ext cx="10763892" cy="4739759"/>
          </a:xfrm>
        </p:spPr>
        <p:txBody>
          <a:bodyPr/>
          <a:lstStyle/>
          <a:p>
            <a:pPr>
              <a:defRPr/>
            </a:pPr>
            <a:r>
              <a:rPr lang="en-US" b="1" i="1" dirty="0">
                <a:solidFill>
                  <a:schemeClr val="accent1"/>
                </a:solidFill>
                <a:latin typeface="Gill Sans MT" panose="020B0502020104020203" pitchFamily="34" charset="0"/>
              </a:rPr>
              <a:t>4. Maintenance</a:t>
            </a:r>
          </a:p>
          <a:p>
            <a:pPr lvl="2">
              <a:defRPr/>
            </a:pPr>
            <a:r>
              <a:rPr lang="en-US" sz="3000" dirty="0">
                <a:latin typeface="Gill Sans MT" panose="020B0502020104020203" pitchFamily="34" charset="0"/>
              </a:rPr>
              <a:t>this threats includes lack of spare parts, poor cabling, incorrect or no labeling on components. </a:t>
            </a:r>
          </a:p>
          <a:p>
            <a:pPr>
              <a:defRPr/>
            </a:pPr>
            <a:endParaRPr lang="en-US" dirty="0">
              <a:latin typeface="Gill Sans MT" panose="020B0502020104020203" pitchFamily="34" charset="0"/>
            </a:endParaRPr>
          </a:p>
          <a:p>
            <a:pPr>
              <a:defRPr/>
            </a:pPr>
            <a:r>
              <a:rPr lang="en-US" b="1" dirty="0" smtClean="0">
                <a:solidFill>
                  <a:schemeClr val="accent1"/>
                </a:solidFill>
                <a:latin typeface="Gill Sans MT" panose="020B0502020104020203" pitchFamily="34" charset="0"/>
              </a:rPr>
              <a:t>Following </a:t>
            </a:r>
            <a:r>
              <a:rPr lang="en-US" b="1" dirty="0">
                <a:solidFill>
                  <a:schemeClr val="accent1"/>
                </a:solidFill>
                <a:latin typeface="Gill Sans MT" panose="020B0502020104020203" pitchFamily="34" charset="0"/>
              </a:rPr>
              <a:t>guideline(Solutions) should be taken:-</a:t>
            </a:r>
          </a:p>
          <a:p>
            <a:pPr marL="914400" lvl="1" indent="-457200">
              <a:buFont typeface="Arial" panose="020B0604020202020204" pitchFamily="34" charset="0"/>
              <a:buChar char="•"/>
              <a:defRPr/>
            </a:pPr>
            <a:r>
              <a:rPr lang="en-US" sz="3000" dirty="0">
                <a:latin typeface="Gill Sans MT" panose="020B0502020104020203" pitchFamily="34" charset="0"/>
              </a:rPr>
              <a:t>Clearly label all components.</a:t>
            </a:r>
          </a:p>
          <a:p>
            <a:pPr marL="914400" lvl="1" indent="-457200">
              <a:buFont typeface="Arial" panose="020B0604020202020204" pitchFamily="34" charset="0"/>
              <a:buChar char="•"/>
              <a:defRPr/>
            </a:pPr>
            <a:r>
              <a:rPr lang="en-US" sz="3000" dirty="0">
                <a:latin typeface="Gill Sans MT" panose="020B0502020104020203" pitchFamily="34" charset="0"/>
              </a:rPr>
              <a:t>Secure cabling equipment in racks.</a:t>
            </a:r>
          </a:p>
          <a:p>
            <a:pPr marL="914400" lvl="1" indent="-457200">
              <a:buFont typeface="Arial" panose="020B0604020202020204" pitchFamily="34" charset="0"/>
              <a:buChar char="•"/>
              <a:defRPr/>
            </a:pPr>
            <a:r>
              <a:rPr lang="en-US" sz="3000" dirty="0">
                <a:latin typeface="Gill Sans MT" panose="020B0502020104020203" pitchFamily="34" charset="0"/>
              </a:rPr>
              <a:t>Always maintain a sufficient stock of critical spare parts for emergency use.</a:t>
            </a:r>
          </a:p>
          <a:p>
            <a:pPr>
              <a:defRPr/>
            </a:pPr>
            <a:endParaRPr lang="en-US" dirty="0">
              <a:latin typeface="Gill Sans MT" panose="020B0502020104020203" pitchFamily="34" charset="0"/>
            </a:endParaRPr>
          </a:p>
        </p:txBody>
      </p:sp>
    </p:spTree>
    <p:extLst>
      <p:ext uri="{BB962C8B-B14F-4D97-AF65-F5344CB8AC3E}">
        <p14:creationId xmlns:p14="http://schemas.microsoft.com/office/powerpoint/2010/main" val="136294372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1195227" y="1185025"/>
            <a:ext cx="9144000" cy="461665"/>
          </a:xfrm>
        </p:spPr>
        <p:txBody>
          <a:bodyPr/>
          <a:lstStyle/>
          <a:p>
            <a:pPr>
              <a:defRPr/>
            </a:pPr>
            <a:r>
              <a:rPr lang="en-US" sz="3000" cap="all" dirty="0">
                <a:latin typeface="Gill Sans MT" panose="020B0502020104020203" pitchFamily="34" charset="0"/>
              </a:rPr>
              <a:t>HOW TO MINIMIZE SECURITY THREATS</a:t>
            </a:r>
            <a:endParaRPr lang="en-US" sz="3000" dirty="0">
              <a:latin typeface="Gill Sans MT" panose="020B0502020104020203" pitchFamily="34" charset="0"/>
            </a:endParaRPr>
          </a:p>
        </p:txBody>
      </p:sp>
      <p:sp>
        <p:nvSpPr>
          <p:cNvPr id="5123" name="Content Placeholder 2"/>
          <p:cNvSpPr>
            <a:spLocks noGrp="1"/>
          </p:cNvSpPr>
          <p:nvPr>
            <p:ph idx="1"/>
          </p:nvPr>
        </p:nvSpPr>
        <p:spPr>
          <a:xfrm>
            <a:off x="791109" y="1787702"/>
            <a:ext cx="11178283" cy="5416868"/>
          </a:xfrm>
        </p:spPr>
        <p:txBody>
          <a:bodyPr/>
          <a:lstStyle/>
          <a:p>
            <a:pPr>
              <a:defRPr/>
            </a:pPr>
            <a:r>
              <a:rPr lang="en-US" b="1" cap="all" dirty="0">
                <a:latin typeface="Gill Sans MT" panose="020B0502020104020203" pitchFamily="34" charset="0"/>
              </a:rPr>
              <a:t> </a:t>
            </a:r>
            <a:r>
              <a:rPr lang="en-US" dirty="0" smtClean="0">
                <a:latin typeface="Gill Sans MT" panose="020B0502020104020203" pitchFamily="34" charset="0"/>
              </a:rPr>
              <a:t>1</a:t>
            </a:r>
            <a:r>
              <a:rPr lang="en-US" dirty="0">
                <a:latin typeface="Gill Sans MT" panose="020B0502020104020203" pitchFamily="34" charset="0"/>
              </a:rPr>
              <a:t>.    </a:t>
            </a:r>
            <a:r>
              <a:rPr lang="en-US" dirty="0" smtClean="0">
                <a:latin typeface="Gill Sans MT" panose="020B0502020104020203" pitchFamily="34" charset="0"/>
              </a:rPr>
              <a:t>Perform </a:t>
            </a:r>
            <a:r>
              <a:rPr lang="en-US" dirty="0">
                <a:latin typeface="Gill Sans MT" panose="020B0502020104020203" pitchFamily="34" charset="0"/>
              </a:rPr>
              <a:t>a risk assessment: </a:t>
            </a:r>
          </a:p>
          <a:p>
            <a:pPr>
              <a:defRPr/>
            </a:pPr>
            <a:r>
              <a:rPr lang="en-US" dirty="0">
                <a:latin typeface="Gill Sans MT" panose="020B0502020104020203" pitchFamily="34" charset="0"/>
              </a:rPr>
              <a:t>2.     Develop a security policy:  written statement on:</a:t>
            </a:r>
          </a:p>
          <a:p>
            <a:pPr marL="1828800" lvl="3" indent="-457200">
              <a:buFont typeface="Arial" panose="020B0604020202020204" pitchFamily="34" charset="0"/>
              <a:buChar char="•"/>
              <a:defRPr/>
            </a:pPr>
            <a:r>
              <a:rPr lang="en-US" sz="3200" dirty="0">
                <a:latin typeface="Gill Sans MT" panose="020B0502020104020203" pitchFamily="34" charset="0"/>
              </a:rPr>
              <a:t>What assets to protect from whom?</a:t>
            </a:r>
          </a:p>
          <a:p>
            <a:pPr marL="1828800" lvl="3" indent="-457200">
              <a:buFont typeface="Arial" panose="020B0604020202020204" pitchFamily="34" charset="0"/>
              <a:buChar char="•"/>
              <a:defRPr/>
            </a:pPr>
            <a:r>
              <a:rPr lang="en-US" sz="3200" dirty="0">
                <a:latin typeface="Gill Sans MT" panose="020B0502020104020203" pitchFamily="34" charset="0"/>
              </a:rPr>
              <a:t>Why these assets are being protected?</a:t>
            </a:r>
          </a:p>
          <a:p>
            <a:pPr marL="1828800" lvl="3" indent="-457200">
              <a:buFont typeface="Arial" panose="020B0604020202020204" pitchFamily="34" charset="0"/>
              <a:buChar char="•"/>
              <a:defRPr/>
            </a:pPr>
            <a:r>
              <a:rPr lang="en-US" sz="3200" dirty="0">
                <a:latin typeface="Gill Sans MT" panose="020B0502020104020203" pitchFamily="34" charset="0"/>
              </a:rPr>
              <a:t>Who is responsible for what protection?</a:t>
            </a:r>
          </a:p>
          <a:p>
            <a:pPr marL="1828800" lvl="3" indent="-457200">
              <a:buFont typeface="Arial" panose="020B0604020202020204" pitchFamily="34" charset="0"/>
              <a:buChar char="•"/>
              <a:defRPr/>
            </a:pPr>
            <a:r>
              <a:rPr lang="en-US" sz="3200" dirty="0">
                <a:latin typeface="Gill Sans MT" panose="020B0502020104020203" pitchFamily="34" charset="0"/>
              </a:rPr>
              <a:t>Which behaviors are acceptable and unacceptable?</a:t>
            </a:r>
          </a:p>
          <a:p>
            <a:pPr>
              <a:defRPr/>
            </a:pPr>
            <a:r>
              <a:rPr lang="en-US" dirty="0" smtClean="0">
                <a:latin typeface="Gill Sans MT" panose="020B0502020104020203" pitchFamily="34" charset="0"/>
              </a:rPr>
              <a:t>3</a:t>
            </a:r>
            <a:r>
              <a:rPr lang="en-US" dirty="0">
                <a:latin typeface="Gill Sans MT" panose="020B0502020104020203" pitchFamily="34" charset="0"/>
              </a:rPr>
              <a:t>.  Develop an implementation plan: </a:t>
            </a:r>
          </a:p>
          <a:p>
            <a:pPr>
              <a:defRPr/>
            </a:pPr>
            <a:r>
              <a:rPr lang="en-US" dirty="0">
                <a:latin typeface="Gill Sans MT" panose="020B0502020104020203" pitchFamily="34" charset="0"/>
              </a:rPr>
              <a:t>4.  Create a security </a:t>
            </a:r>
            <a:r>
              <a:rPr lang="en-US" dirty="0" smtClean="0">
                <a:latin typeface="Gill Sans MT" panose="020B0502020104020203" pitchFamily="34" charset="0"/>
              </a:rPr>
              <a:t>organization policy</a:t>
            </a:r>
            <a:endParaRPr lang="en-US" dirty="0">
              <a:latin typeface="Gill Sans MT" panose="020B0502020104020203" pitchFamily="34" charset="0"/>
            </a:endParaRPr>
          </a:p>
          <a:p>
            <a:pPr>
              <a:defRPr/>
            </a:pPr>
            <a:r>
              <a:rPr lang="en-US" dirty="0">
                <a:latin typeface="Gill Sans MT" panose="020B0502020104020203" pitchFamily="34" charset="0"/>
              </a:rPr>
              <a:t>5.  Perform a security audit:</a:t>
            </a:r>
            <a:endParaRPr lang="en-US" b="1" dirty="0">
              <a:solidFill>
                <a:schemeClr val="accent1"/>
              </a:solidFill>
              <a:latin typeface="Gill Sans MT" panose="020B0502020104020203" pitchFamily="34" charset="0"/>
            </a:endParaRPr>
          </a:p>
          <a:p>
            <a:pPr>
              <a:defRPr/>
            </a:pPr>
            <a:endParaRPr lang="en-US" dirty="0">
              <a:latin typeface="Gill Sans MT" panose="020B0502020104020203" pitchFamily="34" charset="0"/>
            </a:endParaRPr>
          </a:p>
          <a:p>
            <a:pPr>
              <a:defRPr/>
            </a:pPr>
            <a:endParaRPr lang="en-US" dirty="0">
              <a:solidFill>
                <a:schemeClr val="accent1"/>
              </a:solidFill>
              <a:latin typeface="Gill Sans MT" panose="020B0502020104020203" pitchFamily="34" charset="0"/>
            </a:endParaRPr>
          </a:p>
        </p:txBody>
      </p:sp>
    </p:spTree>
    <p:extLst>
      <p:ext uri="{BB962C8B-B14F-4D97-AF65-F5344CB8AC3E}">
        <p14:creationId xmlns:p14="http://schemas.microsoft.com/office/powerpoint/2010/main" val="46790898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a:xfrm>
            <a:off x="1702942" y="800581"/>
            <a:ext cx="9067800" cy="615553"/>
          </a:xfrm>
        </p:spPr>
        <p:txBody>
          <a:bodyPr/>
          <a:lstStyle/>
          <a:p>
            <a:r>
              <a:rPr lang="en-US" b="1" dirty="0" smtClean="0">
                <a:latin typeface="Gill Sans MT" panose="020B0502020104020203" pitchFamily="34" charset="0"/>
                <a:cs typeface="Times New Roman" panose="02020603050405020304" pitchFamily="18" charset="0"/>
              </a:rPr>
              <a:t>Control Access to the Server:</a:t>
            </a:r>
            <a:endParaRPr lang="en-US" dirty="0" smtClean="0">
              <a:latin typeface="Gill Sans MT" panose="020B0502020104020203" pitchFamily="34" charset="0"/>
              <a:cs typeface="Times New Roman" panose="02020603050405020304" pitchFamily="18" charset="0"/>
            </a:endParaRPr>
          </a:p>
        </p:txBody>
      </p:sp>
      <p:sp>
        <p:nvSpPr>
          <p:cNvPr id="5123" name="Content Placeholder 2"/>
          <p:cNvSpPr>
            <a:spLocks noGrp="1"/>
          </p:cNvSpPr>
          <p:nvPr>
            <p:ph idx="1"/>
          </p:nvPr>
        </p:nvSpPr>
        <p:spPr>
          <a:xfrm>
            <a:off x="914400" y="1530849"/>
            <a:ext cx="11044719" cy="6143281"/>
          </a:xfrm>
        </p:spPr>
        <p:txBody>
          <a:bodyPr/>
          <a:lstStyle/>
          <a:p>
            <a:pPr marL="457200" indent="-457200">
              <a:buFont typeface="Arial" panose="020B0604020202020204" pitchFamily="34" charset="0"/>
              <a:buChar char="•"/>
              <a:defRPr/>
            </a:pPr>
            <a:r>
              <a:rPr lang="en-US" dirty="0">
                <a:latin typeface="Gill Sans MT" panose="020B0502020104020203" pitchFamily="34" charset="0"/>
              </a:rPr>
              <a:t>Remove, disable or change passwords to default accounts.</a:t>
            </a:r>
          </a:p>
          <a:p>
            <a:pPr marL="457200" indent="-457200">
              <a:buFont typeface="Arial" panose="020B0604020202020204" pitchFamily="34" charset="0"/>
              <a:buChar char="•"/>
              <a:defRPr/>
            </a:pPr>
            <a:r>
              <a:rPr lang="en-US" dirty="0">
                <a:latin typeface="Gill Sans MT" panose="020B0502020104020203" pitchFamily="34" charset="0"/>
              </a:rPr>
              <a:t>All passwords should be </a:t>
            </a:r>
            <a:r>
              <a:rPr lang="en-US" u="sng" dirty="0">
                <a:latin typeface="Gill Sans MT" panose="020B0502020104020203" pitchFamily="34" charset="0"/>
                <a:hlinkClick r:id="rId2"/>
              </a:rPr>
              <a:t>strong</a:t>
            </a:r>
            <a:r>
              <a:rPr lang="en-US" dirty="0">
                <a:latin typeface="Gill Sans MT" panose="020B0502020104020203" pitchFamily="34" charset="0"/>
              </a:rPr>
              <a:t>; unique, and changed periodically.</a:t>
            </a:r>
          </a:p>
          <a:p>
            <a:pPr marL="457200" indent="-457200">
              <a:buFont typeface="Arial" panose="020B0604020202020204" pitchFamily="34" charset="0"/>
              <a:buChar char="•"/>
              <a:defRPr/>
            </a:pPr>
            <a:r>
              <a:rPr lang="en-US" dirty="0">
                <a:latin typeface="Gill Sans MT" panose="020B0502020104020203" pitchFamily="34" charset="0"/>
              </a:rPr>
              <a:t>Disable "guest" accounts/access.</a:t>
            </a:r>
          </a:p>
          <a:p>
            <a:pPr marL="457200" indent="-457200">
              <a:buFont typeface="Arial" panose="020B0604020202020204" pitchFamily="34" charset="0"/>
              <a:buChar char="•"/>
              <a:defRPr/>
            </a:pPr>
            <a:r>
              <a:rPr lang="en-US" dirty="0">
                <a:latin typeface="Gill Sans MT" panose="020B0502020104020203" pitchFamily="34" charset="0"/>
              </a:rPr>
              <a:t>Review user accounts and remove inactive accounts.</a:t>
            </a:r>
          </a:p>
          <a:p>
            <a:pPr marL="457200" indent="-457200">
              <a:buFont typeface="Arial" panose="020B0604020202020204" pitchFamily="34" charset="0"/>
              <a:buChar char="•"/>
              <a:defRPr/>
            </a:pPr>
            <a:r>
              <a:rPr lang="en-US" dirty="0">
                <a:latin typeface="Gill Sans MT" panose="020B0502020104020203" pitchFamily="34" charset="0"/>
              </a:rPr>
              <a:t>Keep a complete list of everyone who has access to the server, and their privileges (read/write/Execute).</a:t>
            </a:r>
          </a:p>
          <a:p>
            <a:pPr marL="457200" indent="-457200">
              <a:buFont typeface="Arial" panose="020B0604020202020204" pitchFamily="34" charset="0"/>
              <a:buChar char="•"/>
              <a:defRPr/>
            </a:pPr>
            <a:r>
              <a:rPr lang="en-US" dirty="0">
                <a:latin typeface="Gill Sans MT" panose="020B0502020104020203" pitchFamily="34" charset="0"/>
              </a:rPr>
              <a:t>No open file-sharing is allowed.</a:t>
            </a:r>
          </a:p>
          <a:p>
            <a:pPr marL="457200" indent="-457200">
              <a:buFont typeface="Arial" panose="020B0604020202020204" pitchFamily="34" charset="0"/>
              <a:buChar char="•"/>
              <a:defRPr/>
            </a:pPr>
            <a:r>
              <a:rPr lang="en-US" dirty="0">
                <a:latin typeface="Gill Sans MT" panose="020B0502020104020203" pitchFamily="34" charset="0"/>
              </a:rPr>
              <a:t>All remote access should be restricted to specific IP addresses, and encrypted from end to end (via VPN).</a:t>
            </a:r>
          </a:p>
          <a:p>
            <a:pPr>
              <a:defRPr/>
            </a:pPr>
            <a:endParaRPr lang="en-US" dirty="0">
              <a:latin typeface="Gill Sans MT" panose="020B0502020104020203" pitchFamily="34" charset="0"/>
            </a:endParaRPr>
          </a:p>
          <a:p>
            <a:pPr>
              <a:defRPr/>
            </a:pPr>
            <a:endParaRPr lang="en-US" dirty="0">
              <a:solidFill>
                <a:schemeClr val="accent1"/>
              </a:solidFill>
              <a:latin typeface="Gill Sans MT" panose="020B0502020104020203" pitchFamily="34" charset="0"/>
            </a:endParaRPr>
          </a:p>
        </p:txBody>
      </p:sp>
    </p:spTree>
    <p:extLst>
      <p:ext uri="{BB962C8B-B14F-4D97-AF65-F5344CB8AC3E}">
        <p14:creationId xmlns:p14="http://schemas.microsoft.com/office/powerpoint/2010/main" val="327262676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2191999" cy="6857996"/>
          </a:xfrm>
          <a:prstGeom prst="rect">
            <a:avLst/>
          </a:prstGeom>
        </p:spPr>
      </p:pic>
      <p:sp>
        <p:nvSpPr>
          <p:cNvPr id="3" name="object 3"/>
          <p:cNvSpPr txBox="1">
            <a:spLocks noGrp="1"/>
          </p:cNvSpPr>
          <p:nvPr>
            <p:ph type="title"/>
          </p:nvPr>
        </p:nvSpPr>
        <p:spPr>
          <a:xfrm>
            <a:off x="4714495" y="2483307"/>
            <a:ext cx="2762885" cy="788670"/>
          </a:xfrm>
          <a:prstGeom prst="rect">
            <a:avLst/>
          </a:prstGeom>
        </p:spPr>
        <p:txBody>
          <a:bodyPr vert="horz" wrap="square" lIns="0" tIns="13335" rIns="0" bIns="0" rtlCol="0">
            <a:spAutoFit/>
          </a:bodyPr>
          <a:lstStyle/>
          <a:p>
            <a:pPr marL="12700">
              <a:spcBef>
                <a:spcPts val="105"/>
              </a:spcBef>
            </a:pPr>
            <a:r>
              <a:rPr sz="5000" b="0" dirty="0">
                <a:solidFill>
                  <a:srgbClr val="FFFFFF"/>
                </a:solidFill>
              </a:rPr>
              <a:t>Thank</a:t>
            </a:r>
            <a:r>
              <a:rPr sz="5000" b="0" spc="-70" dirty="0">
                <a:solidFill>
                  <a:srgbClr val="FFFFFF"/>
                </a:solidFill>
              </a:rPr>
              <a:t> </a:t>
            </a:r>
            <a:r>
              <a:rPr sz="5000" b="0" dirty="0">
                <a:solidFill>
                  <a:srgbClr val="FFFFFF"/>
                </a:solidFill>
              </a:rPr>
              <a:t>you</a:t>
            </a:r>
            <a:endParaRPr sz="5000"/>
          </a:p>
        </p:txBody>
      </p:sp>
      <p:sp>
        <p:nvSpPr>
          <p:cNvPr id="5" name="Slide Number Placeholder 4"/>
          <p:cNvSpPr>
            <a:spLocks noGrp="1"/>
          </p:cNvSpPr>
          <p:nvPr>
            <p:ph type="sldNum" sz="quarter" idx="4294967295"/>
          </p:nvPr>
        </p:nvSpPr>
        <p:spPr>
          <a:xfrm>
            <a:off x="11202077" y="6464680"/>
            <a:ext cx="309033" cy="153888"/>
          </a:xfrm>
          <a:prstGeom prst="rect">
            <a:avLst/>
          </a:prstGeom>
        </p:spPr>
        <p:txBody>
          <a:bodyPr/>
          <a:lstStyle/>
          <a:p>
            <a:pPr marL="38100">
              <a:lnSpc>
                <a:spcPts val="1240"/>
              </a:lnSpc>
            </a:pPr>
            <a:fld id="{81D60167-4931-47E6-BA6A-407CBD079E47}" type="slidenum">
              <a:rPr lang="en-US" smtClean="0"/>
              <a:pPr marL="38100">
                <a:lnSpc>
                  <a:spcPts val="1240"/>
                </a:lnSpc>
              </a:pPr>
              <a:t>30</a:t>
            </a:fld>
            <a:endParaRPr lang="en-US" dirty="0"/>
          </a:p>
        </p:txBody>
      </p:sp>
    </p:spTree>
    <p:extLst>
      <p:ext uri="{BB962C8B-B14F-4D97-AF65-F5344CB8AC3E}">
        <p14:creationId xmlns:p14="http://schemas.microsoft.com/office/powerpoint/2010/main" val="316107562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8849</TotalTime>
  <Words>1354</Words>
  <Application>Microsoft Office PowerPoint</Application>
  <PresentationFormat>Widescreen</PresentationFormat>
  <Paragraphs>183</Paragraphs>
  <Slides>30</Slides>
  <Notes>3</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30</vt:i4>
      </vt:variant>
    </vt:vector>
  </HeadingPairs>
  <TitlesOfParts>
    <vt:vector size="40" baseType="lpstr">
      <vt:lpstr>MS PGothic</vt:lpstr>
      <vt:lpstr>Arial</vt:lpstr>
      <vt:lpstr>Arial Black</vt:lpstr>
      <vt:lpstr>Calibri</vt:lpstr>
      <vt:lpstr>Calibri Light</vt:lpstr>
      <vt:lpstr>Gill Sans MT</vt:lpstr>
      <vt:lpstr>Times New Roman</vt:lpstr>
      <vt:lpstr>Wingdings</vt:lpstr>
      <vt:lpstr>Office Theme</vt:lpstr>
      <vt:lpstr>1_Office Theme</vt:lpstr>
      <vt:lpstr> Server and Systems Administration  Module Code : CSC3504  </vt:lpstr>
      <vt:lpstr>PowerPoint Presentation</vt:lpstr>
      <vt:lpstr>What Server and System Security? </vt:lpstr>
      <vt:lpstr>Essential Dimensions for Server Security</vt:lpstr>
      <vt:lpstr>CIA and DAD</vt:lpstr>
      <vt:lpstr>Cyber Security Goals (CIA Triad) </vt:lpstr>
      <vt:lpstr>CIA Triad</vt:lpstr>
      <vt:lpstr>Confidentiality models</vt:lpstr>
      <vt:lpstr>Integrity models</vt:lpstr>
      <vt:lpstr>Integrity models</vt:lpstr>
      <vt:lpstr>Availability Models </vt:lpstr>
      <vt:lpstr>Availability Models</vt:lpstr>
      <vt:lpstr>DAD Triad</vt:lpstr>
      <vt:lpstr>DAD Triad</vt:lpstr>
      <vt:lpstr>Threats </vt:lpstr>
      <vt:lpstr>Why do we need client security?</vt:lpstr>
      <vt:lpstr>Cryptography</vt:lpstr>
      <vt:lpstr>Encryption &amp; Decryption</vt:lpstr>
      <vt:lpstr>Types of network security attacks</vt:lpstr>
      <vt:lpstr>Types of network security attacks</vt:lpstr>
      <vt:lpstr>What is Firewalls</vt:lpstr>
      <vt:lpstr>Hardware threat</vt:lpstr>
      <vt:lpstr>Hardware threat</vt:lpstr>
      <vt:lpstr>Hardware threat</vt:lpstr>
      <vt:lpstr>Hardware threat</vt:lpstr>
      <vt:lpstr>Environmental </vt:lpstr>
      <vt:lpstr>Maintenance  threat</vt:lpstr>
      <vt:lpstr>HOW TO MINIMIZE SECURITY THREATS</vt:lpstr>
      <vt:lpstr>Control Access to the Server:</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INEZA</dc:creator>
  <cp:lastModifiedBy>Simeon NDAYAMBAJE</cp:lastModifiedBy>
  <cp:revision>239</cp:revision>
  <dcterms:created xsi:type="dcterms:W3CDTF">2021-09-06T15:03:47Z</dcterms:created>
  <dcterms:modified xsi:type="dcterms:W3CDTF">2025-03-17T18:29:33Z</dcterms:modified>
</cp:coreProperties>
</file>