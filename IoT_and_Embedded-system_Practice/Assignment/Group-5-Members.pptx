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PT Serif"/>
      <p:regular r:id="rId16"/>
    </p:embeddedFont>
    <p:embeddedFont>
      <p:font typeface="PT Serif"/>
      <p:regular r:id="rId17"/>
    </p:embeddedFont>
    <p:embeddedFont>
      <p:font typeface="PT Serif"/>
      <p:regular r:id="rId18"/>
    </p:embeddedFont>
    <p:embeddedFont>
      <p:font typeface="PT Serif"/>
      <p:regular r:id="rId19"/>
    </p:embeddedFont>
    <p:embeddedFont>
      <p:font typeface="DM Sans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  <p:embeddedFont>
      <p:font typeface="DM Sans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2537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Group 5 Members: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42232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Yves BAHATI - 2305000921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8413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Elysée NIYIBIZI - 2305000921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66724"/>
            <a:ext cx="7556421" cy="1511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🎓</a:t>
            </a:r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Sensors and Actuators in IoT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3968829"/>
            <a:ext cx="7556421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Types, Technology Principles &amp; Real-World Applications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6280190" y="549985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Group Assignment | IoT &amp; Embeeded systems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5144" y="773787"/>
            <a:ext cx="5361623" cy="585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Sensors in IoT (Overview)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1155144" y="1415891"/>
            <a:ext cx="3749516" cy="46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a Sensor?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1155144" y="2095262"/>
            <a:ext cx="12320111" cy="864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device that detects physical/environmental changes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Converts physical quantities into electrical signals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Provides input to IoT systems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5144" y="3170158"/>
            <a:ext cx="4604980" cy="46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Most Common IoT Sensors:</a:t>
            </a:r>
            <a:endParaRPr lang="en-US" sz="2950" dirty="0"/>
          </a:p>
        </p:txBody>
      </p:sp>
      <p:sp>
        <p:nvSpPr>
          <p:cNvPr id="6" name="Shape 4"/>
          <p:cNvSpPr/>
          <p:nvPr/>
        </p:nvSpPr>
        <p:spPr>
          <a:xfrm>
            <a:off x="1155144" y="3849529"/>
            <a:ext cx="4013002" cy="1325880"/>
          </a:xfrm>
          <a:prstGeom prst="roundRect">
            <a:avLst>
              <a:gd name="adj" fmla="val 2020"/>
            </a:avLst>
          </a:prstGeom>
          <a:solidFill>
            <a:srgbClr val="F2EEEE"/>
          </a:solidFill>
          <a:ln/>
        </p:spPr>
      </p:sp>
      <p:sp>
        <p:nvSpPr>
          <p:cNvPr id="7" name="Shape 5"/>
          <p:cNvSpPr/>
          <p:nvPr/>
        </p:nvSpPr>
        <p:spPr>
          <a:xfrm>
            <a:off x="1333619" y="4028003"/>
            <a:ext cx="535543" cy="535543"/>
          </a:xfrm>
          <a:prstGeom prst="roundRect">
            <a:avLst>
              <a:gd name="adj" fmla="val 17072552"/>
            </a:avLst>
          </a:prstGeom>
          <a:solidFill>
            <a:srgbClr val="E04F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80899" y="4175284"/>
            <a:ext cx="240983" cy="24098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33619" y="4704040"/>
            <a:ext cx="2343388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Temperature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308640" y="3849529"/>
            <a:ext cx="4013002" cy="1325880"/>
          </a:xfrm>
          <a:prstGeom prst="roundRect">
            <a:avLst>
              <a:gd name="adj" fmla="val 2020"/>
            </a:avLst>
          </a:prstGeom>
          <a:solidFill>
            <a:srgbClr val="F2EEEE"/>
          </a:solidFill>
          <a:ln/>
        </p:spPr>
      </p:sp>
      <p:sp>
        <p:nvSpPr>
          <p:cNvPr id="11" name="Shape 8"/>
          <p:cNvSpPr/>
          <p:nvPr/>
        </p:nvSpPr>
        <p:spPr>
          <a:xfrm>
            <a:off x="5487114" y="4028003"/>
            <a:ext cx="535543" cy="535543"/>
          </a:xfrm>
          <a:prstGeom prst="roundRect">
            <a:avLst>
              <a:gd name="adj" fmla="val 17072552"/>
            </a:avLst>
          </a:prstGeom>
          <a:solidFill>
            <a:srgbClr val="E04F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4395" y="4175284"/>
            <a:ext cx="240983" cy="24098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7114" y="4704040"/>
            <a:ext cx="2343388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Humidity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9462135" y="3849529"/>
            <a:ext cx="4013002" cy="1325880"/>
          </a:xfrm>
          <a:prstGeom prst="roundRect">
            <a:avLst>
              <a:gd name="adj" fmla="val 2020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9640610" y="4028003"/>
            <a:ext cx="535543" cy="535543"/>
          </a:xfrm>
          <a:prstGeom prst="roundRect">
            <a:avLst>
              <a:gd name="adj" fmla="val 17072552"/>
            </a:avLst>
          </a:prstGeom>
          <a:solidFill>
            <a:srgbClr val="E04F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7890" y="4175284"/>
            <a:ext cx="240983" cy="2409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40610" y="4704040"/>
            <a:ext cx="2343388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Motion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1155144" y="5315903"/>
            <a:ext cx="6089690" cy="1325880"/>
          </a:xfrm>
          <a:prstGeom prst="roundRect">
            <a:avLst>
              <a:gd name="adj" fmla="val 2020"/>
            </a:avLst>
          </a:prstGeom>
          <a:solidFill>
            <a:srgbClr val="F2EEEE"/>
          </a:solidFill>
          <a:ln/>
        </p:spPr>
      </p:sp>
      <p:sp>
        <p:nvSpPr>
          <p:cNvPr id="19" name="Shape 14"/>
          <p:cNvSpPr/>
          <p:nvPr/>
        </p:nvSpPr>
        <p:spPr>
          <a:xfrm>
            <a:off x="1333619" y="5494377"/>
            <a:ext cx="535543" cy="535543"/>
          </a:xfrm>
          <a:prstGeom prst="roundRect">
            <a:avLst>
              <a:gd name="adj" fmla="val 17072552"/>
            </a:avLst>
          </a:prstGeom>
          <a:solidFill>
            <a:srgbClr val="E04F0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80899" y="5641658"/>
            <a:ext cx="240983" cy="24098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33619" y="6170414"/>
            <a:ext cx="2343388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Light</a:t>
            </a:r>
            <a:endParaRPr lang="en-US" sz="1800" dirty="0"/>
          </a:p>
        </p:txBody>
      </p:sp>
      <p:sp>
        <p:nvSpPr>
          <p:cNvPr id="22" name="Shape 16"/>
          <p:cNvSpPr/>
          <p:nvPr/>
        </p:nvSpPr>
        <p:spPr>
          <a:xfrm>
            <a:off x="7385328" y="5315903"/>
            <a:ext cx="6089809" cy="1325880"/>
          </a:xfrm>
          <a:prstGeom prst="roundRect">
            <a:avLst>
              <a:gd name="adj" fmla="val 2020"/>
            </a:avLst>
          </a:prstGeom>
          <a:solidFill>
            <a:srgbClr val="F2EEEE"/>
          </a:solidFill>
          <a:ln/>
        </p:spPr>
      </p:sp>
      <p:sp>
        <p:nvSpPr>
          <p:cNvPr id="23" name="Shape 17"/>
          <p:cNvSpPr/>
          <p:nvPr/>
        </p:nvSpPr>
        <p:spPr>
          <a:xfrm>
            <a:off x="7563803" y="5494377"/>
            <a:ext cx="535543" cy="535543"/>
          </a:xfrm>
          <a:prstGeom prst="roundRect">
            <a:avLst>
              <a:gd name="adj" fmla="val 17072552"/>
            </a:avLst>
          </a:prstGeom>
          <a:solidFill>
            <a:srgbClr val="E04F00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11083" y="5641658"/>
            <a:ext cx="240983" cy="24098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563803" y="6170414"/>
            <a:ext cx="2343388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Gas</a:t>
            </a:r>
            <a:endParaRPr lang="en-US" sz="1800" dirty="0"/>
          </a:p>
        </p:txBody>
      </p:sp>
      <p:sp>
        <p:nvSpPr>
          <p:cNvPr id="26" name="Shape 19"/>
          <p:cNvSpPr/>
          <p:nvPr/>
        </p:nvSpPr>
        <p:spPr>
          <a:xfrm>
            <a:off x="1155144" y="6799898"/>
            <a:ext cx="12320111" cy="655915"/>
          </a:xfrm>
          <a:prstGeom prst="roundRect">
            <a:avLst>
              <a:gd name="adj" fmla="val 4083"/>
            </a:avLst>
          </a:prstGeom>
          <a:solidFill>
            <a:srgbClr val="FFCDB3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33619" y="7049572"/>
            <a:ext cx="223123" cy="17847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735217" y="6984921"/>
            <a:ext cx="11561564" cy="25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Idea: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Sensors allow IoT systems to </a:t>
            </a:r>
            <a:pPr algn="l"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 the environment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7546"/>
            <a:ext cx="834806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Popular Environmental Sensors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630436" y="2401967"/>
            <a:ext cx="6571417" cy="4509968"/>
          </a:xfrm>
          <a:prstGeom prst="roundRect">
            <a:avLst>
              <a:gd name="adj" fmla="val 754"/>
            </a:avLst>
          </a:prstGeom>
          <a:solidFill>
            <a:srgbClr val="EFECE6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2628781"/>
            <a:ext cx="3731300" cy="461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1️⃣</a:t>
            </a:r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Temperature Sensor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7250" y="3317438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DHT22, LM35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57250" y="3884414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57250" y="4451390"/>
            <a:ext cx="6117788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Resistance or voltage changes with temperature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sensors use built-in ADC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57250" y="5460563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Application: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57250" y="6027539"/>
            <a:ext cx="6117788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 thermostats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Greenhouse monitoring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2628781"/>
            <a:ext cx="3572470" cy="461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2️⃣</a:t>
            </a:r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Humidity Sensor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599521" y="331743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DHT22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388441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Technology: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4451390"/>
            <a:ext cx="6244709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Capacitive sensing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Moisture changes capacitance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546056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Application: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9521" y="6027539"/>
            <a:ext cx="6244709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 irrigation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Weather stations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2278"/>
            <a:ext cx="698896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Popular Detection Sensors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280166"/>
            <a:ext cx="4196358" cy="4867156"/>
          </a:xfrm>
          <a:prstGeom prst="roundRect">
            <a:avLst>
              <a:gd name="adj" fmla="val 8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310646"/>
            <a:ext cx="4135398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2721888" y="243816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321790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Motion Sensor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51084" y="3726061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PIR sensor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51084" y="4225052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Technology: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51084" y="4724043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Detects infrared radiation changes from moving objects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51084" y="558593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Application: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51084" y="6084927"/>
            <a:ext cx="3681770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Security systems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 lighting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216962" y="2280166"/>
            <a:ext cx="4196358" cy="4867156"/>
          </a:xfrm>
          <a:prstGeom prst="roundRect">
            <a:avLst>
              <a:gd name="adj" fmla="val 8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47442" y="2310646"/>
            <a:ext cx="4135398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7145060" y="243816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650" dirty="0"/>
          </a:p>
        </p:txBody>
      </p:sp>
      <p:sp>
        <p:nvSpPr>
          <p:cNvPr id="15" name="Text 13"/>
          <p:cNvSpPr/>
          <p:nvPr/>
        </p:nvSpPr>
        <p:spPr>
          <a:xfrm>
            <a:off x="5474256" y="321790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Light Sensor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5474256" y="3726061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LDR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5474256" y="4225052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Technology: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474256" y="4724043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Resistance decreases as light increases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5474256" y="558593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Application: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5474256" y="6084927"/>
            <a:ext cx="3681770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 street lights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Phone brightness control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9640133" y="2280166"/>
            <a:ext cx="4196358" cy="4867156"/>
          </a:xfrm>
          <a:prstGeom prst="roundRect">
            <a:avLst>
              <a:gd name="adj" fmla="val 8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70613" y="2310646"/>
            <a:ext cx="4135398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11568232" y="243816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650" dirty="0"/>
          </a:p>
        </p:txBody>
      </p:sp>
      <p:sp>
        <p:nvSpPr>
          <p:cNvPr id="24" name="Text 22"/>
          <p:cNvSpPr/>
          <p:nvPr/>
        </p:nvSpPr>
        <p:spPr>
          <a:xfrm>
            <a:off x="9897427" y="321790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Gas Sensor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9897427" y="3726061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MQ-2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9897427" y="4225052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Technology: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9897427" y="4724043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Gas exposure changes semiconductor resistance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9897427" y="558593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Application: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9897427" y="6084927"/>
            <a:ext cx="3681770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Smoke detection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Air quality monitoring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07206" y="674132"/>
            <a:ext cx="4595574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Actuators in IoT (Overview)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2407206" y="1176457"/>
            <a:ext cx="2987397" cy="37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an Actuator?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2407206" y="1683663"/>
            <a:ext cx="9815989" cy="401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Converts electrical signals into physical action</a:t>
            </a:r>
            <a:endParaRPr lang="en-US" sz="110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Produces movement, light, sound, or switching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407206" y="2218968"/>
            <a:ext cx="3921919" cy="37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Most Common IoT Actuators:</a:t>
            </a:r>
            <a:endParaRPr lang="en-US" sz="2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7206" y="2726174"/>
            <a:ext cx="711279" cy="8535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7663" y="2868335"/>
            <a:ext cx="1867138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DC Motor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206" y="3579733"/>
            <a:ext cx="711279" cy="8535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7663" y="3721894"/>
            <a:ext cx="1867138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Servo Motor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206" y="4433292"/>
            <a:ext cx="711279" cy="8535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207663" y="4575453"/>
            <a:ext cx="1867138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Relay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7206" y="5286851"/>
            <a:ext cx="711279" cy="8535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207663" y="5429012"/>
            <a:ext cx="1867138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LED</a:t>
            </a:r>
            <a:endParaRPr lang="en-US" sz="14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7206" y="6140410"/>
            <a:ext cx="711279" cy="85355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207663" y="6282571"/>
            <a:ext cx="1867138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Buzzer</a:t>
            </a:r>
            <a:endParaRPr lang="en-US" sz="1450" dirty="0"/>
          </a:p>
        </p:txBody>
      </p:sp>
      <p:sp>
        <p:nvSpPr>
          <p:cNvPr id="16" name="Shape 9"/>
          <p:cNvSpPr/>
          <p:nvPr/>
        </p:nvSpPr>
        <p:spPr>
          <a:xfrm>
            <a:off x="2407206" y="7094339"/>
            <a:ext cx="9815989" cy="461129"/>
          </a:xfrm>
          <a:prstGeom prst="roundRect">
            <a:avLst>
              <a:gd name="adj" fmla="val 4628"/>
            </a:avLst>
          </a:prstGeom>
          <a:solidFill>
            <a:srgbClr val="FFCDB3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9366" y="7284720"/>
            <a:ext cx="177760" cy="14216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869287" y="7218998"/>
            <a:ext cx="9211747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Idea: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Actuators allow IoT systems to </a:t>
            </a:r>
            <a:pPr algn="l" indent="0" marL="0">
              <a:lnSpc>
                <a:spcPts val="1450"/>
              </a:lnSpc>
              <a:buNone/>
            </a:pPr>
            <a:r>
              <a:rPr lang="en-US" sz="1100" i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 with the environment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4616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Popular Actuators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074188"/>
            <a:ext cx="3008948" cy="3873103"/>
          </a:xfrm>
          <a:prstGeom prst="roundRect">
            <a:avLst>
              <a:gd name="adj" fmla="val 486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074188"/>
            <a:ext cx="121920" cy="3873103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331482"/>
            <a:ext cx="240291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1️⃣</a:t>
            </a:r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DC Motor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42524" y="2945606"/>
            <a:ext cx="24029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Electromagnetism → electrical energy into rotation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42524" y="4601289"/>
            <a:ext cx="24029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Smart doors, conveyor systems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4029551" y="2074188"/>
            <a:ext cx="3008948" cy="3873103"/>
          </a:xfrm>
          <a:prstGeom prst="roundRect">
            <a:avLst>
              <a:gd name="adj" fmla="val 486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99071" y="2074188"/>
            <a:ext cx="121920" cy="3873103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4378285" y="2331482"/>
            <a:ext cx="240291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2️⃣</a:t>
            </a:r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Servo Motor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378285" y="2945606"/>
            <a:ext cx="24029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PWM + feedback system for precise position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378285" y="4238387"/>
            <a:ext cx="24029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Robotic arms, camera control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599521" y="2074188"/>
            <a:ext cx="3008948" cy="5165646"/>
          </a:xfrm>
          <a:prstGeom prst="roundRect">
            <a:avLst>
              <a:gd name="adj" fmla="val 486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69041" y="2074188"/>
            <a:ext cx="121920" cy="5165646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7948255" y="2331482"/>
            <a:ext cx="240291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3️⃣</a:t>
            </a:r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Relay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948255" y="2945606"/>
            <a:ext cx="24029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Electromagnetic switch controlling high voltage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48255" y="4601289"/>
            <a:ext cx="24029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Smart home appliance control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10835283" y="2074188"/>
            <a:ext cx="3008948" cy="5165646"/>
          </a:xfrm>
          <a:prstGeom prst="roundRect">
            <a:avLst>
              <a:gd name="adj" fmla="val 486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04803" y="2074188"/>
            <a:ext cx="121920" cy="5165646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20" name="Text 18"/>
          <p:cNvSpPr/>
          <p:nvPr/>
        </p:nvSpPr>
        <p:spPr>
          <a:xfrm>
            <a:off x="11184017" y="2331482"/>
            <a:ext cx="240291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4️⃣</a:t>
            </a:r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LED / Buzzer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1184017" y="2945606"/>
            <a:ext cx="24029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Technology: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1184017" y="3512582"/>
            <a:ext cx="2402919" cy="1893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LED → Electroluminescence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Buzzer → Piezoelectric effect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1184017" y="5610463"/>
            <a:ext cx="24029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Application: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1184017" y="6177439"/>
            <a:ext cx="2402919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Status indicators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Alarm systems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85699" y="467439"/>
            <a:ext cx="4722614" cy="525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They Work Together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785699" y="1038582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IoT Workflow</a:t>
            </a:r>
            <a:endParaRPr lang="en-US" sz="2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1300" y="1629013"/>
            <a:ext cx="10967799" cy="4729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368" y="5453863"/>
            <a:ext cx="2612609" cy="326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Act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2569368" y="4359056"/>
            <a:ext cx="2612609" cy="326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Decide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2569368" y="3275307"/>
            <a:ext cx="2612609" cy="326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Process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2569368" y="2180500"/>
            <a:ext cx="2612609" cy="326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Sense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1785699" y="6485930"/>
            <a:ext cx="11059001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workflow illustrates the complete cycle from sensing to action in any IoT system.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785699" y="6832044"/>
            <a:ext cx="11059001" cy="930116"/>
          </a:xfrm>
          <a:prstGeom prst="roundRect">
            <a:avLst>
              <a:gd name="adj" fmla="val 2585"/>
            </a:avLst>
          </a:prstGeom>
          <a:solidFill>
            <a:srgbClr val="FFCDB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957" y="7006947"/>
            <a:ext cx="262890" cy="2102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69106" y="6985278"/>
            <a:ext cx="2103596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Example: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2369106" y="7361396"/>
            <a:ext cx="1031533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Temperature rises → Controller detects → Fan motor turns ON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63429"/>
            <a:ext cx="5954197" cy="76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🔎</a:t>
            </a:r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Short Conclusion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6280190" y="1870710"/>
            <a:ext cx="7556421" cy="2023467"/>
          </a:xfrm>
          <a:prstGeom prst="roundRect">
            <a:avLst>
              <a:gd name="adj" fmla="val 1681"/>
            </a:avLst>
          </a:prstGeom>
          <a:solidFill>
            <a:srgbClr val="F2EEEE"/>
          </a:solidFill>
          <a:ln/>
        </p:spPr>
      </p:sp>
      <p:sp>
        <p:nvSpPr>
          <p:cNvPr id="5" name="Shape 2"/>
          <p:cNvSpPr/>
          <p:nvPr/>
        </p:nvSpPr>
        <p:spPr>
          <a:xfrm>
            <a:off x="6280190" y="1870710"/>
            <a:ext cx="3778210" cy="825698"/>
          </a:xfrm>
          <a:prstGeom prst="roundRect">
            <a:avLst>
              <a:gd name="adj" fmla="val 4121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6507004" y="209752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Sensors = Input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10058400" y="1870710"/>
            <a:ext cx="3778210" cy="825698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8" name="Shape 5"/>
          <p:cNvSpPr/>
          <p:nvPr/>
        </p:nvSpPr>
        <p:spPr>
          <a:xfrm>
            <a:off x="10058400" y="1870710"/>
            <a:ext cx="30480" cy="825698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9" name="Text 6"/>
          <p:cNvSpPr/>
          <p:nvPr/>
        </p:nvSpPr>
        <p:spPr>
          <a:xfrm>
            <a:off x="10285214" y="209752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Actuators = Output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6280190" y="2696408"/>
            <a:ext cx="7556421" cy="119776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1" name="Shape 8"/>
          <p:cNvSpPr/>
          <p:nvPr/>
        </p:nvSpPr>
        <p:spPr>
          <a:xfrm>
            <a:off x="6280190" y="2696408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2" name="Text 9"/>
          <p:cNvSpPr/>
          <p:nvPr/>
        </p:nvSpPr>
        <p:spPr>
          <a:xfrm>
            <a:off x="6507004" y="2923223"/>
            <a:ext cx="7102793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Together they enable automation, monitoring, and smart control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6280190" y="4149328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Applications include:</a:t>
            </a:r>
            <a:endParaRPr lang="en-US" sz="2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0190" y="4857988"/>
            <a:ext cx="566976" cy="5669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30653" y="485798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Smart homes</a:t>
            </a:r>
            <a:endParaRPr lang="en-US" sz="2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0190" y="5878592"/>
            <a:ext cx="566976" cy="5669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30653" y="587859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Smart agriculture</a:t>
            </a:r>
            <a:endParaRPr lang="en-US" sz="2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0190" y="6899196"/>
            <a:ext cx="566976" cy="5669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0653" y="689919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Industrial automation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2026-03-04T09:40:38Z</dcterms:created>
  <dcterms:modified xsi:type="dcterms:W3CDTF">2026-03-04T09:40:38Z</dcterms:modified>
</cp:coreProperties>
</file>