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5"/>
  </p:notesMasterIdLst>
  <p:sldIdLst>
    <p:sldId id="256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85" r:id="rId22"/>
    <p:sldId id="286" r:id="rId23"/>
    <p:sldId id="287" r:id="rId24"/>
    <p:sldId id="288" r:id="rId25"/>
    <p:sldId id="289" r:id="rId26"/>
    <p:sldId id="290" r:id="rId27"/>
    <p:sldId id="291" r:id="rId28"/>
    <p:sldId id="292" r:id="rId29"/>
    <p:sldId id="293" r:id="rId30"/>
    <p:sldId id="294" r:id="rId31"/>
    <p:sldId id="295" r:id="rId32"/>
    <p:sldId id="296" r:id="rId33"/>
    <p:sldId id="297" r:id="rId34"/>
    <p:sldId id="298" r:id="rId35"/>
    <p:sldId id="299" r:id="rId36"/>
    <p:sldId id="300" r:id="rId37"/>
    <p:sldId id="301" r:id="rId38"/>
    <p:sldId id="302" r:id="rId39"/>
    <p:sldId id="303" r:id="rId40"/>
    <p:sldId id="304" r:id="rId41"/>
    <p:sldId id="305" r:id="rId42"/>
    <p:sldId id="306" r:id="rId43"/>
    <p:sldId id="307" r:id="rId44"/>
    <p:sldId id="308" r:id="rId45"/>
    <p:sldId id="309" r:id="rId46"/>
    <p:sldId id="310" r:id="rId47"/>
    <p:sldId id="311" r:id="rId48"/>
    <p:sldId id="312" r:id="rId49"/>
    <p:sldId id="313" r:id="rId50"/>
    <p:sldId id="314" r:id="rId51"/>
    <p:sldId id="315" r:id="rId52"/>
    <p:sldId id="316" r:id="rId53"/>
    <p:sldId id="317" r:id="rId54"/>
  </p:sldIdLst>
  <p:sldSz cx="9144000" cy="6858000" type="screen4x3"/>
  <p:notesSz cx="6858000" cy="9144000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2C16"/>
    <a:srgbClr val="0C788E"/>
    <a:srgbClr val="006666"/>
    <a:srgbClr val="54381C"/>
    <a:srgbClr val="A50021"/>
    <a:srgbClr val="FFFFA3"/>
    <a:srgbClr val="E6E6C4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23" autoAdjust="0"/>
    <p:restoredTop sz="94652" autoAdjust="0"/>
  </p:normalViewPr>
  <p:slideViewPr>
    <p:cSldViewPr>
      <p:cViewPr>
        <p:scale>
          <a:sx n="77" d="100"/>
          <a:sy n="77" d="100"/>
        </p:scale>
        <p:origin x="-1104" y="-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9DB654-0CDA-4062-BD4E-35221AAF3D83}" type="datetimeFigureOut">
              <a:rPr lang="en-US" smtClean="0"/>
              <a:pPr/>
              <a:t>11/27/2020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C92BD6-0C5B-4A61-9BB6-F38132F6A5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560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AU" dirty="0"/>
              <a:t>.</a:t>
            </a:r>
            <a:endParaRPr lang="en-AU" dirty="0">
              <a:latin typeface="Times New Roman" pitchFamily="18" charset="0"/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ACD4C1-D096-4197-9357-7BFCDF947277}" type="slidenum">
              <a:rPr lang="he-IL"/>
              <a:pPr/>
              <a:t>3</a:t>
            </a:fld>
            <a:endParaRPr lang="en-AU"/>
          </a:p>
        </p:txBody>
      </p:sp>
      <p:sp>
        <p:nvSpPr>
          <p:cNvPr id="8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754188" y="762000"/>
            <a:ext cx="3352800" cy="2514600"/>
          </a:xfrm>
          <a:ln/>
        </p:spPr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19167" y="3504704"/>
            <a:ext cx="4648165" cy="4952822"/>
          </a:xfrm>
        </p:spPr>
        <p:txBody>
          <a:bodyPr lIns="89511" tIns="44756" rIns="89511" bIns="44756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AU" dirty="0"/>
              <a:t>.</a:t>
            </a:r>
            <a:endParaRPr lang="en-AU" dirty="0">
              <a:latin typeface="Times New Roman" pitchFamily="18" charset="0"/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AF623F8-01EA-496F-B264-DEFD6FB76E26}" type="slidenum">
              <a:rPr lang="he-IL"/>
              <a:pPr/>
              <a:t>4</a:t>
            </a:fld>
            <a:endParaRPr lang="en-AU"/>
          </a:p>
        </p:txBody>
      </p:sp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754188" y="762000"/>
            <a:ext cx="3352800" cy="2514600"/>
          </a:xfrm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19167" y="3504704"/>
            <a:ext cx="4648165" cy="4952822"/>
          </a:xfrm>
        </p:spPr>
        <p:txBody>
          <a:bodyPr lIns="89511" tIns="44756" rIns="89511" bIns="44756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AU" dirty="0"/>
              <a:t>.</a:t>
            </a:r>
            <a:endParaRPr lang="en-AU" dirty="0">
              <a:latin typeface="Times New Roman" pitchFamily="18" charset="0"/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2937DA2-C3B9-44E5-9777-1B4661440FFB}" type="slidenum">
              <a:rPr lang="he-IL"/>
              <a:pPr/>
              <a:t>5</a:t>
            </a:fld>
            <a:endParaRPr lang="en-AU"/>
          </a:p>
        </p:txBody>
      </p:sp>
      <p:sp>
        <p:nvSpPr>
          <p:cNvPr id="9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754188" y="762000"/>
            <a:ext cx="3352800" cy="2514600"/>
          </a:xfrm>
          <a:ln/>
        </p:spPr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19167" y="3504704"/>
            <a:ext cx="4648165" cy="4952822"/>
          </a:xfrm>
        </p:spPr>
        <p:txBody>
          <a:bodyPr lIns="89511" tIns="44756" rIns="89511" bIns="44756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AU" dirty="0"/>
              <a:t>.</a:t>
            </a:r>
            <a:endParaRPr lang="en-AU" dirty="0">
              <a:latin typeface="Times New Roman" pitchFamily="18" charset="0"/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1FF3232-1FB0-46FC-86D1-73219493C873}" type="slidenum">
              <a:rPr lang="he-IL"/>
              <a:pPr/>
              <a:t>6</a:t>
            </a:fld>
            <a:endParaRPr lang="en-AU"/>
          </a:p>
        </p:txBody>
      </p:sp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7763" y="685800"/>
            <a:ext cx="4575175" cy="3430588"/>
          </a:xfrm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3960" y="4342939"/>
            <a:ext cx="5490081" cy="4114587"/>
          </a:xfrm>
        </p:spPr>
        <p:txBody>
          <a:bodyPr/>
          <a:lstStyle/>
          <a:p>
            <a:r>
              <a:rPr lang="en-US" dirty="0" smtClean="0"/>
              <a:t>Skylights in floors</a:t>
            </a:r>
            <a:r>
              <a:rPr lang="en-US" baseline="0" dirty="0" smtClean="0"/>
              <a:t> : </a:t>
            </a:r>
            <a:r>
              <a:rPr lang="en-US" baseline="0" dirty="0" err="1" smtClean="0"/>
              <a:t>amatara</a:t>
            </a:r>
            <a:r>
              <a:rPr lang="en-US" baseline="0" dirty="0" smtClean="0"/>
              <a:t> </a:t>
            </a:r>
            <a:r>
              <a:rPr lang="en-US" baseline="0" dirty="0" err="1" smtClean="0"/>
              <a:t>yerekana</a:t>
            </a:r>
            <a:r>
              <a:rPr lang="en-US" baseline="0" dirty="0" smtClean="0"/>
              <a:t> </a:t>
            </a:r>
            <a:r>
              <a:rPr lang="en-US" baseline="0" dirty="0" err="1" smtClean="0"/>
              <a:t>imbago</a:t>
            </a:r>
            <a:r>
              <a:rPr lang="en-US" baseline="0" dirty="0" smtClean="0"/>
              <a:t> </a:t>
            </a:r>
            <a:r>
              <a:rPr lang="en-US" baseline="0" dirty="0" err="1" smtClean="0"/>
              <a:t>z’inzu</a:t>
            </a:r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6E4F0E-D1B4-48EF-AB1C-AC0BFEE64161}" type="slidenum">
              <a:rPr lang="es-ES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8415B0-A075-462A-B0A2-B5FFCF59B058}" type="slidenum">
              <a:rPr lang="es-ES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92E2C3-8770-41AE-88C2-C312BE7DB0B0}" type="slidenum">
              <a:rPr lang="es-ES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27035E-3358-4FFF-AB1F-152596EE2C90}" type="slidenum">
              <a:rPr lang="es-ES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58AD96-D722-44F4-A332-B1BAE65E3DB7}" type="slidenum">
              <a:rPr lang="es-ES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F2664B-5A58-46BB-9D1D-9F03A8C87DAD}" type="slidenum">
              <a:rPr lang="es-ES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46F53B-5B88-476E-863F-50F257F64D6E}" type="slidenum">
              <a:rPr lang="es-ES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CD3EF0-8BB7-4D68-BC76-C2A412B54779}" type="slidenum">
              <a:rPr lang="es-ES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99FD19-FDAE-4258-BE5B-6FD27BEEEF6E}" type="slidenum">
              <a:rPr lang="es-ES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FD20AE-22FF-4B59-92DA-91DFE6E3F107}" type="slidenum">
              <a:rPr lang="es-ES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626F0F-45F0-4CEA-A874-57D6788EB032}" type="slidenum">
              <a:rPr lang="es-ES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cambiar el estilo de título	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s-E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s-E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908613C-E353-4C9C-946A-7A8B6FE107B7}" type="slidenum">
              <a:rPr lang="es-ES"/>
              <a:pPr/>
              <a:t>‹#›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8" name="Rectangle 150"/>
          <p:cNvSpPr>
            <a:spLocks noGrp="1" noChangeArrowheads="1"/>
          </p:cNvSpPr>
          <p:nvPr>
            <p:ph type="ctrTitle"/>
          </p:nvPr>
        </p:nvSpPr>
        <p:spPr>
          <a:xfrm>
            <a:off x="3779912" y="692696"/>
            <a:ext cx="5364088" cy="1152128"/>
          </a:xfrm>
        </p:spPr>
        <p:txBody>
          <a:bodyPr/>
          <a:lstStyle/>
          <a:p>
            <a:pPr algn="l"/>
            <a:r>
              <a:rPr lang="en-US" sz="3200" dirty="0" smtClean="0">
                <a:effectLst/>
                <a:latin typeface="Algerian" pitchFamily="82" charset="0"/>
              </a:rPr>
              <a:t>SOFTWARE ENGINEERING</a:t>
            </a:r>
            <a:endParaRPr lang="es-ES" sz="3200" b="1" dirty="0">
              <a:solidFill>
                <a:schemeClr val="bg1"/>
              </a:solidFill>
            </a:endParaRPr>
          </a:p>
        </p:txBody>
      </p:sp>
      <p:sp>
        <p:nvSpPr>
          <p:cNvPr id="2217" name="Rectangle 169"/>
          <p:cNvSpPr>
            <a:spLocks noChangeArrowheads="1"/>
          </p:cNvSpPr>
          <p:nvPr/>
        </p:nvSpPr>
        <p:spPr bwMode="auto">
          <a:xfrm>
            <a:off x="4067175" y="5229201"/>
            <a:ext cx="4824413" cy="13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r"/>
            <a:endParaRPr lang="es-E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CHAPTER </a:t>
            </a:r>
            <a:r>
              <a:rPr lang="en-US" b="1" dirty="0" smtClean="0"/>
              <a:t>4: </a:t>
            </a:r>
            <a:r>
              <a:rPr lang="en-US" b="1" dirty="0"/>
              <a:t>SOFTWARE </a:t>
            </a:r>
            <a:r>
              <a:rPr lang="en-US" b="1" dirty="0" smtClean="0"/>
              <a:t>ARCHITECTURE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Picture 2" descr="DOGHOUS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0400" y="1736256"/>
            <a:ext cx="2895600" cy="4512144"/>
          </a:xfrm>
          <a:prstGeom prst="rect">
            <a:avLst/>
          </a:prstGeom>
          <a:noFill/>
        </p:spPr>
      </p:pic>
      <p:sp>
        <p:nvSpPr>
          <p:cNvPr id="88067" name="Text Box 3"/>
          <p:cNvSpPr txBox="1">
            <a:spLocks noChangeArrowheads="1"/>
          </p:cNvSpPr>
          <p:nvPr/>
        </p:nvSpPr>
        <p:spPr bwMode="auto">
          <a:xfrm>
            <a:off x="5502274" y="3443288"/>
            <a:ext cx="3413126" cy="2677656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07988" indent="-407988" defTabSz="958850" eaLnBrk="0" hangingPunct="0"/>
            <a:r>
              <a:rPr lang="en-US" sz="2800" b="0" dirty="0">
                <a:effectLst/>
                <a:latin typeface="Arial Narrow" pitchFamily="34" charset="0"/>
                <a:ea typeface="ＭＳ Ｐゴシック" pitchFamily="-28" charset="-128"/>
              </a:rPr>
              <a:t>Can be built by one person</a:t>
            </a:r>
          </a:p>
          <a:p>
            <a:pPr marL="407988" indent="-407988" defTabSz="958850" eaLnBrk="0" hangingPunct="0"/>
            <a:r>
              <a:rPr lang="en-US" sz="2800" b="0" dirty="0">
                <a:effectLst/>
                <a:latin typeface="Arial Narrow" pitchFamily="34" charset="0"/>
                <a:ea typeface="ＭＳ Ｐゴシック" pitchFamily="-28" charset="-128"/>
              </a:rPr>
              <a:t>Requires</a:t>
            </a:r>
          </a:p>
          <a:p>
            <a:pPr marL="407988" indent="-407988" defTabSz="958850" eaLnBrk="0" hangingPunct="0"/>
            <a:r>
              <a:rPr lang="en-US" sz="2800" b="0" dirty="0">
                <a:effectLst/>
                <a:latin typeface="Arial Narrow" pitchFamily="34" charset="0"/>
                <a:ea typeface="ＭＳ Ｐゴシック" pitchFamily="-28" charset="-128"/>
              </a:rPr>
              <a:t>	Minimal modeling</a:t>
            </a:r>
          </a:p>
          <a:p>
            <a:pPr marL="407988" indent="-407988" defTabSz="958850" eaLnBrk="0" hangingPunct="0"/>
            <a:r>
              <a:rPr lang="en-US" sz="2800" b="0" dirty="0">
                <a:effectLst/>
                <a:latin typeface="Arial Narrow" pitchFamily="34" charset="0"/>
                <a:ea typeface="ＭＳ Ｐゴシック" pitchFamily="-28" charset="-128"/>
              </a:rPr>
              <a:t>	Simple process</a:t>
            </a:r>
          </a:p>
          <a:p>
            <a:pPr marL="407988" indent="-407988" defTabSz="958850" eaLnBrk="0" hangingPunct="0"/>
            <a:r>
              <a:rPr lang="en-US" sz="2800" b="0" dirty="0">
                <a:effectLst/>
                <a:latin typeface="Arial Narrow" pitchFamily="34" charset="0"/>
                <a:ea typeface="ＭＳ Ｐゴシック" pitchFamily="-28" charset="-128"/>
              </a:rPr>
              <a:t>	Simple tools</a:t>
            </a:r>
          </a:p>
        </p:txBody>
      </p:sp>
      <p:sp>
        <p:nvSpPr>
          <p:cNvPr id="88068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990600"/>
          </a:xfrm>
        </p:spPr>
        <p:txBody>
          <a:bodyPr>
            <a:normAutofit/>
          </a:bodyPr>
          <a:lstStyle/>
          <a:p>
            <a:r>
              <a:rPr lang="en-US" dirty="0"/>
              <a:t>Architecting a dog house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8229600" cy="990600"/>
          </a:xfrm>
        </p:spPr>
        <p:txBody>
          <a:bodyPr/>
          <a:lstStyle/>
          <a:p>
            <a:r>
              <a:rPr lang="en-US" dirty="0"/>
              <a:t>Architecting a house</a:t>
            </a:r>
          </a:p>
        </p:txBody>
      </p:sp>
      <p:pic>
        <p:nvPicPr>
          <p:cNvPr id="92163" name="Picture 3" descr="HOUS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43200" y="1600200"/>
            <a:ext cx="6172200" cy="3960813"/>
          </a:xfrm>
          <a:prstGeom prst="rect">
            <a:avLst/>
          </a:prstGeom>
          <a:noFill/>
        </p:spPr>
      </p:pic>
      <p:sp>
        <p:nvSpPr>
          <p:cNvPr id="92164" name="Text Box 4"/>
          <p:cNvSpPr txBox="1">
            <a:spLocks noChangeArrowheads="1"/>
          </p:cNvSpPr>
          <p:nvPr/>
        </p:nvSpPr>
        <p:spPr bwMode="auto">
          <a:xfrm>
            <a:off x="457200" y="4724400"/>
            <a:ext cx="5580117" cy="2246769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07988" indent="-407988" defTabSz="958850" eaLnBrk="0" hangingPunct="0"/>
            <a:r>
              <a:rPr lang="en-US" sz="2800" b="0" dirty="0">
                <a:effectLst/>
                <a:latin typeface="Arial Narrow" pitchFamily="34" charset="0"/>
                <a:ea typeface="ＭＳ Ｐゴシック" pitchFamily="-28" charset="-128"/>
              </a:rPr>
              <a:t>Built most efficiently and timely by a team</a:t>
            </a:r>
          </a:p>
          <a:p>
            <a:pPr marL="407988" indent="-407988" defTabSz="958850" eaLnBrk="0" hangingPunct="0"/>
            <a:r>
              <a:rPr lang="en-US" sz="2800" b="0" dirty="0">
                <a:effectLst/>
                <a:latin typeface="Arial Narrow" pitchFamily="34" charset="0"/>
                <a:ea typeface="ＭＳ Ｐゴシック" pitchFamily="-28" charset="-128"/>
              </a:rPr>
              <a:t>Requires</a:t>
            </a:r>
          </a:p>
          <a:p>
            <a:pPr marL="407988" indent="-407988" defTabSz="958850" eaLnBrk="0" hangingPunct="0"/>
            <a:r>
              <a:rPr lang="en-US" sz="2800" b="0" dirty="0">
                <a:effectLst/>
                <a:latin typeface="Arial Narrow" pitchFamily="34" charset="0"/>
                <a:ea typeface="ＭＳ Ｐゴシック" pitchFamily="-28" charset="-128"/>
              </a:rPr>
              <a:t>	Modeling</a:t>
            </a:r>
          </a:p>
          <a:p>
            <a:pPr marL="407988" indent="-407988" defTabSz="958850" eaLnBrk="0" hangingPunct="0"/>
            <a:r>
              <a:rPr lang="en-US" sz="2800" b="0" dirty="0">
                <a:effectLst/>
                <a:latin typeface="Arial Narrow" pitchFamily="34" charset="0"/>
                <a:ea typeface="ＭＳ Ｐゴシック" pitchFamily="-28" charset="-128"/>
              </a:rPr>
              <a:t>	Well-defined process</a:t>
            </a:r>
          </a:p>
          <a:p>
            <a:pPr marL="407988" indent="-407988" defTabSz="958850" eaLnBrk="0" hangingPunct="0"/>
            <a:r>
              <a:rPr lang="en-US" sz="2800" b="0" dirty="0">
                <a:solidFill>
                  <a:schemeClr val="bg1"/>
                </a:solidFill>
                <a:effectLst/>
                <a:latin typeface="Arial Narrow" pitchFamily="34" charset="0"/>
                <a:ea typeface="ＭＳ Ｐゴシック" pitchFamily="-28" charset="-128"/>
              </a:rPr>
              <a:t>	Power tools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Architecting a high rise</a:t>
            </a:r>
          </a:p>
        </p:txBody>
      </p:sp>
      <p:pic>
        <p:nvPicPr>
          <p:cNvPr id="90118" name="Picture 6" descr="9786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87625" y="2105025"/>
            <a:ext cx="3389313" cy="4524375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84138"/>
            <a:ext cx="8839200" cy="1023937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The Need of Architecture</a:t>
            </a:r>
            <a:br>
              <a:rPr lang="en-US" sz="4400" dirty="0"/>
            </a:br>
            <a:r>
              <a:rPr lang="en-US" sz="2400" dirty="0"/>
              <a:t>The Winchester “Mystery” House</a:t>
            </a:r>
          </a:p>
        </p:txBody>
      </p:sp>
      <p:pic>
        <p:nvPicPr>
          <p:cNvPr id="128003" name="Picture 3" descr="Winchester Mystery Hous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9350" y="1136650"/>
            <a:ext cx="6470650" cy="3397238"/>
          </a:xfrm>
          <a:prstGeom prst="rect">
            <a:avLst/>
          </a:prstGeom>
          <a:noFill/>
        </p:spPr>
      </p:pic>
      <p:sp>
        <p:nvSpPr>
          <p:cNvPr id="128004" name="Rectangle 4"/>
          <p:cNvSpPr>
            <a:spLocks noChangeArrowheads="1"/>
          </p:cNvSpPr>
          <p:nvPr/>
        </p:nvSpPr>
        <p:spPr bwMode="auto">
          <a:xfrm>
            <a:off x="152400" y="4648201"/>
            <a:ext cx="8839200" cy="1754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182562" tIns="46038" rIns="182562" bIns="46038">
            <a:spAutoFit/>
          </a:bodyPr>
          <a:lstStyle/>
          <a:p>
            <a:pPr marL="571500" indent="-5715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buFont typeface="Wingdings" pitchFamily="2" charset="2"/>
              <a:buBlip>
                <a:blip r:embed="rId4"/>
              </a:buBlip>
            </a:pPr>
            <a:r>
              <a:rPr lang="en-US" sz="2400" b="0" dirty="0"/>
              <a:t>38 years of construction – 147 </a:t>
            </a:r>
            <a:r>
              <a:rPr lang="en-US" sz="2400" b="0" dirty="0" smtClean="0"/>
              <a:t>builders </a:t>
            </a:r>
            <a:r>
              <a:rPr lang="en-US" sz="2400" b="0" dirty="0"/>
              <a:t>architects</a:t>
            </a:r>
          </a:p>
          <a:p>
            <a:pPr marL="571500" indent="-5715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buFont typeface="Wingdings" pitchFamily="2" charset="2"/>
              <a:buBlip>
                <a:blip r:embed="rId4"/>
              </a:buBlip>
            </a:pPr>
            <a:r>
              <a:rPr lang="en-US" sz="2400" b="0" dirty="0"/>
              <a:t>160 rooms – 40 bedrooms, 6 kitchens</a:t>
            </a:r>
            <a:r>
              <a:rPr lang="en-US" sz="2400" b="0" dirty="0" smtClean="0"/>
              <a:t>, </a:t>
            </a:r>
            <a:r>
              <a:rPr lang="en-US" sz="2400" b="0" dirty="0"/>
              <a:t>950 doors</a:t>
            </a:r>
          </a:p>
          <a:p>
            <a:pPr marL="571500" indent="-5715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buFont typeface="Wingdings" pitchFamily="2" charset="2"/>
              <a:buBlip>
                <a:blip r:embed="rId4"/>
              </a:buBlip>
            </a:pPr>
            <a:r>
              <a:rPr lang="en-US" sz="2400" b="0" dirty="0"/>
              <a:t>65 doors to blank walls, 13 staircases </a:t>
            </a:r>
            <a:r>
              <a:rPr lang="en-US" sz="2400" b="0" dirty="0" smtClean="0"/>
              <a:t>abandoned</a:t>
            </a:r>
            <a:endParaRPr lang="en-US" sz="2400" b="0" dirty="0"/>
          </a:p>
          <a:p>
            <a:pPr marL="571500" indent="-571500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buFont typeface="Wingdings" pitchFamily="2" charset="2"/>
              <a:buBlip>
                <a:blip r:embed="rId4"/>
              </a:buBlip>
            </a:pPr>
            <a:r>
              <a:rPr lang="en-US" sz="2400" b="0" dirty="0"/>
              <a:t>No architectural blueprint exists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80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80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80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80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80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80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80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80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972312"/>
          </a:xfrm>
        </p:spPr>
        <p:txBody>
          <a:bodyPr/>
          <a:lstStyle/>
          <a:p>
            <a:r>
              <a:rPr lang="en-US" b="1" dirty="0" smtClean="0"/>
              <a:t>SOFTWARE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8768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Software architecture is the structures of the system, which comprise </a:t>
            </a:r>
            <a:r>
              <a:rPr lang="en-US" sz="2800" b="1" dirty="0" smtClean="0"/>
              <a:t>software elements</a:t>
            </a:r>
            <a:r>
              <a:rPr lang="en-US" sz="2800" dirty="0" smtClean="0"/>
              <a:t>,</a:t>
            </a:r>
          </a:p>
          <a:p>
            <a:pPr>
              <a:buNone/>
            </a:pPr>
            <a:r>
              <a:rPr lang="en-US" sz="2800" dirty="0" smtClean="0"/>
              <a:t> </a:t>
            </a:r>
            <a:r>
              <a:rPr lang="en-US" sz="2800" b="1" dirty="0" smtClean="0"/>
              <a:t>the externally  visible properties</a:t>
            </a:r>
            <a:r>
              <a:rPr lang="en-US" sz="2800" dirty="0" smtClean="0"/>
              <a:t> of those elements, and the </a:t>
            </a:r>
            <a:r>
              <a:rPr lang="en-US" sz="2800" b="1" dirty="0" smtClean="0"/>
              <a:t>relationships</a:t>
            </a:r>
            <a:r>
              <a:rPr lang="en-US" sz="2800" dirty="0" smtClean="0"/>
              <a:t> among them. </a:t>
            </a:r>
          </a:p>
          <a:p>
            <a:endParaRPr lang="en-US" sz="2800" dirty="0" smtClean="0"/>
          </a:p>
          <a:p>
            <a:r>
              <a:rPr lang="en-US" sz="2800" dirty="0" smtClean="0"/>
              <a:t>Due to a wide range of options now available for how a system may be configured and connected, carefully designing the architecture becomes very important.</a:t>
            </a:r>
          </a:p>
          <a:p>
            <a:endParaRPr lang="en-US" sz="2400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 smtClean="0"/>
              <a:t>Architecture is the system design at the highest level</a:t>
            </a:r>
          </a:p>
          <a:p>
            <a:pPr>
              <a:lnSpc>
                <a:spcPct val="90000"/>
              </a:lnSpc>
            </a:pPr>
            <a:endParaRPr lang="en-US" sz="2800" dirty="0" smtClean="0"/>
          </a:p>
          <a:p>
            <a:pPr>
              <a:lnSpc>
                <a:spcPct val="90000"/>
              </a:lnSpc>
            </a:pPr>
            <a:r>
              <a:rPr lang="en-US" sz="2800" dirty="0" smtClean="0"/>
              <a:t>A complex system can be partitioned in many different ways, each providing a useful view</a:t>
            </a:r>
          </a:p>
          <a:p>
            <a:pPr lvl="1">
              <a:lnSpc>
                <a:spcPct val="90000"/>
              </a:lnSpc>
            </a:pPr>
            <a:r>
              <a:rPr lang="en-US" sz="2800" dirty="0" smtClean="0"/>
              <a:t>There is no unique structure; many possible</a:t>
            </a:r>
          </a:p>
          <a:p>
            <a:r>
              <a:rPr lang="en-US" sz="2800" dirty="0" smtClean="0"/>
              <a:t>An architecture description describes the different structures of the system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72816"/>
            <a:ext cx="8229600" cy="4353347"/>
          </a:xfrm>
        </p:spPr>
        <p:txBody>
          <a:bodyPr/>
          <a:lstStyle/>
          <a:p>
            <a:r>
              <a:rPr lang="en-US" sz="2800" dirty="0" smtClean="0"/>
              <a:t>Choices about technologies, products to use, servers, etc are made at architecture level</a:t>
            </a:r>
          </a:p>
          <a:p>
            <a:pPr lvl="1"/>
            <a:r>
              <a:rPr lang="en-US" sz="2800" dirty="0" smtClean="0"/>
              <a:t>Not possible to design system details and then accommodate these choices</a:t>
            </a:r>
          </a:p>
          <a:p>
            <a:r>
              <a:rPr lang="en-US" sz="2800" dirty="0" smtClean="0"/>
              <a:t>Is the earliest action when properties like reliability/performance can be evaluated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758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828800"/>
            <a:ext cx="8229600" cy="4495800"/>
          </a:xfrm>
        </p:spPr>
        <p:txBody>
          <a:bodyPr>
            <a:normAutofit/>
          </a:bodyPr>
          <a:lstStyle/>
          <a:p>
            <a:pPr algn="just"/>
            <a:r>
              <a:rPr lang="en-US" sz="2800" dirty="0" smtClean="0"/>
              <a:t>Software systems increasingly become distributed and more complex.</a:t>
            </a:r>
          </a:p>
          <a:p>
            <a:pPr algn="just"/>
            <a:r>
              <a:rPr lang="en-US" sz="2800" dirty="0" smtClean="0"/>
              <a:t> Architecture becomes an important step in building the system. </a:t>
            </a:r>
          </a:p>
          <a:p>
            <a:pPr algn="just"/>
            <a:endParaRPr lang="en-US" sz="2800" dirty="0" smtClean="0"/>
          </a:p>
          <a:p>
            <a:pPr algn="just"/>
            <a:r>
              <a:rPr lang="en-US" sz="2800" dirty="0" smtClean="0"/>
              <a:t>Due to a wide range of options now available for how a system may be configured and connected, carefully designing the architecture becomes very important.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7B6DB-8DF8-4D5A-A317-9B7D5E813128}" type="slidenum">
              <a:rPr lang="en-US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800" dirty="0" smtClean="0"/>
              <a:t>Any complex system is composed of sub-systems that it interacts with</a:t>
            </a:r>
          </a:p>
          <a:p>
            <a:pPr algn="just"/>
            <a:r>
              <a:rPr lang="en-US" sz="2800" dirty="0" smtClean="0"/>
              <a:t>While designing systems, an approach is to identify sub-systems and how they interact with each other</a:t>
            </a:r>
          </a:p>
          <a:p>
            <a:pPr algn="just"/>
            <a:endParaRPr lang="en-US" sz="2800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architecture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800" dirty="0" smtClean="0"/>
              <a:t>The design process for identifying the sub-systems making up a system and the framework for sub-system control and communication is </a:t>
            </a:r>
            <a:r>
              <a:rPr lang="en-US" sz="2800" b="1" dirty="0" smtClean="0"/>
              <a:t>architectural design</a:t>
            </a:r>
            <a:r>
              <a:rPr lang="en-US" sz="2800" b="1" i="1" dirty="0" smtClean="0"/>
              <a:t>.</a:t>
            </a:r>
          </a:p>
          <a:p>
            <a:pPr algn="just">
              <a:buNone/>
            </a:pPr>
            <a:r>
              <a:rPr lang="en-US" sz="2800" b="1" i="1" dirty="0" smtClean="0"/>
              <a:t> </a:t>
            </a:r>
          </a:p>
          <a:p>
            <a:pPr algn="just"/>
            <a:r>
              <a:rPr lang="en-US" sz="2800" dirty="0" smtClean="0"/>
              <a:t>The output of this design process is a description of the </a:t>
            </a:r>
            <a:r>
              <a:rPr lang="en-US" sz="2800" b="1" dirty="0" smtClean="0"/>
              <a:t>software architecture.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04088"/>
            <a:ext cx="8229600" cy="896112"/>
          </a:xfrm>
        </p:spPr>
        <p:txBody>
          <a:bodyPr/>
          <a:lstStyle/>
          <a:p>
            <a:r>
              <a:rPr lang="en-US" dirty="0"/>
              <a:t>Architectural Views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828800"/>
            <a:ext cx="8229600" cy="4800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/>
              <a:t>There is no unique </a:t>
            </a:r>
            <a:r>
              <a:rPr lang="en-US" sz="2800" dirty="0" smtClean="0"/>
              <a:t>architecture </a:t>
            </a:r>
            <a:r>
              <a:rPr lang="en-US" sz="2800" dirty="0"/>
              <a:t>of a </a:t>
            </a:r>
            <a:r>
              <a:rPr lang="en-US" sz="2800" dirty="0" smtClean="0"/>
              <a:t>system</a:t>
            </a:r>
          </a:p>
          <a:p>
            <a:pPr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r>
              <a:rPr lang="en-US" sz="2800" dirty="0" smtClean="0"/>
              <a:t>A </a:t>
            </a:r>
            <a:r>
              <a:rPr lang="en-US" sz="2800" dirty="0"/>
              <a:t>view consists of </a:t>
            </a:r>
            <a:r>
              <a:rPr lang="en-US" sz="2800" b="1" i="1" dirty="0"/>
              <a:t>elements</a:t>
            </a:r>
            <a:r>
              <a:rPr lang="en-US" sz="2800" dirty="0"/>
              <a:t> and </a:t>
            </a:r>
            <a:r>
              <a:rPr lang="en-US" sz="2800" b="1" i="1" dirty="0"/>
              <a:t>relationships</a:t>
            </a:r>
            <a:r>
              <a:rPr lang="en-US" sz="2800" b="1" dirty="0"/>
              <a:t> </a:t>
            </a:r>
            <a:r>
              <a:rPr lang="en-US" sz="2800" dirty="0"/>
              <a:t>between them, and describes a </a:t>
            </a:r>
            <a:r>
              <a:rPr lang="en-US" sz="2800" b="1" i="1" dirty="0" smtClean="0"/>
              <a:t>structure</a:t>
            </a:r>
          </a:p>
          <a:p>
            <a:pPr>
              <a:lnSpc>
                <a:spcPct val="90000"/>
              </a:lnSpc>
            </a:pPr>
            <a:endParaRPr lang="en-US" sz="2800" b="1" i="1" dirty="0"/>
          </a:p>
          <a:p>
            <a:pPr>
              <a:lnSpc>
                <a:spcPct val="90000"/>
              </a:lnSpc>
            </a:pPr>
            <a:r>
              <a:rPr lang="en-US" sz="2800" dirty="0" smtClean="0"/>
              <a:t>A </a:t>
            </a:r>
            <a:r>
              <a:rPr lang="en-US" sz="2800" dirty="0"/>
              <a:t>view focusing on some aspects reduces its complexity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47272" y="6407944"/>
            <a:ext cx="496728" cy="450056"/>
          </a:xfrm>
        </p:spPr>
        <p:txBody>
          <a:bodyPr/>
          <a:lstStyle/>
          <a:p>
            <a:fld id="{3EFFF650-4099-4446-BC57-5A4A8A85851A}" type="slidenum">
              <a:rPr lang="en-US"/>
              <a:pPr/>
              <a:t>13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04088"/>
            <a:ext cx="8229600" cy="972312"/>
          </a:xfrm>
        </p:spPr>
        <p:txBody>
          <a:bodyPr/>
          <a:lstStyle/>
          <a:p>
            <a:r>
              <a:rPr lang="en-US" dirty="0"/>
              <a:t>Views…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828800"/>
            <a:ext cx="8229600" cy="4495800"/>
          </a:xfrm>
        </p:spPr>
        <p:txBody>
          <a:bodyPr>
            <a:normAutofit/>
          </a:bodyPr>
          <a:lstStyle/>
          <a:p>
            <a:r>
              <a:rPr lang="en-US" sz="2800" dirty="0"/>
              <a:t>Many types of views have been proposed</a:t>
            </a:r>
          </a:p>
          <a:p>
            <a:r>
              <a:rPr lang="en-US" sz="2800" dirty="0"/>
              <a:t>Most belong to one of these three types</a:t>
            </a:r>
          </a:p>
          <a:p>
            <a:pPr lvl="1">
              <a:buNone/>
            </a:pPr>
            <a:r>
              <a:rPr lang="en-US" sz="2800" dirty="0" smtClean="0"/>
              <a:t>1</a:t>
            </a:r>
            <a:r>
              <a:rPr lang="en-US" sz="2800" b="1" dirty="0" smtClean="0"/>
              <a:t>. Module</a:t>
            </a:r>
            <a:endParaRPr lang="en-US" sz="2800" b="1" dirty="0"/>
          </a:p>
          <a:p>
            <a:pPr lvl="1">
              <a:buNone/>
            </a:pPr>
            <a:r>
              <a:rPr lang="en-US" sz="2800" b="1" dirty="0" smtClean="0"/>
              <a:t>2. Component </a:t>
            </a:r>
            <a:r>
              <a:rPr lang="en-US" sz="2800" b="1" dirty="0"/>
              <a:t>and Connector</a:t>
            </a:r>
          </a:p>
          <a:p>
            <a:pPr lvl="1">
              <a:buNone/>
            </a:pPr>
            <a:r>
              <a:rPr lang="en-US" sz="2800" b="1" dirty="0" smtClean="0"/>
              <a:t>3. Allocation</a:t>
            </a:r>
          </a:p>
          <a:p>
            <a:pPr lvl="1">
              <a:buNone/>
            </a:pPr>
            <a:endParaRPr lang="en-US" sz="2800" b="1" dirty="0"/>
          </a:p>
          <a:p>
            <a:r>
              <a:rPr lang="en-US" sz="2800" dirty="0"/>
              <a:t>The </a:t>
            </a:r>
            <a:r>
              <a:rPr lang="en-US" sz="2800" dirty="0" smtClean="0"/>
              <a:t>different </a:t>
            </a:r>
            <a:r>
              <a:rPr lang="en-US" sz="2800" dirty="0"/>
              <a:t>views are not unrelated – they all represent the same </a:t>
            </a:r>
            <a:r>
              <a:rPr lang="en-US" sz="2800" dirty="0" smtClean="0"/>
              <a:t>system</a:t>
            </a:r>
            <a:endParaRPr lang="en-US" sz="2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0F8E7-9147-455C-9306-B436B653E7D2}" type="slidenum">
              <a:rPr lang="en-US"/>
              <a:pPr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Views…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/>
              <a:t>1. Module </a:t>
            </a:r>
            <a:r>
              <a:rPr lang="en-US" b="1" dirty="0"/>
              <a:t>view</a:t>
            </a:r>
          </a:p>
          <a:p>
            <a:pPr lvl="1"/>
            <a:r>
              <a:rPr lang="en-US" sz="2800" dirty="0"/>
              <a:t>A </a:t>
            </a:r>
            <a:r>
              <a:rPr lang="en-US" sz="2800" dirty="0" smtClean="0"/>
              <a:t>system </a:t>
            </a:r>
            <a:r>
              <a:rPr lang="en-US" sz="2800" dirty="0"/>
              <a:t>is a collection of </a:t>
            </a:r>
            <a:r>
              <a:rPr lang="en-US" sz="2800" dirty="0" smtClean="0"/>
              <a:t>coded </a:t>
            </a:r>
            <a:r>
              <a:rPr lang="en-US" sz="2800" dirty="0"/>
              <a:t>units i.e. they do not represent </a:t>
            </a:r>
            <a:r>
              <a:rPr lang="en-US" sz="2800" dirty="0" smtClean="0"/>
              <a:t>the same runtime entities.</a:t>
            </a:r>
            <a:endParaRPr lang="en-US" sz="2800" dirty="0"/>
          </a:p>
          <a:p>
            <a:pPr lvl="1">
              <a:buNone/>
            </a:pPr>
            <a:r>
              <a:rPr lang="en-US" sz="2800" dirty="0"/>
              <a:t>I.e. elements are modules, </a:t>
            </a:r>
            <a:r>
              <a:rPr lang="en-US" sz="2800" dirty="0" err="1"/>
              <a:t>eg</a:t>
            </a:r>
            <a:r>
              <a:rPr lang="en-US" sz="2800" dirty="0"/>
              <a:t>. Class, package, function, procedure,…</a:t>
            </a:r>
          </a:p>
          <a:p>
            <a:pPr lvl="1"/>
            <a:r>
              <a:rPr lang="en-US" sz="2800" dirty="0"/>
              <a:t>Relationship between them is code based, e.g. part of, depends on, calls, </a:t>
            </a:r>
            <a:r>
              <a:rPr lang="en-US" sz="2800" dirty="0" smtClean="0"/>
              <a:t>..</a:t>
            </a:r>
            <a:endParaRPr lang="en-US" sz="2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28883-468E-483D-AD2D-6E66DDD3F9FF}" type="slidenum">
              <a:rPr lang="en-US"/>
              <a:pPr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04088"/>
            <a:ext cx="8229600" cy="743712"/>
          </a:xfrm>
        </p:spPr>
        <p:txBody>
          <a:bodyPr>
            <a:normAutofit fontScale="90000"/>
          </a:bodyPr>
          <a:lstStyle/>
          <a:p>
            <a:r>
              <a:rPr lang="en-US" sz="4400" dirty="0" smtClean="0"/>
              <a:t>2. Component </a:t>
            </a:r>
            <a:r>
              <a:rPr lang="en-US" sz="4400" dirty="0"/>
              <a:t>and Connector View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700808"/>
            <a:ext cx="8229600" cy="4776192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2800" b="1" dirty="0" smtClean="0"/>
              <a:t>Components</a:t>
            </a:r>
            <a:r>
              <a:rPr lang="en-US" sz="2800" b="1" dirty="0"/>
              <a:t>: </a:t>
            </a:r>
            <a:r>
              <a:rPr lang="en-US" sz="2800" dirty="0"/>
              <a:t>Computational elements or data stores</a:t>
            </a:r>
          </a:p>
          <a:p>
            <a:pPr>
              <a:lnSpc>
                <a:spcPct val="90000"/>
              </a:lnSpc>
            </a:pPr>
            <a:r>
              <a:rPr lang="en-US" sz="2800" b="1" dirty="0"/>
              <a:t>Connectors: </a:t>
            </a:r>
            <a:r>
              <a:rPr lang="en-US" sz="2800" dirty="0"/>
              <a:t>Means of interaction between </a:t>
            </a:r>
            <a:r>
              <a:rPr lang="en-US" sz="2800" dirty="0" smtClean="0"/>
              <a:t>comps</a:t>
            </a:r>
          </a:p>
          <a:p>
            <a:pPr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r>
              <a:rPr lang="en-US" sz="2800" dirty="0" smtClean="0"/>
              <a:t>The </a:t>
            </a:r>
            <a:r>
              <a:rPr lang="en-US" sz="2800" dirty="0"/>
              <a:t>C&amp;C view describes a runtime structure of the system – what </a:t>
            </a:r>
            <a:r>
              <a:rPr lang="en-US" sz="2800" dirty="0" smtClean="0"/>
              <a:t>components </a:t>
            </a:r>
            <a:r>
              <a:rPr lang="en-US" sz="2800" dirty="0"/>
              <a:t>exist at runtime and how they interact during </a:t>
            </a:r>
            <a:r>
              <a:rPr lang="en-US" sz="2800" dirty="0" smtClean="0"/>
              <a:t>execution</a:t>
            </a:r>
          </a:p>
          <a:p>
            <a:pPr>
              <a:lnSpc>
                <a:spcPct val="90000"/>
              </a:lnSpc>
            </a:pPr>
            <a:r>
              <a:rPr lang="en-US" sz="2800" dirty="0" smtClean="0"/>
              <a:t>Is </a:t>
            </a:r>
            <a:r>
              <a:rPr lang="en-US" sz="2800" dirty="0"/>
              <a:t>a graph; often shown as a box-and-line drawing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Most commonly used structure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5A696-C3E7-491B-A309-5FC606F7E05B}" type="slidenum">
              <a:rPr lang="en-US"/>
              <a:pPr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04088"/>
            <a:ext cx="8229600" cy="972312"/>
          </a:xfrm>
        </p:spPr>
        <p:txBody>
          <a:bodyPr/>
          <a:lstStyle/>
          <a:p>
            <a:r>
              <a:rPr lang="en-US" dirty="0"/>
              <a:t>Components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752600"/>
            <a:ext cx="8229600" cy="4800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/>
              <a:t>Units of computations or data </a:t>
            </a:r>
            <a:r>
              <a:rPr lang="en-US" sz="2800" dirty="0" smtClean="0"/>
              <a:t>stores</a:t>
            </a:r>
          </a:p>
          <a:p>
            <a:pPr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r>
              <a:rPr lang="en-US" sz="2800" dirty="0"/>
              <a:t>Has a name, which represents its role, and provides it </a:t>
            </a:r>
            <a:r>
              <a:rPr lang="en-US" sz="2800" dirty="0" smtClean="0"/>
              <a:t>identity</a:t>
            </a:r>
          </a:p>
          <a:p>
            <a:pPr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r>
              <a:rPr lang="en-US" sz="2800" dirty="0" smtClean="0"/>
              <a:t>Components </a:t>
            </a:r>
            <a:r>
              <a:rPr lang="en-US" sz="2800" dirty="0"/>
              <a:t>use </a:t>
            </a:r>
            <a:r>
              <a:rPr lang="en-US" sz="2800" b="1" dirty="0"/>
              <a:t>ports</a:t>
            </a:r>
            <a:r>
              <a:rPr lang="en-US" sz="2800" dirty="0"/>
              <a:t> (or interfaces) to communicate with </a:t>
            </a:r>
            <a:r>
              <a:rPr lang="en-US" sz="2800" dirty="0" smtClean="0"/>
              <a:t>others</a:t>
            </a:r>
            <a:endParaRPr lang="en-US" sz="28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Software Architecture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2BE2A-6E40-4632-80B3-B48DBFB9B0F4}" type="slidenum">
              <a:rPr lang="en-US"/>
              <a:pPr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 smtClean="0"/>
              <a:t>Component and Connector (C&amp;C)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788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buNone/>
            </a:pPr>
            <a:endParaRPr lang="en-US" b="1" dirty="0" smtClean="0"/>
          </a:p>
          <a:p>
            <a:pPr>
              <a:lnSpc>
                <a:spcPct val="90000"/>
              </a:lnSpc>
              <a:buNone/>
            </a:pPr>
            <a:endParaRPr lang="en-US" b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E23DD-549B-4407-A052-5130E62EECF5}" type="slidenum">
              <a:rPr lang="en-US"/>
              <a:pPr/>
              <a:t>18</a:t>
            </a:fld>
            <a:endParaRPr lang="en-US"/>
          </a:p>
        </p:txBody>
      </p:sp>
      <p:pic>
        <p:nvPicPr>
          <p:cNvPr id="5" name="Picture 5" descr="Fig4-2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124200" y="1752600"/>
            <a:ext cx="3916388" cy="45721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Connectors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/>
              <a:t>Interaction between components happen through </a:t>
            </a:r>
            <a:r>
              <a:rPr lang="en-US" sz="2800" b="1" dirty="0" smtClean="0"/>
              <a:t>connectors</a:t>
            </a:r>
          </a:p>
          <a:p>
            <a:pPr>
              <a:lnSpc>
                <a:spcPct val="90000"/>
              </a:lnSpc>
            </a:pPr>
            <a:endParaRPr lang="en-US" sz="2800" b="1" dirty="0"/>
          </a:p>
          <a:p>
            <a:pPr>
              <a:lnSpc>
                <a:spcPct val="90000"/>
              </a:lnSpc>
            </a:pPr>
            <a:r>
              <a:rPr lang="en-US" sz="2800" dirty="0"/>
              <a:t>A connector may be provided by the runtime environment, e.g. </a:t>
            </a:r>
            <a:r>
              <a:rPr lang="en-US" sz="2800" b="1" dirty="0"/>
              <a:t>procedure </a:t>
            </a:r>
            <a:r>
              <a:rPr lang="en-US" sz="2800" b="1" dirty="0" smtClean="0"/>
              <a:t>call</a:t>
            </a:r>
          </a:p>
          <a:p>
            <a:pPr>
              <a:lnSpc>
                <a:spcPct val="90000"/>
              </a:lnSpc>
            </a:pPr>
            <a:endParaRPr lang="en-US" sz="2800" b="1" dirty="0"/>
          </a:p>
          <a:p>
            <a:pPr>
              <a:lnSpc>
                <a:spcPct val="90000"/>
              </a:lnSpc>
            </a:pPr>
            <a:r>
              <a:rPr lang="en-US" sz="2800" dirty="0"/>
              <a:t>But there may be complex mechanisms for interaction, </a:t>
            </a:r>
            <a:r>
              <a:rPr lang="en-US" sz="2800" dirty="0" err="1"/>
              <a:t>e.g</a:t>
            </a:r>
            <a:r>
              <a:rPr lang="en-US" sz="2800" dirty="0"/>
              <a:t> </a:t>
            </a:r>
            <a:r>
              <a:rPr lang="en-US" sz="2800" b="1" dirty="0"/>
              <a:t>http, </a:t>
            </a:r>
            <a:r>
              <a:rPr lang="en-US" sz="2800" b="1" dirty="0" err="1"/>
              <a:t>tcp</a:t>
            </a:r>
            <a:r>
              <a:rPr lang="en-US" sz="2800" b="1" dirty="0"/>
              <a:t>/</a:t>
            </a:r>
            <a:r>
              <a:rPr lang="en-US" sz="2800" b="1" dirty="0" err="1"/>
              <a:t>ip</a:t>
            </a:r>
            <a:r>
              <a:rPr lang="en-US" sz="2800" b="1" dirty="0"/>
              <a:t>, ports</a:t>
            </a:r>
            <a:r>
              <a:rPr lang="en-US" sz="2800" dirty="0"/>
              <a:t>,…; a lot of </a:t>
            </a:r>
            <a:r>
              <a:rPr lang="en-US" sz="2800" dirty="0" smtClean="0"/>
              <a:t>s/w </a:t>
            </a:r>
            <a:r>
              <a:rPr lang="en-US" sz="2800" dirty="0"/>
              <a:t>needed to support </a:t>
            </a:r>
            <a:r>
              <a:rPr lang="en-US" sz="2800" dirty="0" smtClean="0"/>
              <a:t>them</a:t>
            </a:r>
            <a:endParaRPr lang="en-US" sz="2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714-4781-4234-B97F-CCDD2F118FD6}" type="slidenum">
              <a:rPr lang="en-US"/>
              <a:pPr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Connectors…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 smtClean="0"/>
              <a:t>Connector </a:t>
            </a:r>
            <a:r>
              <a:rPr lang="en-US" sz="2800" dirty="0"/>
              <a:t>has a </a:t>
            </a:r>
            <a:r>
              <a:rPr lang="en-US" sz="2800" b="1" dirty="0"/>
              <a:t>name</a:t>
            </a:r>
            <a:r>
              <a:rPr lang="en-US" sz="2800" dirty="0"/>
              <a:t> (and a type</a:t>
            </a:r>
            <a:r>
              <a:rPr lang="en-US" sz="2800" dirty="0" smtClean="0"/>
              <a:t>)</a:t>
            </a:r>
          </a:p>
          <a:p>
            <a:pPr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r>
              <a:rPr lang="en-US" sz="2800" dirty="0"/>
              <a:t>Often connectors represented as </a:t>
            </a:r>
            <a:r>
              <a:rPr lang="en-US" sz="2800" b="1" dirty="0"/>
              <a:t>protocol </a:t>
            </a:r>
            <a:r>
              <a:rPr lang="en-US" sz="2800" dirty="0"/>
              <a:t>– i.e. </a:t>
            </a:r>
            <a:r>
              <a:rPr lang="en-US" sz="2800" dirty="0" smtClean="0"/>
              <a:t>components </a:t>
            </a:r>
            <a:r>
              <a:rPr lang="en-US" sz="2800" dirty="0"/>
              <a:t>need to follow some conventions when using the </a:t>
            </a:r>
            <a:r>
              <a:rPr lang="en-US" sz="2800" dirty="0" smtClean="0"/>
              <a:t>connector</a:t>
            </a:r>
          </a:p>
          <a:p>
            <a:pPr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r>
              <a:rPr lang="en-US" sz="2800" dirty="0"/>
              <a:t>Best to use diff notation for </a:t>
            </a:r>
            <a:r>
              <a:rPr lang="en-US" sz="2800" dirty="0" smtClean="0"/>
              <a:t>different </a:t>
            </a:r>
            <a:r>
              <a:rPr lang="en-US" sz="2800" dirty="0"/>
              <a:t>types of connectors; all connectors should not be shown by </a:t>
            </a:r>
            <a:r>
              <a:rPr lang="en-US" sz="2800" b="1" dirty="0"/>
              <a:t>simple lines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506BF-4C9D-4B28-8D90-FA91FB6C91CD}" type="slidenum">
              <a:rPr lang="en-US"/>
              <a:pPr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04088"/>
            <a:ext cx="8229600" cy="896112"/>
          </a:xfrm>
        </p:spPr>
        <p:txBody>
          <a:bodyPr/>
          <a:lstStyle/>
          <a:p>
            <a:r>
              <a:rPr lang="en-US" dirty="0"/>
              <a:t>An Example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2800" dirty="0"/>
              <a:t>Design a system for taking online survey of students on campus</a:t>
            </a:r>
          </a:p>
          <a:p>
            <a:pPr lvl="1">
              <a:lnSpc>
                <a:spcPct val="90000"/>
              </a:lnSpc>
            </a:pPr>
            <a:r>
              <a:rPr lang="en-US" sz="2800" dirty="0"/>
              <a:t>Multiple choice questions, students submit online</a:t>
            </a:r>
          </a:p>
          <a:p>
            <a:pPr lvl="1">
              <a:lnSpc>
                <a:spcPct val="90000"/>
              </a:lnSpc>
            </a:pPr>
            <a:r>
              <a:rPr lang="en-US" sz="2800" dirty="0"/>
              <a:t>When a student submits, current result of the survey is shown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Is best built using web; a 3-tier architecture is proposed</a:t>
            </a:r>
          </a:p>
          <a:p>
            <a:pPr lvl="1">
              <a:lnSpc>
                <a:spcPct val="90000"/>
              </a:lnSpc>
            </a:pPr>
            <a:r>
              <a:rPr lang="en-US" sz="2800" dirty="0"/>
              <a:t>Has a client, server, and a database components (each of a diff type)</a:t>
            </a:r>
          </a:p>
          <a:p>
            <a:pPr lvl="1">
              <a:lnSpc>
                <a:spcPct val="90000"/>
              </a:lnSpc>
            </a:pPr>
            <a:r>
              <a:rPr lang="en-US" sz="2800" dirty="0"/>
              <a:t>Connector between them are also of diff types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379B7-3FB5-4178-B9FF-7DBA313DC973}" type="slidenum">
              <a:rPr lang="en-US"/>
              <a:pPr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Example…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02E07-E995-4A9B-AA6D-ACE38BEAF619}" type="slidenum">
              <a:rPr lang="en-US"/>
              <a:pPr/>
              <a:t>22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2362200"/>
            <a:ext cx="7543800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04088"/>
            <a:ext cx="8229600" cy="972312"/>
          </a:xfrm>
        </p:spPr>
        <p:txBody>
          <a:bodyPr/>
          <a:lstStyle/>
          <a:p>
            <a:r>
              <a:rPr lang="en-US" dirty="0"/>
              <a:t>Extension 1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828800"/>
            <a:ext cx="8229600" cy="4495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/>
              <a:t>This arch has no security – anyone can take the </a:t>
            </a:r>
            <a:r>
              <a:rPr lang="en-US" sz="2800" dirty="0" smtClean="0"/>
              <a:t>survey</a:t>
            </a:r>
          </a:p>
          <a:p>
            <a:pPr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r>
              <a:rPr lang="en-US" sz="2800" dirty="0"/>
              <a:t>We want that only registered students can take the survey (at most once</a:t>
            </a:r>
            <a:r>
              <a:rPr lang="en-US" sz="2800" dirty="0" smtClean="0"/>
              <a:t>)</a:t>
            </a:r>
          </a:p>
          <a:p>
            <a:pPr>
              <a:lnSpc>
                <a:spcPct val="90000"/>
              </a:lnSpc>
              <a:buNone/>
            </a:pPr>
            <a:endParaRPr lang="en-US" sz="2800" dirty="0"/>
          </a:p>
          <a:p>
            <a:pPr lvl="1">
              <a:lnSpc>
                <a:spcPct val="90000"/>
              </a:lnSpc>
            </a:pPr>
            <a:r>
              <a:rPr lang="en-US" sz="2800" dirty="0"/>
              <a:t>To identify students and check for one-only submission, need a authentication </a:t>
            </a:r>
            <a:r>
              <a:rPr lang="en-US" sz="2800" dirty="0" smtClean="0"/>
              <a:t>server</a:t>
            </a:r>
            <a:endParaRPr lang="en-US" sz="2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E2D26-B97F-4725-AD90-1DCCF684AA82}" type="slidenum">
              <a:rPr lang="en-US"/>
              <a:pPr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Extension 1…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7A58D-1D3A-48E2-89B1-94BE85BCFC5D}" type="slidenum">
              <a:rPr lang="en-US"/>
              <a:pPr/>
              <a:t>24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1981200"/>
            <a:ext cx="78486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Extension 2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/>
              <a:t>It was found that DB is frequently down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For improving reliability, </a:t>
            </a:r>
            <a:r>
              <a:rPr lang="en-US" sz="2800" dirty="0" smtClean="0"/>
              <a:t>what if DB </a:t>
            </a:r>
            <a:r>
              <a:rPr lang="en-US" sz="2800" dirty="0"/>
              <a:t>is down, student is given an older survey result </a:t>
            </a:r>
            <a:r>
              <a:rPr lang="en-US" sz="2800" dirty="0" smtClean="0"/>
              <a:t>data stored.</a:t>
            </a:r>
            <a:endParaRPr lang="en-US" sz="2800" dirty="0"/>
          </a:p>
          <a:p>
            <a:pPr>
              <a:lnSpc>
                <a:spcPct val="90000"/>
              </a:lnSpc>
            </a:pPr>
            <a:r>
              <a:rPr lang="en-US" sz="2800" dirty="0"/>
              <a:t>The survey data given can be outdated by at most 5 survey data points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For this, will add a cache </a:t>
            </a:r>
            <a:r>
              <a:rPr lang="en-US" sz="2800" dirty="0" smtClean="0"/>
              <a:t>component, </a:t>
            </a:r>
            <a:r>
              <a:rPr lang="en-US" sz="2800" dirty="0"/>
              <a:t>which will store data as well as results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0A701-D7C0-4CFC-83B2-F435F7066250}" type="slidenum">
              <a:rPr lang="en-US"/>
              <a:pPr/>
              <a:t>25</a:t>
            </a:fld>
            <a:endParaRPr lang="en-US"/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Extension 2…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0C3A5-FC34-4F79-BDAD-74A522DB1145}" type="slidenum">
              <a:rPr lang="en-US"/>
              <a:pPr/>
              <a:t>26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752600"/>
            <a:ext cx="78486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Example…</a:t>
            </a:r>
          </a:p>
        </p:txBody>
      </p:sp>
      <p:sp>
        <p:nvSpPr>
          <p:cNvPr id="10240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One change increased security, 2</a:t>
            </a:r>
            <a:r>
              <a:rPr lang="en-US" sz="2800" baseline="30000" dirty="0"/>
              <a:t>nd</a:t>
            </a:r>
            <a:r>
              <a:rPr lang="en-US" sz="2800" dirty="0"/>
              <a:t> increased performance and reliability</a:t>
            </a:r>
          </a:p>
          <a:p>
            <a:r>
              <a:rPr lang="en-US" sz="2800" dirty="0"/>
              <a:t>I.e. Arch level choices have a big impact on system properties</a:t>
            </a:r>
          </a:p>
          <a:p>
            <a:r>
              <a:rPr lang="en-US" sz="2800" dirty="0"/>
              <a:t>That is why, choosing a suitable arch can help build a good system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DE6E2-27BC-4AD2-A36B-341AB5F9EB28}" type="slidenum">
              <a:rPr lang="en-US"/>
              <a:pPr/>
              <a:t>27</a:t>
            </a:fld>
            <a:endParaRPr lang="en-US"/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60648"/>
            <a:ext cx="8229600" cy="1224136"/>
          </a:xfrm>
        </p:spPr>
        <p:txBody>
          <a:bodyPr>
            <a:normAutofit fontScale="90000"/>
          </a:bodyPr>
          <a:lstStyle/>
          <a:p>
            <a:r>
              <a:rPr lang="en-US" sz="4400" b="1" dirty="0"/>
              <a:t>Architectural Styles for C&amp;C View</a:t>
            </a:r>
          </a:p>
        </p:txBody>
      </p:sp>
      <p:sp>
        <p:nvSpPr>
          <p:cNvPr id="1034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Different </a:t>
            </a:r>
            <a:r>
              <a:rPr lang="en-US" sz="2800" dirty="0"/>
              <a:t>systems have </a:t>
            </a:r>
            <a:r>
              <a:rPr lang="en-US" sz="2800" dirty="0" smtClean="0"/>
              <a:t>different </a:t>
            </a:r>
            <a:r>
              <a:rPr lang="en-US" sz="2800" dirty="0"/>
              <a:t>C&amp;C structure</a:t>
            </a:r>
          </a:p>
          <a:p>
            <a:r>
              <a:rPr lang="en-US" sz="2800" dirty="0"/>
              <a:t>Some structures are general and are useful for a class of problems – </a:t>
            </a:r>
            <a:r>
              <a:rPr lang="en-US" sz="2800" b="1" dirty="0"/>
              <a:t>architectural </a:t>
            </a:r>
            <a:r>
              <a:rPr lang="en-US" sz="2800" b="1" dirty="0" smtClean="0"/>
              <a:t>styles</a:t>
            </a:r>
          </a:p>
          <a:p>
            <a:endParaRPr lang="en-US" sz="2800" b="1" dirty="0"/>
          </a:p>
          <a:p>
            <a:r>
              <a:rPr lang="en-US" sz="2800" dirty="0"/>
              <a:t>An arch style defines a family of </a:t>
            </a:r>
            <a:r>
              <a:rPr lang="en-US" sz="2800" dirty="0" smtClean="0"/>
              <a:t>architectures </a:t>
            </a:r>
            <a:r>
              <a:rPr lang="en-US" sz="2800" dirty="0"/>
              <a:t>that satisfy the constraint of that style</a:t>
            </a:r>
          </a:p>
          <a:p>
            <a:r>
              <a:rPr lang="en-US" sz="2800" dirty="0" smtClean="0"/>
              <a:t>We </a:t>
            </a:r>
            <a:r>
              <a:rPr lang="en-US" sz="2800" dirty="0"/>
              <a:t>discuss a few common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ADCF0-8E1B-4473-9D82-6A69BAA66171}" type="slidenum">
              <a:rPr lang="en-US"/>
              <a:pPr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648200"/>
          </a:xfrm>
        </p:spPr>
        <p:txBody>
          <a:bodyPr/>
          <a:lstStyle/>
          <a:p>
            <a:r>
              <a:rPr lang="en-US" sz="2800" dirty="0" smtClean="0"/>
              <a:t>Reflects the basic strategy that is used to structure a system. </a:t>
            </a:r>
          </a:p>
          <a:p>
            <a:r>
              <a:rPr lang="en-US" sz="2800" dirty="0" smtClean="0"/>
              <a:t>Organizational styles that are widely used: </a:t>
            </a:r>
          </a:p>
          <a:p>
            <a:pPr>
              <a:buNone/>
            </a:pPr>
            <a:r>
              <a:rPr lang="en-US" sz="2800" dirty="0" smtClean="0"/>
              <a:t>– </a:t>
            </a:r>
            <a:r>
              <a:rPr lang="en-US" sz="2800" b="1" dirty="0" smtClean="0"/>
              <a:t>Pipe and filter architecture </a:t>
            </a:r>
          </a:p>
          <a:p>
            <a:pPr>
              <a:buNone/>
            </a:pPr>
            <a:r>
              <a:rPr lang="en-US" sz="2800" b="1" dirty="0" smtClean="0"/>
              <a:t>- Repository architecture </a:t>
            </a:r>
          </a:p>
          <a:p>
            <a:pPr>
              <a:buNone/>
            </a:pPr>
            <a:r>
              <a:rPr lang="en-US" sz="2800" b="1" dirty="0" smtClean="0"/>
              <a:t>– Client-server architecture 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 Pipe </a:t>
            </a:r>
            <a:r>
              <a:rPr lang="en-US" dirty="0"/>
              <a:t>and filter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772816"/>
            <a:ext cx="8229600" cy="4353347"/>
          </a:xfrm>
        </p:spPr>
        <p:txBody>
          <a:bodyPr/>
          <a:lstStyle/>
          <a:p>
            <a:r>
              <a:rPr lang="en-US" sz="2800" dirty="0"/>
              <a:t>Well suited for systems that mainly do data transformations</a:t>
            </a:r>
          </a:p>
          <a:p>
            <a:r>
              <a:rPr lang="en-US" sz="2800" dirty="0"/>
              <a:t>A system using this style uses a network of transforms to achieve the desired result</a:t>
            </a:r>
          </a:p>
          <a:p>
            <a:r>
              <a:rPr lang="en-US" sz="2800" dirty="0"/>
              <a:t>Has one component type – </a:t>
            </a:r>
            <a:r>
              <a:rPr lang="en-US" sz="2800" b="1" dirty="0"/>
              <a:t>filter</a:t>
            </a:r>
          </a:p>
          <a:p>
            <a:r>
              <a:rPr lang="en-US" sz="2800" dirty="0"/>
              <a:t>Has one connector type – </a:t>
            </a:r>
            <a:r>
              <a:rPr lang="en-US" sz="2800" b="1" dirty="0"/>
              <a:t>pipe</a:t>
            </a:r>
          </a:p>
          <a:p>
            <a:r>
              <a:rPr lang="en-US" sz="2800" dirty="0"/>
              <a:t>A filter does some transformation and passes data to other filters through </a:t>
            </a:r>
            <a:r>
              <a:rPr lang="en-US" sz="2800" dirty="0" smtClean="0"/>
              <a:t>pipes.</a:t>
            </a:r>
            <a:endParaRPr lang="en-US" sz="2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A2B26-8EC0-4355-9DE8-2E62C13A03A7}" type="slidenum">
              <a:rPr lang="en-US"/>
              <a:pPr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04088"/>
            <a:ext cx="8229600" cy="972312"/>
          </a:xfrm>
        </p:spPr>
        <p:txBody>
          <a:bodyPr/>
          <a:lstStyle/>
          <a:p>
            <a:r>
              <a:rPr lang="en-US" dirty="0"/>
              <a:t>Pipe and Filter…</a:t>
            </a:r>
          </a:p>
        </p:txBody>
      </p:sp>
      <p:sp>
        <p:nvSpPr>
          <p:cNvPr id="10547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229600" cy="4648200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en-US" sz="2800" dirty="0"/>
              <a:t>A filter is independent; need not know the </a:t>
            </a:r>
            <a:r>
              <a:rPr lang="en-US" sz="2800" dirty="0" smtClean="0"/>
              <a:t>identification </a:t>
            </a:r>
            <a:r>
              <a:rPr lang="en-US" sz="2800" dirty="0"/>
              <a:t>of filters sending/receiving </a:t>
            </a:r>
            <a:r>
              <a:rPr lang="en-US" sz="2800" dirty="0" smtClean="0"/>
              <a:t>data</a:t>
            </a:r>
          </a:p>
          <a:p>
            <a:pPr algn="just">
              <a:lnSpc>
                <a:spcPct val="90000"/>
              </a:lnSpc>
            </a:pPr>
            <a:endParaRPr lang="en-US" sz="2800" dirty="0"/>
          </a:p>
          <a:p>
            <a:pPr algn="just">
              <a:lnSpc>
                <a:spcPct val="90000"/>
              </a:lnSpc>
            </a:pPr>
            <a:r>
              <a:rPr lang="en-US" sz="2800" dirty="0" smtClean="0"/>
              <a:t>A </a:t>
            </a:r>
            <a:r>
              <a:rPr lang="en-US" sz="2800" dirty="0"/>
              <a:t>pipe is unidirectional channel which moves streams of data from one filter to </a:t>
            </a:r>
            <a:r>
              <a:rPr lang="en-US" sz="2800" dirty="0" smtClean="0"/>
              <a:t>another</a:t>
            </a:r>
          </a:p>
          <a:p>
            <a:pPr algn="just">
              <a:lnSpc>
                <a:spcPct val="90000"/>
              </a:lnSpc>
            </a:pPr>
            <a:endParaRPr lang="en-US" sz="2800" dirty="0"/>
          </a:p>
          <a:p>
            <a:pPr algn="just">
              <a:lnSpc>
                <a:spcPct val="90000"/>
              </a:lnSpc>
            </a:pPr>
            <a:r>
              <a:rPr lang="en-US" sz="2800" dirty="0"/>
              <a:t>A pipe is a 2-way </a:t>
            </a:r>
            <a:r>
              <a:rPr lang="en-US" sz="2800" dirty="0" smtClean="0"/>
              <a:t>connector</a:t>
            </a:r>
          </a:p>
          <a:p>
            <a:pPr algn="just">
              <a:lnSpc>
                <a:spcPct val="90000"/>
              </a:lnSpc>
            </a:pPr>
            <a:endParaRPr lang="en-US" sz="2800" dirty="0" smtClean="0"/>
          </a:p>
          <a:p>
            <a:pPr algn="just">
              <a:lnSpc>
                <a:spcPct val="90000"/>
              </a:lnSpc>
            </a:pPr>
            <a:r>
              <a:rPr lang="en-US" sz="2800" dirty="0" smtClean="0"/>
              <a:t>A pipe must connect the output port of one filter to input port of another</a:t>
            </a:r>
          </a:p>
          <a:p>
            <a:pPr>
              <a:lnSpc>
                <a:spcPct val="90000"/>
              </a:lnSpc>
            </a:pPr>
            <a:endParaRPr lang="en-US" sz="2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819F6-026D-406E-941F-ED818A425EE6}" type="slidenum">
              <a:rPr lang="en-US"/>
              <a:pPr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10752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 system needed to count the frequency of different words in a </a:t>
            </a:r>
            <a:r>
              <a:rPr lang="en-US" sz="2800" dirty="0" smtClean="0"/>
              <a:t>file</a:t>
            </a:r>
          </a:p>
          <a:p>
            <a:endParaRPr lang="en-US" sz="2800" dirty="0"/>
          </a:p>
          <a:p>
            <a:r>
              <a:rPr lang="en-US" sz="2800" dirty="0"/>
              <a:t>One approach: first split the file into a sequence of words, sort them, then count the frequency </a:t>
            </a:r>
            <a:r>
              <a:rPr lang="en-US" sz="2800" dirty="0" smtClean="0"/>
              <a:t>of occurrences </a:t>
            </a:r>
          </a:p>
          <a:p>
            <a:endParaRPr lang="en-US" sz="2800" dirty="0"/>
          </a:p>
          <a:p>
            <a:r>
              <a:rPr lang="en-US" sz="2800" dirty="0"/>
              <a:t>The arch of this system can naturally use the pipe and filter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C8880-D218-441C-A041-C4DAAA7445F7}" type="slidenum">
              <a:rPr lang="en-US"/>
              <a:pPr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Example..</a:t>
            </a:r>
          </a:p>
        </p:txBody>
      </p:sp>
      <p:pic>
        <p:nvPicPr>
          <p:cNvPr id="108549" name="Picture 5" descr="Fig4-7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85612" y="3084505"/>
            <a:ext cx="7772775" cy="2090752"/>
          </a:xfr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BFBD4-7F3B-427C-AEE4-C89B65E16538}" type="slidenum">
              <a:rPr lang="en-US"/>
              <a:pPr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8229600" cy="1066800"/>
          </a:xfrm>
        </p:spPr>
        <p:txBody>
          <a:bodyPr/>
          <a:lstStyle/>
          <a:p>
            <a:r>
              <a:rPr lang="en-US" dirty="0" smtClean="0"/>
              <a:t>2. Shared-data </a:t>
            </a:r>
            <a:r>
              <a:rPr lang="en-US" dirty="0"/>
              <a:t>style</a:t>
            </a:r>
          </a:p>
        </p:txBody>
      </p:sp>
      <p:sp>
        <p:nvSpPr>
          <p:cNvPr id="11059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752600"/>
            <a:ext cx="8229600" cy="4724400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en-US" sz="2800" dirty="0"/>
              <a:t>Two component types </a:t>
            </a:r>
            <a:r>
              <a:rPr lang="en-US" sz="2800" b="1" dirty="0"/>
              <a:t>– data repository </a:t>
            </a:r>
            <a:r>
              <a:rPr lang="en-US" sz="2800" dirty="0"/>
              <a:t>and data </a:t>
            </a:r>
            <a:r>
              <a:rPr lang="en-US" sz="2800" b="1" dirty="0" smtClean="0"/>
              <a:t>accessors</a:t>
            </a:r>
            <a:endParaRPr lang="en-US" sz="2800" b="1" dirty="0"/>
          </a:p>
          <a:p>
            <a:pPr algn="just">
              <a:lnSpc>
                <a:spcPct val="90000"/>
              </a:lnSpc>
            </a:pPr>
            <a:r>
              <a:rPr lang="en-US" sz="2800" b="1" dirty="0"/>
              <a:t>Data repository </a:t>
            </a:r>
            <a:r>
              <a:rPr lang="en-US" sz="2800" dirty="0"/>
              <a:t>– provides reliable permanent </a:t>
            </a:r>
            <a:r>
              <a:rPr lang="en-US" sz="2800" dirty="0" smtClean="0"/>
              <a:t>storage</a:t>
            </a:r>
          </a:p>
          <a:p>
            <a:pPr algn="just">
              <a:lnSpc>
                <a:spcPct val="90000"/>
              </a:lnSpc>
            </a:pPr>
            <a:endParaRPr lang="en-US" sz="2800" dirty="0"/>
          </a:p>
          <a:p>
            <a:pPr algn="just">
              <a:lnSpc>
                <a:spcPct val="90000"/>
              </a:lnSpc>
            </a:pPr>
            <a:r>
              <a:rPr lang="en-US" sz="2800" b="1" dirty="0"/>
              <a:t>Data accessors </a:t>
            </a:r>
            <a:r>
              <a:rPr lang="en-US" sz="2800" dirty="0"/>
              <a:t>– access data in repositories, perform computations, and may also put the results </a:t>
            </a:r>
            <a:r>
              <a:rPr lang="en-US" sz="2800" dirty="0" smtClean="0"/>
              <a:t>back into the </a:t>
            </a:r>
            <a:r>
              <a:rPr lang="en-US" sz="2800" b="1" dirty="0" smtClean="0"/>
              <a:t>repository</a:t>
            </a:r>
            <a:endParaRPr lang="en-US" sz="2800" dirty="0"/>
          </a:p>
          <a:p>
            <a:pPr algn="just">
              <a:lnSpc>
                <a:spcPct val="90000"/>
              </a:lnSpc>
            </a:pPr>
            <a:r>
              <a:rPr lang="en-US" sz="2800" dirty="0"/>
              <a:t>Communication between data accessors is only through the repository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5E1C7-4DD5-458C-AF90-DA8D89E9DDC6}" type="slidenum">
              <a:rPr lang="en-US"/>
              <a:pPr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11264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 student registration system of a university</a:t>
            </a:r>
          </a:p>
          <a:p>
            <a:r>
              <a:rPr lang="en-US" sz="2800" dirty="0"/>
              <a:t>Repository contains all the data about students, courses, </a:t>
            </a:r>
            <a:r>
              <a:rPr lang="en-US" sz="2800" dirty="0" smtClean="0"/>
              <a:t>schedules, Course notes,…</a:t>
            </a:r>
            <a:endParaRPr lang="en-US" sz="2800" dirty="0"/>
          </a:p>
          <a:p>
            <a:r>
              <a:rPr lang="en-US" sz="2800" dirty="0"/>
              <a:t>Accessors like admin, approvals, registration</a:t>
            </a:r>
            <a:r>
              <a:rPr lang="en-US" sz="2800" dirty="0" smtClean="0"/>
              <a:t>, students </a:t>
            </a:r>
            <a:r>
              <a:rPr lang="en-US" sz="2800" dirty="0"/>
              <a:t>reports which perform operations on the data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FE69-055B-40A6-AAFB-6B7C2AA44DA8}" type="slidenum">
              <a:rPr lang="en-US"/>
              <a:pPr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Example…</a:t>
            </a:r>
          </a:p>
        </p:txBody>
      </p:sp>
      <p:pic>
        <p:nvPicPr>
          <p:cNvPr id="113669" name="Picture 5" descr="Fig4-8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839405" y="2072382"/>
            <a:ext cx="7465189" cy="4114998"/>
          </a:xfr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D71EE-3EC3-4948-B0AE-30784C0BC4DE}" type="slidenum">
              <a:rPr lang="en-US"/>
              <a:pPr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Example..</a:t>
            </a:r>
          </a:p>
        </p:txBody>
      </p:sp>
      <p:sp>
        <p:nvSpPr>
          <p:cNvPr id="11571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/>
              <a:t>Components do not directly communicate with each other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Easy to extend – if a scheduler is needed, it is added as a new </a:t>
            </a:r>
            <a:r>
              <a:rPr lang="en-US" sz="2800" dirty="0" err="1"/>
              <a:t>accessor</a:t>
            </a:r>
            <a:endParaRPr lang="en-US" sz="2800" dirty="0"/>
          </a:p>
          <a:p>
            <a:pPr lvl="1">
              <a:lnSpc>
                <a:spcPct val="90000"/>
              </a:lnSpc>
            </a:pPr>
            <a:r>
              <a:rPr lang="en-US" sz="2800" dirty="0"/>
              <a:t>No existing component needs to be changed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Only one connector style in this – read/write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97EF6-8C7C-40E7-AA58-CF29F797D465}" type="slidenum">
              <a:rPr lang="en-US"/>
              <a:pPr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09600"/>
            <a:ext cx="8229600" cy="990600"/>
          </a:xfrm>
        </p:spPr>
        <p:txBody>
          <a:bodyPr/>
          <a:lstStyle/>
          <a:p>
            <a:r>
              <a:rPr lang="en-US" dirty="0" smtClean="0"/>
              <a:t>3. Client-Server </a:t>
            </a:r>
            <a:r>
              <a:rPr lang="en-US" dirty="0"/>
              <a:t>Style</a:t>
            </a:r>
          </a:p>
        </p:txBody>
      </p:sp>
      <p:sp>
        <p:nvSpPr>
          <p:cNvPr id="11673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229600" cy="4876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/>
              <a:t>Two component types – </a:t>
            </a:r>
            <a:r>
              <a:rPr lang="en-US" sz="2800" b="1" dirty="0"/>
              <a:t>clients</a:t>
            </a:r>
            <a:r>
              <a:rPr lang="en-US" sz="2800" dirty="0"/>
              <a:t> and </a:t>
            </a:r>
            <a:r>
              <a:rPr lang="en-US" sz="2800" b="1" dirty="0"/>
              <a:t>servers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Clients can only communicate with the server, but not with other </a:t>
            </a:r>
            <a:r>
              <a:rPr lang="en-US" sz="2800" dirty="0" smtClean="0"/>
              <a:t>clients</a:t>
            </a:r>
          </a:p>
          <a:p>
            <a:pPr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r>
              <a:rPr lang="en-US" sz="2800" dirty="0"/>
              <a:t>Communication is initiated by a client which sends request and server </a:t>
            </a:r>
            <a:r>
              <a:rPr lang="en-US" sz="2800" dirty="0" smtClean="0"/>
              <a:t>responds</a:t>
            </a:r>
          </a:p>
          <a:p>
            <a:pPr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r>
              <a:rPr lang="en-US" sz="2800" dirty="0"/>
              <a:t>One connector type – </a:t>
            </a:r>
            <a:r>
              <a:rPr lang="en-US" sz="2800" b="1" dirty="0" smtClean="0"/>
              <a:t>request/reply</a:t>
            </a:r>
            <a:endParaRPr lang="en-US" sz="2800" b="1" dirty="0"/>
          </a:p>
          <a:p>
            <a:pPr>
              <a:lnSpc>
                <a:spcPct val="90000"/>
              </a:lnSpc>
            </a:pPr>
            <a:r>
              <a:rPr lang="en-US" sz="2800" dirty="0"/>
              <a:t>Often the client and the servers reside on different machines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37D4F-73C0-4428-9AF1-853A0D0A2472}" type="slidenum">
              <a:rPr lang="en-US"/>
              <a:pPr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Client-server style…</a:t>
            </a:r>
          </a:p>
        </p:txBody>
      </p:sp>
      <p:sp>
        <p:nvSpPr>
          <p:cNvPr id="1177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A general form of this style is the </a:t>
            </a:r>
            <a:r>
              <a:rPr lang="en-US" sz="2800" b="1" dirty="0"/>
              <a:t>n-tier</a:t>
            </a:r>
            <a:r>
              <a:rPr lang="en-US" sz="2800" dirty="0"/>
              <a:t> structure</a:t>
            </a:r>
          </a:p>
          <a:p>
            <a:r>
              <a:rPr lang="en-US" sz="2800" dirty="0"/>
              <a:t>A 3-tier structure is commonly used by many application and web systems</a:t>
            </a:r>
          </a:p>
          <a:p>
            <a:pPr lvl="1"/>
            <a:r>
              <a:rPr lang="en-US" sz="2800" dirty="0"/>
              <a:t>Client-tier contains the clients</a:t>
            </a:r>
          </a:p>
          <a:p>
            <a:pPr lvl="1"/>
            <a:r>
              <a:rPr lang="en-US" sz="2800" dirty="0"/>
              <a:t>Middle-tier contains the business rules</a:t>
            </a:r>
          </a:p>
          <a:p>
            <a:pPr lvl="1"/>
            <a:r>
              <a:rPr lang="en-US" sz="2800" dirty="0"/>
              <a:t>Database tier has the information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AA65E-8E7E-4411-BE9E-86CAC7F19924}" type="slidenum">
              <a:rPr lang="en-US"/>
              <a:pPr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Major components of this architecture are: </a:t>
            </a:r>
          </a:p>
          <a:p>
            <a:pPr>
              <a:buNone/>
            </a:pPr>
            <a:r>
              <a:rPr lang="en-US" sz="2800" dirty="0" smtClean="0"/>
              <a:t>1. Set of servers which provide specific services such as printing, data management, etc. </a:t>
            </a:r>
          </a:p>
          <a:p>
            <a:pPr>
              <a:buNone/>
            </a:pPr>
            <a:r>
              <a:rPr lang="en-US" sz="2800" dirty="0" smtClean="0"/>
              <a:t>2. Set of clients which call on these services. </a:t>
            </a:r>
          </a:p>
          <a:p>
            <a:pPr>
              <a:buNone/>
            </a:pPr>
            <a:r>
              <a:rPr lang="en-US" sz="2800" dirty="0" smtClean="0"/>
              <a:t>3. Network which allows clients to access servers. </a:t>
            </a:r>
          </a:p>
          <a:p>
            <a:endParaRPr lang="en-US" dirty="0" smtClean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791200"/>
          </a:xfrm>
        </p:spPr>
        <p:txBody>
          <a:bodyPr>
            <a:normAutofit/>
          </a:bodyPr>
          <a:lstStyle/>
          <a:p>
            <a:r>
              <a:rPr lang="en-US" b="1" dirty="0" smtClean="0"/>
              <a:t>Advantages </a:t>
            </a:r>
          </a:p>
          <a:p>
            <a:pPr>
              <a:buNone/>
            </a:pPr>
            <a:endParaRPr lang="en-US" b="1" dirty="0" smtClean="0"/>
          </a:p>
          <a:p>
            <a:pPr>
              <a:buNone/>
            </a:pPr>
            <a:r>
              <a:rPr lang="en-US" sz="2800" dirty="0" smtClean="0"/>
              <a:t>–Makes effective use of networked systems. May require cheaper hardware; </a:t>
            </a:r>
          </a:p>
          <a:p>
            <a:pPr>
              <a:buNone/>
            </a:pPr>
            <a:r>
              <a:rPr lang="en-US" sz="2800" dirty="0" smtClean="0"/>
              <a:t>–Separation and independence: Easy to add new servers or upgrade existing servers. </a:t>
            </a:r>
          </a:p>
          <a:p>
            <a:pPr>
              <a:buNone/>
            </a:pPr>
            <a:r>
              <a:rPr lang="en-US" sz="2800" dirty="0" smtClean="0"/>
              <a:t>–Clients may have to know the names of available servers and the services they provide; but the servers do not need to know the identity of clients or how many clients access their services. </a:t>
            </a:r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Disadvantages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800" dirty="0" smtClean="0"/>
              <a:t>- Redundant management in each server; </a:t>
            </a:r>
          </a:p>
          <a:p>
            <a:pPr>
              <a:buNone/>
            </a:pPr>
            <a:r>
              <a:rPr lang="en-US" sz="2800" dirty="0" smtClean="0"/>
              <a:t>- No central register of names and services - it may be hard to find out what servers and services are available. </a:t>
            </a:r>
          </a:p>
          <a:p>
            <a:endParaRPr lang="en-US" dirty="0"/>
          </a:p>
        </p:txBody>
      </p: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972312"/>
          </a:xfrm>
        </p:spPr>
        <p:txBody>
          <a:bodyPr/>
          <a:lstStyle/>
          <a:p>
            <a:r>
              <a:rPr lang="en-US" dirty="0" smtClean="0"/>
              <a:t>N-tier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76400"/>
            <a:ext cx="8382000" cy="49530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 smtClean="0"/>
              <a:t>In a two-tier architecture, a client talks directly to a server, with no intervening server.  </a:t>
            </a:r>
          </a:p>
          <a:p>
            <a:pPr>
              <a:lnSpc>
                <a:spcPct val="90000"/>
              </a:lnSpc>
            </a:pPr>
            <a:r>
              <a:rPr lang="en-US" sz="2800" dirty="0" smtClean="0"/>
              <a:t>This type of architecture is used in small environments with less than </a:t>
            </a:r>
            <a:r>
              <a:rPr lang="en-US" sz="2800" b="1" dirty="0" smtClean="0"/>
              <a:t>50 users</a:t>
            </a:r>
            <a:r>
              <a:rPr lang="en-US" sz="2800" dirty="0" smtClean="0"/>
              <a:t>.  </a:t>
            </a:r>
          </a:p>
          <a:p>
            <a:pPr>
              <a:lnSpc>
                <a:spcPct val="90000"/>
              </a:lnSpc>
            </a:pPr>
            <a:r>
              <a:rPr lang="en-US" sz="2800" dirty="0" smtClean="0"/>
              <a:t>To scale up to hundreds or thousands of users, it is necessary to move to a 3-tier architecture.</a:t>
            </a:r>
          </a:p>
          <a:p>
            <a:pPr>
              <a:lnSpc>
                <a:spcPct val="90000"/>
              </a:lnSpc>
            </a:pPr>
            <a:endParaRPr lang="en-US" sz="2800" dirty="0" smtClean="0"/>
          </a:p>
          <a:p>
            <a:pPr>
              <a:lnSpc>
                <a:spcPct val="90000"/>
              </a:lnSpc>
            </a:pPr>
            <a:r>
              <a:rPr lang="en-US" sz="2800" dirty="0" smtClean="0"/>
              <a:t>Three-tier architecture introduces a server between the client and the server. 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04088"/>
            <a:ext cx="8229600" cy="896112"/>
          </a:xfrm>
        </p:spPr>
        <p:txBody>
          <a:bodyPr/>
          <a:lstStyle/>
          <a:p>
            <a:r>
              <a:rPr lang="en-US" dirty="0"/>
              <a:t>Views…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828800"/>
            <a:ext cx="8229600" cy="4495800"/>
          </a:xfrm>
        </p:spPr>
        <p:txBody>
          <a:bodyPr/>
          <a:lstStyle/>
          <a:p>
            <a:pPr>
              <a:buNone/>
            </a:pPr>
            <a:r>
              <a:rPr lang="en-US" sz="2800" b="1" dirty="0" smtClean="0"/>
              <a:t>3. Allocation </a:t>
            </a:r>
            <a:r>
              <a:rPr lang="en-US" sz="2800" b="1" dirty="0"/>
              <a:t>view</a:t>
            </a:r>
          </a:p>
          <a:p>
            <a:pPr lvl="1"/>
            <a:r>
              <a:rPr lang="en-US" sz="2800" dirty="0"/>
              <a:t>Focuses on how </a:t>
            </a:r>
            <a:r>
              <a:rPr lang="en-US" sz="2800" dirty="0" smtClean="0"/>
              <a:t>SW </a:t>
            </a:r>
            <a:r>
              <a:rPr lang="en-US" sz="2800" dirty="0"/>
              <a:t>units are allocated to resources like </a:t>
            </a:r>
            <a:r>
              <a:rPr lang="en-US" sz="2800" dirty="0" smtClean="0"/>
              <a:t>hardware, </a:t>
            </a:r>
            <a:r>
              <a:rPr lang="en-US" sz="2800" dirty="0"/>
              <a:t>file system, people</a:t>
            </a:r>
          </a:p>
          <a:p>
            <a:pPr lvl="1">
              <a:buNone/>
            </a:pPr>
            <a:r>
              <a:rPr lang="en-US" sz="2800" dirty="0"/>
              <a:t>I.e. specifies relationship between </a:t>
            </a:r>
            <a:r>
              <a:rPr lang="en-US" sz="2800" dirty="0" smtClean="0"/>
              <a:t>SW </a:t>
            </a:r>
            <a:r>
              <a:rPr lang="en-US" sz="2800" dirty="0"/>
              <a:t>elements and execution units in the </a:t>
            </a:r>
            <a:r>
              <a:rPr lang="en-US" sz="2800" dirty="0" smtClean="0"/>
              <a:t>environment</a:t>
            </a:r>
            <a:endParaRPr lang="en-US" sz="2800" dirty="0"/>
          </a:p>
          <a:p>
            <a:pPr lvl="1"/>
            <a:r>
              <a:rPr lang="en-US" sz="2800" dirty="0"/>
              <a:t>Expose structural properties like which process runs on which processor, which file resides where, …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35AAD-11C4-442F-AF09-F13E0D262AA0}" type="slidenum">
              <a:rPr lang="en-US"/>
              <a:pPr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04088"/>
            <a:ext cx="8229600" cy="972312"/>
          </a:xfrm>
        </p:spPr>
        <p:txBody>
          <a:bodyPr/>
          <a:lstStyle/>
          <a:p>
            <a:r>
              <a:rPr lang="en-US" dirty="0"/>
              <a:t>Some other styles</a:t>
            </a:r>
          </a:p>
        </p:txBody>
      </p:sp>
      <p:sp>
        <p:nvSpPr>
          <p:cNvPr id="11878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752600"/>
            <a:ext cx="8229600" cy="4572000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sz="2800" b="1" dirty="0"/>
              <a:t>Publish-subscribe style</a:t>
            </a:r>
          </a:p>
          <a:p>
            <a:pPr lvl="1">
              <a:lnSpc>
                <a:spcPct val="80000"/>
              </a:lnSpc>
            </a:pPr>
            <a:r>
              <a:rPr lang="en-US" sz="2800" dirty="0"/>
              <a:t>Some components generate events, and others subscribe to them</a:t>
            </a:r>
          </a:p>
          <a:p>
            <a:pPr lvl="1">
              <a:lnSpc>
                <a:spcPct val="80000"/>
              </a:lnSpc>
            </a:pPr>
            <a:r>
              <a:rPr lang="en-US" sz="2800" dirty="0"/>
              <a:t>On an event, those component that subscribe to it are </a:t>
            </a:r>
            <a:r>
              <a:rPr lang="en-US" sz="2800" dirty="0" smtClean="0"/>
              <a:t>invoked</a:t>
            </a:r>
          </a:p>
          <a:p>
            <a:pPr lvl="1">
              <a:lnSpc>
                <a:spcPct val="80000"/>
              </a:lnSpc>
              <a:buNone/>
            </a:pPr>
            <a:endParaRPr lang="en-US" sz="2800" dirty="0"/>
          </a:p>
          <a:p>
            <a:pPr>
              <a:lnSpc>
                <a:spcPct val="80000"/>
              </a:lnSpc>
            </a:pPr>
            <a:r>
              <a:rPr lang="en-US" sz="2800" b="1" dirty="0"/>
              <a:t>Peer-to-peer style</a:t>
            </a:r>
          </a:p>
          <a:p>
            <a:pPr lvl="1">
              <a:lnSpc>
                <a:spcPct val="80000"/>
              </a:lnSpc>
            </a:pPr>
            <a:r>
              <a:rPr lang="en-US" sz="2800" dirty="0" smtClean="0"/>
              <a:t>components </a:t>
            </a:r>
            <a:r>
              <a:rPr lang="en-US" sz="2800" dirty="0"/>
              <a:t>use services from each other through </a:t>
            </a:r>
            <a:r>
              <a:rPr lang="en-US" sz="2800" dirty="0" smtClean="0"/>
              <a:t>methods</a:t>
            </a:r>
            <a:endParaRPr lang="en-US" sz="2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0F8D4-CC69-45BE-8220-DA0CBEAD467E}" type="slidenum">
              <a:rPr lang="en-US"/>
              <a:pPr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32656"/>
            <a:ext cx="8229600" cy="1419944"/>
          </a:xfrm>
        </p:spPr>
        <p:txBody>
          <a:bodyPr>
            <a:normAutofit fontScale="90000"/>
          </a:bodyPr>
          <a:lstStyle/>
          <a:p>
            <a:r>
              <a:rPr lang="en-US" sz="4800" b="1" dirty="0" smtClean="0"/>
              <a:t>Role of Software Architecture</a:t>
            </a:r>
            <a:endParaRPr lang="en-US" sz="4800" dirty="0"/>
          </a:p>
        </p:txBody>
      </p:sp>
      <p:sp>
        <p:nvSpPr>
          <p:cNvPr id="71683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828801"/>
            <a:ext cx="7696200" cy="45720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b="1" dirty="0"/>
              <a:t>Understanding and communication</a:t>
            </a:r>
          </a:p>
          <a:p>
            <a:pPr lvl="1">
              <a:lnSpc>
                <a:spcPct val="90000"/>
              </a:lnSpc>
            </a:pPr>
            <a:r>
              <a:rPr lang="en-US" sz="2800" dirty="0"/>
              <a:t>By showing a system at a high level and hiding complexity of parts, </a:t>
            </a:r>
            <a:r>
              <a:rPr lang="en-US" sz="2800" dirty="0" smtClean="0"/>
              <a:t>architecture description </a:t>
            </a:r>
            <a:r>
              <a:rPr lang="en-US" sz="2800" dirty="0"/>
              <a:t>facilitates communication</a:t>
            </a:r>
          </a:p>
          <a:p>
            <a:pPr lvl="1">
              <a:lnSpc>
                <a:spcPct val="90000"/>
              </a:lnSpc>
            </a:pPr>
            <a:r>
              <a:rPr lang="en-US" sz="2800" dirty="0"/>
              <a:t>To get a common understanding between the </a:t>
            </a:r>
            <a:r>
              <a:rPr lang="en-US" sz="2800" dirty="0" smtClean="0"/>
              <a:t>different </a:t>
            </a:r>
            <a:r>
              <a:rPr lang="en-US" sz="2800" dirty="0"/>
              <a:t>stakeholders (users, clients, architect, designer,…)</a:t>
            </a:r>
          </a:p>
          <a:p>
            <a:pPr lvl="1">
              <a:lnSpc>
                <a:spcPct val="90000"/>
              </a:lnSpc>
            </a:pPr>
            <a:r>
              <a:rPr lang="en-US" sz="2800" dirty="0"/>
              <a:t>For negotiation and agreement</a:t>
            </a:r>
          </a:p>
          <a:p>
            <a:pPr lvl="1">
              <a:lnSpc>
                <a:spcPct val="90000"/>
              </a:lnSpc>
            </a:pPr>
            <a:r>
              <a:rPr lang="en-US" sz="2800" dirty="0" smtClean="0"/>
              <a:t>Architecture description </a:t>
            </a:r>
            <a:r>
              <a:rPr lang="en-US" sz="2800" dirty="0"/>
              <a:t>can also aid in </a:t>
            </a:r>
            <a:r>
              <a:rPr lang="en-US" sz="2800" dirty="0" smtClean="0"/>
              <a:t>understanding </a:t>
            </a:r>
            <a:r>
              <a:rPr lang="en-US" sz="2800" dirty="0"/>
              <a:t>of existing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AC66A-8C56-491F-9B73-AEC2780B075E}" type="slidenum">
              <a:rPr lang="en-US"/>
              <a:pPr/>
              <a:t>46</a:t>
            </a:fld>
            <a:endParaRPr lang="en-US"/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04088"/>
            <a:ext cx="8229600" cy="743712"/>
          </a:xfrm>
        </p:spPr>
        <p:txBody>
          <a:bodyPr>
            <a:normAutofit fontScale="90000"/>
          </a:bodyPr>
          <a:lstStyle/>
          <a:p>
            <a:r>
              <a:rPr lang="en-US" sz="5400" b="1" dirty="0" smtClean="0"/>
              <a:t>Role of Software Architecture</a:t>
            </a:r>
            <a:endParaRPr lang="en-US" dirty="0"/>
          </a:p>
        </p:txBody>
      </p:sp>
      <p:sp>
        <p:nvSpPr>
          <p:cNvPr id="7270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844824"/>
            <a:ext cx="8229600" cy="4479776"/>
          </a:xfrm>
        </p:spPr>
        <p:txBody>
          <a:bodyPr>
            <a:normAutofit/>
          </a:bodyPr>
          <a:lstStyle/>
          <a:p>
            <a:r>
              <a:rPr lang="en-US" sz="2800" b="1" dirty="0"/>
              <a:t>Reuse</a:t>
            </a:r>
          </a:p>
          <a:p>
            <a:pPr lvl="1"/>
            <a:r>
              <a:rPr lang="en-US" sz="2800" dirty="0"/>
              <a:t>A method of reuse is to compose systems from parts and reuse existing parts</a:t>
            </a:r>
          </a:p>
          <a:p>
            <a:pPr lvl="1"/>
            <a:r>
              <a:rPr lang="en-US" sz="2800" dirty="0" smtClean="0"/>
              <a:t>To </a:t>
            </a:r>
            <a:r>
              <a:rPr lang="en-US" sz="2800" dirty="0"/>
              <a:t>reuse existing components, arch must be chosen such that these components fit together with other components</a:t>
            </a:r>
          </a:p>
          <a:p>
            <a:pPr lvl="1"/>
            <a:r>
              <a:rPr lang="en-US" sz="2800" dirty="0"/>
              <a:t>Hence, decision about using existing components is made at arch design time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2FFF3-BCF0-4A78-8DB6-7BDA8A433186}" type="slidenum">
              <a:rPr lang="en-US"/>
              <a:pPr/>
              <a:t>47</a:t>
            </a:fld>
            <a:endParaRPr lang="en-US"/>
          </a:p>
        </p:txBody>
      </p: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32656"/>
            <a:ext cx="8229600" cy="1008112"/>
          </a:xfrm>
        </p:spPr>
        <p:txBody>
          <a:bodyPr>
            <a:normAutofit fontScale="90000"/>
          </a:bodyPr>
          <a:lstStyle/>
          <a:p>
            <a:r>
              <a:rPr lang="en-US" sz="5400" b="1" dirty="0" smtClean="0"/>
              <a:t>Role of Software Architecture</a:t>
            </a:r>
            <a:endParaRPr lang="en-US" dirty="0"/>
          </a:p>
        </p:txBody>
      </p:sp>
      <p:sp>
        <p:nvSpPr>
          <p:cNvPr id="7373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752600"/>
            <a:ext cx="8229600" cy="4648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b="1" dirty="0"/>
              <a:t>Construction and evolution</a:t>
            </a:r>
          </a:p>
          <a:p>
            <a:pPr lvl="1">
              <a:lnSpc>
                <a:spcPct val="90000"/>
              </a:lnSpc>
            </a:pPr>
            <a:r>
              <a:rPr lang="en-US" sz="2800" dirty="0"/>
              <a:t>Some structures in arch </a:t>
            </a:r>
            <a:r>
              <a:rPr lang="en-US" sz="2800" dirty="0" smtClean="0"/>
              <a:t>description </a:t>
            </a:r>
            <a:r>
              <a:rPr lang="en-US" sz="2800" dirty="0"/>
              <a:t>will be used to guide system development</a:t>
            </a:r>
          </a:p>
          <a:p>
            <a:pPr lvl="1">
              <a:lnSpc>
                <a:spcPct val="90000"/>
              </a:lnSpc>
            </a:pPr>
            <a:r>
              <a:rPr lang="en-US" sz="2800" dirty="0" smtClean="0"/>
              <a:t>In evolution</a:t>
            </a:r>
            <a:r>
              <a:rPr lang="en-US" sz="2800" dirty="0"/>
              <a:t>, </a:t>
            </a:r>
            <a:r>
              <a:rPr lang="en-US" sz="2800" dirty="0" smtClean="0"/>
              <a:t>architecture </a:t>
            </a:r>
            <a:r>
              <a:rPr lang="en-US" sz="2800" dirty="0"/>
              <a:t>helps decide what needs to be changed to incorporate the new </a:t>
            </a:r>
            <a:r>
              <a:rPr lang="en-US" sz="2800" dirty="0" smtClean="0"/>
              <a:t>changes.</a:t>
            </a:r>
            <a:endParaRPr lang="en-US" sz="2800" dirty="0"/>
          </a:p>
          <a:p>
            <a:pPr lvl="1">
              <a:lnSpc>
                <a:spcPct val="90000"/>
              </a:lnSpc>
            </a:pPr>
            <a:r>
              <a:rPr lang="en-US" sz="2800" dirty="0" smtClean="0"/>
              <a:t>Architecture can </a:t>
            </a:r>
            <a:r>
              <a:rPr lang="en-US" sz="2800" dirty="0"/>
              <a:t>help decide what is the impact of changes to existing components on others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7A423-1E14-484C-8317-B287FB3893D7}" type="slidenum">
              <a:rPr lang="en-US"/>
              <a:pPr/>
              <a:t>48</a:t>
            </a:fld>
            <a:endParaRPr lang="en-US"/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381000"/>
            <a:ext cx="7467600" cy="6324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Documenting…</a:t>
            </a:r>
          </a:p>
        </p:txBody>
      </p:sp>
      <p:sp>
        <p:nvSpPr>
          <p:cNvPr id="13005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/>
              <a:t>An </a:t>
            </a:r>
            <a:r>
              <a:rPr lang="en-US" sz="2800" dirty="0" smtClean="0"/>
              <a:t>architecture </a:t>
            </a:r>
            <a:r>
              <a:rPr lang="en-US" sz="2800" dirty="0"/>
              <a:t>document should contain</a:t>
            </a:r>
          </a:p>
          <a:p>
            <a:pPr lvl="1">
              <a:lnSpc>
                <a:spcPct val="90000"/>
              </a:lnSpc>
            </a:pPr>
            <a:r>
              <a:rPr lang="en-US" sz="2800" dirty="0"/>
              <a:t>System and architecture context</a:t>
            </a:r>
          </a:p>
          <a:p>
            <a:pPr lvl="1">
              <a:lnSpc>
                <a:spcPct val="90000"/>
              </a:lnSpc>
            </a:pPr>
            <a:r>
              <a:rPr lang="en-US" sz="2800" dirty="0"/>
              <a:t>Description of architecture views</a:t>
            </a:r>
          </a:p>
          <a:p>
            <a:pPr>
              <a:lnSpc>
                <a:spcPct val="90000"/>
              </a:lnSpc>
            </a:pPr>
            <a:r>
              <a:rPr lang="en-US" sz="2800" dirty="0" smtClean="0"/>
              <a:t>A </a:t>
            </a:r>
            <a:r>
              <a:rPr lang="en-US" sz="2800" dirty="0"/>
              <a:t>context diagram that establishes the </a:t>
            </a:r>
            <a:r>
              <a:rPr lang="en-US" sz="2800" dirty="0" smtClean="0"/>
              <a:t>system </a:t>
            </a:r>
            <a:r>
              <a:rPr lang="en-US" sz="2800" dirty="0"/>
              <a:t>scope, key actors, and data sources/sinks can provide the overall context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A view description will generally have a pictorial </a:t>
            </a:r>
            <a:r>
              <a:rPr lang="en-US" sz="2800" dirty="0" smtClean="0"/>
              <a:t>representation.</a:t>
            </a:r>
            <a:endParaRPr lang="en-US" sz="2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33433-1AF2-4F27-8BB1-AB4613426189}" type="slidenum">
              <a:rPr lang="en-US"/>
              <a:pPr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</a:t>
            </a:r>
          </a:p>
        </p:txBody>
      </p:sp>
      <p:sp>
        <p:nvSpPr>
          <p:cNvPr id="1484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Arch of a </a:t>
            </a:r>
            <a:r>
              <a:rPr lang="en-US" sz="2800" dirty="0" smtClean="0"/>
              <a:t>s/w </a:t>
            </a:r>
            <a:r>
              <a:rPr lang="en-US" sz="2800" dirty="0"/>
              <a:t>system is its structures comprising of elements, their external properties, and relationships</a:t>
            </a:r>
          </a:p>
          <a:p>
            <a:r>
              <a:rPr lang="en-US" sz="2800" dirty="0"/>
              <a:t>Arch is a high level design</a:t>
            </a:r>
          </a:p>
          <a:p>
            <a:r>
              <a:rPr lang="en-US" sz="2800" dirty="0"/>
              <a:t>Three main view types – module, component and connector, and allocation</a:t>
            </a:r>
          </a:p>
          <a:p>
            <a:r>
              <a:rPr lang="en-US" sz="2800" dirty="0"/>
              <a:t>Component and connector (C&amp;C) view is most commonly used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49C05-C2AC-4396-8640-98E2B55DDCA9}" type="slidenum">
              <a:rPr lang="en-US"/>
              <a:pPr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Summary…</a:t>
            </a:r>
          </a:p>
        </p:txBody>
      </p:sp>
      <p:sp>
        <p:nvSpPr>
          <p:cNvPr id="15360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/>
              <a:t>There are some C&amp;C styles that are commonly used, e.g. pipe-and-filter, shared data, client server,....</a:t>
            </a:r>
          </a:p>
          <a:p>
            <a:pPr>
              <a:lnSpc>
                <a:spcPct val="90000"/>
              </a:lnSpc>
            </a:pPr>
            <a:endParaRPr lang="en-US" sz="2800" dirty="0" smtClean="0"/>
          </a:p>
          <a:p>
            <a:pPr>
              <a:lnSpc>
                <a:spcPct val="90000"/>
              </a:lnSpc>
            </a:pPr>
            <a:r>
              <a:rPr lang="en-US" sz="2800" dirty="0" smtClean="0"/>
              <a:t>An architecture </a:t>
            </a:r>
            <a:r>
              <a:rPr lang="en-US" sz="2800" dirty="0"/>
              <a:t>description should document the different views and their relationship – views can be combined</a:t>
            </a:r>
          </a:p>
          <a:p>
            <a:pPr>
              <a:lnSpc>
                <a:spcPct val="90000"/>
              </a:lnSpc>
            </a:pPr>
            <a:endParaRPr lang="en-US" sz="2800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473E6-ED8F-4942-8FAC-6ABDC76D3E7C}" type="slidenum">
              <a:rPr lang="en-US"/>
              <a:pPr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en-US" sz="3200" dirty="0" smtClean="0"/>
              <a:t>End of chapter 4.</a:t>
            </a:r>
          </a:p>
          <a:p>
            <a:pPr algn="ctr">
              <a:buNone/>
            </a:pPr>
            <a:r>
              <a:rPr lang="en-US" sz="3200" dirty="0" smtClean="0"/>
              <a:t>Thank you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seño predeterminado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8462</TotalTime>
  <Words>1969</Words>
  <Application>Microsoft Office PowerPoint</Application>
  <PresentationFormat>On-screen Show (4:3)</PresentationFormat>
  <Paragraphs>283</Paragraphs>
  <Slides>53</Slides>
  <Notes>4</Notes>
  <HiddenSlides>5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4" baseType="lpstr">
      <vt:lpstr>Diseño predeterminado</vt:lpstr>
      <vt:lpstr>SOFTWARE ENGINEERING</vt:lpstr>
      <vt:lpstr>CHAPTER 4: SOFTWARE ARCHITECTURE </vt:lpstr>
      <vt:lpstr>Architecting a dog house </vt:lpstr>
      <vt:lpstr>Architecting a house</vt:lpstr>
      <vt:lpstr>Architecting a high rise</vt:lpstr>
      <vt:lpstr>The Need of Architecture The Winchester “Mystery” House</vt:lpstr>
      <vt:lpstr>SOFTWARE ARCHITECTURE</vt:lpstr>
      <vt:lpstr>PowerPoint Presentation</vt:lpstr>
      <vt:lpstr>PowerPoint Presentation</vt:lpstr>
      <vt:lpstr>PowerPoint Presentation</vt:lpstr>
      <vt:lpstr>PowerPoint Presentation</vt:lpstr>
      <vt:lpstr>Software architecture</vt:lpstr>
      <vt:lpstr>Architectural Views</vt:lpstr>
      <vt:lpstr>Views…</vt:lpstr>
      <vt:lpstr>Views…</vt:lpstr>
      <vt:lpstr>2. Component and Connector View</vt:lpstr>
      <vt:lpstr>Components</vt:lpstr>
      <vt:lpstr>Component and Connector (C&amp;C) </vt:lpstr>
      <vt:lpstr>Connectors</vt:lpstr>
      <vt:lpstr>Connectors…</vt:lpstr>
      <vt:lpstr>An Example</vt:lpstr>
      <vt:lpstr>Example…</vt:lpstr>
      <vt:lpstr>Extension 1</vt:lpstr>
      <vt:lpstr>Extension 1…</vt:lpstr>
      <vt:lpstr>Extension 2</vt:lpstr>
      <vt:lpstr>Extension 2…</vt:lpstr>
      <vt:lpstr>Example…</vt:lpstr>
      <vt:lpstr>Architectural Styles for C&amp;C View</vt:lpstr>
      <vt:lpstr>PowerPoint Presentation</vt:lpstr>
      <vt:lpstr>1. Pipe and filter</vt:lpstr>
      <vt:lpstr>Pipe and Filter…</vt:lpstr>
      <vt:lpstr>Example</vt:lpstr>
      <vt:lpstr>Example..</vt:lpstr>
      <vt:lpstr>2. Shared-data style</vt:lpstr>
      <vt:lpstr>Example</vt:lpstr>
      <vt:lpstr>Example…</vt:lpstr>
      <vt:lpstr>Example..</vt:lpstr>
      <vt:lpstr>3. Client-Server Style</vt:lpstr>
      <vt:lpstr>Client-server style…</vt:lpstr>
      <vt:lpstr>PowerPoint Presentation</vt:lpstr>
      <vt:lpstr>PowerPoint Presentation</vt:lpstr>
      <vt:lpstr>Disadvantages</vt:lpstr>
      <vt:lpstr>N-tier architecture</vt:lpstr>
      <vt:lpstr>Views…</vt:lpstr>
      <vt:lpstr>Some other styles</vt:lpstr>
      <vt:lpstr>Role of Software Architecture</vt:lpstr>
      <vt:lpstr>Role of Software Architecture</vt:lpstr>
      <vt:lpstr>Role of Software Architecture</vt:lpstr>
      <vt:lpstr>PowerPoint Presentation</vt:lpstr>
      <vt:lpstr>Documenting…</vt:lpstr>
      <vt:lpstr>Summary</vt:lpstr>
      <vt:lpstr>Summary…</vt:lpstr>
      <vt:lpstr>PowerPoint Presentation</vt:lpstr>
    </vt:vector>
  </TitlesOfParts>
  <Company>Toshiba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Mariajose</dc:creator>
  <cp:lastModifiedBy>james</cp:lastModifiedBy>
  <cp:revision>830</cp:revision>
  <dcterms:created xsi:type="dcterms:W3CDTF">2010-05-23T14:28:12Z</dcterms:created>
  <dcterms:modified xsi:type="dcterms:W3CDTF">2020-11-27T06:03:59Z</dcterms:modified>
</cp:coreProperties>
</file>