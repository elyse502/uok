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8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0" r:id="rId60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C16"/>
    <a:srgbClr val="0C788E"/>
    <a:srgbClr val="006666"/>
    <a:srgbClr val="54381C"/>
    <a:srgbClr val="A50021"/>
    <a:srgbClr val="FFFFA3"/>
    <a:srgbClr val="E6E6C4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23" autoAdjust="0"/>
    <p:restoredTop sz="94652" autoAdjust="0"/>
  </p:normalViewPr>
  <p:slideViewPr>
    <p:cSldViewPr>
      <p:cViewPr>
        <p:scale>
          <a:sx n="77" d="100"/>
          <a:sy n="77" d="100"/>
        </p:scale>
        <p:origin x="-110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F33BD-B244-498B-88D7-7A792545B161}" type="datetimeFigureOut">
              <a:rPr lang="en-US" smtClean="0"/>
              <a:pPr/>
              <a:t>6/3/2022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6B985-429F-4B67-88B2-63EA6580ED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5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2F7D3E-CE1F-45E0-A901-E5D45EF3F2E5}" type="slidenum">
              <a:rPr lang="en-US"/>
              <a:pPr/>
              <a:t>3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CE58A7-B95D-4C4B-A36D-2856578B5FC8}" type="slidenum">
              <a:rPr lang="en-US"/>
              <a:pPr/>
              <a:t>4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EACFB1-AA90-48CC-9297-6FB81EFD1CED}" type="slidenum">
              <a:rPr lang="en-US"/>
              <a:pPr/>
              <a:t>6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D56E39-3B5C-47B5-A6DD-C7FC656FCE63}" type="slidenum">
              <a:rPr lang="en-US"/>
              <a:pPr/>
              <a:t>8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0D61B0-6FE4-4C8F-BBA2-6B8138BD04FF}" type="slidenum">
              <a:rPr lang="en-US"/>
              <a:pPr/>
              <a:t>9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F0A1CD-F353-4816-939E-39B5B81B2CBB}" type="slidenum">
              <a:rPr lang="en-US"/>
              <a:pPr/>
              <a:t>10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1AE874-25CE-492D-BF43-E4BBE13641B7}" type="slidenum">
              <a:rPr lang="en-US"/>
              <a:pPr/>
              <a:t>11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F81D77-D9A3-4E6C-8A7D-AA7CF44BB787}" type="slidenum">
              <a:rPr lang="en-US"/>
              <a:pPr/>
              <a:t>12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C6162F-1BB3-4CA5-9374-5BD73367F5D4}" type="slidenum">
              <a:rPr lang="en-US"/>
              <a:pPr/>
              <a:t>20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39300D-8D98-467E-AA14-0AE89DABDD54}" type="slidenum">
              <a:rPr lang="en-US"/>
              <a:pPr/>
              <a:t>21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CE4B53-2323-4074-92F6-1276FB3B3A84}" type="slidenum">
              <a:rPr lang="en-US"/>
              <a:pPr/>
              <a:t>22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272593-A04D-48DC-A119-EF3919A666CC}" type="slidenum">
              <a:rPr lang="en-US"/>
              <a:pPr/>
              <a:t>23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E262EE-A4BC-429E-BEFB-9688C23D1070}" type="slidenum">
              <a:rPr lang="en-US"/>
              <a:pPr/>
              <a:t>24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45A612-1A25-4E3C-BF0B-C05093BF35D6}" type="slidenum">
              <a:rPr lang="en-US"/>
              <a:pPr/>
              <a:t>27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57F9D8-F45A-4344-988F-28E76A2155A3}" type="slidenum">
              <a:rPr lang="en-US"/>
              <a:pPr/>
              <a:t>28</a:t>
            </a:fld>
            <a:endParaRPr lang="en-US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Version manager, 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D5274B-C468-46E5-A7AB-43E2B7084CB7}" type="slidenum">
              <a:rPr lang="en-US"/>
              <a:pPr/>
              <a:t>32</a:t>
            </a:fld>
            <a:endParaRPr lang="en-U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977513-2FC1-4BD2-9540-96FB5148C85D}" type="slidenum">
              <a:rPr lang="en-US"/>
              <a:pPr/>
              <a:t>38</a:t>
            </a:fld>
            <a:endParaRPr lang="en-US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0B3A05-B66E-4690-A142-283D66B4C6CC}" type="slidenum">
              <a:rPr lang="en-US"/>
              <a:pPr/>
              <a:t>39</a:t>
            </a:fld>
            <a:endParaRPr lang="en-US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F9F4DC-2A70-4ADC-B019-3E294C06DE1F}" type="slidenum">
              <a:rPr lang="en-US"/>
              <a:pPr/>
              <a:t>40</a:t>
            </a:fld>
            <a:endParaRPr lang="en-US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Black</a:t>
            </a:r>
            <a:r>
              <a:rPr lang="en-US" baseline="0" dirty="0" smtClean="0"/>
              <a:t> box testing</a:t>
            </a:r>
          </a:p>
          <a:p>
            <a:r>
              <a:rPr lang="en-US" baseline="0" dirty="0" smtClean="0"/>
              <a:t>Release testing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197DBB-DF30-4420-BF81-EC88ED4C0A3A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2ED67A-4185-4D64-896F-A9A6ED7F1E65}" type="slidenum">
              <a:rPr lang="en-US"/>
              <a:pPr/>
              <a:t>52</a:t>
            </a:fld>
            <a:endParaRPr lang="en-US"/>
          </a:p>
        </p:txBody>
      </p:sp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890892-3871-4BE6-A24B-CF559A9E1DD8}" type="slidenum">
              <a:rPr lang="en-US"/>
              <a:pPr/>
              <a:t>53</a:t>
            </a:fld>
            <a:endParaRPr lang="en-US"/>
          </a:p>
        </p:txBody>
      </p:sp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420EFE-BB09-42E9-9F7F-013F31F0E4F2}" type="slidenum">
              <a:rPr lang="en-US"/>
              <a:pPr/>
              <a:t>54</a:t>
            </a:fld>
            <a:endParaRPr lang="en-US"/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55AE1A-93E8-4174-975B-35901B84E943}" type="slidenum">
              <a:rPr lang="en-US"/>
              <a:pPr/>
              <a:t>55</a:t>
            </a:fld>
            <a:endParaRPr lang="en-US"/>
          </a:p>
        </p:txBody>
      </p:sp>
      <p:sp>
        <p:nvSpPr>
          <p:cNvPr id="36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A74AF5-91F4-4000-8B62-7DE8000694D9}" type="slidenum">
              <a:rPr lang="en-US"/>
              <a:pPr/>
              <a:t>56</a:t>
            </a:fld>
            <a:endParaRPr lang="en-US"/>
          </a:p>
        </p:txBody>
      </p:sp>
      <p:sp>
        <p:nvSpPr>
          <p:cNvPr id="369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5BAD08-7135-4F33-B289-AD15FF70D377}" type="slidenum">
              <a:rPr lang="en-US"/>
              <a:pPr/>
              <a:t>57</a:t>
            </a:fld>
            <a:endParaRPr lang="en-US"/>
          </a:p>
        </p:txBody>
      </p:sp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3D2E30-653D-4F7B-B02C-D51542EFE714}" type="slidenum">
              <a:rPr lang="en-US"/>
              <a:pPr/>
              <a:t>58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E4F0E-D1B4-48EF-AB1C-AC0BFEE64161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8415B0-A075-462A-B0A2-B5FFCF59B058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92E2C3-8770-41AE-88C2-C312BE7DB0B0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27035E-3358-4FFF-AB1F-152596EE2C90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58AD96-D722-44F4-A332-B1BAE65E3DB7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F2664B-5A58-46BB-9D1D-9F03A8C87DAD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46F53B-5B88-476E-863F-50F257F64D6E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CD3EF0-8BB7-4D68-BC76-C2A412B54779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99FD19-FDAE-4258-BE5B-6FD27BEEEF6E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FD20AE-22FF-4B59-92DA-91DFE6E3F107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26F0F-45F0-4CEA-A874-57D6788EB032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908613C-E353-4C9C-946A-7A8B6FE107B7}" type="slidenum">
              <a:rPr lang="es-ES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Rectangle 150"/>
          <p:cNvSpPr>
            <a:spLocks noGrp="1" noChangeArrowheads="1"/>
          </p:cNvSpPr>
          <p:nvPr>
            <p:ph type="ctrTitle"/>
          </p:nvPr>
        </p:nvSpPr>
        <p:spPr>
          <a:xfrm>
            <a:off x="3779912" y="692696"/>
            <a:ext cx="5364088" cy="1152128"/>
          </a:xfrm>
        </p:spPr>
        <p:txBody>
          <a:bodyPr/>
          <a:lstStyle/>
          <a:p>
            <a:pPr algn="l"/>
            <a:r>
              <a:rPr lang="en-US" sz="3200" dirty="0" smtClean="0">
                <a:effectLst/>
                <a:latin typeface="Algerian" pitchFamily="82" charset="0"/>
              </a:rPr>
              <a:t>SOFTWARE ENGINEERING</a:t>
            </a:r>
            <a:endParaRPr lang="es-ES" sz="3200" b="1" dirty="0">
              <a:solidFill>
                <a:schemeClr val="bg1"/>
              </a:solidFill>
            </a:endParaRPr>
          </a:p>
        </p:txBody>
      </p:sp>
      <p:sp>
        <p:nvSpPr>
          <p:cNvPr id="2217" name="Rectangle 169"/>
          <p:cNvSpPr>
            <a:spLocks noChangeArrowheads="1"/>
          </p:cNvSpPr>
          <p:nvPr/>
        </p:nvSpPr>
        <p:spPr bwMode="auto">
          <a:xfrm>
            <a:off x="4067175" y="5229201"/>
            <a:ext cx="4824413" cy="13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endParaRPr lang="es-E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CHAPTER 6: Software Coding and Testing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pPr eaLnBrk="1" hangingPunct="1"/>
            <a:r>
              <a:rPr lang="en-US" dirty="0" smtClean="0"/>
              <a:t>Coding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40776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Goal is to implement the design in best possible manner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Coding affects testing and maintenance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As testing and maintenance costs are high, aim of coding activity should be to write code that reduces them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Hence, goal should not be to reduce coding cost, but testing and maintenance cost, i.e. make the job of tester and maintainer easier </a:t>
            </a:r>
          </a:p>
        </p:txBody>
      </p:sp>
      <p:sp>
        <p:nvSpPr>
          <p:cNvPr id="51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AE099D-23A8-44C4-94CA-53762F0EFF49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/>
          <a:lstStyle/>
          <a:p>
            <a:pPr eaLnBrk="1" hangingPunct="1"/>
            <a:r>
              <a:rPr lang="en-US" dirty="0" smtClean="0"/>
              <a:t>Coding…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smtClean="0"/>
              <a:t>Code is read a lot more</a:t>
            </a:r>
          </a:p>
          <a:p>
            <a:pPr lvl="1" eaLnBrk="1" hangingPunct="1"/>
            <a:r>
              <a:rPr lang="en-US" sz="2800" dirty="0" smtClean="0"/>
              <a:t>Coders themselves read the code many times for debugging, extending etc</a:t>
            </a:r>
          </a:p>
          <a:p>
            <a:pPr lvl="1" eaLnBrk="1" hangingPunct="1"/>
            <a:r>
              <a:rPr lang="en-US" sz="2800" dirty="0" smtClean="0"/>
              <a:t>Maintainers spend a lot of effort reading and understanding code</a:t>
            </a:r>
          </a:p>
          <a:p>
            <a:pPr lvl="1" eaLnBrk="1" hangingPunct="1"/>
            <a:r>
              <a:rPr lang="en-US" sz="2800" dirty="0" smtClean="0"/>
              <a:t>Other developers read code when they add to existing code</a:t>
            </a:r>
          </a:p>
          <a:p>
            <a:pPr eaLnBrk="1" hangingPunct="1"/>
            <a:r>
              <a:rPr lang="en-US" sz="2800" dirty="0" smtClean="0"/>
              <a:t>Hence, code should be written so it is easy to understand and read, not easy to write!</a:t>
            </a:r>
          </a:p>
        </p:txBody>
      </p:sp>
      <p:sp>
        <p:nvSpPr>
          <p:cNvPr id="61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EC3ED81-3B18-4B5B-8DB8-D7B4A9146FF9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mysql</a:t>
            </a:r>
            <a:r>
              <a:rPr lang="en-US" dirty="0" smtClean="0"/>
              <a:t>&gt; </a:t>
            </a:r>
            <a:r>
              <a:rPr lang="en-US" b="1" dirty="0" smtClean="0"/>
              <a:t>CREATE TABLE patient (</a:t>
            </a:r>
          </a:p>
          <a:p>
            <a:pPr>
              <a:buNone/>
            </a:pPr>
            <a:r>
              <a:rPr lang="en-US" b="1" dirty="0" err="1" smtClean="0"/>
              <a:t>last_name</a:t>
            </a:r>
            <a:r>
              <a:rPr lang="en-US" b="1" dirty="0" smtClean="0"/>
              <a:t> </a:t>
            </a:r>
            <a:r>
              <a:rPr lang="en-US" b="1" dirty="0" err="1" smtClean="0"/>
              <a:t>varchar</a:t>
            </a:r>
            <a:r>
              <a:rPr lang="en-US" b="1" dirty="0" smtClean="0"/>
              <a:t>(15) not null,</a:t>
            </a:r>
          </a:p>
          <a:p>
            <a:pPr>
              <a:buNone/>
            </a:pPr>
            <a:r>
              <a:rPr lang="en-US" b="1" dirty="0" err="1" smtClean="0"/>
              <a:t>first_name</a:t>
            </a:r>
            <a:r>
              <a:rPr lang="en-US" b="1" dirty="0" smtClean="0"/>
              <a:t> </a:t>
            </a:r>
            <a:r>
              <a:rPr lang="en-US" b="1" dirty="0" err="1" smtClean="0"/>
              <a:t>varchar</a:t>
            </a:r>
            <a:r>
              <a:rPr lang="en-US" b="1" dirty="0" smtClean="0"/>
              <a:t>(15) not null,</a:t>
            </a:r>
          </a:p>
          <a:p>
            <a:pPr>
              <a:buNone/>
            </a:pPr>
            <a:r>
              <a:rPr lang="en-US" b="1" dirty="0" smtClean="0"/>
              <a:t>state </a:t>
            </a:r>
            <a:r>
              <a:rPr lang="en-US" b="1" dirty="0" err="1" smtClean="0"/>
              <a:t>varchar</a:t>
            </a:r>
            <a:r>
              <a:rPr lang="en-US" b="1" dirty="0" smtClean="0"/>
              <a:t>(2) not null,</a:t>
            </a:r>
          </a:p>
          <a:p>
            <a:pPr>
              <a:buNone/>
            </a:pPr>
            <a:r>
              <a:rPr lang="en-US" b="1" dirty="0" smtClean="0"/>
              <a:t>city </a:t>
            </a:r>
            <a:r>
              <a:rPr lang="en-US" b="1" dirty="0" err="1" smtClean="0"/>
              <a:t>varchar</a:t>
            </a:r>
            <a:r>
              <a:rPr lang="en-US" b="1" dirty="0" smtClean="0"/>
              <a:t>(20) not null,</a:t>
            </a:r>
          </a:p>
          <a:p>
            <a:pPr>
              <a:buNone/>
            </a:pPr>
            <a:r>
              <a:rPr lang="en-US" b="1" dirty="0" smtClean="0"/>
              <a:t>birth date not null default '0000-00-00',</a:t>
            </a:r>
          </a:p>
          <a:p>
            <a:pPr>
              <a:buNone/>
            </a:pPr>
            <a:r>
              <a:rPr lang="en-US" b="1" dirty="0" smtClean="0"/>
              <a:t>death date null</a:t>
            </a:r>
          </a:p>
          <a:p>
            <a:pPr>
              <a:buNone/>
            </a:pPr>
            <a:r>
              <a:rPr lang="en-US" b="1" dirty="0" smtClean="0"/>
              <a:t> );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/>
          <a:lstStyle/>
          <a:p>
            <a:pPr eaLnBrk="1" hangingPunct="1"/>
            <a:r>
              <a:rPr lang="en-US" dirty="0" smtClean="0"/>
              <a:t>Programming Principles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72816"/>
            <a:ext cx="8229600" cy="493278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Objectives are to minimize the effort required to complete the program, to minimize the number of statements, minimize the memory required, maximize the program clarity, and maximize the output clarity.</a:t>
            </a:r>
          </a:p>
          <a:p>
            <a:endParaRPr lang="en-US" sz="2800" dirty="0" smtClean="0"/>
          </a:p>
          <a:p>
            <a:r>
              <a:rPr lang="en-US" sz="2800" dirty="0" smtClean="0"/>
              <a:t>The main goal of the programmer is write </a:t>
            </a:r>
            <a:r>
              <a:rPr lang="en-US" sz="2800" b="1" dirty="0" smtClean="0"/>
              <a:t>simple </a:t>
            </a:r>
            <a:r>
              <a:rPr lang="en-US" sz="2800" dirty="0" smtClean="0"/>
              <a:t>and</a:t>
            </a:r>
            <a:r>
              <a:rPr lang="en-US" sz="2800" b="1" dirty="0" smtClean="0"/>
              <a:t> easy </a:t>
            </a:r>
            <a:r>
              <a:rPr lang="en-US" sz="2800" dirty="0" smtClean="0"/>
              <a:t>programs to read with few bugs in it; the programmer has to develop it quickly to keep productivity high</a:t>
            </a:r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C7A39D0-9EE1-465A-854F-B8922966E664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There are various programming principles that can help write code that is easier to understand and test.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1. Structured Programming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endParaRPr lang="en-US" sz="2600" dirty="0" smtClean="0"/>
          </a:p>
          <a:p>
            <a:pPr eaLnBrk="1" hangingPunct="1"/>
            <a:r>
              <a:rPr lang="en-US" sz="2600" dirty="0" smtClean="0"/>
              <a:t>Structured </a:t>
            </a:r>
            <a:r>
              <a:rPr lang="en-US" sz="2600" dirty="0"/>
              <a:t>programming is a programming paradigm aimed at improving the clarity, quality, and development time of a computer program by making extensive use of the structured control flow constructs of selection and repetition, block structures, and </a:t>
            </a:r>
            <a:r>
              <a:rPr lang="en-US" sz="2600" dirty="0" smtClean="0"/>
              <a:t>subroutines</a:t>
            </a:r>
          </a:p>
          <a:p>
            <a:pPr marL="0" indent="0" eaLnBrk="1" hangingPunct="1">
              <a:buNone/>
            </a:pPr>
            <a:endParaRPr lang="en-US" sz="2600" dirty="0" smtClean="0"/>
          </a:p>
          <a:p>
            <a:pPr eaLnBrk="1" hangingPunct="1"/>
            <a:r>
              <a:rPr lang="en-US" sz="2600" dirty="0" smtClean="0"/>
              <a:t>Structured </a:t>
            </a:r>
            <a:r>
              <a:rPr lang="en-US" sz="2600" dirty="0" smtClean="0"/>
              <a:t>programming started in the 70s, primarily against indiscriminate use of control constructs like </a:t>
            </a:r>
            <a:r>
              <a:rPr lang="en-US" sz="2600" b="1" dirty="0" err="1" smtClean="0"/>
              <a:t>goto</a:t>
            </a:r>
            <a:r>
              <a:rPr lang="en-US" sz="2600" dirty="0" err="1" smtClean="0"/>
              <a:t>s</a:t>
            </a:r>
            <a:r>
              <a:rPr lang="en-US" sz="2600" dirty="0" smtClean="0"/>
              <a:t>.</a:t>
            </a:r>
          </a:p>
          <a:p>
            <a:pPr eaLnBrk="1" hangingPunct="1"/>
            <a:r>
              <a:rPr lang="en-US" sz="2400" b="1" dirty="0" err="1" smtClean="0"/>
              <a:t>Goto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is:omeone</a:t>
            </a:r>
            <a:r>
              <a:rPr lang="en-US" sz="2400" b="1" dirty="0" smtClean="0"/>
              <a:t> </a:t>
            </a:r>
            <a:r>
              <a:rPr lang="en-US" sz="2400" b="1" dirty="0"/>
              <a:t>or something that is regularly or repeatedly chosen or employed for reliably good </a:t>
            </a:r>
            <a:r>
              <a:rPr lang="en-US" sz="2400" b="1" dirty="0" smtClean="0"/>
              <a:t>results.</a:t>
            </a:r>
            <a:endParaRPr lang="en-US" sz="2600" dirty="0" smtClean="0"/>
          </a:p>
          <a:p>
            <a:r>
              <a:rPr lang="en-US" sz="2600" dirty="0" smtClean="0"/>
              <a:t>Structured programming is often regarded as </a:t>
            </a:r>
            <a:r>
              <a:rPr lang="en-US" sz="2600" b="1" dirty="0" smtClean="0"/>
              <a:t>“</a:t>
            </a:r>
            <a:r>
              <a:rPr lang="en-US" sz="2600" b="1" dirty="0" err="1" smtClean="0"/>
              <a:t>goto</a:t>
            </a:r>
            <a:r>
              <a:rPr lang="en-US" sz="2600" b="1" dirty="0" smtClean="0"/>
              <a:t>-less” </a:t>
            </a:r>
            <a:r>
              <a:rPr lang="en-US" sz="2600" dirty="0" smtClean="0"/>
              <a:t>programming</a:t>
            </a:r>
            <a:r>
              <a:rPr lang="en-US" sz="2600" dirty="0" smtClean="0"/>
              <a:t>. </a:t>
            </a:r>
            <a:endParaRPr lang="en-US" sz="2600" dirty="0" smtClean="0"/>
          </a:p>
          <a:p>
            <a:pPr eaLnBrk="1" hangingPunct="1"/>
            <a:r>
              <a:rPr lang="en-US" sz="2600" dirty="0" smtClean="0"/>
              <a:t>Goal </a:t>
            </a:r>
            <a:r>
              <a:rPr lang="en-US" sz="2600" dirty="0" smtClean="0"/>
              <a:t>was to simplify program structure so it is easier to disagree about programs</a:t>
            </a:r>
          </a:p>
          <a:p>
            <a:pPr eaLnBrk="1" hangingPunct="1"/>
            <a:endParaRPr lang="en-US" sz="2800" dirty="0" smtClean="0"/>
          </a:p>
        </p:txBody>
      </p:sp>
      <p:sp>
        <p:nvSpPr>
          <p:cNvPr id="81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9A88D2-CCB7-41D7-BFA8-B2AE1CEA67E3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Structured Programming…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A  program has a static structure which is the ordering of statements in the code – and this is a </a:t>
            </a:r>
            <a:r>
              <a:rPr lang="en-US" sz="2800" b="1" dirty="0" smtClean="0"/>
              <a:t>linear ordering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A program also has dynamic structure –order in which statements are executed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Both dynamic and static structures are ordering of statements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Correctness of a program must talk about the dynamic structure</a:t>
            </a:r>
          </a:p>
        </p:txBody>
      </p:sp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2A07124-1119-4B61-A902-3D147EE5A155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/>
          <a:lstStyle/>
          <a:p>
            <a:pPr eaLnBrk="1" hangingPunct="1"/>
            <a:r>
              <a:rPr lang="en-US" dirty="0" smtClean="0"/>
              <a:t>Structured Programming…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To show a program </a:t>
            </a:r>
            <a:r>
              <a:rPr lang="en-US" sz="2800" b="1" dirty="0" smtClean="0"/>
              <a:t>as correct</a:t>
            </a:r>
            <a:r>
              <a:rPr lang="en-US" sz="2800" dirty="0" smtClean="0"/>
              <a:t>, we must show that its dynamic behavior is as expected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This will become easier if the dynamic and static structures are </a:t>
            </a:r>
            <a:r>
              <a:rPr lang="en-US" sz="2800" b="1" dirty="0" smtClean="0"/>
              <a:t>similar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Closer correspondence will make it easier to understand dynamic behavior from static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This is the idea behind </a:t>
            </a:r>
            <a:r>
              <a:rPr lang="en-US" sz="2800" b="1" dirty="0" smtClean="0"/>
              <a:t>structured programming</a:t>
            </a: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F16BE6-7BC5-447C-986C-3FC852FE5A01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04088"/>
            <a:ext cx="84582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Goal of Structured Programming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209800"/>
            <a:ext cx="8229600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Goal of structured programming is: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800" dirty="0" smtClean="0"/>
              <a:t>To write programs whose dynamic structure is same as static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800" dirty="0" smtClean="0"/>
              <a:t>As statements organized linearly, the objective is to develop programs whose control flow is </a:t>
            </a:r>
            <a:r>
              <a:rPr lang="en-US" sz="2800" b="1" dirty="0" smtClean="0"/>
              <a:t>linear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8373068-8FD8-44D3-9372-226CFDBAEA2B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Structured Programming…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800" dirty="0" smtClean="0"/>
              <a:t>Meaningful programs cannot be written as sequence of simple statements</a:t>
            </a:r>
          </a:p>
          <a:p>
            <a:pPr eaLnBrk="1" hangingPunct="1"/>
            <a:r>
              <a:rPr lang="en-US" sz="2800" dirty="0" smtClean="0"/>
              <a:t>To achieve the objectives, structured constructs are to be used</a:t>
            </a:r>
          </a:p>
          <a:p>
            <a:pPr eaLnBrk="1" hangingPunct="1"/>
            <a:r>
              <a:rPr lang="en-US" sz="2800" dirty="0" smtClean="0"/>
              <a:t>These are </a:t>
            </a:r>
            <a:r>
              <a:rPr lang="en-US" sz="2800" b="1" dirty="0" smtClean="0"/>
              <a:t>single-entry-single-exit</a:t>
            </a:r>
            <a:r>
              <a:rPr lang="en-US" sz="2800" dirty="0" smtClean="0"/>
              <a:t> constructs</a:t>
            </a:r>
          </a:p>
          <a:p>
            <a:pPr eaLnBrk="1" hangingPunct="1"/>
            <a:r>
              <a:rPr lang="en-US" sz="2800" dirty="0" smtClean="0"/>
              <a:t>With these, execution of the statements can be in the order they appear in code</a:t>
            </a:r>
          </a:p>
          <a:p>
            <a:pPr eaLnBrk="1" hangingPunct="1"/>
            <a:r>
              <a:rPr lang="en-US" sz="2800" dirty="0" smtClean="0"/>
              <a:t>The dynamic and static order becomes same</a:t>
            </a:r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463A10-DBC5-4D11-B22C-C08F22B0E897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Uses basic control structures and modules that have only one entry point and one exit point.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There are three basic </a:t>
            </a:r>
            <a:r>
              <a:rPr lang="en-US" sz="2800" dirty="0" smtClean="0"/>
              <a:t>Control Constructs </a:t>
            </a:r>
            <a:r>
              <a:rPr lang="en-GB" sz="2800" dirty="0" smtClean="0"/>
              <a:t>:</a:t>
            </a:r>
            <a:endParaRPr lang="en-GB" sz="2800" b="1" i="1" dirty="0" smtClean="0">
              <a:solidFill>
                <a:srgbClr val="D60093"/>
              </a:solidFill>
            </a:endParaRPr>
          </a:p>
          <a:p>
            <a:pPr>
              <a:buFont typeface="Wingdings" pitchFamily="2" charset="2"/>
              <a:buNone/>
            </a:pPr>
            <a:endParaRPr lang="en-GB" sz="2800" b="1" i="1" dirty="0" smtClean="0">
              <a:solidFill>
                <a:srgbClr val="D60093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GB" sz="2800" dirty="0" smtClean="0"/>
              <a:t>1) </a:t>
            </a:r>
            <a:r>
              <a:rPr lang="en-GB" sz="2800" b="1" dirty="0" smtClean="0"/>
              <a:t>Sequence</a:t>
            </a:r>
            <a:r>
              <a:rPr lang="en-GB" sz="2800" dirty="0" smtClean="0"/>
              <a:t>; p</a:t>
            </a:r>
            <a:r>
              <a:rPr lang="en-US" altLang="zh-TW" sz="2800" dirty="0" err="1" smtClean="0">
                <a:ea typeface="新細明體" pitchFamily="18" charset="-120"/>
              </a:rPr>
              <a:t>rograms</a:t>
            </a:r>
            <a:r>
              <a:rPr lang="en-US" altLang="zh-TW" sz="2800" dirty="0" smtClean="0">
                <a:ea typeface="新細明體" pitchFamily="18" charset="-120"/>
              </a:rPr>
              <a:t> executed sequentially by default</a:t>
            </a:r>
            <a:endParaRPr lang="en-GB" sz="2800" dirty="0" smtClean="0"/>
          </a:p>
          <a:p>
            <a:pPr>
              <a:buFont typeface="Wingdings" pitchFamily="2" charset="2"/>
              <a:buNone/>
            </a:pPr>
            <a:r>
              <a:rPr lang="en-GB" sz="2800" dirty="0" smtClean="0"/>
              <a:t>2) </a:t>
            </a:r>
            <a:r>
              <a:rPr lang="en-GB" sz="2800" b="1" dirty="0" smtClean="0"/>
              <a:t>Selection</a:t>
            </a:r>
            <a:r>
              <a:rPr lang="en-GB" sz="2800" dirty="0" smtClean="0"/>
              <a:t>;</a:t>
            </a:r>
            <a:r>
              <a:rPr lang="en-US" altLang="zh-TW" sz="2800" dirty="0" smtClean="0">
                <a:ea typeface="新細明體" pitchFamily="18" charset="-120"/>
              </a:rPr>
              <a:t> Java has three types: if, if/else, and case</a:t>
            </a:r>
            <a:r>
              <a:rPr lang="en-GB" altLang="zh-TW" sz="2800" dirty="0" smtClean="0">
                <a:ea typeface="新細明體" pitchFamily="18" charset="-120"/>
              </a:rPr>
              <a:t>.</a:t>
            </a:r>
            <a:endParaRPr lang="en-GB" sz="2800" dirty="0" smtClean="0"/>
          </a:p>
          <a:p>
            <a:pPr marL="274320" lvl="2" indent="-274320">
              <a:buClr>
                <a:schemeClr val="accent3"/>
              </a:buClr>
              <a:buSzPct val="95000"/>
              <a:buNone/>
            </a:pPr>
            <a:r>
              <a:rPr lang="en-GB" sz="2800" dirty="0" smtClean="0"/>
              <a:t>3) </a:t>
            </a:r>
            <a:r>
              <a:rPr lang="en-US" altLang="zh-TW" sz="2800" b="1" dirty="0" smtClean="0">
                <a:ea typeface="新細明體" pitchFamily="18" charset="-120"/>
              </a:rPr>
              <a:t>Repetition structures</a:t>
            </a:r>
            <a:r>
              <a:rPr lang="en-US" altLang="zh-TW" sz="2800" dirty="0" smtClean="0">
                <a:ea typeface="新細明體" pitchFamily="18" charset="-120"/>
              </a:rPr>
              <a:t>: Java has four types: while, do/while, </a:t>
            </a:r>
            <a:r>
              <a:rPr lang="en-US" altLang="zh-TW" sz="2800" dirty="0" smtClean="0">
                <a:ea typeface="新細明體" pitchFamily="18" charset="-120"/>
                <a:cs typeface="Courier New" pitchFamily="49" charset="0"/>
              </a:rPr>
              <a:t>do/until</a:t>
            </a:r>
            <a:r>
              <a:rPr lang="en-US" altLang="zh-TW" sz="2800" dirty="0" smtClean="0">
                <a:ea typeface="新細明體" pitchFamily="18" charset="-120"/>
              </a:rPr>
              <a:t> and for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r>
              <a:rPr lang="en-US" dirty="0" smtClean="0"/>
              <a:t>Sequence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The actions are performed in the sequence (following the arrows)</a:t>
            </a:r>
          </a:p>
          <a:p>
            <a:r>
              <a:rPr lang="en-US" sz="2800" dirty="0" smtClean="0"/>
              <a:t>Example : What do you do in the morning?</a:t>
            </a:r>
          </a:p>
          <a:p>
            <a:pPr lvl="1"/>
            <a:r>
              <a:rPr lang="en-US" sz="2800" dirty="0" smtClean="0"/>
              <a:t>Brush teeth</a:t>
            </a:r>
          </a:p>
          <a:p>
            <a:pPr lvl="1"/>
            <a:r>
              <a:rPr lang="en-US" sz="2800" dirty="0" smtClean="0"/>
              <a:t>Wash face</a:t>
            </a:r>
          </a:p>
          <a:p>
            <a:pPr lvl="1"/>
            <a:r>
              <a:rPr lang="en-US" sz="2800" dirty="0" smtClean="0"/>
              <a:t>Comb hair</a:t>
            </a:r>
          </a:p>
          <a:p>
            <a:pPr lvl="1"/>
            <a:r>
              <a:rPr lang="en-US" sz="2800" dirty="0" smtClean="0"/>
              <a:t>Having breakfast</a:t>
            </a:r>
          </a:p>
          <a:p>
            <a:pPr lvl="1">
              <a:buNone/>
            </a:pPr>
            <a:r>
              <a:rPr lang="en-US" sz="2800" b="1" dirty="0" smtClean="0"/>
              <a:t>Enter </a:t>
            </a:r>
          </a:p>
          <a:p>
            <a:pPr lvl="1">
              <a:buNone/>
            </a:pPr>
            <a:r>
              <a:rPr lang="en-US" sz="2800" dirty="0" smtClean="0"/>
              <a:t>Perform one or more actions in sequence </a:t>
            </a:r>
          </a:p>
          <a:p>
            <a:pPr lvl="1">
              <a:buNone/>
            </a:pPr>
            <a:r>
              <a:rPr lang="en-US" sz="2800" b="1" dirty="0" smtClean="0"/>
              <a:t>Exit</a:t>
            </a:r>
            <a:endParaRPr lang="en-US" altLang="zh-TW" sz="2800" b="1" dirty="0" smtClean="0">
              <a:ea typeface="新細明體" pitchFamily="18" charset="-120"/>
            </a:endParaRP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void </a:t>
            </a:r>
            <a:r>
              <a:rPr lang="en-US" b="1" dirty="0" err="1" smtClean="0"/>
              <a:t>doSomething</a:t>
            </a:r>
            <a:r>
              <a:rPr lang="en-US" dirty="0" smtClean="0"/>
              <a:t>(){</a:t>
            </a:r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cout</a:t>
            </a:r>
            <a:r>
              <a:rPr lang="en-US" dirty="0" smtClean="0"/>
              <a:t> &lt;&lt; "Hello Viet Nam\n";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cout</a:t>
            </a:r>
            <a:r>
              <a:rPr lang="en-US" dirty="0" smtClean="0"/>
              <a:t> &lt;&lt; "Hello Iraq\n"; </a:t>
            </a:r>
          </a:p>
          <a:p>
            <a:pPr>
              <a:buNone/>
            </a:pPr>
            <a:r>
              <a:rPr lang="en-US" dirty="0" err="1" smtClean="0"/>
              <a:t>cout</a:t>
            </a:r>
            <a:r>
              <a:rPr lang="en-US" dirty="0" smtClean="0"/>
              <a:t> &lt;&lt; "Hello America\n"; </a:t>
            </a:r>
          </a:p>
          <a:p>
            <a:pPr>
              <a:buNone/>
            </a:pPr>
            <a:r>
              <a:rPr lang="en-US" dirty="0" err="1" smtClean="0"/>
              <a:t>cout</a:t>
            </a:r>
            <a:r>
              <a:rPr lang="en-US" dirty="0" smtClean="0"/>
              <a:t> &lt;&lt; "Hello World\n"; }//end </a:t>
            </a:r>
            <a:r>
              <a:rPr lang="en-US" dirty="0" err="1" smtClean="0"/>
              <a:t>doSomething</a:t>
            </a:r>
            <a:r>
              <a:rPr lang="en-US" dirty="0" smtClean="0"/>
              <a:t> function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The </a:t>
            </a:r>
            <a:r>
              <a:rPr lang="en-US" noProof="1" smtClean="0">
                <a:latin typeface="Courier New" pitchFamily="49" charset="0"/>
              </a:rPr>
              <a:t>if</a:t>
            </a:r>
            <a:r>
              <a:rPr lang="en-US" noProof="1" smtClean="0"/>
              <a:t> Selection Structure</a:t>
            </a:r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Content Placeholder 2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 smtClean="0">
                <a:ea typeface="新細明體" pitchFamily="18" charset="-120"/>
              </a:rPr>
              <a:t>Ex. If grade &gt;= 60, print passed</a:t>
            </a:r>
          </a:p>
          <a:p>
            <a:endParaRPr lang="en-US" dirty="0"/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304800" y="2743200"/>
            <a:ext cx="4190590" cy="3657600"/>
            <a:chOff x="696" y="2523"/>
            <a:chExt cx="1544" cy="824"/>
          </a:xfrm>
        </p:grpSpPr>
        <p:sp>
          <p:nvSpPr>
            <p:cNvPr id="5" name="Freeform 18"/>
            <p:cNvSpPr>
              <a:spLocks/>
            </p:cNvSpPr>
            <p:nvPr/>
          </p:nvSpPr>
          <p:spPr bwMode="auto">
            <a:xfrm>
              <a:off x="1080" y="2571"/>
              <a:ext cx="0" cy="192"/>
            </a:xfrm>
            <a:custGeom>
              <a:avLst/>
              <a:gdLst>
                <a:gd name="T0" fmla="*/ 0 w 20000"/>
                <a:gd name="T1" fmla="*/ 2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7"/>
            <p:cNvSpPr>
              <a:spLocks/>
            </p:cNvSpPr>
            <p:nvPr/>
          </p:nvSpPr>
          <p:spPr bwMode="auto">
            <a:xfrm>
              <a:off x="1080" y="3107"/>
              <a:ext cx="0" cy="192"/>
            </a:xfrm>
            <a:custGeom>
              <a:avLst/>
              <a:gdLst>
                <a:gd name="T0" fmla="*/ 0 w 20000"/>
                <a:gd name="T1" fmla="*/ 2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Oval 16"/>
            <p:cNvSpPr>
              <a:spLocks noChangeArrowheads="1"/>
            </p:cNvSpPr>
            <p:nvPr/>
          </p:nvSpPr>
          <p:spPr bwMode="auto">
            <a:xfrm>
              <a:off x="1056" y="2523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Oval 15"/>
            <p:cNvSpPr>
              <a:spLocks noChangeArrowheads="1"/>
            </p:cNvSpPr>
            <p:nvPr/>
          </p:nvSpPr>
          <p:spPr bwMode="auto">
            <a:xfrm>
              <a:off x="1056" y="3299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14"/>
            <p:cNvSpPr>
              <a:spLocks/>
            </p:cNvSpPr>
            <p:nvPr/>
          </p:nvSpPr>
          <p:spPr bwMode="auto">
            <a:xfrm>
              <a:off x="1464" y="2935"/>
              <a:ext cx="192" cy="0"/>
            </a:xfrm>
            <a:custGeom>
              <a:avLst/>
              <a:gdLst>
                <a:gd name="T0" fmla="*/ 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3"/>
            <p:cNvSpPr>
              <a:spLocks/>
            </p:cNvSpPr>
            <p:nvPr/>
          </p:nvSpPr>
          <p:spPr bwMode="auto">
            <a:xfrm>
              <a:off x="1086" y="3152"/>
              <a:ext cx="864" cy="0"/>
            </a:xfrm>
            <a:custGeom>
              <a:avLst/>
              <a:gdLst>
                <a:gd name="T0" fmla="*/ 37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91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 type="triangle" w="med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/>
            <p:cNvSpPr>
              <a:spLocks/>
            </p:cNvSpPr>
            <p:nvPr/>
          </p:nvSpPr>
          <p:spPr bwMode="auto">
            <a:xfrm>
              <a:off x="1944" y="2984"/>
              <a:ext cx="0" cy="16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5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433" y="2832"/>
              <a:ext cx="274" cy="118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TW" sz="2400" dirty="0">
                  <a:latin typeface="Times New Roman" pitchFamily="18" charset="0"/>
                  <a:ea typeface="新細明體" pitchFamily="18" charset="-120"/>
                  <a:cs typeface="Times New Roman" pitchFamily="18" charset="0"/>
                </a:rPr>
                <a:t>true</a:t>
              </a:r>
            </a:p>
            <a:p>
              <a:endParaRPr lang="zh-TW" altLang="en-US" sz="1600" dirty="0">
                <a:ea typeface="新細明體" pitchFamily="18" charset="-120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836" y="3107"/>
              <a:ext cx="449" cy="159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TW" sz="2800" dirty="0">
                  <a:latin typeface="Times New Roman" pitchFamily="18" charset="0"/>
                  <a:ea typeface="新細明體" pitchFamily="18" charset="-120"/>
                  <a:cs typeface="Times New Roman" pitchFamily="18" charset="0"/>
                </a:rPr>
                <a:t>false</a:t>
              </a:r>
            </a:p>
            <a:p>
              <a:endParaRPr lang="zh-TW" altLang="en-US" sz="1600" dirty="0">
                <a:ea typeface="新細明體" pitchFamily="18" charset="-120"/>
              </a:endParaRPr>
            </a:p>
          </p:txBody>
        </p:sp>
        <p:grpSp>
          <p:nvGrpSpPr>
            <p:cNvPr id="4" name="Group 7"/>
            <p:cNvGrpSpPr>
              <a:grpSpLocks/>
            </p:cNvGrpSpPr>
            <p:nvPr/>
          </p:nvGrpSpPr>
          <p:grpSpPr bwMode="auto">
            <a:xfrm>
              <a:off x="696" y="2763"/>
              <a:ext cx="768" cy="344"/>
              <a:chOff x="0" y="0"/>
              <a:chExt cx="20000" cy="20000"/>
            </a:xfrm>
          </p:grpSpPr>
          <p:sp>
            <p:nvSpPr>
              <p:cNvPr id="18" name="Freeform 9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90 w 20000"/>
                  <a:gd name="T1" fmla="*/ 10000 h 20000"/>
                  <a:gd name="T2" fmla="*/ 9990 w 20000"/>
                  <a:gd name="T3" fmla="*/ 19977 h 20000"/>
                  <a:gd name="T4" fmla="*/ 0 w 20000"/>
                  <a:gd name="T5" fmla="*/ 10000 h 20000"/>
                  <a:gd name="T6" fmla="*/ 9990 w 20000"/>
                  <a:gd name="T7" fmla="*/ 0 h 20000"/>
                  <a:gd name="T8" fmla="*/ 19990 w 20000"/>
                  <a:gd name="T9" fmla="*/ 1000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90" y="10000"/>
                    </a:moveTo>
                    <a:lnTo>
                      <a:pt x="9990" y="19977"/>
                    </a:lnTo>
                    <a:lnTo>
                      <a:pt x="0" y="10000"/>
                    </a:lnTo>
                    <a:lnTo>
                      <a:pt x="9990" y="0"/>
                    </a:lnTo>
                    <a:lnTo>
                      <a:pt x="19990" y="1000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Rectangle 8"/>
              <p:cNvSpPr>
                <a:spLocks noChangeArrowheads="1"/>
              </p:cNvSpPr>
              <p:nvPr/>
            </p:nvSpPr>
            <p:spPr bwMode="auto">
              <a:xfrm>
                <a:off x="2193" y="7006"/>
                <a:ext cx="17547" cy="8983"/>
              </a:xfrm>
              <a:prstGeom prst="rect">
                <a:avLst/>
              </a:prstGeom>
              <a:noFill/>
              <a:ln w="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zh-TW" sz="2800" dirty="0">
                    <a:latin typeface="Times New Roman" pitchFamily="18" charset="0"/>
                    <a:ea typeface="新細明體" pitchFamily="18" charset="-120"/>
                    <a:cs typeface="Times New Roman" pitchFamily="18" charset="0"/>
                  </a:rPr>
                  <a:t>grade &gt;= 60</a:t>
                </a:r>
              </a:p>
              <a:p>
                <a:endParaRPr lang="zh-TW" altLang="en-US" sz="1600" dirty="0">
                  <a:ea typeface="新細明體" pitchFamily="18" charset="-120"/>
                </a:endParaRPr>
              </a:p>
            </p:txBody>
          </p:sp>
        </p:grpSp>
        <p:grpSp>
          <p:nvGrpSpPr>
            <p:cNvPr id="14" name="Group 4"/>
            <p:cNvGrpSpPr>
              <a:grpSpLocks/>
            </p:cNvGrpSpPr>
            <p:nvPr/>
          </p:nvGrpSpPr>
          <p:grpSpPr bwMode="auto">
            <a:xfrm>
              <a:off x="1656" y="2815"/>
              <a:ext cx="584" cy="168"/>
              <a:chOff x="0" y="-15035"/>
              <a:chExt cx="22127" cy="35035"/>
            </a:xfrm>
          </p:grpSpPr>
          <p:sp>
            <p:nvSpPr>
              <p:cNvPr id="16" name="Freeform 6"/>
              <p:cNvSpPr>
                <a:spLocks/>
              </p:cNvSpPr>
              <p:nvPr/>
            </p:nvSpPr>
            <p:spPr bwMode="auto">
              <a:xfrm>
                <a:off x="0" y="-15035"/>
                <a:ext cx="22127" cy="35035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17 h 20000"/>
                  <a:gd name="T4" fmla="*/ 0 w 20000"/>
                  <a:gd name="T5" fmla="*/ 19917 h 20000"/>
                  <a:gd name="T6" fmla="*/ 0 w 20000"/>
                  <a:gd name="T7" fmla="*/ 0 h 20000"/>
                  <a:gd name="T8" fmla="*/ 19985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85" y="0"/>
                    </a:moveTo>
                    <a:lnTo>
                      <a:pt x="19985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Rectangle 5"/>
              <p:cNvSpPr>
                <a:spLocks noChangeArrowheads="1"/>
              </p:cNvSpPr>
              <p:nvPr/>
            </p:nvSpPr>
            <p:spPr bwMode="auto">
              <a:xfrm>
                <a:off x="1258" y="-11490"/>
                <a:ext cx="17474" cy="30322"/>
              </a:xfrm>
              <a:prstGeom prst="rect">
                <a:avLst/>
              </a:prstGeom>
              <a:noFill/>
              <a:ln w="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zh-TW" sz="2400" dirty="0">
                    <a:latin typeface="Times New Roman" pitchFamily="18" charset="0"/>
                    <a:ea typeface="新細明體" pitchFamily="18" charset="-120"/>
                    <a:cs typeface="Times New Roman" pitchFamily="18" charset="0"/>
                  </a:rPr>
                  <a:t>print “Passed”</a:t>
                </a:r>
              </a:p>
              <a:p>
                <a:endParaRPr lang="zh-TW" altLang="en-US" sz="1400" dirty="0">
                  <a:ea typeface="新細明體" pitchFamily="18" charset="-12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 smtClean="0"/>
              <a:t>The </a:t>
            </a:r>
            <a:r>
              <a:rPr lang="en-US" noProof="1" smtClean="0">
                <a:latin typeface="Courier New" pitchFamily="49" charset="0"/>
              </a:rPr>
              <a:t>if</a:t>
            </a:r>
            <a:r>
              <a:rPr lang="en-US" noProof="1" smtClean="0"/>
              <a:t>/</a:t>
            </a:r>
            <a:r>
              <a:rPr lang="en-US" noProof="1" smtClean="0">
                <a:latin typeface="Courier New" pitchFamily="49" charset="0"/>
              </a:rPr>
              <a:t>else</a:t>
            </a:r>
            <a:r>
              <a:rPr lang="en-US" noProof="1" smtClean="0"/>
              <a:t> Selection Structure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44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199" y="2590800"/>
            <a:ext cx="8405766" cy="2538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1268760"/>
            <a:ext cx="3763241" cy="269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9512" y="2937176"/>
            <a:ext cx="3043496" cy="324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0152" y="3153106"/>
            <a:ext cx="2571750" cy="3112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pPr eaLnBrk="1" hangingPunct="1"/>
            <a:r>
              <a:rPr lang="en-US" dirty="0" smtClean="0"/>
              <a:t>2. Information Hiding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229600" cy="4648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Software solutions always contain data structures that hold information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Programs work on these data structure to perform the functions they want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In general, only some operations are performed on the information.</a:t>
            </a:r>
          </a:p>
          <a:p>
            <a:pPr marL="274320" lvl="1" indent="-274320">
              <a:lnSpc>
                <a:spcPct val="90000"/>
              </a:lnSpc>
              <a:buClr>
                <a:schemeClr val="accent3"/>
              </a:buClr>
              <a:buSzPct val="95000"/>
            </a:pPr>
            <a:r>
              <a:rPr lang="en-GB" sz="2800" dirty="0" smtClean="0"/>
              <a:t>Make everything private </a:t>
            </a:r>
          </a:p>
          <a:p>
            <a:pPr eaLnBrk="1" hangingPunct="1">
              <a:lnSpc>
                <a:spcPct val="90000"/>
              </a:lnSpc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buNone/>
            </a:pPr>
            <a:r>
              <a:rPr lang="en-US" sz="2800" dirty="0" smtClean="0"/>
              <a:t>E.g. on a bank’s ledger, only debit, credit, check current balance etc are done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1DE6F86-8FF1-4D3D-89BE-03961D7D6C3C}" type="slidenum">
              <a:rPr lang="en-US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pPr eaLnBrk="1" hangingPunct="1"/>
            <a:r>
              <a:rPr lang="en-US" dirty="0" smtClean="0"/>
              <a:t>Information Hiding…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en-US" sz="2800" dirty="0" smtClean="0"/>
              <a:t>Information </a:t>
            </a:r>
            <a:r>
              <a:rPr lang="en-US" sz="2800" b="1" dirty="0" smtClean="0"/>
              <a:t>hiding</a:t>
            </a:r>
            <a:r>
              <a:rPr lang="en-US" sz="2800" dirty="0" smtClean="0"/>
              <a:t> – the information should be hidden; only operations on it should be exposed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endParaRPr lang="en-US" sz="2800" dirty="0" smtClean="0"/>
          </a:p>
          <a:p>
            <a:pPr>
              <a:lnSpc>
                <a:spcPct val="90000"/>
              </a:lnSpc>
              <a:buNone/>
            </a:pPr>
            <a:r>
              <a:rPr lang="en-US" sz="2800" dirty="0" smtClean="0"/>
              <a:t>- Information hiding is the ability to prevent certain aspects of a class or software component from being accessible to its clients. Using either programming language features (like </a:t>
            </a:r>
            <a:r>
              <a:rPr lang="en-US" sz="2800" b="1" dirty="0" smtClean="0"/>
              <a:t>private variables</a:t>
            </a:r>
            <a:r>
              <a:rPr lang="en-US" sz="2800" dirty="0" smtClean="0"/>
              <a:t>).</a:t>
            </a:r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1FD0757-4550-44D8-8CA1-1881FB781AA9}" type="slidenum">
              <a:rPr lang="en-US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Some Programming Practices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Control constructs: </a:t>
            </a:r>
            <a:r>
              <a:rPr lang="en-US" sz="2800" dirty="0" smtClean="0"/>
              <a:t>Use only a few structured constructs (rather than using a large no of constructs)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Go to: </a:t>
            </a:r>
            <a:r>
              <a:rPr lang="en-US" sz="2800" dirty="0" smtClean="0"/>
              <a:t>Use them sparingly, and only when the alternatives are worse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Nesting: Avoid heavy nesting of if-then-else; if disjoint nesting can be avoided</a:t>
            </a:r>
          </a:p>
          <a:p>
            <a:pPr>
              <a:lnSpc>
                <a:spcPct val="90000"/>
              </a:lnSpc>
            </a:pP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Module interface: make it simple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Robustness: Handle exceptional situations</a:t>
            </a:r>
          </a:p>
          <a:p>
            <a:pPr eaLnBrk="1" hangingPunct="1">
              <a:lnSpc>
                <a:spcPct val="90000"/>
              </a:lnSpc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</a:pPr>
            <a:endParaRPr lang="en-US" sz="2800" dirty="0" smtClean="0"/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64D7616-5EE4-40A8-B515-59C4151341F5}" type="slidenum">
              <a:rPr lang="en-US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/>
          <a:lstStyle/>
          <a:p>
            <a:pPr eaLnBrk="1" hangingPunct="1"/>
            <a:r>
              <a:rPr lang="en-US" dirty="0" smtClean="0"/>
              <a:t>Coding Standards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Programmers spend more time reading code than writing code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They read their own code as well as other programmers code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Readability is enhanced if some coding conventions are followed by all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Coding standards provide these guidelines for programmers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Generally are regarding naming, file organization, statements/declarations, …</a:t>
            </a:r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335FF1-15DE-448C-BBF2-F82AC1C8A1EC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pPr eaLnBrk="1" hangingPunct="1"/>
            <a:r>
              <a:rPr lang="en-US" dirty="0" smtClean="0"/>
              <a:t>Coding Standards…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8686800" cy="4724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Statements</a:t>
            </a:r>
          </a:p>
          <a:p>
            <a:pPr>
              <a:lnSpc>
                <a:spcPct val="90000"/>
              </a:lnSpc>
              <a:buNone/>
            </a:pPr>
            <a:r>
              <a:rPr lang="en-US" sz="2800" dirty="0" smtClean="0"/>
              <a:t>Decision-making statements (if-then, if-then-else, switch).</a:t>
            </a:r>
          </a:p>
          <a:p>
            <a:pPr>
              <a:lnSpc>
                <a:spcPct val="90000"/>
              </a:lnSpc>
              <a:buNone/>
            </a:pPr>
            <a:r>
              <a:rPr lang="en-US" sz="2800" dirty="0" smtClean="0"/>
              <a:t>Looping statements (for, while, do-while), and</a:t>
            </a:r>
          </a:p>
          <a:p>
            <a:pPr>
              <a:lnSpc>
                <a:spcPct val="90000"/>
              </a:lnSpc>
              <a:buNone/>
            </a:pPr>
            <a:r>
              <a:rPr lang="en-US" sz="2800" dirty="0" smtClean="0"/>
              <a:t>Branching statements (break, continue, return) </a:t>
            </a:r>
          </a:p>
          <a:p>
            <a:pPr>
              <a:lnSpc>
                <a:spcPct val="90000"/>
              </a:lnSpc>
              <a:buNone/>
            </a:pPr>
            <a:r>
              <a:rPr lang="en-US" sz="2800" dirty="0" smtClean="0"/>
              <a:t>are all supported by the Java programming language.</a:t>
            </a:r>
            <a:endParaRPr lang="en-US" sz="2800" b="1" dirty="0" smtClean="0"/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D87992F-87D2-4B8E-87B6-84187F14567B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buNone/>
            </a:pPr>
            <a:endParaRPr lang="en-US" sz="2800" dirty="0" smtClean="0"/>
          </a:p>
          <a:p>
            <a:pPr lvl="1">
              <a:lnSpc>
                <a:spcPct val="90000"/>
              </a:lnSpc>
            </a:pPr>
            <a:r>
              <a:rPr lang="en-US" sz="2800" dirty="0" smtClean="0"/>
              <a:t>Class variables should never be declared public</a:t>
            </a:r>
          </a:p>
          <a:p>
            <a:pPr lvl="1">
              <a:lnSpc>
                <a:spcPct val="90000"/>
              </a:lnSpc>
            </a:pPr>
            <a:r>
              <a:rPr lang="en-US" sz="2800" dirty="0" smtClean="0"/>
              <a:t>Loop variables should be initialized just before the loop</a:t>
            </a:r>
          </a:p>
          <a:p>
            <a:pPr lvl="1">
              <a:lnSpc>
                <a:spcPct val="90000"/>
              </a:lnSpc>
            </a:pPr>
            <a:r>
              <a:rPr lang="en-US" sz="2800" dirty="0" smtClean="0"/>
              <a:t>Avoid using</a:t>
            </a:r>
            <a:r>
              <a:rPr lang="en-US" sz="2800" b="1" dirty="0" smtClean="0"/>
              <a:t> break </a:t>
            </a:r>
            <a:r>
              <a:rPr lang="en-US" sz="2800" dirty="0" smtClean="0"/>
              <a:t>and </a:t>
            </a:r>
            <a:r>
              <a:rPr lang="en-US" sz="2800" b="1" dirty="0" smtClean="0"/>
              <a:t>continue</a:t>
            </a:r>
            <a:r>
              <a:rPr lang="en-US" sz="2800" dirty="0" smtClean="0"/>
              <a:t> in loops</a:t>
            </a:r>
          </a:p>
          <a:p>
            <a:pPr lvl="1">
              <a:lnSpc>
                <a:spcPct val="90000"/>
              </a:lnSpc>
            </a:pPr>
            <a:r>
              <a:rPr lang="en-US" sz="2800" dirty="0" smtClean="0"/>
              <a:t>Avoid using the </a:t>
            </a:r>
            <a:r>
              <a:rPr lang="en-US" sz="2800" b="1" dirty="0" smtClean="0"/>
              <a:t>do… while </a:t>
            </a:r>
            <a:r>
              <a:rPr lang="en-US" sz="2800" dirty="0" smtClean="0"/>
              <a:t>construct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/>
              <a:t>1. for (</a:t>
            </a:r>
            <a:r>
              <a:rPr lang="en-US" sz="2800" dirty="0" err="1" smtClean="0"/>
              <a:t>int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 = 0; </a:t>
            </a:r>
            <a:r>
              <a:rPr lang="en-US" sz="2800" dirty="0" err="1" smtClean="0"/>
              <a:t>i</a:t>
            </a:r>
            <a:r>
              <a:rPr lang="en-US" sz="2800" dirty="0" smtClean="0"/>
              <a:t> &lt; 10; </a:t>
            </a:r>
            <a:r>
              <a:rPr lang="en-US" sz="2800" dirty="0" err="1" smtClean="0"/>
              <a:t>i</a:t>
            </a:r>
            <a:r>
              <a:rPr lang="en-US" sz="2800" dirty="0" smtClean="0"/>
              <a:t>++) {</a:t>
            </a:r>
          </a:p>
          <a:p>
            <a:pPr>
              <a:buNone/>
            </a:pPr>
            <a:r>
              <a:rPr lang="en-US" sz="2800" dirty="0" err="1" smtClean="0"/>
              <a:t>System.out.println</a:t>
            </a:r>
            <a:r>
              <a:rPr lang="en-US" sz="2800" dirty="0" smtClean="0"/>
              <a:t>(</a:t>
            </a:r>
            <a:r>
              <a:rPr lang="en-US" sz="2800" dirty="0" err="1" smtClean="0"/>
              <a:t>i</a:t>
            </a:r>
            <a:r>
              <a:rPr lang="en-US" sz="2800" dirty="0" smtClean="0"/>
              <a:t>); }</a:t>
            </a:r>
          </a:p>
          <a:p>
            <a:pPr>
              <a:buNone/>
            </a:pPr>
            <a:r>
              <a:rPr lang="en-US" sz="2800" dirty="0" smtClean="0"/>
              <a:t>2. </a:t>
            </a:r>
            <a:r>
              <a:rPr lang="en-US" sz="2800" dirty="0" err="1" smtClean="0"/>
              <a:t>int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 = 0;</a:t>
            </a:r>
          </a:p>
          <a:p>
            <a:pPr>
              <a:buNone/>
            </a:pPr>
            <a:r>
              <a:rPr lang="en-US" sz="2800" dirty="0" smtClean="0"/>
              <a:t>while(</a:t>
            </a:r>
            <a:r>
              <a:rPr lang="en-US" sz="2800" dirty="0" err="1" smtClean="0"/>
              <a:t>i</a:t>
            </a:r>
            <a:r>
              <a:rPr lang="en-US" sz="2800" dirty="0" smtClean="0"/>
              <a:t> &lt; 10) {</a:t>
            </a:r>
          </a:p>
          <a:p>
            <a:pPr>
              <a:buNone/>
            </a:pPr>
            <a:r>
              <a:rPr lang="en-US" sz="2800" dirty="0" err="1" smtClean="0"/>
              <a:t>System.out.println</a:t>
            </a:r>
            <a:r>
              <a:rPr lang="en-US" sz="2800" dirty="0" smtClean="0"/>
              <a:t>(</a:t>
            </a:r>
            <a:r>
              <a:rPr lang="en-US" sz="2800" dirty="0" err="1" smtClean="0"/>
              <a:t>i</a:t>
            </a:r>
            <a:r>
              <a:rPr lang="en-US" sz="2800" dirty="0" smtClean="0"/>
              <a:t>++); //prints </a:t>
            </a:r>
            <a:r>
              <a:rPr lang="en-US" sz="2800" dirty="0" err="1" smtClean="0"/>
              <a:t>i</a:t>
            </a:r>
            <a:r>
              <a:rPr lang="en-US" sz="2800" dirty="0" smtClean="0"/>
              <a:t> before</a:t>
            </a:r>
          </a:p>
          <a:p>
            <a:pPr>
              <a:buNone/>
            </a:pPr>
            <a:r>
              <a:rPr lang="en-US" sz="2800" dirty="0" smtClean="0"/>
              <a:t>} //applying </a:t>
            </a:r>
            <a:r>
              <a:rPr lang="en-US" sz="2800" dirty="0" err="1" smtClean="0"/>
              <a:t>i</a:t>
            </a:r>
            <a:r>
              <a:rPr lang="en-US" sz="2800" dirty="0" smtClean="0"/>
              <a:t>++</a:t>
            </a:r>
          </a:p>
          <a:p>
            <a:pPr>
              <a:buNone/>
            </a:pPr>
            <a:r>
              <a:rPr lang="en-US" sz="2800" dirty="0" smtClean="0"/>
              <a:t>1. </a:t>
            </a:r>
            <a:r>
              <a:rPr lang="en-US" sz="2800" dirty="0" err="1" smtClean="0"/>
              <a:t>int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 = 0;</a:t>
            </a:r>
          </a:p>
          <a:p>
            <a:pPr>
              <a:buNone/>
            </a:pPr>
            <a:r>
              <a:rPr lang="en-US" sz="2800" dirty="0" smtClean="0"/>
              <a:t>Do {</a:t>
            </a:r>
          </a:p>
          <a:p>
            <a:pPr>
              <a:buNone/>
            </a:pPr>
            <a:r>
              <a:rPr lang="en-US" sz="2800" dirty="0" err="1" smtClean="0"/>
              <a:t>System.out.println</a:t>
            </a:r>
            <a:r>
              <a:rPr lang="en-US" sz="2800" dirty="0" smtClean="0"/>
              <a:t>(</a:t>
            </a:r>
            <a:r>
              <a:rPr lang="en-US" sz="2800" dirty="0" err="1" smtClean="0"/>
              <a:t>i</a:t>
            </a:r>
            <a:r>
              <a:rPr lang="en-US" sz="2800" dirty="0" smtClean="0"/>
              <a:t>++); } </a:t>
            </a:r>
          </a:p>
          <a:p>
            <a:pPr>
              <a:buNone/>
            </a:pPr>
            <a:r>
              <a:rPr lang="en-US" sz="2800" dirty="0" smtClean="0"/>
              <a:t>while(</a:t>
            </a:r>
            <a:r>
              <a:rPr lang="en-US" sz="2800" dirty="0" err="1" smtClean="0"/>
              <a:t>i</a:t>
            </a:r>
            <a:r>
              <a:rPr lang="en-US" sz="2800" dirty="0" smtClean="0"/>
              <a:t> &lt; 10)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pPr eaLnBrk="1" hangingPunct="1"/>
            <a:r>
              <a:rPr lang="en-US" dirty="0" smtClean="0"/>
              <a:t>3. Pair Programming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87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Also a coding process that has been proposed as key practice in XP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Code is written by pair of programmers rather than individuals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800" dirty="0" smtClean="0"/>
              <a:t>The pair together design algorithms, data structures, strategies, etc.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800" dirty="0" smtClean="0"/>
              <a:t>One person types the code, the other actively reviews what is being typed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800" dirty="0" smtClean="0"/>
              <a:t>Errors are pointed out and together solutions are formulated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800" dirty="0" smtClean="0"/>
              <a:t>Roles are reversed periodically</a:t>
            </a:r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9D5CBB-C3A1-4327-ACB8-0CBEE2930EEA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pPr eaLnBrk="1" hangingPunct="1"/>
            <a:r>
              <a:rPr lang="en-US" dirty="0" smtClean="0"/>
              <a:t>Source Code Control and Built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05000"/>
            <a:ext cx="8077200" cy="457199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Source code control is an essential step programmers have to do</a:t>
            </a:r>
          </a:p>
          <a:p>
            <a:pPr eaLnBrk="1" hangingPunct="1">
              <a:lnSpc>
                <a:spcPct val="80000"/>
              </a:lnSpc>
            </a:pPr>
            <a:endParaRPr lang="en-US" sz="2800" dirty="0" smtClean="0"/>
          </a:p>
          <a:p>
            <a:pPr>
              <a:lnSpc>
                <a:spcPct val="80000"/>
              </a:lnSpc>
            </a:pPr>
            <a:r>
              <a:rPr lang="en-US" sz="2800" dirty="0" smtClean="0"/>
              <a:t>Generally tools like Concurrent versions system(</a:t>
            </a:r>
            <a:r>
              <a:rPr lang="en-US" sz="2800" b="1" dirty="0" smtClean="0"/>
              <a:t>CVS</a:t>
            </a:r>
            <a:r>
              <a:rPr lang="en-US" sz="2800" dirty="0" smtClean="0"/>
              <a:t>), Visual Source Safe(</a:t>
            </a:r>
            <a:r>
              <a:rPr lang="en-US" sz="2800" b="1" dirty="0" smtClean="0"/>
              <a:t>VSS</a:t>
            </a:r>
            <a:r>
              <a:rPr lang="en-US" sz="2800" dirty="0" smtClean="0"/>
              <a:t>) are used</a:t>
            </a:r>
          </a:p>
          <a:p>
            <a:pPr>
              <a:lnSpc>
                <a:spcPct val="80000"/>
              </a:lnSpc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A tool consists of repository, which is a controlled directory structure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The repository is the official source for all the code files</a:t>
            </a:r>
          </a:p>
        </p:txBody>
      </p:sp>
      <p:sp>
        <p:nvSpPr>
          <p:cNvPr id="378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2AEB83-AE78-4EF2-8F0D-9B94283B554D}" type="slidenum">
              <a:rPr lang="en-US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Refactoring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As code evolves, the design becomes more complex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Refactoring is a technique to improve existing code by improving its design (i.e. the internal structure)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Refactoring is done generally to reduce </a:t>
            </a:r>
            <a:r>
              <a:rPr lang="en-US" sz="2800" b="1" dirty="0" smtClean="0"/>
              <a:t>coupling</a:t>
            </a:r>
            <a:r>
              <a:rPr lang="en-US" sz="2800" dirty="0" smtClean="0"/>
              <a:t> or increase </a:t>
            </a:r>
            <a:r>
              <a:rPr lang="en-US" sz="2800" b="1" dirty="0" smtClean="0"/>
              <a:t>cohesion</a:t>
            </a:r>
          </a:p>
          <a:p>
            <a:pPr>
              <a:lnSpc>
                <a:spcPct val="90000"/>
              </a:lnSpc>
            </a:pPr>
            <a:r>
              <a:rPr lang="en-US" sz="2800" b="1" dirty="0" smtClean="0"/>
              <a:t>No</a:t>
            </a:r>
            <a:r>
              <a:rPr lang="en-US" sz="2800" dirty="0" smtClean="0"/>
              <a:t> new functionality is added</a:t>
            </a:r>
          </a:p>
          <a:p>
            <a:pPr eaLnBrk="1" hangingPunct="1">
              <a:lnSpc>
                <a:spcPct val="90000"/>
              </a:lnSpc>
            </a:pPr>
            <a:endParaRPr lang="en-US" sz="2800" dirty="0" smtClean="0"/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43E6026-09F6-434E-AA7A-030192ED99C7}" type="slidenum">
              <a:rPr lang="en-US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Refactoring…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“Bad smells” that suggest that refactoring may be desired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 smtClean="0"/>
              <a:t>Duplicate code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 smtClean="0"/>
              <a:t>Long parameter list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 smtClean="0"/>
              <a:t>Switch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 smtClean="0"/>
              <a:t>Too much communication between objects</a:t>
            </a:r>
          </a:p>
        </p:txBody>
      </p:sp>
      <p:sp>
        <p:nvSpPr>
          <p:cNvPr id="430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D5C9D2-25DA-4F1D-A457-B67EB0E4D620}" type="slidenum">
              <a:rPr lang="en-US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>
                <a:effectLst/>
                <a:latin typeface="Arial" pitchFamily="34" charset="0"/>
                <a:ea typeface="ＭＳ Ｐゴシック" pitchFamily="34" charset="-128"/>
                <a:cs typeface="Arial" pitchFamily="34" charset="0"/>
              </a:rPr>
              <a:t>Software Testing</a:t>
            </a:r>
            <a:endParaRPr lang="en-US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>
            <a:norm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752600"/>
            <a:ext cx="8686800" cy="48006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800" dirty="0" smtClean="0"/>
              <a:t>Main objectives of a project: High Quality &amp; High Productivity (Q&amp;P)</a:t>
            </a:r>
          </a:p>
          <a:p>
            <a:pPr>
              <a:lnSpc>
                <a:spcPct val="80000"/>
              </a:lnSpc>
            </a:pPr>
            <a:endParaRPr lang="en-US" sz="2800" dirty="0" smtClean="0"/>
          </a:p>
          <a:p>
            <a:pPr>
              <a:lnSpc>
                <a:spcPct val="80000"/>
              </a:lnSpc>
            </a:pPr>
            <a:r>
              <a:rPr lang="en-US" sz="2800" dirty="0" smtClean="0"/>
              <a:t>Quality </a:t>
            </a:r>
            <a:r>
              <a:rPr lang="en-US" sz="2800" dirty="0"/>
              <a:t>has many dimensions</a:t>
            </a:r>
          </a:p>
          <a:p>
            <a:pPr lvl="1">
              <a:lnSpc>
                <a:spcPct val="80000"/>
              </a:lnSpc>
            </a:pPr>
            <a:r>
              <a:rPr lang="en-US" sz="2800" dirty="0"/>
              <a:t>reliability, maintainability, interoperability etc.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Reliability is perhaps the most important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Reliability: The chances of software </a:t>
            </a:r>
            <a:r>
              <a:rPr lang="en-US" sz="2800" dirty="0" smtClean="0"/>
              <a:t>failing</a:t>
            </a:r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More defects =&gt; more chances of failure =&gt; lesser </a:t>
            </a:r>
            <a:r>
              <a:rPr lang="en-US" sz="2800" dirty="0" smtClean="0"/>
              <a:t>reliability</a:t>
            </a: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8A7B-BAF8-4F0E-9691-10557A1D1EEC}" type="slidenum">
              <a:rPr lang="en-US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990600"/>
            <a:ext cx="8382000" cy="5410200"/>
          </a:xfrm>
        </p:spPr>
        <p:txBody>
          <a:bodyPr>
            <a:normAutofit/>
          </a:bodyPr>
          <a:lstStyle/>
          <a:p>
            <a:endParaRPr lang="en-US" sz="2800" dirty="0" smtClean="0"/>
          </a:p>
          <a:p>
            <a:r>
              <a:rPr lang="en-US" sz="2800" dirty="0" smtClean="0"/>
              <a:t>The average software product released on the market should be error free. </a:t>
            </a:r>
          </a:p>
          <a:p>
            <a:r>
              <a:rPr lang="en-US" sz="2800" dirty="0" smtClean="0"/>
              <a:t>Testing is obviously concerned with errors, faults, failures and incidents. </a:t>
            </a:r>
          </a:p>
          <a:p>
            <a:r>
              <a:rPr lang="en-US" sz="2800" dirty="0" smtClean="0"/>
              <a:t>A test is the act of exercising software with test cases with an objective of:</a:t>
            </a:r>
          </a:p>
          <a:p>
            <a:pPr>
              <a:buNone/>
            </a:pPr>
            <a:r>
              <a:rPr lang="en-US" sz="2800" dirty="0" smtClean="0"/>
              <a:t>- Finding failure</a:t>
            </a:r>
          </a:p>
          <a:p>
            <a:pPr>
              <a:buNone/>
            </a:pPr>
            <a:r>
              <a:rPr lang="en-US" sz="2800" dirty="0" smtClean="0"/>
              <a:t>- Demonstrate correct execution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Testing Life Cycle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966" y="1905000"/>
            <a:ext cx="8738402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key concepts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40188" cy="422672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Error</a:t>
            </a:r>
          </a:p>
          <a:p>
            <a:pPr>
              <a:buNone/>
            </a:pPr>
            <a:r>
              <a:rPr lang="en-US" sz="2800" dirty="0" smtClean="0"/>
              <a:t>Represents mistakes made by people.</a:t>
            </a:r>
          </a:p>
          <a:p>
            <a:pPr>
              <a:buNone/>
            </a:pPr>
            <a:r>
              <a:rPr lang="en-US" sz="2800" dirty="0" smtClean="0"/>
              <a:t>That is, error refers to the difference between the actual output of a software and the correct output.</a:t>
            </a:r>
            <a:endParaRPr lang="en-US" sz="2800" dirty="0"/>
          </a:p>
        </p:txBody>
      </p:sp>
      <p:pic>
        <p:nvPicPr>
          <p:cNvPr id="11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447954" y="3276600"/>
            <a:ext cx="4253024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438400"/>
            <a:ext cx="3810000" cy="392192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/>
              <a:t>Fault (De</a:t>
            </a:r>
            <a:r>
              <a:rPr lang="en-US" sz="2800" dirty="0" smtClean="0"/>
              <a:t>f</a:t>
            </a:r>
            <a:r>
              <a:rPr lang="en-US" sz="2800" b="1" dirty="0" smtClean="0"/>
              <a:t>ect or bug )</a:t>
            </a:r>
          </a:p>
          <a:p>
            <a:pPr>
              <a:buNone/>
            </a:pPr>
            <a:r>
              <a:rPr lang="en-US" sz="2800" dirty="0" smtClean="0"/>
              <a:t>is the result of error.</a:t>
            </a:r>
          </a:p>
          <a:p>
            <a:pPr>
              <a:buNone/>
            </a:pPr>
            <a:r>
              <a:rPr lang="en-US" sz="2800" dirty="0" smtClean="0"/>
              <a:t>Fault is a condition that causes a system to fail in performing its required function.</a:t>
            </a:r>
            <a:endParaRPr lang="en-US" sz="28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2885790"/>
            <a:ext cx="4953000" cy="3972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191000" cy="3962400"/>
          </a:xfrm>
        </p:spPr>
        <p:txBody>
          <a:bodyPr>
            <a:normAutofit lnSpcReduction="10000"/>
          </a:bodyPr>
          <a:lstStyle/>
          <a:p>
            <a:r>
              <a:rPr lang="en-US" sz="2800" b="1" dirty="0" smtClean="0"/>
              <a:t>Failure</a:t>
            </a:r>
          </a:p>
          <a:p>
            <a:pPr>
              <a:buNone/>
            </a:pPr>
            <a:r>
              <a:rPr lang="en-US" sz="2800" dirty="0" smtClean="0"/>
              <a:t>Occurs when fault executes.</a:t>
            </a:r>
          </a:p>
          <a:p>
            <a:r>
              <a:rPr lang="en-US" sz="2800" dirty="0" smtClean="0"/>
              <a:t>Failure is the inability of a system or component to perform a required</a:t>
            </a:r>
          </a:p>
          <a:p>
            <a:pPr>
              <a:buNone/>
            </a:pPr>
            <a:r>
              <a:rPr lang="en-US" sz="2800" dirty="0" smtClean="0"/>
              <a:t>function according to its specifications.</a:t>
            </a:r>
            <a:endParaRPr lang="en-US" sz="28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5980" y="2057400"/>
            <a:ext cx="3906972" cy="414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/>
          <a:lstStyle/>
          <a:p>
            <a:r>
              <a:rPr lang="en-US" dirty="0"/>
              <a:t>Faults &amp; Failure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828799"/>
            <a:ext cx="8305800" cy="47244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Failure: A software failure occurs if the behavior of the s/w is different from expected/specified.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Fault (defect): </a:t>
            </a:r>
            <a:r>
              <a:rPr lang="en-US" sz="2800" dirty="0"/>
              <a:t>cause of software failure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Fault = bug = defect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Failure implies presence of defects</a:t>
            </a:r>
          </a:p>
          <a:p>
            <a:pPr>
              <a:lnSpc>
                <a:spcPct val="90000"/>
              </a:lnSpc>
              <a:buNone/>
            </a:pP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34D9-3806-47EB-8C2C-AF61BECDAC62}" type="slidenum">
              <a:rPr lang="en-US"/>
              <a:pPr/>
              <a:t>38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 of Testing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28799"/>
            <a:ext cx="8305800" cy="4800601"/>
          </a:xfrm>
        </p:spPr>
        <p:txBody>
          <a:bodyPr>
            <a:normAutofit/>
          </a:bodyPr>
          <a:lstStyle/>
          <a:p>
            <a:r>
              <a:rPr lang="en-US" sz="2800" dirty="0"/>
              <a:t>Reviews are human processes - can not catch all defects</a:t>
            </a:r>
          </a:p>
          <a:p>
            <a:r>
              <a:rPr lang="en-US" sz="2800" dirty="0"/>
              <a:t>Hence there will be requirement defects, design defects and coding defects in code</a:t>
            </a:r>
          </a:p>
          <a:p>
            <a:r>
              <a:rPr lang="en-US" sz="2800" dirty="0"/>
              <a:t>These defects have to be identified by testing</a:t>
            </a:r>
          </a:p>
          <a:p>
            <a:r>
              <a:rPr lang="en-US" sz="2800" dirty="0"/>
              <a:t>Therefore testing plays a critical role in ensuring quality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0AAD2-D113-448F-BCF5-4ADC6E4B97F4}" type="slidenum">
              <a:rPr lang="en-US"/>
              <a:pPr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defects in Testing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81200"/>
            <a:ext cx="7772400" cy="4687888"/>
          </a:xfrm>
        </p:spPr>
        <p:txBody>
          <a:bodyPr>
            <a:normAutofit/>
          </a:bodyPr>
          <a:lstStyle/>
          <a:p>
            <a:r>
              <a:rPr lang="en-US" sz="2800" dirty="0"/>
              <a:t>During testing,  software under test (SUT) executed with set of test cases</a:t>
            </a:r>
          </a:p>
          <a:p>
            <a:r>
              <a:rPr lang="en-US" sz="2800" dirty="0"/>
              <a:t>Failure during testing =&gt; defects are present</a:t>
            </a:r>
          </a:p>
          <a:p>
            <a:r>
              <a:rPr lang="en-US" sz="2800" dirty="0"/>
              <a:t>No failure =&gt; confidence grows, but can not say “defects are absent</a:t>
            </a:r>
            <a:r>
              <a:rPr lang="en-US" sz="2800" dirty="0" smtClean="0"/>
              <a:t>”</a:t>
            </a: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8201-215E-4DA9-9F1D-6BA27BBDF9BD}" type="slidenum">
              <a:rPr lang="en-US"/>
              <a:pPr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types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Development testing </a:t>
            </a:r>
          </a:p>
          <a:p>
            <a:r>
              <a:rPr lang="en-US" sz="3200" dirty="0" smtClean="0"/>
              <a:t>Test-driven development </a:t>
            </a:r>
          </a:p>
          <a:p>
            <a:r>
              <a:rPr lang="en-US" sz="3200" dirty="0" smtClean="0"/>
              <a:t>Release testing </a:t>
            </a:r>
          </a:p>
          <a:p>
            <a:r>
              <a:rPr lang="en-US" sz="3200" dirty="0" smtClean="0"/>
              <a:t>User/customer testing </a:t>
            </a:r>
          </a:p>
          <a:p>
            <a:r>
              <a:rPr lang="en-US" sz="3200" dirty="0" smtClean="0"/>
              <a:t>Acceptance testing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1. Development testing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536504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This includes all testing activities that are carried out by the team developing the system. Testing is carried out at 3 levels. </a:t>
            </a:r>
          </a:p>
          <a:p>
            <a:r>
              <a:rPr lang="en-US" b="1" dirty="0" smtClean="0"/>
              <a:t>Unity testing: </a:t>
            </a:r>
            <a:r>
              <a:rPr lang="en-US" dirty="0" smtClean="0"/>
              <a:t>the process of testing program components, such as methods or object classes. Test are calls to routine with input parameters.</a:t>
            </a:r>
          </a:p>
          <a:p>
            <a:r>
              <a:rPr lang="en-US" b="1" dirty="0" smtClean="0"/>
              <a:t>Component testing: </a:t>
            </a:r>
            <a:r>
              <a:rPr lang="en-US" dirty="0" smtClean="0"/>
              <a:t>this test shows if the component interface behaves according to its specification. </a:t>
            </a:r>
          </a:p>
          <a:p>
            <a:r>
              <a:rPr lang="en-US" b="1" dirty="0" smtClean="0"/>
              <a:t>System testing: </a:t>
            </a:r>
            <a:r>
              <a:rPr lang="en-US" dirty="0" smtClean="0"/>
              <a:t>this checks that components are compatible, interact correctly and transfer the right data at the right time across their interfaces. 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Test-driven development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Test-driven development (TDD) is an approach where you develop the code incrementally, along with a test for that increment. You can only move to the next increment only if the previous increment passes its test. </a:t>
            </a:r>
          </a:p>
          <a:p>
            <a:r>
              <a:rPr lang="en-US" dirty="0" smtClean="0"/>
              <a:t>Benefits of the test driven development are: </a:t>
            </a:r>
          </a:p>
          <a:p>
            <a:pPr>
              <a:buNone/>
            </a:pPr>
            <a:r>
              <a:rPr lang="en-US" dirty="0" smtClean="0"/>
              <a:t>- </a:t>
            </a:r>
            <a:r>
              <a:rPr lang="en-US" b="1" dirty="0" smtClean="0"/>
              <a:t>Code coverage: </a:t>
            </a:r>
            <a:r>
              <a:rPr lang="en-US" dirty="0" smtClean="0"/>
              <a:t>defects are discovered early in the development process.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772816"/>
            <a:ext cx="8363272" cy="4752528"/>
          </a:xfrm>
        </p:spPr>
        <p:txBody>
          <a:bodyPr>
            <a:normAutofit fontScale="85000" lnSpcReduction="20000"/>
          </a:bodyPr>
          <a:lstStyle/>
          <a:p>
            <a:pPr lvl="1">
              <a:lnSpc>
                <a:spcPct val="80000"/>
              </a:lnSpc>
              <a:buFontTx/>
              <a:buChar char="-"/>
            </a:pPr>
            <a:r>
              <a:rPr lang="en-US" sz="2800" b="1" dirty="0" smtClean="0"/>
              <a:t>Regression testing: </a:t>
            </a:r>
            <a:r>
              <a:rPr lang="en-US" sz="2800" dirty="0" smtClean="0"/>
              <a:t>regression tests are used to 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800" dirty="0" smtClean="0"/>
              <a:t>check that changes to the program have not introduced 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800" dirty="0" smtClean="0"/>
              <a:t>new bugs . test that previous functionality works alright; 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800" dirty="0" smtClean="0"/>
              <a:t>important when changes are made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- Simplified debugging: </a:t>
            </a:r>
            <a:r>
              <a:rPr lang="en-US" dirty="0" smtClean="0"/>
              <a:t>when test fails, it is obvious that the problem lies in the newly written code. </a:t>
            </a:r>
            <a:r>
              <a:rPr lang="en-US" dirty="0" smtClean="0">
                <a:ea typeface="ＭＳ Ｐゴシック" pitchFamily="34" charset="-128"/>
                <a:cs typeface="Arial" pitchFamily="34" charset="0"/>
              </a:rPr>
              <a:t>The newly written code needs to be checked and modified.</a:t>
            </a:r>
            <a:endParaRPr lang="en-US" dirty="0" smtClean="0"/>
          </a:p>
          <a:p>
            <a:endParaRPr lang="en-US" b="1" dirty="0" smtClean="0"/>
          </a:p>
          <a:p>
            <a:pPr>
              <a:buNone/>
            </a:pPr>
            <a:r>
              <a:rPr lang="en-US" b="1" dirty="0" smtClean="0"/>
              <a:t>- System documentation: </a:t>
            </a:r>
            <a:r>
              <a:rPr lang="en-US" dirty="0" smtClean="0">
                <a:ea typeface="ＭＳ Ｐゴシック" pitchFamily="34" charset="-128"/>
                <a:cs typeface="Arial" pitchFamily="34" charset="0"/>
              </a:rPr>
              <a:t>The tests themselves are a form of</a:t>
            </a:r>
            <a:r>
              <a:rPr lang="en-US" dirty="0" smtClean="0"/>
              <a:t> a documentation that describe what the code should be doing.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Test-driven development</a:t>
            </a:r>
            <a:endParaRPr lang="en-US" dirty="0"/>
          </a:p>
        </p:txBody>
      </p:sp>
      <p:pic>
        <p:nvPicPr>
          <p:cNvPr id="4" name="Content Placeholder 3" descr="8.9 TestDrivenDev.eps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-43665" b="-43665"/>
          <a:stretch>
            <a:fillRect/>
          </a:stretch>
        </p:blipFill>
        <p:spPr bwMode="auto">
          <a:xfrm>
            <a:off x="849763" y="1828800"/>
            <a:ext cx="7897666" cy="4343400"/>
          </a:xfrm>
          <a:noFill/>
          <a:ln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Release testing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This is the process of testing a particular release of a system that is intended for use outside of the development team. </a:t>
            </a:r>
          </a:p>
          <a:p>
            <a:r>
              <a:rPr lang="en-US" b="1" dirty="0" smtClean="0"/>
              <a:t>Requirement based testing: </a:t>
            </a:r>
            <a:r>
              <a:rPr lang="en-US" dirty="0" smtClean="0"/>
              <a:t>this checks if the requirement has been satisfied. This validates proper implementation of the requirement </a:t>
            </a:r>
          </a:p>
          <a:p>
            <a:r>
              <a:rPr lang="en-US" b="1" dirty="0" smtClean="0"/>
              <a:t>Scenario testing: </a:t>
            </a:r>
            <a:r>
              <a:rPr lang="en-US" dirty="0" smtClean="0"/>
              <a:t>this is a way of testing a scenario ( a story that describes a way in which the system might be used)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Performance testing: </a:t>
            </a:r>
            <a:r>
              <a:rPr lang="en-US" sz="2800" dirty="0" smtClean="0"/>
              <a:t>once the system is complete, some properties like performance and reliability are tested. </a:t>
            </a:r>
          </a:p>
          <a:p>
            <a:r>
              <a:rPr lang="en-US" sz="2800" dirty="0" smtClean="0"/>
              <a:t>Performance testing involves running a series of tests where you can increase the load until the performance becomes unacceptable. </a:t>
            </a:r>
          </a:p>
          <a:p>
            <a:r>
              <a:rPr lang="en-US" sz="2800" dirty="0" smtClean="0">
                <a:ea typeface="ＭＳ Ｐゴシック" pitchFamily="34" charset="-128"/>
                <a:cs typeface="Arial" pitchFamily="34" charset="0"/>
              </a:rPr>
              <a:t>Release testing is a form of system testing.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24712"/>
          </a:xfrm>
        </p:spPr>
        <p:txBody>
          <a:bodyPr/>
          <a:lstStyle/>
          <a:p>
            <a:r>
              <a:rPr lang="en-US" dirty="0" smtClean="0"/>
              <a:t>4. User/customer testing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Is the testing process where users or customers provide input and advice on system testing. It is an experiment to check if the system does what is needed. </a:t>
            </a:r>
          </a:p>
          <a:p>
            <a:pPr>
              <a:buNone/>
            </a:pPr>
            <a:r>
              <a:rPr lang="en-US" dirty="0" smtClean="0"/>
              <a:t>There are 3 different types of user testing: </a:t>
            </a:r>
          </a:p>
          <a:p>
            <a:r>
              <a:rPr lang="en-US" b="1" dirty="0" smtClean="0"/>
              <a:t>Alpha testing: </a:t>
            </a:r>
            <a:r>
              <a:rPr lang="en-US" dirty="0" smtClean="0"/>
              <a:t>users and developer test the software at the developer’s site. </a:t>
            </a:r>
          </a:p>
          <a:p>
            <a:r>
              <a:rPr lang="en-US" b="1" dirty="0" smtClean="0"/>
              <a:t>Beta testing: </a:t>
            </a:r>
            <a:r>
              <a:rPr lang="en-US" dirty="0" smtClean="0"/>
              <a:t>a release of software is given to user to experiment it and raise discovered problems with developers.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Acceptance testing: </a:t>
            </a:r>
            <a:r>
              <a:rPr lang="en-US" dirty="0" smtClean="0"/>
              <a:t>customers test if the system is acceptable and can be deployed in the customer’s environment.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/>
          <a:lstStyle/>
          <a:p>
            <a:r>
              <a:rPr lang="en-US" dirty="0" smtClean="0"/>
              <a:t>Acceptance testing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Acceptance testing is an inherent part of custom system development. It takes place after release testing. Acceptance implies that payment should be made for the system. </a:t>
            </a:r>
          </a:p>
          <a:p>
            <a:r>
              <a:rPr lang="en-US" dirty="0" smtClean="0"/>
              <a:t>There are 6 stages in the acceptance testing process: </a:t>
            </a:r>
          </a:p>
          <a:p>
            <a:pPr>
              <a:buNone/>
            </a:pPr>
            <a:r>
              <a:rPr lang="en-US" dirty="0" smtClean="0"/>
              <a:t>1.Define acceptance criteria </a:t>
            </a:r>
          </a:p>
          <a:p>
            <a:pPr>
              <a:buNone/>
            </a:pPr>
            <a:r>
              <a:rPr lang="en-US" dirty="0" smtClean="0"/>
              <a:t>2.Plan acceptance testing </a:t>
            </a:r>
          </a:p>
          <a:p>
            <a:pPr>
              <a:buNone/>
            </a:pPr>
            <a:r>
              <a:rPr lang="en-US" dirty="0" smtClean="0"/>
              <a:t>3.Derive acceptance tests </a:t>
            </a:r>
          </a:p>
          <a:p>
            <a:pPr>
              <a:buNone/>
            </a:pPr>
            <a:r>
              <a:rPr lang="en-US" dirty="0" smtClean="0"/>
              <a:t>4.Run acceptance tests </a:t>
            </a:r>
          </a:p>
          <a:p>
            <a:pPr>
              <a:buNone/>
            </a:pPr>
            <a:r>
              <a:rPr lang="en-US" dirty="0" smtClean="0"/>
              <a:t>5.Negotiate test results </a:t>
            </a:r>
          </a:p>
          <a:p>
            <a:pPr>
              <a:buNone/>
            </a:pPr>
            <a:r>
              <a:rPr lang="en-US" dirty="0" smtClean="0"/>
              <a:t>6.Reject/accept system 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The acceptance testing process</a:t>
            </a:r>
            <a:r>
              <a:rPr lang="en-GB" dirty="0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 </a:t>
            </a:r>
            <a:endParaRPr lang="en-US" dirty="0"/>
          </a:p>
        </p:txBody>
      </p:sp>
      <p:pic>
        <p:nvPicPr>
          <p:cNvPr id="4" name="Content Placeholder 3" descr="8.11 AcceptanceTesting.eps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-105823" b="-105823"/>
          <a:stretch>
            <a:fillRect/>
          </a:stretch>
        </p:blipFill>
        <p:spPr bwMode="auto">
          <a:xfrm>
            <a:off x="434121" y="1447800"/>
            <a:ext cx="8313282" cy="4571999"/>
          </a:xfrm>
          <a:noFill/>
          <a:ln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Levels of Testing</a:t>
            </a:r>
          </a:p>
        </p:txBody>
      </p:sp>
      <p:sp>
        <p:nvSpPr>
          <p:cNvPr id="360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code contains requirement defects, design defects, and coding defects</a:t>
            </a:r>
          </a:p>
          <a:p>
            <a:r>
              <a:rPr lang="en-US"/>
              <a:t>Nature of defects is different for different injection stages</a:t>
            </a:r>
          </a:p>
          <a:p>
            <a:r>
              <a:rPr lang="en-US"/>
              <a:t>One type of testing will be unable to detect the different types of defects</a:t>
            </a:r>
          </a:p>
          <a:p>
            <a:r>
              <a:rPr lang="en-US"/>
              <a:t>Different levels of testing are used to uncover these defects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5C51-1280-44B3-B7B1-FBA1B3028E40}" type="slidenum">
              <a:rPr lang="en-US"/>
              <a:pPr/>
              <a:t>52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E4F-D040-4838-9C65-AABC46ED46E4}" type="slidenum">
              <a:rPr lang="en-US"/>
              <a:pPr/>
              <a:t>53</a:t>
            </a:fld>
            <a:endParaRPr lang="en-US"/>
          </a:p>
        </p:txBody>
      </p:sp>
      <p:sp>
        <p:nvSpPr>
          <p:cNvPr id="362498" name="Text Box 2"/>
          <p:cNvSpPr txBox="1">
            <a:spLocks noChangeArrowheads="1"/>
          </p:cNvSpPr>
          <p:nvPr/>
        </p:nvSpPr>
        <p:spPr bwMode="auto">
          <a:xfrm>
            <a:off x="1174750" y="2022475"/>
            <a:ext cx="1530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dirty="0">
                <a:latin typeface="Times New Roman" pitchFamily="18" charset="0"/>
              </a:rPr>
              <a:t>User needs</a:t>
            </a:r>
          </a:p>
        </p:txBody>
      </p:sp>
      <p:sp>
        <p:nvSpPr>
          <p:cNvPr id="362499" name="Text Box 3"/>
          <p:cNvSpPr txBox="1">
            <a:spLocks noChangeArrowheads="1"/>
          </p:cNvSpPr>
          <p:nvPr/>
        </p:nvSpPr>
        <p:spPr bwMode="auto">
          <a:xfrm>
            <a:off x="5518150" y="1981200"/>
            <a:ext cx="2490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>
                <a:latin typeface="Times New Roman" pitchFamily="18" charset="0"/>
              </a:rPr>
              <a:t>Acceptance testing</a:t>
            </a:r>
          </a:p>
        </p:txBody>
      </p:sp>
      <p:sp>
        <p:nvSpPr>
          <p:cNvPr id="362500" name="Text Box 4"/>
          <p:cNvSpPr txBox="1">
            <a:spLocks noChangeArrowheads="1"/>
          </p:cNvSpPr>
          <p:nvPr/>
        </p:nvSpPr>
        <p:spPr bwMode="auto">
          <a:xfrm>
            <a:off x="1174750" y="3216275"/>
            <a:ext cx="17557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dirty="0">
                <a:latin typeface="Times New Roman" pitchFamily="18" charset="0"/>
              </a:rPr>
              <a:t>Requirement</a:t>
            </a:r>
          </a:p>
          <a:p>
            <a:pPr algn="l"/>
            <a:r>
              <a:rPr lang="en-US" sz="2400" dirty="0">
                <a:latin typeface="Times New Roman" pitchFamily="18" charset="0"/>
              </a:rPr>
              <a:t>specification</a:t>
            </a:r>
          </a:p>
        </p:txBody>
      </p:sp>
      <p:sp>
        <p:nvSpPr>
          <p:cNvPr id="362501" name="Text Box 5"/>
          <p:cNvSpPr txBox="1">
            <a:spLocks noChangeArrowheads="1"/>
          </p:cNvSpPr>
          <p:nvPr/>
        </p:nvSpPr>
        <p:spPr bwMode="auto">
          <a:xfrm>
            <a:off x="5775325" y="3352800"/>
            <a:ext cx="1968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>
                <a:latin typeface="Times New Roman" pitchFamily="18" charset="0"/>
              </a:rPr>
              <a:t>System testing</a:t>
            </a:r>
          </a:p>
        </p:txBody>
      </p:sp>
      <p:sp>
        <p:nvSpPr>
          <p:cNvPr id="362502" name="Text Box 6"/>
          <p:cNvSpPr txBox="1">
            <a:spLocks noChangeArrowheads="1"/>
          </p:cNvSpPr>
          <p:nvPr/>
        </p:nvSpPr>
        <p:spPr bwMode="auto">
          <a:xfrm>
            <a:off x="1327150" y="4841875"/>
            <a:ext cx="1047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>
                <a:latin typeface="Times New Roman" pitchFamily="18" charset="0"/>
              </a:rPr>
              <a:t>Design</a:t>
            </a:r>
          </a:p>
        </p:txBody>
      </p:sp>
      <p:sp>
        <p:nvSpPr>
          <p:cNvPr id="362503" name="Text Box 7"/>
          <p:cNvSpPr txBox="1">
            <a:spLocks noChangeArrowheads="1"/>
          </p:cNvSpPr>
          <p:nvPr/>
        </p:nvSpPr>
        <p:spPr bwMode="auto">
          <a:xfrm>
            <a:off x="1495425" y="6061075"/>
            <a:ext cx="758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>
                <a:latin typeface="Times New Roman" pitchFamily="18" charset="0"/>
              </a:rPr>
              <a:t>code</a:t>
            </a:r>
          </a:p>
        </p:txBody>
      </p:sp>
      <p:sp>
        <p:nvSpPr>
          <p:cNvPr id="362504" name="Text Box 8"/>
          <p:cNvSpPr txBox="1">
            <a:spLocks noChangeArrowheads="1"/>
          </p:cNvSpPr>
          <p:nvPr/>
        </p:nvSpPr>
        <p:spPr bwMode="auto">
          <a:xfrm>
            <a:off x="5670550" y="4841875"/>
            <a:ext cx="2406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>
                <a:latin typeface="Times New Roman" pitchFamily="18" charset="0"/>
              </a:rPr>
              <a:t>Integration testing</a:t>
            </a:r>
          </a:p>
        </p:txBody>
      </p:sp>
      <p:sp>
        <p:nvSpPr>
          <p:cNvPr id="362505" name="Text Box 9"/>
          <p:cNvSpPr txBox="1">
            <a:spLocks noChangeArrowheads="1"/>
          </p:cNvSpPr>
          <p:nvPr/>
        </p:nvSpPr>
        <p:spPr bwMode="auto">
          <a:xfrm>
            <a:off x="6143625" y="6096000"/>
            <a:ext cx="1612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>
                <a:latin typeface="Times New Roman" pitchFamily="18" charset="0"/>
              </a:rPr>
              <a:t>Unit testing</a:t>
            </a:r>
          </a:p>
        </p:txBody>
      </p:sp>
      <p:sp>
        <p:nvSpPr>
          <p:cNvPr id="362506" name="Line 10"/>
          <p:cNvSpPr>
            <a:spLocks noChangeShapeType="1"/>
          </p:cNvSpPr>
          <p:nvPr/>
        </p:nvSpPr>
        <p:spPr bwMode="auto">
          <a:xfrm>
            <a:off x="2790825" y="22860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2507" name="Line 11"/>
          <p:cNvSpPr>
            <a:spLocks noChangeShapeType="1"/>
          </p:cNvSpPr>
          <p:nvPr/>
        </p:nvSpPr>
        <p:spPr bwMode="auto">
          <a:xfrm>
            <a:off x="1952625" y="2438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2508" name="Line 12"/>
          <p:cNvSpPr>
            <a:spLocks noChangeShapeType="1"/>
          </p:cNvSpPr>
          <p:nvPr/>
        </p:nvSpPr>
        <p:spPr bwMode="auto">
          <a:xfrm>
            <a:off x="1952625" y="4038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2509" name="Line 13"/>
          <p:cNvSpPr>
            <a:spLocks noChangeShapeType="1"/>
          </p:cNvSpPr>
          <p:nvPr/>
        </p:nvSpPr>
        <p:spPr bwMode="auto">
          <a:xfrm>
            <a:off x="1952625" y="533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2510" name="Line 14"/>
          <p:cNvSpPr>
            <a:spLocks noChangeShapeType="1"/>
          </p:cNvSpPr>
          <p:nvPr/>
        </p:nvSpPr>
        <p:spPr bwMode="auto">
          <a:xfrm flipV="1">
            <a:off x="6829425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2511" name="Line 15"/>
          <p:cNvSpPr>
            <a:spLocks noChangeShapeType="1"/>
          </p:cNvSpPr>
          <p:nvPr/>
        </p:nvSpPr>
        <p:spPr bwMode="auto">
          <a:xfrm flipV="1">
            <a:off x="6829425" y="3886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2512" name="Line 16"/>
          <p:cNvSpPr>
            <a:spLocks noChangeShapeType="1"/>
          </p:cNvSpPr>
          <p:nvPr/>
        </p:nvSpPr>
        <p:spPr bwMode="auto">
          <a:xfrm flipV="1">
            <a:off x="6829425" y="24384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2513" name="Line 17"/>
          <p:cNvSpPr>
            <a:spLocks noChangeShapeType="1"/>
          </p:cNvSpPr>
          <p:nvPr/>
        </p:nvSpPr>
        <p:spPr bwMode="auto">
          <a:xfrm>
            <a:off x="2943225" y="36576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2514" name="Line 18"/>
          <p:cNvSpPr>
            <a:spLocks noChangeShapeType="1"/>
          </p:cNvSpPr>
          <p:nvPr/>
        </p:nvSpPr>
        <p:spPr bwMode="auto">
          <a:xfrm>
            <a:off x="2867025" y="51054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2515" name="Line 19"/>
          <p:cNvSpPr>
            <a:spLocks noChangeShapeType="1"/>
          </p:cNvSpPr>
          <p:nvPr/>
        </p:nvSpPr>
        <p:spPr bwMode="auto">
          <a:xfrm>
            <a:off x="2409825" y="6324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 Testing</a:t>
            </a:r>
          </a:p>
        </p:txBody>
      </p:sp>
      <p:sp>
        <p:nvSpPr>
          <p:cNvPr id="364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Different modules tested separately</a:t>
            </a:r>
          </a:p>
          <a:p>
            <a:r>
              <a:rPr lang="en-US" sz="2800" dirty="0"/>
              <a:t>Focus: defects injected during coding</a:t>
            </a:r>
          </a:p>
          <a:p>
            <a:r>
              <a:rPr lang="en-US" sz="2800" dirty="0"/>
              <a:t>Essentially a code verification </a:t>
            </a:r>
            <a:r>
              <a:rPr lang="en-US" sz="2800" dirty="0" smtClean="0"/>
              <a:t>technique</a:t>
            </a:r>
            <a:endParaRPr lang="en-US" sz="2800" dirty="0"/>
          </a:p>
          <a:p>
            <a:r>
              <a:rPr lang="en-US" sz="2800" dirty="0"/>
              <a:t>UT is closely associated with coding</a:t>
            </a:r>
          </a:p>
          <a:p>
            <a:r>
              <a:rPr lang="en-US" sz="2800" dirty="0"/>
              <a:t>Frequently the programmer does UT; coding phase sometimes called “coding and unit testing”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75BF-183E-407F-9449-B4147B081288}" type="slidenum">
              <a:rPr lang="en-US"/>
              <a:pPr/>
              <a:t>54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Focuses on interaction of modules in a subsystem</a:t>
            </a:r>
          </a:p>
          <a:p>
            <a:r>
              <a:rPr lang="en-US" dirty="0"/>
              <a:t>Unit tested modules combined to form subsystems</a:t>
            </a:r>
          </a:p>
          <a:p>
            <a:r>
              <a:rPr lang="en-US" dirty="0"/>
              <a:t>Test cases to “exercise” the interaction of modules in different ways</a:t>
            </a:r>
          </a:p>
          <a:p>
            <a:r>
              <a:rPr lang="en-US" dirty="0"/>
              <a:t>May be skipped if the system is not too large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AAB12-F36D-4EBB-A5EF-D9C15BC79448}" type="slidenum">
              <a:rPr lang="en-US"/>
              <a:pPr/>
              <a:t>55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Testing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828800"/>
            <a:ext cx="7924800" cy="48006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Entire software system is tested</a:t>
            </a:r>
          </a:p>
          <a:p>
            <a:r>
              <a:rPr lang="en-US" sz="2800" dirty="0"/>
              <a:t>Focus: does the software implement the requirements?</a:t>
            </a:r>
          </a:p>
          <a:p>
            <a:r>
              <a:rPr lang="en-US" sz="2800" dirty="0"/>
              <a:t>Validation exercise for the system with respect to the requirements</a:t>
            </a:r>
          </a:p>
          <a:p>
            <a:r>
              <a:rPr lang="en-US" sz="2800" dirty="0"/>
              <a:t>Generally the final testing stage before the software is delivered</a:t>
            </a:r>
          </a:p>
          <a:p>
            <a:r>
              <a:rPr lang="en-US" sz="2800" dirty="0"/>
              <a:t>May be done by independent people</a:t>
            </a:r>
          </a:p>
          <a:p>
            <a:r>
              <a:rPr lang="en-US" sz="2800" dirty="0"/>
              <a:t>Defects removed by developers</a:t>
            </a:r>
          </a:p>
          <a:p>
            <a:r>
              <a:rPr lang="en-US" sz="2800" dirty="0"/>
              <a:t>Most time consuming test phase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B2881-9655-43DD-A961-FA78C6F561F0}" type="slidenum">
              <a:rPr lang="en-US"/>
              <a:pPr/>
              <a:t>56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Acceptance Testing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Focus: Does the software satisfy user needs?</a:t>
            </a:r>
          </a:p>
          <a:p>
            <a:r>
              <a:rPr lang="en-US" sz="2800" dirty="0"/>
              <a:t>Generally done by end users/customer in customer environment, with real data</a:t>
            </a:r>
          </a:p>
          <a:p>
            <a:r>
              <a:rPr lang="en-US" sz="2800" dirty="0"/>
              <a:t>Only after successful AT software is deployed</a:t>
            </a:r>
          </a:p>
          <a:p>
            <a:r>
              <a:rPr lang="en-US" sz="2800" dirty="0"/>
              <a:t>Any defects found</a:t>
            </a:r>
            <a:r>
              <a:rPr lang="en-US" sz="2800" dirty="0" smtClean="0"/>
              <a:t>, are </a:t>
            </a:r>
            <a:r>
              <a:rPr lang="en-US" sz="2800" dirty="0"/>
              <a:t>removed by developers</a:t>
            </a:r>
          </a:p>
          <a:p>
            <a:r>
              <a:rPr lang="en-US" sz="2800" dirty="0"/>
              <a:t>Acceptance test plan is based on the acceptance test criteria in the SRS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D8C4E-D9C8-4AD0-BB78-4E6664742D7E}" type="slidenum">
              <a:rPr lang="en-US"/>
              <a:pPr/>
              <a:t>57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</a:t>
            </a:r>
          </a:p>
        </p:txBody>
      </p:sp>
      <p:sp>
        <p:nvSpPr>
          <p:cNvPr id="7270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Goal of coding is to convert a design into easy to read code with few bugs</a:t>
            </a:r>
          </a:p>
          <a:p>
            <a:pPr eaLnBrk="1" hangingPunct="1">
              <a:lnSpc>
                <a:spcPct val="80000"/>
              </a:lnSpc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Good programming practices like structured programming, information hiding, and pair programming</a:t>
            </a:r>
          </a:p>
          <a:p>
            <a:pPr eaLnBrk="1" hangingPunct="1">
              <a:lnSpc>
                <a:spcPct val="80000"/>
              </a:lnSpc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There are many methods to verify the code of a module – unit testing and inspections are most commonly used</a:t>
            </a:r>
          </a:p>
        </p:txBody>
      </p:sp>
      <p:sp>
        <p:nvSpPr>
          <p:cNvPr id="7270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Coding</a:t>
            </a:r>
          </a:p>
        </p:txBody>
      </p:sp>
      <p:sp>
        <p:nvSpPr>
          <p:cNvPr id="727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13835F0-1860-4304-A0F7-7277F1651EBC}" type="slidenum">
              <a:rPr lang="en-US"/>
              <a:pPr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smtClean="0"/>
              <a:t>END Of CHAPTER 6</a:t>
            </a:r>
          </a:p>
          <a:p>
            <a:pPr algn="ctr"/>
            <a:endParaRPr lang="en-US" sz="2800" dirty="0" smtClean="0"/>
          </a:p>
          <a:p>
            <a:pPr algn="ctr"/>
            <a:r>
              <a:rPr lang="en-US" sz="2800" smtClean="0"/>
              <a:t>Thank you.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8514</TotalTime>
  <Words>2459</Words>
  <Application>Microsoft Office PowerPoint</Application>
  <PresentationFormat>On-screen Show (4:3)</PresentationFormat>
  <Paragraphs>359</Paragraphs>
  <Slides>59</Slides>
  <Notes>27</Notes>
  <HiddenSlides>13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Diseño predeterminado</vt:lpstr>
      <vt:lpstr>SOFTWARE ENGINEERING</vt:lpstr>
      <vt:lpstr>CHAPTER 6: Software Coding and Testing</vt:lpstr>
      <vt:lpstr>Coding</vt:lpstr>
      <vt:lpstr>Coding…</vt:lpstr>
      <vt:lpstr>PowerPoint Presentation</vt:lpstr>
      <vt:lpstr>Programming Principles</vt:lpstr>
      <vt:lpstr>PowerPoint Presentation</vt:lpstr>
      <vt:lpstr>1. Structured Programming</vt:lpstr>
      <vt:lpstr>Structured Programming…</vt:lpstr>
      <vt:lpstr>Structured Programming…</vt:lpstr>
      <vt:lpstr>Goal of Structured Programming</vt:lpstr>
      <vt:lpstr>Structured Programming…</vt:lpstr>
      <vt:lpstr>PowerPoint Presentation</vt:lpstr>
      <vt:lpstr>PowerPoint Presentation</vt:lpstr>
      <vt:lpstr>Sequence</vt:lpstr>
      <vt:lpstr>Sequence</vt:lpstr>
      <vt:lpstr>The if Selection Structure</vt:lpstr>
      <vt:lpstr>The if/else Selection Structure</vt:lpstr>
      <vt:lpstr>PowerPoint Presentation</vt:lpstr>
      <vt:lpstr>2. Information Hiding</vt:lpstr>
      <vt:lpstr>Information Hiding…</vt:lpstr>
      <vt:lpstr>Some Programming Practices</vt:lpstr>
      <vt:lpstr>Coding Standards</vt:lpstr>
      <vt:lpstr>Coding Standards…</vt:lpstr>
      <vt:lpstr>PowerPoint Presentation</vt:lpstr>
      <vt:lpstr>PowerPoint Presentation</vt:lpstr>
      <vt:lpstr>3. Pair Programming</vt:lpstr>
      <vt:lpstr>Source Code Control and Built</vt:lpstr>
      <vt:lpstr>Refactoring</vt:lpstr>
      <vt:lpstr>Refactoring…</vt:lpstr>
      <vt:lpstr>Software Testing</vt:lpstr>
      <vt:lpstr>Background</vt:lpstr>
      <vt:lpstr>PowerPoint Presentation</vt:lpstr>
      <vt:lpstr>A Testing Life Cycle</vt:lpstr>
      <vt:lpstr>Testing key concepts</vt:lpstr>
      <vt:lpstr>PowerPoint Presentation</vt:lpstr>
      <vt:lpstr>PowerPoint Presentation</vt:lpstr>
      <vt:lpstr>Faults &amp; Failure</vt:lpstr>
      <vt:lpstr>Role of Testing</vt:lpstr>
      <vt:lpstr>Detecting defects in Testing</vt:lpstr>
      <vt:lpstr>Testing types</vt:lpstr>
      <vt:lpstr>1. Development testing  </vt:lpstr>
      <vt:lpstr>2. Test-driven development </vt:lpstr>
      <vt:lpstr>PowerPoint Presentation</vt:lpstr>
      <vt:lpstr>Test-driven development</vt:lpstr>
      <vt:lpstr>3. Release testing </vt:lpstr>
      <vt:lpstr>PowerPoint Presentation</vt:lpstr>
      <vt:lpstr>4. User/customer testing </vt:lpstr>
      <vt:lpstr>PowerPoint Presentation</vt:lpstr>
      <vt:lpstr>Acceptance testing </vt:lpstr>
      <vt:lpstr>The acceptance testing process </vt:lpstr>
      <vt:lpstr>Levels of Testing</vt:lpstr>
      <vt:lpstr>PowerPoint Presentation</vt:lpstr>
      <vt:lpstr>Unit Testing</vt:lpstr>
      <vt:lpstr>Integration Testing</vt:lpstr>
      <vt:lpstr>System Testing</vt:lpstr>
      <vt:lpstr>Acceptance Testing</vt:lpstr>
      <vt:lpstr>Summary</vt:lpstr>
      <vt:lpstr>PowerPoint Presentation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james</cp:lastModifiedBy>
  <cp:revision>829</cp:revision>
  <dcterms:created xsi:type="dcterms:W3CDTF">2010-05-23T14:28:12Z</dcterms:created>
  <dcterms:modified xsi:type="dcterms:W3CDTF">2022-06-03T13:25:21Z</dcterms:modified>
</cp:coreProperties>
</file>