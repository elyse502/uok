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336" r:id="rId24"/>
    <p:sldId id="287" r:id="rId25"/>
    <p:sldId id="288" r:id="rId26"/>
    <p:sldId id="337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38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264" r:id="rId76"/>
    <p:sldId id="265" r:id="rId77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C16"/>
    <a:srgbClr val="0C788E"/>
    <a:srgbClr val="006666"/>
    <a:srgbClr val="54381C"/>
    <a:srgbClr val="A50021"/>
    <a:srgbClr val="FFFFA3"/>
    <a:srgbClr val="E6E6C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3" autoAdjust="0"/>
    <p:restoredTop sz="94652" autoAdjust="0"/>
  </p:normalViewPr>
  <p:slideViewPr>
    <p:cSldViewPr>
      <p:cViewPr varScale="1">
        <p:scale>
          <a:sx n="70" d="100"/>
          <a:sy n="70" d="100"/>
        </p:scale>
        <p:origin x="-131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FEAF5-A4FF-4C76-81C1-213077A82CEF}" type="datetimeFigureOut">
              <a:rPr lang="en-US" smtClean="0"/>
              <a:pPr/>
              <a:t>6/15/2022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28250-7CF9-460C-B946-5CB6CBCF03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1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22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685925" y="777875"/>
            <a:ext cx="3460750" cy="2595563"/>
          </a:xfrm>
          <a:noFill/>
          <a:ln cap="flat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Planning is a essence thinking carefully about something before you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A9E6A2-6F50-46AC-9F86-2EC6DC919AC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7E06874-9F96-4236-BDDA-0656D60C05F0}" type="slidenum">
              <a:rPr lang="fr-CA" smtClean="0"/>
              <a:pPr/>
              <a:t>11</a:t>
            </a:fld>
            <a:endParaRPr lang="fr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Creep </a:t>
            </a:r>
            <a:r>
              <a:rPr lang="en-US" smtClean="0"/>
              <a:t>refers to uncontrolled </a:t>
            </a:r>
            <a:r>
              <a:rPr lang="en-US" dirty="0" smtClean="0"/>
              <a:t>changes or continuous growth in a project’s scope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6D96069-8770-4139-8975-4B23FB54C8CB}" type="slidenum">
              <a:rPr lang="fr-CA" smtClean="0"/>
              <a:pPr/>
              <a:t>12</a:t>
            </a:fld>
            <a:endParaRPr lang="fr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573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E4F0E-D1B4-48EF-AB1C-AC0BFEE64161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415B0-A075-462A-B0A2-B5FFCF59B058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2E2C3-8770-41AE-88C2-C312BE7DB0B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27035E-3358-4FFF-AB1F-152596EE2C9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8AD96-D722-44F4-A332-B1BAE65E3DB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2664B-5A58-46BB-9D1D-9F03A8C87DAD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6F53B-5B88-476E-863F-50F257F64D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D3EF0-8BB7-4D68-BC76-C2A412B54779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9FD19-FDAE-4258-BE5B-6FD27BEEEF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D20AE-22FF-4B59-92DA-91DFE6E3F10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26F0F-45F0-4CEA-A874-57D6788EB032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08613C-E353-4C9C-946A-7A8B6FE107B7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3779912" y="692696"/>
            <a:ext cx="5364088" cy="1152128"/>
          </a:xfrm>
        </p:spPr>
        <p:txBody>
          <a:bodyPr/>
          <a:lstStyle/>
          <a:p>
            <a:pPr algn="l"/>
            <a:r>
              <a:rPr lang="en-US" sz="3200" dirty="0" smtClean="0">
                <a:effectLst/>
                <a:latin typeface="Algerian" pitchFamily="82" charset="0"/>
              </a:rPr>
              <a:t>SOFTWARE ENGINEERING</a:t>
            </a:r>
            <a:endParaRPr lang="es-ES" sz="3200" b="1" dirty="0">
              <a:solidFill>
                <a:schemeClr val="bg1"/>
              </a:solidFill>
            </a:endParaRPr>
          </a:p>
        </p:txBody>
      </p:sp>
      <p:sp>
        <p:nvSpPr>
          <p:cNvPr id="2217" name="Rectangle 169"/>
          <p:cNvSpPr>
            <a:spLocks noChangeArrowheads="1"/>
          </p:cNvSpPr>
          <p:nvPr/>
        </p:nvSpPr>
        <p:spPr bwMode="auto">
          <a:xfrm>
            <a:off x="4067175" y="5229201"/>
            <a:ext cx="4824413" cy="13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endParaRPr lang="es-E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 smtClean="0"/>
              <a:t>Chapter 7: SOFTWARE PROJECT MANAGEMENT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3501008"/>
            <a:ext cx="3672182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4000" dirty="0" smtClean="0"/>
              <a:t>Introduction to SPM and feasibility analysis </a:t>
            </a:r>
            <a:endParaRPr lang="en-US" sz="4000" dirty="0"/>
          </a:p>
        </p:txBody>
      </p:sp>
      <p:pic>
        <p:nvPicPr>
          <p:cNvPr id="10244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3356992"/>
            <a:ext cx="317594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10" tIns="44608" rIns="90810" bIns="44608"/>
          <a:lstStyle/>
          <a:p>
            <a:pPr eaLnBrk="1" hangingPunct="1"/>
            <a:r>
              <a:rPr lang="en-GB" dirty="0" smtClean="0"/>
              <a:t>Project concepts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 lIns="90810" tIns="44608" rIns="90810" bIns="44608"/>
          <a:lstStyle/>
          <a:p>
            <a:pPr eaLnBrk="1" hangingPunct="1"/>
            <a:r>
              <a:rPr lang="en-GB" dirty="0" smtClean="0"/>
              <a:t>Project</a:t>
            </a:r>
          </a:p>
          <a:p>
            <a:pPr eaLnBrk="1" hangingPunct="1"/>
            <a:r>
              <a:rPr lang="en-GB" dirty="0" smtClean="0"/>
              <a:t>Management</a:t>
            </a:r>
          </a:p>
          <a:p>
            <a:pPr eaLnBrk="1" hangingPunct="1"/>
            <a:r>
              <a:rPr lang="en-GB" dirty="0" smtClean="0"/>
              <a:t>Project management</a:t>
            </a:r>
          </a:p>
          <a:p>
            <a:pPr eaLnBrk="1" hangingPunct="1"/>
            <a:r>
              <a:rPr lang="en-GB" dirty="0" smtClean="0"/>
              <a:t>Project Process</a:t>
            </a:r>
          </a:p>
          <a:p>
            <a:pPr eaLnBrk="1" hangingPunct="1"/>
            <a:r>
              <a:rPr lang="en-US" sz="2800" dirty="0" smtClean="0"/>
              <a:t>feasibility analysis</a:t>
            </a:r>
            <a:endParaRPr lang="en-GB" dirty="0" smtClean="0"/>
          </a:p>
          <a:p>
            <a:pPr eaLnBrk="1" hangingPunct="1"/>
            <a:endParaRPr lang="en-GB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rm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2813" eaLnBrk="1" hangingPunct="1"/>
            <a:r>
              <a:rPr lang="fr-CA" smtClean="0"/>
              <a:t>What is a Project?</a:t>
            </a:r>
          </a:p>
        </p:txBody>
      </p:sp>
      <p:sp>
        <p:nvSpPr>
          <p:cNvPr id="14339" name="Form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 smtClean="0"/>
              <a:t>De</a:t>
            </a:r>
            <a:r>
              <a:rPr lang="en-GB" sz="2800" dirty="0" smtClean="0"/>
              <a:t>f 1:</a:t>
            </a:r>
            <a:endParaRPr lang="en-US" dirty="0" smtClean="0"/>
          </a:p>
          <a:p>
            <a:pPr eaLnBrk="1" hangingPunct="1"/>
            <a:r>
              <a:rPr lang="en-US" dirty="0" smtClean="0"/>
              <a:t>A project is a temporary endeavor undertaken to produce a unique product or service.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lvl="1" eaLnBrk="1" hangingPunct="1"/>
            <a:r>
              <a:rPr lang="en-US" b="1" dirty="0" smtClean="0"/>
              <a:t>Temporary</a:t>
            </a:r>
            <a:r>
              <a:rPr lang="en-US" dirty="0" smtClean="0"/>
              <a:t> – Definitive beginning and end</a:t>
            </a:r>
          </a:p>
          <a:p>
            <a:pPr lvl="1" eaLnBrk="1" hangingPunct="1"/>
            <a:r>
              <a:rPr lang="en-US" b="1" dirty="0" smtClean="0"/>
              <a:t>Unique</a:t>
            </a:r>
            <a:r>
              <a:rPr lang="en-US" dirty="0" smtClean="0"/>
              <a:t> – New undertaking, unfamiliar ground</a:t>
            </a:r>
          </a:p>
          <a:p>
            <a:pPr eaLnBrk="1" hangingPunct="1"/>
            <a:endParaRPr lang="en-US" dirty="0" smtClean="0"/>
          </a:p>
          <a:p>
            <a:pPr eaLnBrk="1" hangingPunct="1"/>
            <a:endParaRPr lang="fr-CA" dirty="0" smtClean="0"/>
          </a:p>
        </p:txBody>
      </p:sp>
      <p:sp>
        <p:nvSpPr>
          <p:cNvPr id="4" name="Right Arrow 3"/>
          <p:cNvSpPr/>
          <p:nvPr/>
        </p:nvSpPr>
        <p:spPr>
          <a:xfrm>
            <a:off x="1115616" y="3789040"/>
            <a:ext cx="2071688" cy="998538"/>
          </a:xfrm>
          <a:prstGeom prst="right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/>
              <a:t>Temporary</a:t>
            </a:r>
          </a:p>
        </p:txBody>
      </p:sp>
      <p:sp>
        <p:nvSpPr>
          <p:cNvPr id="6" name="Left Arrow 5"/>
          <p:cNvSpPr/>
          <p:nvPr/>
        </p:nvSpPr>
        <p:spPr>
          <a:xfrm>
            <a:off x="5652120" y="3573016"/>
            <a:ext cx="2071688" cy="1000125"/>
          </a:xfrm>
          <a:prstGeom prst="leftArrow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/>
              <a:t>Unique</a:t>
            </a:r>
          </a:p>
        </p:txBody>
      </p:sp>
      <p:sp>
        <p:nvSpPr>
          <p:cNvPr id="14342" name="TextBox 6"/>
          <p:cNvSpPr txBox="1">
            <a:spLocks noChangeArrowheads="1"/>
          </p:cNvSpPr>
          <p:nvPr/>
        </p:nvSpPr>
        <p:spPr bwMode="auto">
          <a:xfrm>
            <a:off x="3275856" y="3861048"/>
            <a:ext cx="2214562" cy="646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9" tIns="45715" rIns="91429" bIns="45715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Characteristics of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 De</a:t>
            </a:r>
            <a:r>
              <a:rPr lang="en-GB" sz="5400" smtClean="0"/>
              <a:t>f 2:</a:t>
            </a:r>
            <a:endParaRPr 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endParaRPr lang="en-US" dirty="0" smtClean="0"/>
          </a:p>
          <a:p>
            <a:pPr eaLnBrk="1" hangingPunct="1">
              <a:buFont typeface="Wingdings 2" pitchFamily="18" charset="2"/>
              <a:buNone/>
            </a:pPr>
            <a:r>
              <a:rPr lang="en-US" dirty="0" smtClean="0"/>
              <a:t>-A project is an activity that :</a:t>
            </a:r>
          </a:p>
          <a:p>
            <a:pPr eaLnBrk="1" hangingPunct="1"/>
            <a:r>
              <a:rPr lang="en-US" dirty="0" smtClean="0"/>
              <a:t> brings about change</a:t>
            </a:r>
          </a:p>
          <a:p>
            <a:pPr eaLnBrk="1" hangingPunct="1"/>
            <a:r>
              <a:rPr lang="en-US" dirty="0" smtClean="0"/>
              <a:t>Specific Deliverable</a:t>
            </a:r>
          </a:p>
          <a:p>
            <a:pPr eaLnBrk="1" hangingPunct="1"/>
            <a:r>
              <a:rPr lang="en-US" dirty="0" smtClean="0"/>
              <a:t> has unknown elements, which therefore create risk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Other Common Characteristics of Projects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The need for planning</a:t>
            </a:r>
          </a:p>
          <a:p>
            <a:pPr eaLnBrk="1" hangingPunct="1"/>
            <a:r>
              <a:rPr lang="en-US" dirty="0" smtClean="0"/>
              <a:t>The no-routine nature  of tasks</a:t>
            </a:r>
          </a:p>
          <a:p>
            <a:pPr eaLnBrk="1" hangingPunct="1"/>
            <a:r>
              <a:rPr lang="en-US" dirty="0" smtClean="0"/>
              <a:t>Having a pre-determined time span</a:t>
            </a:r>
          </a:p>
          <a:p>
            <a:pPr eaLnBrk="1" hangingPunct="1"/>
            <a:r>
              <a:rPr lang="en-US" dirty="0" smtClean="0"/>
              <a:t>Specific objectives to be met</a:t>
            </a:r>
          </a:p>
          <a:p>
            <a:pPr eaLnBrk="1" hangingPunct="1"/>
            <a:r>
              <a:rPr lang="en-US" dirty="0" smtClean="0"/>
              <a:t>Work being executed in phases</a:t>
            </a:r>
          </a:p>
          <a:p>
            <a:pPr eaLnBrk="1" hangingPunct="1"/>
            <a:r>
              <a:rPr lang="en-US" dirty="0" smtClean="0"/>
              <a:t>Multidisciplinary (involving several specialism)</a:t>
            </a:r>
          </a:p>
          <a:p>
            <a:pPr eaLnBrk="1" hangingPunct="1"/>
            <a:r>
              <a:rPr lang="en-US" dirty="0" smtClean="0"/>
              <a:t>Constrained resources</a:t>
            </a:r>
          </a:p>
          <a:p>
            <a:pPr eaLnBrk="1" hangingPunct="1"/>
            <a:r>
              <a:rPr lang="en-US" dirty="0" smtClean="0"/>
              <a:t>Being large and/or Complex</a:t>
            </a:r>
          </a:p>
          <a:p>
            <a:pPr eaLnBrk="1" hangingPunct="1"/>
            <a:endParaRPr lang="en-US" dirty="0" smtClean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600825" y="4702175"/>
          <a:ext cx="2543175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Clip" r:id="rId4" imgW="1808640" imgH="1534320" progId="">
                  <p:embed/>
                </p:oleObj>
              </mc:Choice>
              <mc:Fallback>
                <p:oleObj name="Clip" r:id="rId4" imgW="1808640" imgH="153432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4702175"/>
                        <a:ext cx="2543175" cy="215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Is this a project?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- Building a house</a:t>
            </a:r>
          </a:p>
          <a:p>
            <a:pPr eaLnBrk="1" hangingPunct="1"/>
            <a:r>
              <a:rPr lang="en-US" dirty="0" smtClean="0"/>
              <a:t>- Coming to school everyday</a:t>
            </a:r>
          </a:p>
          <a:p>
            <a:pPr eaLnBrk="1" hangingPunct="1"/>
            <a:r>
              <a:rPr lang="en-US" dirty="0" smtClean="0"/>
              <a:t>- Getting married</a:t>
            </a:r>
          </a:p>
          <a:p>
            <a:pPr eaLnBrk="1" hangingPunct="1"/>
            <a:r>
              <a:rPr lang="en-US" dirty="0" smtClean="0"/>
              <a:t>- Investigating in user’s computer problem</a:t>
            </a:r>
          </a:p>
          <a:p>
            <a:pPr eaLnBrk="1" hangingPunct="1"/>
            <a:r>
              <a:rPr lang="en-US" dirty="0" smtClean="0"/>
              <a:t>- A programming coursework</a:t>
            </a:r>
          </a:p>
          <a:p>
            <a:pPr eaLnBrk="1" hangingPunct="1"/>
            <a:r>
              <a:rPr lang="en-US" dirty="0" smtClean="0"/>
              <a:t>- Writing an Operating system</a:t>
            </a:r>
          </a:p>
          <a:p>
            <a:pPr eaLnBrk="1" hangingPunct="1"/>
            <a:r>
              <a:rPr lang="en-US" dirty="0" smtClean="0"/>
              <a:t>- Installing a new application (Windows,…)</a:t>
            </a:r>
          </a:p>
          <a:p>
            <a:pPr eaLnBrk="1" hangingPunct="1"/>
            <a:r>
              <a:rPr lang="en-US" dirty="0" smtClean="0"/>
              <a:t>-Doing undergraduate studies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</a:t>
            </a:r>
            <a:r>
              <a:rPr lang="en-GB" sz="5400" smtClean="0"/>
              <a:t>f</a:t>
            </a:r>
            <a:r>
              <a:rPr lang="en-US" smtClean="0"/>
              <a:t>tware Project success rate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 </a:t>
            </a:r>
            <a:r>
              <a:rPr lang="en-US" b="1" dirty="0" smtClean="0"/>
              <a:t>successful</a:t>
            </a:r>
            <a:r>
              <a:rPr lang="en-US" dirty="0" smtClean="0"/>
              <a:t> project is one that has been delivered on time, on budget, with the required functionality.</a:t>
            </a:r>
          </a:p>
          <a:p>
            <a:pPr eaLnBrk="1" hangingPunct="1"/>
            <a:r>
              <a:rPr lang="en-US" dirty="0" smtClean="0"/>
              <a:t>A </a:t>
            </a:r>
            <a:r>
              <a:rPr lang="en-US" b="1" dirty="0" smtClean="0"/>
              <a:t>challenged</a:t>
            </a:r>
            <a:r>
              <a:rPr lang="en-US" dirty="0" smtClean="0"/>
              <a:t> project is one that is late, over budget or delivered with less that the required functionality.</a:t>
            </a:r>
          </a:p>
          <a:p>
            <a:pPr eaLnBrk="1" hangingPunct="1"/>
            <a:r>
              <a:rPr lang="en-US" dirty="0" smtClean="0"/>
              <a:t>A </a:t>
            </a:r>
            <a:r>
              <a:rPr lang="en-US" b="1" dirty="0" smtClean="0"/>
              <a:t>failed project </a:t>
            </a:r>
            <a:r>
              <a:rPr lang="en-US" dirty="0" smtClean="0"/>
              <a:t>is one that has either been cancelled prior to completion or delivered and never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</a:t>
            </a:r>
            <a:r>
              <a:rPr lang="en-GB" sz="2800" dirty="0" smtClean="0"/>
              <a:t>f</a:t>
            </a:r>
            <a:r>
              <a:rPr lang="en-US" dirty="0" err="1" smtClean="0"/>
              <a:t>tware</a:t>
            </a:r>
            <a:r>
              <a:rPr lang="en-US" dirty="0" smtClean="0"/>
              <a:t>  Project Success Rates : 29% </a:t>
            </a:r>
            <a:r>
              <a:rPr lang="en-US" dirty="0" err="1" smtClean="0"/>
              <a:t>successul</a:t>
            </a:r>
            <a:r>
              <a:rPr lang="en-US" dirty="0" smtClean="0"/>
              <a:t>, 53% challenged, 18 </a:t>
            </a:r>
            <a:r>
              <a:rPr lang="en-GB" sz="2800" dirty="0" smtClean="0"/>
              <a:t>f</a:t>
            </a:r>
            <a:r>
              <a:rPr lang="en-US" dirty="0" smtClean="0"/>
              <a:t>ailed. (Standish Group, 2004).</a:t>
            </a:r>
          </a:p>
          <a:p>
            <a:endParaRPr lang="en-US" dirty="0" smtClean="0"/>
          </a:p>
          <a:p>
            <a:r>
              <a:rPr lang="en-US" dirty="0" smtClean="0"/>
              <a:t>So</a:t>
            </a:r>
            <a:r>
              <a:rPr lang="en-GB" sz="2800" dirty="0" smtClean="0"/>
              <a:t>f</a:t>
            </a:r>
            <a:r>
              <a:rPr lang="en-US" dirty="0" err="1" smtClean="0"/>
              <a:t>tware</a:t>
            </a:r>
            <a:r>
              <a:rPr lang="en-US" dirty="0" smtClean="0"/>
              <a:t>  Project Success Rates : 16% success</a:t>
            </a:r>
            <a:r>
              <a:rPr lang="en-GB" sz="2400" dirty="0" smtClean="0"/>
              <a:t>f</a:t>
            </a:r>
            <a:r>
              <a:rPr lang="en-US" dirty="0" err="1" smtClean="0"/>
              <a:t>ul</a:t>
            </a:r>
            <a:r>
              <a:rPr lang="en-US" dirty="0" smtClean="0"/>
              <a:t>, 74% challenged, 10 </a:t>
            </a:r>
            <a:r>
              <a:rPr lang="en-GB" sz="2800" dirty="0" smtClean="0"/>
              <a:t>f</a:t>
            </a:r>
            <a:r>
              <a:rPr lang="en-US" dirty="0" smtClean="0"/>
              <a:t>ailed. (Ox</a:t>
            </a:r>
            <a:r>
              <a:rPr lang="en-GB" sz="2400" dirty="0" smtClean="0"/>
              <a:t> f</a:t>
            </a:r>
            <a:r>
              <a:rPr lang="en-US" dirty="0" err="1" smtClean="0"/>
              <a:t>ord</a:t>
            </a:r>
            <a:r>
              <a:rPr lang="en-US" dirty="0" smtClean="0"/>
              <a:t> University, 2004).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9" descr="http://www.sonoma.edu/pubs/nb/4_19_04/images/thumbsu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75" y="3286125"/>
            <a:ext cx="1900238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Form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2813" eaLnBrk="1" hangingPunct="1"/>
            <a:r>
              <a:rPr lang="fr-CA" smtClean="0"/>
              <a:t>Project 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3088" y="2143125"/>
            <a:ext cx="3355975" cy="18557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Customer Requirements satisfied/exceeded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3975" y="2143125"/>
            <a:ext cx="3355975" cy="185578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Completed within allocated time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3088" y="4214813"/>
            <a:ext cx="3355975" cy="18557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Completed within allocated budget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5088" y="4143375"/>
            <a:ext cx="3355975" cy="185737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Accepted by the customer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9" descr="http://www.sonoma.edu/pubs/nb/4_19_04/images/thumbsu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8" y="3357563"/>
            <a:ext cx="1900237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Form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2813" eaLnBrk="1" hangingPunct="1"/>
            <a:r>
              <a:rPr lang="fr-CA" smtClean="0"/>
              <a:t>Project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63" y="2143125"/>
            <a:ext cx="3355975" cy="1855788"/>
          </a:xfrm>
          <a:prstGeom prst="roundRect">
            <a:avLst/>
          </a:prstGeom>
          <a:solidFill>
            <a:srgbClr val="6C1A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Scope </a:t>
            </a:r>
            <a:r>
              <a:rPr lang="en-US" b="1" dirty="0" smtClean="0">
                <a:solidFill>
                  <a:schemeClr val="bg1"/>
                </a:solidFill>
              </a:rPr>
              <a:t>Creep/</a:t>
            </a:r>
            <a:r>
              <a:rPr lang="en-US" dirty="0"/>
              <a:t>uncontrolled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62538" y="2143125"/>
            <a:ext cx="3355975" cy="1855788"/>
          </a:xfrm>
          <a:prstGeom prst="roundRect">
            <a:avLst/>
          </a:prstGeom>
          <a:solidFill>
            <a:srgbClr val="6C1A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Poor Requirements Gathering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3" y="4214813"/>
            <a:ext cx="3355975" cy="1855787"/>
          </a:xfrm>
          <a:prstGeom prst="roundRect">
            <a:avLst/>
          </a:prstGeom>
          <a:solidFill>
            <a:srgbClr val="6C1A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Unrealistic planning and scheduling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2063" y="4143375"/>
            <a:ext cx="3357562" cy="1857375"/>
          </a:xfrm>
          <a:prstGeom prst="roundRect">
            <a:avLst/>
          </a:prstGeom>
          <a:solidFill>
            <a:srgbClr val="6C1A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</a:rPr>
              <a:t>Lack of resources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rm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2813" eaLnBrk="1" hangingPunct="1"/>
            <a:r>
              <a:rPr lang="fr-CA" dirty="0" smtClean="0"/>
              <a:t>Triple </a:t>
            </a:r>
            <a:r>
              <a:rPr lang="fr-CA" dirty="0" err="1" smtClean="0"/>
              <a:t>Constraint</a:t>
            </a:r>
            <a:endParaRPr lang="fr-CA" dirty="0" smtClean="0"/>
          </a:p>
        </p:txBody>
      </p:sp>
      <p:sp>
        <p:nvSpPr>
          <p:cNvPr id="21507" name="Form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1463" indent="-271463" defTabSz="912813" eaLnBrk="1" hangingPunct="1"/>
            <a:endParaRPr lang="fr-CA" smtClean="0"/>
          </a:p>
        </p:txBody>
      </p:sp>
      <p:sp>
        <p:nvSpPr>
          <p:cNvPr id="4" name="Isosceles Triangle 3"/>
          <p:cNvSpPr/>
          <p:nvPr/>
        </p:nvSpPr>
        <p:spPr>
          <a:xfrm>
            <a:off x="2714626" y="3000375"/>
            <a:ext cx="3643313" cy="2643188"/>
          </a:xfrm>
          <a:prstGeom prst="triangle">
            <a:avLst>
              <a:gd name="adj" fmla="val 47836"/>
            </a:avLst>
          </a:prstGeom>
          <a:solidFill>
            <a:srgbClr val="00336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>
              <a:defRPr/>
            </a:pPr>
            <a:r>
              <a:rPr lang="en-US" b="1" dirty="0"/>
              <a:t>Quality</a:t>
            </a:r>
          </a:p>
        </p:txBody>
      </p:sp>
      <p:sp>
        <p:nvSpPr>
          <p:cNvPr id="11269" name="TextBox 4"/>
          <p:cNvSpPr txBox="1">
            <a:spLocks noChangeArrowheads="1"/>
          </p:cNvSpPr>
          <p:nvPr/>
        </p:nvSpPr>
        <p:spPr bwMode="auto">
          <a:xfrm>
            <a:off x="6284913" y="5140325"/>
            <a:ext cx="15716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29" tIns="45715" rIns="91429" bIns="45715">
            <a:spAutoFit/>
          </a:bodyPr>
          <a:lstStyle/>
          <a:p>
            <a:pPr>
              <a:defRPr/>
            </a:pPr>
            <a:r>
              <a:rPr lang="en-US" sz="3600" b="1" dirty="0"/>
              <a:t>Scope</a:t>
            </a:r>
          </a:p>
        </p:txBody>
      </p:sp>
      <p:sp>
        <p:nvSpPr>
          <p:cNvPr id="11270" name="TextBox 5"/>
          <p:cNvSpPr txBox="1">
            <a:spLocks noChangeArrowheads="1"/>
          </p:cNvSpPr>
          <p:nvPr/>
        </p:nvSpPr>
        <p:spPr bwMode="auto">
          <a:xfrm>
            <a:off x="3849688" y="2428875"/>
            <a:ext cx="12541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29" tIns="45715" rIns="91429" bIns="45715">
            <a:spAutoFit/>
          </a:bodyPr>
          <a:lstStyle/>
          <a:p>
            <a:pPr>
              <a:defRPr/>
            </a:pPr>
            <a:r>
              <a:rPr lang="en-US" sz="3600" b="1" dirty="0"/>
              <a:t>Time</a:t>
            </a:r>
            <a:endParaRPr lang="en-US" b="1" dirty="0"/>
          </a:p>
        </p:txBody>
      </p:sp>
      <p:sp>
        <p:nvSpPr>
          <p:cNvPr id="11271" name="TextBox 6"/>
          <p:cNvSpPr txBox="1">
            <a:spLocks noChangeArrowheads="1"/>
          </p:cNvSpPr>
          <p:nvPr/>
        </p:nvSpPr>
        <p:spPr bwMode="auto">
          <a:xfrm>
            <a:off x="1500188" y="5140325"/>
            <a:ext cx="121126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91429" tIns="45715" rIns="91429" bIns="45715">
            <a:spAutoFit/>
          </a:bodyPr>
          <a:lstStyle/>
          <a:p>
            <a:pPr>
              <a:defRPr/>
            </a:pPr>
            <a:r>
              <a:rPr lang="en-US" sz="3600" b="1" dirty="0"/>
              <a:t>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rm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2813" eaLnBrk="1" hangingPunct="1"/>
            <a:r>
              <a:rPr lang="fr-CA" dirty="0" smtClean="0"/>
              <a:t>Triple </a:t>
            </a:r>
            <a:r>
              <a:rPr lang="fr-CA" dirty="0" err="1" smtClean="0"/>
              <a:t>Constraint</a:t>
            </a:r>
            <a:endParaRPr lang="fr-CA" dirty="0" smtClean="0"/>
          </a:p>
        </p:txBody>
      </p:sp>
      <p:sp>
        <p:nvSpPr>
          <p:cNvPr id="22531" name="Form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1463" indent="-271463" defTabSz="912813" eaLnBrk="1" hangingPunct="1"/>
            <a:r>
              <a:rPr lang="en-US" dirty="0" smtClean="0"/>
              <a:t>Increased </a:t>
            </a:r>
            <a:r>
              <a:rPr lang="en-US" b="1" dirty="0" smtClean="0"/>
              <a:t>Scope </a:t>
            </a:r>
            <a:r>
              <a:rPr lang="en-US" dirty="0" smtClean="0"/>
              <a:t> = increased time and  increased cost</a:t>
            </a:r>
          </a:p>
          <a:p>
            <a:pPr marL="271463" indent="-271463" defTabSz="912813" eaLnBrk="1" hangingPunct="1"/>
            <a:endParaRPr lang="en-US" dirty="0" smtClean="0"/>
          </a:p>
          <a:p>
            <a:pPr marL="271463" indent="-271463" defTabSz="912813" eaLnBrk="1" hangingPunct="1"/>
            <a:r>
              <a:rPr lang="en-US" dirty="0" smtClean="0"/>
              <a:t>Tight </a:t>
            </a:r>
            <a:r>
              <a:rPr lang="en-US" b="1" dirty="0" smtClean="0"/>
              <a:t>Time</a:t>
            </a:r>
            <a:r>
              <a:rPr lang="en-US" dirty="0" smtClean="0"/>
              <a:t> = decreased costs and/or reduced scope</a:t>
            </a:r>
          </a:p>
          <a:p>
            <a:pPr marL="271463" indent="-271463" defTabSz="912813" eaLnBrk="1" hangingPunct="1"/>
            <a:endParaRPr lang="en-US" dirty="0" smtClean="0"/>
          </a:p>
          <a:p>
            <a:pPr marL="271463" indent="-271463" defTabSz="912813" eaLnBrk="1" hangingPunct="1"/>
            <a:r>
              <a:rPr lang="en-US" dirty="0" smtClean="0"/>
              <a:t>Tight </a:t>
            </a:r>
            <a:r>
              <a:rPr lang="en-US" b="1" dirty="0" smtClean="0"/>
              <a:t>Budget</a:t>
            </a:r>
            <a:r>
              <a:rPr lang="en-US" dirty="0" smtClean="0"/>
              <a:t> = decreased time and/or reduced scope.</a:t>
            </a:r>
            <a:endParaRPr lang="fr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Common project terms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24579" name="Content Placeholder 3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425355"/>
          </a:xfrm>
        </p:spPr>
        <p:txBody>
          <a:bodyPr/>
          <a:lstStyle/>
          <a:p>
            <a:pPr eaLnBrk="1" hangingPunct="1"/>
            <a:r>
              <a:rPr lang="en-US" b="1" dirty="0" smtClean="0"/>
              <a:t>Deliverables: Tangible ‘things’ </a:t>
            </a:r>
            <a:r>
              <a:rPr lang="en-US" dirty="0" smtClean="0"/>
              <a:t>that the project produces</a:t>
            </a:r>
          </a:p>
          <a:p>
            <a:pPr eaLnBrk="1" hangingPunct="1"/>
            <a:r>
              <a:rPr lang="en-US" b="1" dirty="0" smtClean="0"/>
              <a:t>Milestones: </a:t>
            </a:r>
            <a:r>
              <a:rPr lang="en-US" dirty="0" smtClean="0"/>
              <a:t>Dates by which major activities are performed.</a:t>
            </a:r>
          </a:p>
          <a:p>
            <a:pPr eaLnBrk="1" hangingPunct="1">
              <a:buFont typeface="Wingdings 2" pitchFamily="18" charset="2"/>
              <a:buNone/>
            </a:pPr>
            <a:endParaRPr lang="en-US" dirty="0" smtClean="0"/>
          </a:p>
          <a:p>
            <a:pPr eaLnBrk="1" hangingPunct="1"/>
            <a:r>
              <a:rPr lang="en-US" b="1" dirty="0" smtClean="0"/>
              <a:t>Tasks: Also called Actions. </a:t>
            </a:r>
            <a:r>
              <a:rPr lang="en-US" dirty="0" smtClean="0"/>
              <a:t>Activities</a:t>
            </a:r>
            <a:r>
              <a:rPr lang="en-US" b="1" dirty="0" smtClean="0"/>
              <a:t> </a:t>
            </a:r>
            <a:r>
              <a:rPr lang="en-US" dirty="0" smtClean="0"/>
              <a:t>undertaken during the project</a:t>
            </a:r>
          </a:p>
          <a:p>
            <a:pPr eaLnBrk="1" hangingPunct="1"/>
            <a:r>
              <a:rPr lang="en-US" b="1" dirty="0" smtClean="0"/>
              <a:t>Risks: </a:t>
            </a:r>
            <a:r>
              <a:rPr lang="en-US" dirty="0" smtClean="0"/>
              <a:t>Potential problems that may arise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Issues: </a:t>
            </a:r>
            <a:r>
              <a:rPr lang="en-US" dirty="0" smtClean="0"/>
              <a:t>Risks that have happened</a:t>
            </a:r>
          </a:p>
          <a:p>
            <a:pPr eaLnBrk="1" hangingPunct="1"/>
            <a:endParaRPr lang="en-US" b="1" dirty="0" smtClean="0"/>
          </a:p>
          <a:p>
            <a:pPr eaLnBrk="1" hangingPunct="1"/>
            <a:r>
              <a:rPr lang="en-US" b="1" dirty="0" smtClean="0"/>
              <a:t>Gantt Chart: </a:t>
            </a:r>
            <a:r>
              <a:rPr lang="en-US" dirty="0" smtClean="0"/>
              <a:t>A specific type of chart showing time and tasks. Usually created by a Project Management program like MS Project.</a:t>
            </a:r>
          </a:p>
          <a:p>
            <a:pPr eaLnBrk="1" hangingPunct="1"/>
            <a:r>
              <a:rPr lang="en-US" b="1" dirty="0" smtClean="0"/>
              <a:t>Stakeholder: </a:t>
            </a:r>
            <a:r>
              <a:rPr lang="en-US" dirty="0" smtClean="0"/>
              <a:t>Any person or group of person who may be affect by the project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446088"/>
            <a:ext cx="8229600" cy="993775"/>
          </a:xfrm>
        </p:spPr>
        <p:txBody>
          <a:bodyPr/>
          <a:lstStyle/>
          <a:p>
            <a:pPr eaLnBrk="1" hangingPunct="1"/>
            <a:r>
              <a:rPr lang="en-US" smtClean="0"/>
              <a:t>What is management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517650"/>
            <a:ext cx="8229600" cy="4806950"/>
          </a:xfrm>
        </p:spPr>
        <p:txBody>
          <a:bodyPr/>
          <a:lstStyle/>
          <a:p>
            <a:pPr algn="just" eaLnBrk="1" hangingPunct="1"/>
            <a:r>
              <a:rPr lang="en-US" b="1" dirty="0" smtClean="0"/>
              <a:t>Planning</a:t>
            </a:r>
            <a:r>
              <a:rPr lang="en-US" dirty="0" smtClean="0"/>
              <a:t>-- deciding what to be done (</a:t>
            </a:r>
            <a:r>
              <a:rPr lang="en-US" sz="2800" dirty="0" smtClean="0"/>
              <a:t>Predetermining a course of action for accomplishing organizational Objectives</a:t>
            </a:r>
            <a:r>
              <a:rPr lang="en-US" dirty="0" smtClean="0"/>
              <a:t>)</a:t>
            </a:r>
          </a:p>
          <a:p>
            <a:pPr algn="just" eaLnBrk="1" hangingPunct="1"/>
            <a:r>
              <a:rPr lang="en-US" b="1" dirty="0" smtClean="0"/>
              <a:t>Organizing</a:t>
            </a:r>
            <a:r>
              <a:rPr lang="en-US" dirty="0" smtClean="0"/>
              <a:t> --making arrangement (</a:t>
            </a:r>
            <a:r>
              <a:rPr lang="en-US" sz="2800" dirty="0" smtClean="0"/>
              <a:t>Arranging the relationships among work units for accomplishment of objectives ).</a:t>
            </a:r>
          </a:p>
          <a:p>
            <a:pPr algn="just" eaLnBrk="1" hangingPunct="1"/>
            <a:r>
              <a:rPr lang="en-US" b="1" dirty="0" smtClean="0"/>
              <a:t>Staffing </a:t>
            </a:r>
            <a:r>
              <a:rPr lang="en-US" dirty="0" smtClean="0"/>
              <a:t>-- selecting right people (</a:t>
            </a:r>
            <a:r>
              <a:rPr lang="en-US" sz="2800" dirty="0" smtClean="0"/>
              <a:t>Selecting and training people for positions in the organization</a:t>
            </a:r>
            <a:r>
              <a:rPr lang="en-US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457200" y="522288"/>
            <a:ext cx="8229600" cy="5802312"/>
          </a:xfrm>
        </p:spPr>
        <p:txBody>
          <a:bodyPr/>
          <a:lstStyle/>
          <a:p>
            <a:pPr algn="just" eaLnBrk="1" hangingPunct="1"/>
            <a:r>
              <a:rPr lang="en-US" b="1" dirty="0" smtClean="0"/>
              <a:t>Directing</a:t>
            </a:r>
            <a:r>
              <a:rPr lang="en-US" dirty="0" smtClean="0"/>
              <a:t> -- </a:t>
            </a:r>
            <a:r>
              <a:rPr lang="en-US" sz="2800" dirty="0" smtClean="0"/>
              <a:t>Creating an atmosphere that will assist and motivate people to achieve desired end results by </a:t>
            </a:r>
            <a:r>
              <a:rPr lang="en-US" dirty="0" smtClean="0"/>
              <a:t>giving instruction</a:t>
            </a:r>
          </a:p>
          <a:p>
            <a:pPr algn="just" eaLnBrk="1" hangingPunct="1"/>
            <a:r>
              <a:rPr lang="en-US" b="1" dirty="0" smtClean="0"/>
              <a:t>Monitoring </a:t>
            </a:r>
            <a:r>
              <a:rPr lang="en-US" dirty="0" smtClean="0"/>
              <a:t>-- checking on progress</a:t>
            </a:r>
          </a:p>
          <a:p>
            <a:pPr algn="just" eaLnBrk="1" hangingPunct="1"/>
            <a:r>
              <a:rPr lang="en-US" b="1" dirty="0" smtClean="0"/>
              <a:t>Controlling</a:t>
            </a:r>
            <a:r>
              <a:rPr lang="en-US" dirty="0" smtClean="0"/>
              <a:t> -- taking remedial action, </a:t>
            </a:r>
            <a:r>
              <a:rPr lang="en-US" sz="2800" dirty="0" smtClean="0"/>
              <a:t>Establishing, measuring, and evaluating performance of activities toward planned objectives</a:t>
            </a:r>
          </a:p>
          <a:p>
            <a:pPr algn="just" eaLnBrk="1" hangingPunct="1"/>
            <a:r>
              <a:rPr lang="en-US" b="1" dirty="0" smtClean="0"/>
              <a:t>Innovating</a:t>
            </a:r>
            <a:r>
              <a:rPr lang="en-US" dirty="0" smtClean="0"/>
              <a:t> -- finding new solutions</a:t>
            </a:r>
          </a:p>
          <a:p>
            <a:pPr algn="just" eaLnBrk="1" hangingPunct="1"/>
            <a:r>
              <a:rPr lang="en-US" b="1" dirty="0" smtClean="0"/>
              <a:t>Representing</a:t>
            </a:r>
            <a:r>
              <a:rPr lang="en-US" dirty="0" smtClean="0"/>
              <a:t> -- liaising with users (clients, developer, suppliers and stakeholders)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rme 1"/>
          <p:cNvSpPr>
            <a:spLocks noGrp="1"/>
          </p:cNvSpPr>
          <p:nvPr>
            <p:ph type="title"/>
          </p:nvPr>
        </p:nvSpPr>
        <p:spPr>
          <a:xfrm>
            <a:off x="457200" y="293688"/>
            <a:ext cx="8229600" cy="917575"/>
          </a:xfrm>
        </p:spPr>
        <p:txBody>
          <a:bodyPr/>
          <a:lstStyle/>
          <a:p>
            <a:pPr defTabSz="912813" eaLnBrk="1" hangingPunct="1"/>
            <a:r>
              <a:rPr lang="fr-CA" smtClean="0"/>
              <a:t>What is Project Management</a:t>
            </a:r>
          </a:p>
        </p:txBody>
      </p:sp>
      <p:sp>
        <p:nvSpPr>
          <p:cNvPr id="10243" name="Forme 2"/>
          <p:cNvSpPr>
            <a:spLocks noGrp="1"/>
          </p:cNvSpPr>
          <p:nvPr>
            <p:ph idx="1"/>
          </p:nvPr>
        </p:nvSpPr>
        <p:spPr>
          <a:xfrm>
            <a:off x="287338" y="1439863"/>
            <a:ext cx="8399462" cy="4884737"/>
          </a:xfrm>
        </p:spPr>
        <p:txBody>
          <a:bodyPr>
            <a:normAutofit/>
          </a:bodyPr>
          <a:lstStyle/>
          <a:p>
            <a:pPr marL="273019" indent="-273019" algn="just" defTabSz="914294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Project Management is the application of skills, knowledge, tools and techniques to meet the needs and expectations of stakeholders for a project.</a:t>
            </a:r>
          </a:p>
          <a:p>
            <a:pPr marL="273019" indent="-273019" algn="just" defTabSz="914294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800" dirty="0" smtClean="0"/>
          </a:p>
          <a:p>
            <a:pPr marL="273019" indent="-273019" algn="just" defTabSz="914294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The purpose of project management is </a:t>
            </a:r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prediction</a:t>
            </a:r>
            <a:r>
              <a:rPr lang="en-US" sz="2800" dirty="0" smtClean="0"/>
              <a:t> and </a:t>
            </a:r>
            <a:r>
              <a:rPr lang="en-US" sz="2800" b="1" dirty="0" smtClean="0">
                <a:solidFill>
                  <a:schemeClr val="accent2">
                    <a:lumMod val="50000"/>
                  </a:schemeClr>
                </a:solidFill>
              </a:rPr>
              <a:t>prevention.</a:t>
            </a:r>
            <a:endParaRPr lang="en-US" sz="28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marL="273019" indent="-273019" algn="just" defTabSz="914294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Tools to aid in task sequencing, dependency analysis, resource allocation, scheduling, etc.</a:t>
            </a:r>
          </a:p>
          <a:p>
            <a:pPr marL="273019" indent="-273019" algn="just" defTabSz="914294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Tools to track progress relative to plan</a:t>
            </a:r>
          </a:p>
          <a:p>
            <a:pPr marL="273019" indent="-273019" defTabSz="914294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fr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10" tIns="44608" rIns="90810" bIns="44608"/>
          <a:lstStyle/>
          <a:p>
            <a:pPr eaLnBrk="1" hangingPunct="1"/>
            <a:r>
              <a:rPr lang="en-GB" smtClean="0"/>
              <a:t>Software project management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/>
        <p:txBody>
          <a:bodyPr lIns="90810" tIns="44608" rIns="90810" bIns="44608"/>
          <a:lstStyle/>
          <a:p>
            <a:pPr algn="just" eaLnBrk="1" hangingPunct="1"/>
            <a:r>
              <a:rPr lang="en-US" dirty="0" smtClean="0"/>
              <a:t>Software project management is the process of planning, organizing, staffing, monitoring, controlling and leading a software project.</a:t>
            </a:r>
          </a:p>
          <a:p>
            <a:pPr algn="just" eaLnBrk="1" hangingPunct="1"/>
            <a:r>
              <a:rPr lang="en-GB" dirty="0" smtClean="0"/>
              <a:t>Concerned with activities involved in ensuring that software is delivered on time and on  schedule and in accordance with the requirements of the organisations developing and procuring the software.</a:t>
            </a:r>
          </a:p>
        </p:txBody>
      </p:sp>
    </p:spTree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title"/>
          </p:nvPr>
        </p:nvSpPr>
        <p:spPr/>
        <p:txBody>
          <a:bodyPr lIns="90810" tIns="44608" rIns="90810" bIns="44608"/>
          <a:lstStyle/>
          <a:p>
            <a:pPr eaLnBrk="1" hangingPunct="1"/>
            <a:r>
              <a:rPr lang="en-GB" smtClean="0"/>
              <a:t>Software vs hardware 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idx="1"/>
          </p:nvPr>
        </p:nvSpPr>
        <p:spPr/>
        <p:txBody>
          <a:bodyPr lIns="90810" tIns="44608" rIns="90810" bIns="44608"/>
          <a:lstStyle/>
          <a:p>
            <a:pPr algn="just" eaLnBrk="1" hangingPunct="1"/>
            <a:r>
              <a:rPr lang="en-GB" sz="2800" dirty="0" smtClean="0"/>
              <a:t>The product is </a:t>
            </a:r>
            <a:r>
              <a:rPr lang="en-GB" sz="2800" b="1" dirty="0" smtClean="0"/>
              <a:t>intangible</a:t>
            </a:r>
            <a:r>
              <a:rPr lang="en-GB" sz="2800" dirty="0" smtClean="0"/>
              <a:t> (invisibility). Intellectual product.</a:t>
            </a:r>
          </a:p>
          <a:p>
            <a:pPr algn="just" eaLnBrk="1" hangingPunct="1"/>
            <a:r>
              <a:rPr lang="en-GB" sz="2800" dirty="0" smtClean="0"/>
              <a:t>The product is uniquely flexible. The ease with which software can be changed.</a:t>
            </a:r>
          </a:p>
          <a:p>
            <a:pPr algn="just" eaLnBrk="1" hangingPunct="1"/>
            <a:r>
              <a:rPr lang="en-GB" sz="2800" dirty="0" smtClean="0"/>
              <a:t>Many software projects are '</a:t>
            </a:r>
            <a:r>
              <a:rPr lang="en-GB" sz="2800" b="1" dirty="0" smtClean="0"/>
              <a:t>one-off</a:t>
            </a:r>
            <a:r>
              <a:rPr lang="en-GB" sz="2800" dirty="0" smtClean="0"/>
              <a:t>' projects.</a:t>
            </a:r>
          </a:p>
          <a:p>
            <a:pPr algn="just" eaLnBrk="1" hangingPunct="1"/>
            <a:r>
              <a:rPr lang="en-GB" sz="2800" b="1" dirty="0" smtClean="0"/>
              <a:t>Con</a:t>
            </a:r>
            <a:r>
              <a:rPr lang="en-US" sz="2800" b="1" dirty="0" smtClean="0"/>
              <a:t>formity:  </a:t>
            </a:r>
            <a:r>
              <a:rPr lang="en-US" sz="2800" dirty="0" smtClean="0"/>
              <a:t>so</a:t>
            </a:r>
            <a:r>
              <a:rPr lang="en-GB" sz="2800" dirty="0" err="1" smtClean="0"/>
              <a:t>ftware</a:t>
            </a:r>
            <a:r>
              <a:rPr lang="en-GB" sz="2800" dirty="0" smtClean="0"/>
              <a:t> developers have to conform to the requirements of human client needs.</a:t>
            </a:r>
          </a:p>
        </p:txBody>
      </p:sp>
    </p:spTree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Process and Project management</a:t>
            </a:r>
            <a:endParaRPr lang="en-US" dirty="0"/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dirty="0" smtClean="0"/>
              <a:t>A software project has two main activity dimensions: </a:t>
            </a:r>
            <a:r>
              <a:rPr lang="en-GB" b="1" dirty="0" smtClean="0"/>
              <a:t>engineering</a:t>
            </a:r>
            <a:r>
              <a:rPr lang="en-GB" dirty="0" smtClean="0"/>
              <a:t> and </a:t>
            </a:r>
            <a:r>
              <a:rPr lang="en-GB" b="1" dirty="0" smtClean="0"/>
              <a:t>project management</a:t>
            </a:r>
            <a:r>
              <a:rPr lang="en-GB" dirty="0" smtClean="0"/>
              <a:t>. </a:t>
            </a:r>
          </a:p>
          <a:p>
            <a:pPr algn="just" eaLnBrk="1" hangingPunct="1"/>
            <a:r>
              <a:rPr lang="en-GB" dirty="0" smtClean="0"/>
              <a:t>The engineering dimension deals with building the system such as how to perform </a:t>
            </a:r>
            <a:r>
              <a:rPr lang="en-GB" b="1" dirty="0" smtClean="0"/>
              <a:t>requirement specification, design, code, test </a:t>
            </a:r>
            <a:r>
              <a:rPr lang="en-GB" dirty="0" smtClean="0"/>
              <a:t>and so on.</a:t>
            </a:r>
          </a:p>
          <a:p>
            <a:pPr algn="just" eaLnBrk="1" hangingPunct="1"/>
            <a:endParaRPr lang="en-GB" dirty="0" smtClean="0"/>
          </a:p>
          <a:p>
            <a:pPr algn="just" eaLnBrk="1" hangingPunct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dirty="0" smtClean="0"/>
              <a:t>The project management dimension deals with </a:t>
            </a:r>
            <a:r>
              <a:rPr lang="en-GB" b="1" dirty="0" smtClean="0"/>
              <a:t>properly planning, how to set milestones, organize personnel, manage risks and controlling the engineering activities to meet project goals for cost, schedule, and quality.</a:t>
            </a:r>
            <a:endParaRPr lang="en-US" b="1" dirty="0" smtClean="0"/>
          </a:p>
          <a:p>
            <a:pPr eaLnBrk="1" hangingPunct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GB" dirty="0" smtClean="0"/>
              <a:t>F</a:t>
            </a:r>
            <a:r>
              <a:rPr lang="en-GB" sz="2800" dirty="0" smtClean="0"/>
              <a:t>or small project, project plan may be an e-mail specifies all the needs.</a:t>
            </a:r>
          </a:p>
          <a:p>
            <a:pPr algn="just" eaLnBrk="1" hangingPunct="1"/>
            <a:r>
              <a:rPr lang="en-GB" sz="2800" dirty="0" smtClean="0"/>
              <a:t>For large project, activities planned and allocated to project personnel and then tracked as the project executes. </a:t>
            </a:r>
          </a:p>
          <a:p>
            <a:pPr algn="just" eaLnBrk="1" hangingPunct="1"/>
            <a:r>
              <a:rPr lang="en-GB" sz="2800" dirty="0" smtClean="0"/>
              <a:t>A </a:t>
            </a:r>
            <a:r>
              <a:rPr lang="en-GB" sz="2800" b="1" i="1" dirty="0" smtClean="0"/>
              <a:t>process</a:t>
            </a:r>
            <a:r>
              <a:rPr lang="en-GB" sz="2800" dirty="0" smtClean="0"/>
              <a:t> for a task comprises a sequence of steps that should be followed to execute the task. </a:t>
            </a:r>
          </a:p>
          <a:p>
            <a:pPr algn="just" eaLnBrk="1" hangingPunct="1"/>
            <a:r>
              <a:rPr lang="en-GB" sz="2800" dirty="0" smtClean="0"/>
              <a:t>For a successful project, project managers have to follow processes. 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9144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 smtClean="0"/>
              <a:t>Why should project managers follow processes?</a:t>
            </a:r>
            <a:endParaRPr lang="en-US" sz="3600" dirty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876800"/>
          </a:xfrm>
        </p:spPr>
        <p:txBody>
          <a:bodyPr/>
          <a:lstStyle/>
          <a:p>
            <a:pPr eaLnBrk="1" hangingPunct="1"/>
            <a:endParaRPr lang="en-GB" dirty="0" smtClean="0"/>
          </a:p>
          <a:p>
            <a:pPr eaLnBrk="1" hangingPunct="1"/>
            <a:r>
              <a:rPr lang="en-GB" dirty="0" smtClean="0"/>
              <a:t>Processes represent collective knowledge—increase chance of success.</a:t>
            </a:r>
          </a:p>
          <a:p>
            <a:pPr eaLnBrk="1" hangingPunct="1"/>
            <a:r>
              <a:rPr lang="en-GB" dirty="0" smtClean="0"/>
              <a:t>A process may have some extra steps—don’t know beforehand which ones are not needed, and hence you will increase your risks by taking shortcuts.</a:t>
            </a:r>
          </a:p>
          <a:p>
            <a:pPr algn="just" eaLnBrk="1" hangingPunct="1"/>
            <a:r>
              <a:rPr lang="en-GB" dirty="0" smtClean="0"/>
              <a:t>Without processes, you cannot predict much about the outcome of your project.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Processes </a:t>
            </a:r>
            <a:r>
              <a:rPr lang="en-GB" b="1" dirty="0" smtClean="0"/>
              <a:t>lower your anxiety level</a:t>
            </a:r>
            <a:r>
              <a:rPr lang="en-GB" dirty="0" smtClean="0"/>
              <a:t>. Checklists cover 80 percent of what needs to be done. Your task reduces to working out the remaining 20 percent.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5400" dirty="0" smtClean="0"/>
              <a:t>2. </a:t>
            </a:r>
            <a:r>
              <a:rPr lang="en-US" sz="5400" cap="all" dirty="0" smtClean="0"/>
              <a:t>feasibility analysis</a:t>
            </a:r>
            <a:endParaRPr lang="en-US" sz="5400" cap="al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1" dirty="0" smtClean="0"/>
              <a:t>Feasibility</a:t>
            </a:r>
            <a:r>
              <a:rPr lang="en-US" sz="2800" dirty="0" smtClean="0"/>
              <a:t> is the measure of how beneficial or practical the development of an information system will be to an organization.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decision to invest in a project should be based on </a:t>
            </a:r>
            <a:r>
              <a:rPr lang="en-US" b="1" dirty="0" smtClean="0"/>
              <a:t>Operational</a:t>
            </a:r>
            <a:r>
              <a:rPr lang="en-US" dirty="0" smtClean="0"/>
              <a:t> , </a:t>
            </a:r>
            <a:r>
              <a:rPr lang="en-US" b="1" dirty="0" smtClean="0"/>
              <a:t>technical</a:t>
            </a:r>
            <a:r>
              <a:rPr lang="en-US" dirty="0" smtClean="0"/>
              <a:t>, </a:t>
            </a:r>
            <a:r>
              <a:rPr lang="en-US" b="1" dirty="0" smtClean="0"/>
              <a:t>schedule</a:t>
            </a:r>
            <a:r>
              <a:rPr lang="en-US" dirty="0" smtClean="0"/>
              <a:t> and </a:t>
            </a:r>
            <a:r>
              <a:rPr lang="en-US" b="1" dirty="0" smtClean="0"/>
              <a:t>economic </a:t>
            </a:r>
            <a:r>
              <a:rPr lang="en-US" dirty="0" smtClean="0"/>
              <a:t>criteria. There are called </a:t>
            </a:r>
            <a:r>
              <a:rPr lang="en-US" b="1" dirty="0" smtClean="0"/>
              <a:t>Four Tests For Feasibility.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971550"/>
          </a:xfrm>
        </p:spPr>
        <p:txBody>
          <a:bodyPr/>
          <a:lstStyle/>
          <a:p>
            <a:r>
              <a:rPr lang="en-US" dirty="0" smtClean="0"/>
              <a:t>Four Tests For Feasibility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610600" cy="4800599"/>
          </a:xfrm>
        </p:spPr>
        <p:txBody>
          <a:bodyPr/>
          <a:lstStyle/>
          <a:p>
            <a:pPr algn="just" eaLnBrk="1" hangingPunct="1"/>
            <a:r>
              <a:rPr lang="en-US" sz="2800" b="1" dirty="0" smtClean="0"/>
              <a:t>Operational feasibility</a:t>
            </a:r>
            <a:r>
              <a:rPr lang="en-US" sz="2800" dirty="0" smtClean="0"/>
              <a:t> is a measure of how well the solution will work in the organization. It is also a measure of how people feel about the system/project.</a:t>
            </a:r>
          </a:p>
          <a:p>
            <a:pPr algn="just" eaLnBrk="1" hangingPunct="1"/>
            <a:r>
              <a:rPr lang="en-US" sz="2800" b="1" dirty="0" smtClean="0"/>
              <a:t>Technical feasibility</a:t>
            </a:r>
            <a:r>
              <a:rPr lang="en-US" sz="2800" dirty="0" smtClean="0"/>
              <a:t> is a measure of the practicality of a specific technical solution and the availability of technical resources and expertise. </a:t>
            </a:r>
          </a:p>
          <a:p>
            <a:pPr algn="just" eaLnBrk="1" hangingPunct="1"/>
            <a:r>
              <a:rPr lang="en-US" sz="2800" b="1" dirty="0" smtClean="0"/>
              <a:t>Schedule feasibility</a:t>
            </a:r>
            <a:r>
              <a:rPr lang="en-US" sz="2800" dirty="0" smtClean="0"/>
              <a:t> is a measure of how reasonable the project timetable is.</a:t>
            </a:r>
          </a:p>
          <a:p>
            <a:pPr algn="just" eaLnBrk="1" hangingPunct="1"/>
            <a:r>
              <a:rPr lang="en-US" sz="2800" b="1" dirty="0" smtClean="0"/>
              <a:t>Economic feasibility</a:t>
            </a:r>
            <a:r>
              <a:rPr lang="en-US" sz="2800" dirty="0" smtClean="0"/>
              <a:t> is a measure of the cost-effectiveness of a project or solution.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04850"/>
            <a:ext cx="8534400" cy="1047750"/>
          </a:xfrm>
        </p:spPr>
        <p:txBody>
          <a:bodyPr/>
          <a:lstStyle/>
          <a:p>
            <a:r>
              <a:rPr lang="en-US" dirty="0" smtClean="0"/>
              <a:t>Cost-Benefit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1"/>
            <a:ext cx="8534400" cy="4572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sz="2800" b="1" dirty="0" smtClean="0"/>
              <a:t>Costs: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sz="2800" b="1" dirty="0" smtClean="0"/>
          </a:p>
          <a:p>
            <a:pPr algn="just" eaLnBrk="1" hangingPunct="1">
              <a:lnSpc>
                <a:spcPct val="90000"/>
              </a:lnSpc>
            </a:pPr>
            <a:r>
              <a:rPr lang="en-US" sz="2800" b="1" dirty="0" smtClean="0"/>
              <a:t>Development costs </a:t>
            </a:r>
            <a:r>
              <a:rPr lang="en-US" sz="2800" dirty="0" smtClean="0"/>
              <a:t>are one time costs that will not come back after the project has been completed (e.g. Labor, resources, salaries,…)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800" b="1" dirty="0" smtClean="0"/>
              <a:t>Set-up costs </a:t>
            </a:r>
            <a:r>
              <a:rPr lang="en-US" sz="2800" dirty="0" smtClean="0"/>
              <a:t>(e.g. installation cost, hardware, staff recruitment, training,….)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800" b="1" dirty="0" smtClean="0"/>
              <a:t>Operating costs </a:t>
            </a:r>
            <a:r>
              <a:rPr lang="en-US" sz="2800" dirty="0" smtClean="0"/>
              <a:t>are costs that tend to come back throughout the lifetime of the system (e.g. support, maintenance). </a:t>
            </a:r>
          </a:p>
          <a:p>
            <a:endParaRPr 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b="1" dirty="0" smtClean="0"/>
              <a:t>Benefits: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Direct (e.g. reduction in staff costs)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Indirect (e.g. reliability, usability)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Intangible (lower staff turnover, improve decision making,..).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Cost- benefit analysis compares project  development, setup and operational costs with anticipated benefits.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9144000" cy="838200"/>
          </a:xfrm>
        </p:spPr>
        <p:txBody>
          <a:bodyPr/>
          <a:lstStyle/>
          <a:p>
            <a:r>
              <a:rPr lang="en-US" dirty="0" smtClean="0"/>
              <a:t>Cost-Benefit Analysis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8839200" cy="4648201"/>
          </a:xfrm>
        </p:spPr>
        <p:txBody>
          <a:bodyPr/>
          <a:lstStyle/>
          <a:p>
            <a:pPr algn="just">
              <a:buNone/>
            </a:pPr>
            <a:r>
              <a:rPr lang="en-US" sz="2800" dirty="0" smtClean="0"/>
              <a:t>- Net pro</a:t>
            </a:r>
            <a:r>
              <a:rPr lang="en-GB" sz="2800" dirty="0" smtClean="0"/>
              <a:t>f</a:t>
            </a:r>
            <a:r>
              <a:rPr lang="en-US" sz="2800" dirty="0" smtClean="0"/>
              <a:t>it</a:t>
            </a:r>
            <a:endParaRPr lang="en-GB" sz="2800" dirty="0" smtClean="0"/>
          </a:p>
          <a:p>
            <a:pPr algn="just">
              <a:buFontTx/>
              <a:buChar char="-"/>
            </a:pPr>
            <a:r>
              <a:rPr lang="en-GB" sz="2800" dirty="0" smtClean="0"/>
              <a:t>Pay-back period</a:t>
            </a:r>
          </a:p>
          <a:p>
            <a:pPr algn="just">
              <a:buFontTx/>
              <a:buChar char="-"/>
            </a:pPr>
            <a:r>
              <a:rPr lang="en-GB" sz="2800" dirty="0" smtClean="0"/>
              <a:t>Average Rate of Return (ARR) or Return On Investment (ROI)</a:t>
            </a:r>
          </a:p>
          <a:p>
            <a:pPr algn="just">
              <a:buFontTx/>
              <a:buChar char="-"/>
            </a:pPr>
            <a:r>
              <a:rPr lang="en-GB" sz="2800" dirty="0" smtClean="0"/>
              <a:t>Net Present value (NPV)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Net pro</a:t>
            </a:r>
            <a:r>
              <a:rPr lang="en-GB" sz="5400" dirty="0" smtClean="0"/>
              <a:t>fit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Net profit is the residual  income  of a firm after adding total revenue  and gains and subtracting all expenses  and losses for the reporting period; the money left over after paying all the expenses of an endeavo</a:t>
            </a:r>
            <a:r>
              <a:rPr lang="en-US" sz="2400" dirty="0" smtClean="0"/>
              <a:t>r.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b="1" dirty="0" smtClean="0"/>
              <a:t>Net pro</a:t>
            </a:r>
            <a:r>
              <a:rPr lang="en-GB" sz="2400" b="1" dirty="0" smtClean="0"/>
              <a:t>f</a:t>
            </a:r>
            <a:r>
              <a:rPr lang="en-US" sz="2400" b="1" dirty="0" smtClean="0"/>
              <a:t>it = Total pro</a:t>
            </a:r>
            <a:r>
              <a:rPr lang="en-GB" sz="2400" b="1" dirty="0" smtClean="0"/>
              <a:t>fit – Total investment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107" y="2362200"/>
            <a:ext cx="9025025" cy="3249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37" y="2590800"/>
            <a:ext cx="8420563" cy="300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Payback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buFontTx/>
              <a:buNone/>
            </a:pPr>
            <a:r>
              <a:rPr lang="en-US" sz="2800" dirty="0" smtClean="0"/>
              <a:t>Payback analysis is a simple and popular method for determining if and when an investment will pay for itself.</a:t>
            </a:r>
          </a:p>
          <a:p>
            <a:pPr marL="0" indent="0" algn="just" eaLnBrk="1" hangingPunct="1">
              <a:buFontTx/>
              <a:buNone/>
            </a:pPr>
            <a:endParaRPr lang="en-US" sz="2800" dirty="0" smtClean="0"/>
          </a:p>
          <a:p>
            <a:pPr marL="0" indent="0" algn="just" eaLnBrk="1" hangingPunct="1">
              <a:buFontTx/>
              <a:buNone/>
            </a:pPr>
            <a:r>
              <a:rPr lang="en-US" sz="2800" dirty="0" smtClean="0"/>
              <a:t>Payback period is the period of time that it will take to pay back the investment .</a:t>
            </a:r>
          </a:p>
          <a:p>
            <a:pPr marL="0" indent="0" algn="just" eaLnBrk="1" hangingPunct="1">
              <a:buFontTx/>
              <a:buNone/>
            </a:pPr>
            <a:r>
              <a:rPr lang="en-US" sz="2800" dirty="0" smtClean="0"/>
              <a:t>Normally, a project with short payback will be chosen based on that the organization wish to  minimize the time that a project is in debt.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37" y="2590800"/>
            <a:ext cx="8420563" cy="300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464680"/>
            <a:ext cx="8229600" cy="3330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4850"/>
            <a:ext cx="9144000" cy="707926"/>
          </a:xfrm>
        </p:spPr>
        <p:txBody>
          <a:bodyPr/>
          <a:lstStyle/>
          <a:p>
            <a:r>
              <a:rPr lang="en-US" dirty="0" smtClean="0"/>
              <a:t>3. Average Rate </a:t>
            </a:r>
            <a:r>
              <a:rPr lang="en-GB" sz="5400" dirty="0" smtClean="0"/>
              <a:t>of Return(ARR)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buFontTx/>
              <a:buNone/>
            </a:pPr>
            <a:r>
              <a:rPr lang="en-US" sz="2800" b="1" dirty="0" smtClean="0"/>
              <a:t>Average Rate of return </a:t>
            </a:r>
            <a:r>
              <a:rPr lang="en-US" sz="2800" dirty="0" smtClean="0"/>
              <a:t>or </a:t>
            </a:r>
            <a:r>
              <a:rPr lang="en-US" sz="2800" b="1" dirty="0" smtClean="0"/>
              <a:t>Return-on-Investment</a:t>
            </a:r>
            <a:r>
              <a:rPr lang="en-US" sz="2800" dirty="0" smtClean="0"/>
              <a:t>  compares the lifetime profitability of alternative solutions or projects.</a:t>
            </a:r>
          </a:p>
          <a:p>
            <a:pPr marL="0" indent="0" algn="just" eaLnBrk="1" hangingPunct="1">
              <a:buFontTx/>
              <a:buNone/>
            </a:pPr>
            <a:endParaRPr lang="en-US" sz="2800" dirty="0" smtClean="0"/>
          </a:p>
          <a:p>
            <a:pPr marL="0" indent="0" algn="just" eaLnBrk="1" hangingPunct="1">
              <a:buFontTx/>
              <a:buNone/>
            </a:pPr>
            <a:r>
              <a:rPr lang="en-US" sz="2800" dirty="0" smtClean="0"/>
              <a:t>The ARR for a solution or project is a percentage rate that measures the relationship between the amount the business gets back from an investment and the amount invested.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If the project is financed from cash reserves then the cost is the interest that could otherwise have been earned.</a:t>
            </a:r>
          </a:p>
          <a:p>
            <a:pPr algn="just"/>
            <a:r>
              <a:rPr lang="en-US" dirty="0" smtClean="0"/>
              <a:t>Money used to finance a project itself cost money. If it has to be borrowed, the cost is the interest that has to be paid.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ROI or ARR Formulas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229600" cy="4694237"/>
          </a:xfrm>
        </p:spPr>
        <p:txBody>
          <a:bodyPr/>
          <a:lstStyle/>
          <a:p>
            <a:pPr algn="just"/>
            <a:r>
              <a:rPr lang="en-US" dirty="0" smtClean="0"/>
              <a:t>ARR = (AVERAGE NET PROFIT/TOTAL INVESTMENT)* 100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dirty="0" smtClean="0"/>
              <a:t> where NET PROFIT=INFLOW(REVENUES) –OUTFLOW(EXPENSES)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 PROJECT1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 = (AVERAGE NET PROFIT/PERIOD OF</a:t>
            </a:r>
            <a:r>
              <a:rPr lang="en-US" dirty="0"/>
              <a:t> </a:t>
            </a:r>
            <a:r>
              <a:rPr lang="en-US" dirty="0" smtClean="0"/>
              <a:t>INVESTMENT/ TOTAL  INVESTMENT)* 100</a:t>
            </a:r>
          </a:p>
          <a:p>
            <a:r>
              <a:rPr lang="en-US" b="1" dirty="0" smtClean="0"/>
              <a:t>ARR= ((10.000 / 5)/ 10000)* 100</a:t>
            </a:r>
          </a:p>
          <a:p>
            <a:pPr>
              <a:buNone/>
            </a:pPr>
            <a:r>
              <a:rPr lang="en-US" b="1" dirty="0" smtClean="0"/>
              <a:t>           = 20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464680"/>
            <a:ext cx="8229600" cy="3330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303033"/>
            <a:ext cx="8229600" cy="3653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The </a:t>
            </a:r>
            <a:r>
              <a:rPr lang="en-US" sz="2800" b="1" dirty="0" smtClean="0"/>
              <a:t>Time Value of Money</a:t>
            </a:r>
            <a:r>
              <a:rPr lang="en-US" sz="2800" dirty="0" smtClean="0"/>
              <a:t> is a concept that should be applied to each technique in discount methods. The time value of money recognizes that a dollar today is worth more than a dollar one year from now.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Future value of money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029201"/>
          </a:xfrm>
        </p:spPr>
        <p:txBody>
          <a:bodyPr/>
          <a:lstStyle/>
          <a:p>
            <a:pPr algn="just"/>
            <a:r>
              <a:rPr lang="en-US" dirty="0" smtClean="0"/>
              <a:t>This is the sum to which an initial amount of principal or present value is expected to grow over a period of t-years when the interest rate is at a rate of </a:t>
            </a:r>
            <a:r>
              <a:rPr lang="en-US" dirty="0" err="1" smtClean="0"/>
              <a:t>i</a:t>
            </a:r>
            <a:r>
              <a:rPr lang="en-US" dirty="0" smtClean="0"/>
              <a:t>%</a:t>
            </a:r>
          </a:p>
          <a:p>
            <a:pPr algn="just"/>
            <a:r>
              <a:rPr lang="en-US" dirty="0" smtClean="0"/>
              <a:t>$ 100 today is worth more than $ 100 tomorrow.</a:t>
            </a:r>
          </a:p>
          <a:p>
            <a:pPr lvl="0" algn="just">
              <a:buNone/>
            </a:pPr>
            <a:r>
              <a:rPr lang="en-US" dirty="0" smtClean="0"/>
              <a:t>- It can earn bank interest</a:t>
            </a:r>
          </a:p>
          <a:p>
            <a:pPr lvl="0" algn="just">
              <a:buNone/>
            </a:pPr>
            <a:r>
              <a:rPr lang="en-US" dirty="0" smtClean="0"/>
              <a:t>- Or save loan interest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10% growth will turn $ 100</a:t>
            </a:r>
          </a:p>
          <a:p>
            <a:pPr algn="ctr">
              <a:buNone/>
            </a:pPr>
            <a:r>
              <a:rPr lang="en-US" b="1" dirty="0" smtClean="0"/>
              <a:t>FV= PV (1+i)</a:t>
            </a:r>
            <a:r>
              <a:rPr lang="en-US" b="1" baseline="30000" dirty="0" smtClean="0"/>
              <a:t> t</a:t>
            </a:r>
          </a:p>
          <a:p>
            <a:pPr algn="just">
              <a:buNone/>
            </a:pPr>
            <a:r>
              <a:rPr lang="en-US" dirty="0" smtClean="0"/>
              <a:t>Where FV: future value, PV: Present value, </a:t>
            </a:r>
            <a:r>
              <a:rPr lang="en-US" dirty="0" err="1" smtClean="0"/>
              <a:t>i</a:t>
            </a:r>
            <a:r>
              <a:rPr lang="en-US" dirty="0" smtClean="0"/>
              <a:t>: rate, T: no of years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FV= 100 (1+0.1)</a:t>
            </a:r>
            <a:r>
              <a:rPr lang="en-US" b="1" baseline="30000" dirty="0" smtClean="0"/>
              <a:t>1</a:t>
            </a:r>
            <a:endParaRPr lang="en-US" dirty="0" smtClean="0"/>
          </a:p>
          <a:p>
            <a:r>
              <a:rPr lang="en-US" dirty="0" smtClean="0"/>
              <a:t>     = 110; $ 110 after 1 year;</a:t>
            </a:r>
          </a:p>
          <a:p>
            <a:r>
              <a:rPr lang="en-US" b="1" dirty="0" smtClean="0"/>
              <a:t>FV= 100 (1+0.1)</a:t>
            </a:r>
            <a:r>
              <a:rPr lang="en-US" b="1" baseline="30000" dirty="0" smtClean="0"/>
              <a:t>2</a:t>
            </a:r>
            <a:endParaRPr lang="en-US" dirty="0" smtClean="0"/>
          </a:p>
          <a:p>
            <a:r>
              <a:rPr lang="en-US" dirty="0" smtClean="0"/>
              <a:t>    = 121; $ 121 after 2 years.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Present value of money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concept acknowledges the fact that a dollar losses value with time and as such if it is to be compared with a dollar to be received in t year then the two must be at the same values.</a:t>
            </a:r>
          </a:p>
          <a:p>
            <a:r>
              <a:rPr lang="en-US" b="1" dirty="0" smtClean="0"/>
              <a:t>Discount factor</a:t>
            </a:r>
            <a:endParaRPr lang="en-US" dirty="0" smtClean="0"/>
          </a:p>
          <a:p>
            <a:r>
              <a:rPr lang="en-US" dirty="0" err="1" smtClean="0"/>
              <a:t>Df</a:t>
            </a:r>
            <a:r>
              <a:rPr lang="en-US" dirty="0" smtClean="0"/>
              <a:t>=1/ (1+i/100)</a:t>
            </a:r>
            <a:r>
              <a:rPr lang="en-US" baseline="30000" dirty="0" smtClean="0"/>
              <a:t> t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62000" y="1981200"/>
            <a:ext cx="7162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Example: </a:t>
            </a:r>
            <a:endParaRPr lang="en-US" dirty="0" smtClean="0"/>
          </a:p>
          <a:p>
            <a:r>
              <a:rPr lang="en-US" dirty="0" smtClean="0"/>
              <a:t>The future value of $ 100 today at a rate of 10% is :</a:t>
            </a:r>
          </a:p>
          <a:p>
            <a:r>
              <a:rPr lang="en-US" dirty="0" smtClean="0"/>
              <a:t>PV = FV * DF</a:t>
            </a:r>
          </a:p>
          <a:p>
            <a:pPr>
              <a:buNone/>
            </a:pPr>
            <a:r>
              <a:rPr lang="en-US" dirty="0" smtClean="0"/>
              <a:t>         = $ 100 * 0.909</a:t>
            </a:r>
          </a:p>
          <a:p>
            <a:pPr>
              <a:buNone/>
            </a:pPr>
            <a:r>
              <a:rPr lang="en-US" dirty="0" smtClean="0"/>
              <a:t>         = $90.9 in 1 year time </a:t>
            </a:r>
          </a:p>
          <a:p>
            <a:r>
              <a:rPr lang="en-US" dirty="0" smtClean="0"/>
              <a:t>In 2 years time PV= $82.8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Net Present Value (NPV)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800" dirty="0" smtClean="0"/>
              <a:t>The difference between the present value of the future cash flows from an investment and the amount of investment.</a:t>
            </a:r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r>
              <a:rPr lang="en-US" sz="2800" dirty="0" smtClean="0"/>
              <a:t>NPV is a central tool in discounted cash flow (DCF) analysis, and is a standard method for using the time value o money to appraise long-term projects.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Each cash inflow/outflow is discounted  back to its present value (PV). Then they are summed. Therefore NPV is the sum of all.</a:t>
            </a:r>
          </a:p>
          <a:p>
            <a:pPr algn="just"/>
            <a:endParaRPr lang="en-US" dirty="0" smtClean="0"/>
          </a:p>
          <a:p>
            <a:pPr algn="just"/>
            <a:r>
              <a:rPr lang="en-US" i="1" dirty="0" smtClean="0"/>
              <a:t>t</a:t>
            </a:r>
            <a:r>
              <a:rPr lang="en-US" dirty="0" smtClean="0"/>
              <a:t> - the time of the cash flow</a:t>
            </a:r>
          </a:p>
          <a:p>
            <a:pPr algn="just"/>
            <a:r>
              <a:rPr lang="en-US" dirty="0" smtClean="0"/>
              <a:t> </a:t>
            </a:r>
            <a:r>
              <a:rPr lang="en-US" i="1" dirty="0" err="1" smtClean="0"/>
              <a:t>i</a:t>
            </a:r>
            <a:r>
              <a:rPr lang="en-US" dirty="0" smtClean="0"/>
              <a:t> - the discount rate; </a:t>
            </a:r>
          </a:p>
          <a:p>
            <a:pPr algn="just"/>
            <a:r>
              <a:rPr lang="en-US" dirty="0" err="1" smtClean="0"/>
              <a:t>R</a:t>
            </a:r>
            <a:r>
              <a:rPr lang="en-US" baseline="-12000" dirty="0" err="1" smtClean="0"/>
              <a:t>t</a:t>
            </a:r>
            <a:r>
              <a:rPr lang="en-US" dirty="0" smtClean="0"/>
              <a:t> - the net cash flow (the amount of cash, inflow minus outflow) at time </a:t>
            </a:r>
            <a:r>
              <a:rPr lang="en-US" i="1" dirty="0" smtClean="0"/>
              <a:t>t.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26628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2996952"/>
            <a:ext cx="18288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1</a:t>
            </a:r>
          </a:p>
          <a:p>
            <a:r>
              <a:rPr lang="en-US" dirty="0" smtClean="0"/>
              <a:t>We have cash flow for 5 years</a:t>
            </a:r>
          </a:p>
          <a:p>
            <a:r>
              <a:rPr lang="en-US" dirty="0" smtClean="0"/>
              <a:t>Rate = 15%</a:t>
            </a:r>
          </a:p>
          <a:p>
            <a:r>
              <a:rPr lang="en-US" dirty="0" smtClean="0"/>
              <a:t>Calculate NPV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" y="1090613"/>
            <a:ext cx="794385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 PROJECT 1</a:t>
            </a:r>
            <a:endParaRPr lang="en-US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85925"/>
            <a:ext cx="8153400" cy="482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0158" y="1828800"/>
            <a:ext cx="912412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 PROJECT 2</a:t>
            </a:r>
            <a:endParaRPr lang="en-US" b="1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77643"/>
            <a:ext cx="8153400" cy="4840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 PROJECT 3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09800"/>
            <a:ext cx="7133677" cy="4219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 PROJECT 4</a:t>
            </a: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7607170" cy="4580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0158" y="1828800"/>
            <a:ext cx="912412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57800"/>
          </a:xfrm>
        </p:spPr>
        <p:txBody>
          <a:bodyPr/>
          <a:lstStyle/>
          <a:p>
            <a:pPr algn="just"/>
            <a:r>
              <a:rPr lang="en-US" sz="2800" dirty="0" smtClean="0"/>
              <a:t>The table shows the timing of cash flow over the lifetime of a project. The negative cash flow at the beginning represents the initial investment (cost) and the positive cash flows each year thereafter show investment return (benefits).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The sum of the discounted cash flows (including the initial cost) gives the net present value (NPV) of the project . This is the projected profit discounted to reflect it’s value in today’s money.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NP, Payback, NPV, ARR</a:t>
            </a:r>
            <a:endParaRPr lang="en-US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963" y="2238812"/>
            <a:ext cx="8992350" cy="446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NPV in decision making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NPV  &gt; 0  </a:t>
            </a:r>
            <a:r>
              <a:rPr lang="en-US" dirty="0" smtClean="0"/>
              <a:t>the investment would add value to the firm; </a:t>
            </a:r>
          </a:p>
          <a:p>
            <a:pPr algn="just">
              <a:buNone/>
            </a:pPr>
            <a:r>
              <a:rPr lang="en-US" dirty="0" smtClean="0"/>
              <a:t>                   the project may be accepted</a:t>
            </a:r>
          </a:p>
          <a:p>
            <a:pPr algn="just"/>
            <a:r>
              <a:rPr lang="en-US" b="1" dirty="0" smtClean="0"/>
              <a:t>NPV &lt; 0    </a:t>
            </a:r>
            <a:r>
              <a:rPr lang="en-US" dirty="0" smtClean="0"/>
              <a:t>the investment would subtract value from</a:t>
            </a:r>
          </a:p>
          <a:p>
            <a:pPr algn="just">
              <a:buNone/>
            </a:pPr>
            <a:r>
              <a:rPr lang="en-US" dirty="0" smtClean="0"/>
              <a:t>                  the firm; the project should be rejected.</a:t>
            </a:r>
          </a:p>
          <a:p>
            <a:pPr algn="just"/>
            <a:r>
              <a:rPr lang="en-US" dirty="0" smtClean="0"/>
              <a:t>NPV = 0    the investment would neither gain nor lose</a:t>
            </a:r>
          </a:p>
          <a:p>
            <a:pPr algn="just">
              <a:buNone/>
            </a:pPr>
            <a:r>
              <a:rPr lang="en-US" dirty="0" smtClean="0"/>
              <a:t>                  value for the firm; We should be indifferent </a:t>
            </a:r>
          </a:p>
          <a:p>
            <a:pPr algn="just">
              <a:buNone/>
            </a:pPr>
            <a:r>
              <a:rPr lang="en-US" dirty="0" smtClean="0"/>
              <a:t>                  in the decision whether to accept or reject</a:t>
            </a:r>
          </a:p>
          <a:p>
            <a:pPr algn="just">
              <a:buNone/>
            </a:pPr>
            <a:r>
              <a:rPr lang="en-US" dirty="0" smtClean="0"/>
              <a:t>                  the project.</a:t>
            </a:r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971550"/>
          </a:xfrm>
        </p:spPr>
        <p:txBody>
          <a:bodyPr/>
          <a:lstStyle/>
          <a:p>
            <a:r>
              <a:rPr lang="en-US" dirty="0" smtClean="0"/>
              <a:t>Critique of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599"/>
          </a:xfrm>
        </p:spPr>
        <p:txBody>
          <a:bodyPr/>
          <a:lstStyle/>
          <a:p>
            <a:pPr algn="just"/>
            <a:r>
              <a:rPr lang="en-US" b="1" dirty="0" smtClean="0"/>
              <a:t>Net profit</a:t>
            </a:r>
          </a:p>
          <a:p>
            <a:pPr algn="just">
              <a:buNone/>
            </a:pPr>
            <a:r>
              <a:rPr lang="en-US" dirty="0" smtClean="0"/>
              <a:t>- Ignore payback time</a:t>
            </a:r>
          </a:p>
          <a:p>
            <a:pPr algn="just">
              <a:buNone/>
            </a:pPr>
            <a:r>
              <a:rPr lang="en-US" dirty="0" smtClean="0"/>
              <a:t>- Ignore risk</a:t>
            </a:r>
          </a:p>
          <a:p>
            <a:pPr algn="just"/>
            <a:r>
              <a:rPr lang="en-US" b="1" dirty="0" smtClean="0"/>
              <a:t>Payback period</a:t>
            </a:r>
          </a:p>
          <a:p>
            <a:pPr algn="just">
              <a:buNone/>
            </a:pPr>
            <a:r>
              <a:rPr lang="en-US" dirty="0" smtClean="0"/>
              <a:t>- Ignore overall profitability</a:t>
            </a:r>
          </a:p>
          <a:p>
            <a:pPr algn="just"/>
            <a:r>
              <a:rPr lang="en-US" b="1" dirty="0" smtClean="0"/>
              <a:t>Average Rate of Return (ARR) or ROI</a:t>
            </a:r>
          </a:p>
          <a:p>
            <a:pPr algn="just">
              <a:buNone/>
            </a:pPr>
            <a:r>
              <a:rPr lang="en-US" dirty="0" smtClean="0"/>
              <a:t>- Ignore timing of returns</a:t>
            </a:r>
          </a:p>
          <a:p>
            <a:pPr algn="just">
              <a:buFontTx/>
              <a:buChar char="-"/>
            </a:pPr>
            <a:r>
              <a:rPr lang="en-US" dirty="0" smtClean="0"/>
              <a:t>Not directly comparable with bank rate</a:t>
            </a:r>
          </a:p>
          <a:p>
            <a:pPr algn="just"/>
            <a:r>
              <a:rPr lang="en-US" b="1" dirty="0" smtClean="0"/>
              <a:t>NPV</a:t>
            </a:r>
          </a:p>
          <a:p>
            <a:pPr algn="just">
              <a:buNone/>
            </a:pPr>
            <a:r>
              <a:rPr lang="en-US" dirty="0" smtClean="0"/>
              <a:t>- Takes account of profitability and timing of cash flows</a:t>
            </a:r>
          </a:p>
          <a:p>
            <a:pPr>
              <a:buFontTx/>
              <a:buChar char="-"/>
            </a:pPr>
            <a:endParaRPr lang="en-US" dirty="0" smtClean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1"/>
            <a:ext cx="8229600" cy="5257800"/>
          </a:xfrm>
        </p:spPr>
        <p:txBody>
          <a:bodyPr/>
          <a:lstStyle/>
          <a:p>
            <a:pPr algn="just"/>
            <a:r>
              <a:rPr lang="en-US" sz="2800" dirty="0" smtClean="0"/>
              <a:t>The Net profit, payback, Average rate of Return  are less scientific, but nevertheless important as they are the most used. It has been estimated that many as 50% of firms still use the pay-back and at least 10% use the Average Rate of Return (ARR).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Note that the ARR Formula is also known as return on investment (ROI) or </a:t>
            </a:r>
            <a:r>
              <a:rPr lang="en-US" sz="2800" b="1" dirty="0" smtClean="0"/>
              <a:t>accounting rate of return</a:t>
            </a:r>
            <a:r>
              <a:rPr lang="en-US" sz="2800" dirty="0" smtClean="0"/>
              <a:t>, is sometimes modified to take account of depreciation by reducing the average annual profit figure.</a:t>
            </a:r>
            <a:endParaRPr lang="en-US" sz="2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1"/>
            <a:ext cx="8229600" cy="5486400"/>
          </a:xfrm>
        </p:spPr>
        <p:txBody>
          <a:bodyPr/>
          <a:lstStyle/>
          <a:p>
            <a:pPr algn="just"/>
            <a:r>
              <a:rPr lang="en-US" dirty="0" smtClean="0"/>
              <a:t>The discounting method is more scientific approach and are of particular interest to economists because they take into account the opportunity cost of the use of capital funds.</a:t>
            </a:r>
            <a:r>
              <a:rPr lang="en-US" sz="2400" dirty="0" smtClean="0"/>
              <a:t>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Money used to finance a project itself cost money. If it has to be borrowed, the cost is the interest that has to be paid.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If the project is financed from cash reserves then the cost is the interest that could otherwise have been earned.</a:t>
            </a: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Discount rates reflect a risk premium over Bank interest rates.</a:t>
            </a:r>
          </a:p>
          <a:p>
            <a:pPr algn="just"/>
            <a:r>
              <a:rPr lang="en-US" sz="2800" dirty="0" smtClean="0"/>
              <a:t>Some project may be sensitive to small changes in rate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- Project must be considered within the political and economic framework o</a:t>
            </a:r>
            <a:r>
              <a:rPr lang="en-GB" dirty="0" smtClean="0"/>
              <a:t>f the organization as a whole.</a:t>
            </a:r>
          </a:p>
          <a:p>
            <a:pPr algn="just"/>
            <a:r>
              <a:rPr lang="en-GB" dirty="0" smtClean="0"/>
              <a:t>- External factors may also influence a decision.</a:t>
            </a:r>
          </a:p>
          <a:p>
            <a:pPr algn="just"/>
            <a:r>
              <a:rPr lang="en-GB" dirty="0" smtClean="0"/>
              <a:t>- Contractual or legal obligations may force unprofitable project to be undertaken.</a:t>
            </a:r>
          </a:p>
          <a:p>
            <a:pPr algn="just"/>
            <a:r>
              <a:rPr lang="en-GB" dirty="0" smtClean="0"/>
              <a:t>- Unforeseen change in legislation, taxation, ... And/or other interest rate may invalidate a proposal.</a:t>
            </a:r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End of chapter 7.</a:t>
            </a:r>
          </a:p>
          <a:p>
            <a:endParaRPr lang="en-US" dirty="0" smtClean="0"/>
          </a:p>
          <a:p>
            <a:pPr algn="ctr"/>
            <a:r>
              <a:rPr lang="en-US" dirty="0" smtClean="0"/>
              <a:t>Thank you.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Mr</a:t>
            </a:r>
            <a:r>
              <a:rPr lang="en-US" dirty="0" smtClean="0"/>
              <a:t> </a:t>
            </a:r>
            <a:r>
              <a:rPr lang="en-US" dirty="0" err="1" smtClean="0"/>
              <a:t>Kalisa</a:t>
            </a:r>
            <a:r>
              <a:rPr lang="en-US" dirty="0" smtClean="0"/>
              <a:t> is trying to sell a piece of land located at </a:t>
            </a:r>
            <a:r>
              <a:rPr lang="en-US" dirty="0" err="1" smtClean="0"/>
              <a:t>kigali</a:t>
            </a:r>
            <a:r>
              <a:rPr lang="en-US" dirty="0" smtClean="0"/>
              <a:t>. He has been offered 228450 </a:t>
            </a:r>
            <a:r>
              <a:rPr lang="en-US" dirty="0" err="1" smtClean="0"/>
              <a:t>frw</a:t>
            </a:r>
            <a:r>
              <a:rPr lang="en-US" dirty="0" smtClean="0"/>
              <a:t> by </a:t>
            </a:r>
            <a:r>
              <a:rPr lang="en-US" dirty="0" err="1" smtClean="0"/>
              <a:t>Kamali</a:t>
            </a:r>
            <a:r>
              <a:rPr lang="en-US" dirty="0" smtClean="0"/>
              <a:t> who will be paying the amount by the end of year.</a:t>
            </a:r>
          </a:p>
          <a:p>
            <a:r>
              <a:rPr lang="en-US" dirty="0" smtClean="0"/>
              <a:t>And </a:t>
            </a:r>
            <a:r>
              <a:rPr lang="en-US" dirty="0" err="1" smtClean="0"/>
              <a:t>Kagabo</a:t>
            </a:r>
            <a:r>
              <a:rPr lang="en-US" dirty="0" smtClean="0"/>
              <a:t> has offered him 200000 </a:t>
            </a:r>
            <a:r>
              <a:rPr lang="en-US" dirty="0" err="1" smtClean="0"/>
              <a:t>frw</a:t>
            </a:r>
            <a:r>
              <a:rPr lang="en-US" dirty="0" smtClean="0"/>
              <a:t>, to be paid now.</a:t>
            </a:r>
          </a:p>
          <a:p>
            <a:r>
              <a:rPr lang="en-US" dirty="0" smtClean="0"/>
              <a:t>Advice </a:t>
            </a:r>
            <a:r>
              <a:rPr lang="en-US" dirty="0" err="1" smtClean="0"/>
              <a:t>Mr</a:t>
            </a:r>
            <a:r>
              <a:rPr lang="en-US" dirty="0" smtClean="0"/>
              <a:t> </a:t>
            </a:r>
            <a:r>
              <a:rPr lang="en-US" dirty="0" err="1" smtClean="0"/>
              <a:t>Kalisa</a:t>
            </a:r>
            <a:r>
              <a:rPr lang="en-US" dirty="0" smtClean="0"/>
              <a:t> on which offer he should take. The required rate of return is 12% per year.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891" y="2590800"/>
            <a:ext cx="9011003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 ; RATE 15%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088" y="1828800"/>
            <a:ext cx="7965512" cy="4760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8531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8424</TotalTime>
  <Words>2480</Words>
  <Application>Microsoft Office PowerPoint</Application>
  <PresentationFormat>On-screen Show (4:3)</PresentationFormat>
  <Paragraphs>264</Paragraphs>
  <Slides>76</Slides>
  <Notes>6</Notes>
  <HiddenSlides>5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8" baseType="lpstr">
      <vt:lpstr>Diseño predeterminado</vt:lpstr>
      <vt:lpstr>Clip</vt:lpstr>
      <vt:lpstr>SOFTWARE ENGINEERING</vt:lpstr>
      <vt:lpstr>Chapter 7: SOFTWARE PROJECT MANAGEMENT</vt:lpstr>
      <vt:lpstr>PowerPoint Presentation</vt:lpstr>
      <vt:lpstr>Project concepts</vt:lpstr>
      <vt:lpstr>What is a Project?</vt:lpstr>
      <vt:lpstr> Def 2:</vt:lpstr>
      <vt:lpstr>Other Common Characteristics of Projects</vt:lpstr>
      <vt:lpstr>Is this a project?</vt:lpstr>
      <vt:lpstr>Software Project success rate</vt:lpstr>
      <vt:lpstr>PowerPoint Presentation</vt:lpstr>
      <vt:lpstr>Project Success</vt:lpstr>
      <vt:lpstr>Project Failure</vt:lpstr>
      <vt:lpstr>Triple Constraint</vt:lpstr>
      <vt:lpstr>Triple Constraint</vt:lpstr>
      <vt:lpstr>     Common project terms     </vt:lpstr>
      <vt:lpstr>PowerPoint Presentation</vt:lpstr>
      <vt:lpstr>What is management</vt:lpstr>
      <vt:lpstr>PowerPoint Presentation</vt:lpstr>
      <vt:lpstr>What is Project Management</vt:lpstr>
      <vt:lpstr>Software project management</vt:lpstr>
      <vt:lpstr>Software vs hardware </vt:lpstr>
      <vt:lpstr> Process and Project management</vt:lpstr>
      <vt:lpstr>PowerPoint Presentation</vt:lpstr>
      <vt:lpstr>PowerPoint Presentation</vt:lpstr>
      <vt:lpstr>Why should project managers follow processes?</vt:lpstr>
      <vt:lpstr>PowerPoint Presentation</vt:lpstr>
      <vt:lpstr>PowerPoint Presentation</vt:lpstr>
      <vt:lpstr>PowerPoint Presentation</vt:lpstr>
      <vt:lpstr>Four Tests For Feasibility</vt:lpstr>
      <vt:lpstr>Cost-Benefit Analysis</vt:lpstr>
      <vt:lpstr>PowerPoint Presentation</vt:lpstr>
      <vt:lpstr>PowerPoint Presentation</vt:lpstr>
      <vt:lpstr>Cost-Benefit Analysis Techniques</vt:lpstr>
      <vt:lpstr>1. Net profit </vt:lpstr>
      <vt:lpstr>PowerPoint Presentation</vt:lpstr>
      <vt:lpstr>PowerPoint Presentation</vt:lpstr>
      <vt:lpstr>2. Payback Analysis</vt:lpstr>
      <vt:lpstr>PowerPoint Presentation</vt:lpstr>
      <vt:lpstr>PowerPoint Presentation</vt:lpstr>
      <vt:lpstr>3. Average Rate of Return(ARR)</vt:lpstr>
      <vt:lpstr>PowerPoint Presentation</vt:lpstr>
      <vt:lpstr>ROI or ARR Formulas</vt:lpstr>
      <vt:lpstr>ARR PROJECT1</vt:lpstr>
      <vt:lpstr>PowerPoint Presentation</vt:lpstr>
      <vt:lpstr>PowerPoint Presentation</vt:lpstr>
      <vt:lpstr>PowerPoint Presentation</vt:lpstr>
      <vt:lpstr>Future value of money </vt:lpstr>
      <vt:lpstr>PowerPoint Presentation</vt:lpstr>
      <vt:lpstr>PowerPoint Presentation</vt:lpstr>
      <vt:lpstr> Present value of money</vt:lpstr>
      <vt:lpstr>PowerPoint Presentation</vt:lpstr>
      <vt:lpstr>PowerPoint Presentation</vt:lpstr>
      <vt:lpstr>4. Net Present Value (NPV)</vt:lpstr>
      <vt:lpstr>PowerPoint Presentation</vt:lpstr>
      <vt:lpstr>Examples</vt:lpstr>
      <vt:lpstr>PowerPoint Presentation</vt:lpstr>
      <vt:lpstr>NPV PROJECT 1</vt:lpstr>
      <vt:lpstr>PowerPoint Presentation</vt:lpstr>
      <vt:lpstr>NPV PROJECT 2</vt:lpstr>
      <vt:lpstr>NPV PROJECT 3</vt:lpstr>
      <vt:lpstr>NPV PROJECT 4</vt:lpstr>
      <vt:lpstr>PowerPoint Presentation</vt:lpstr>
      <vt:lpstr>PowerPoint Presentation</vt:lpstr>
      <vt:lpstr>NP, Payback, NPV, ARR</vt:lpstr>
      <vt:lpstr> NPV in decision making</vt:lpstr>
      <vt:lpstr>Critique of methods</vt:lpstr>
      <vt:lpstr>PowerPoint Presentation</vt:lpstr>
      <vt:lpstr>PowerPoint Presentation</vt:lpstr>
      <vt:lpstr>PowerPoint Presentation</vt:lpstr>
      <vt:lpstr>Other considerations</vt:lpstr>
      <vt:lpstr>PowerPoint Presentation</vt:lpstr>
      <vt:lpstr>Exercise 1</vt:lpstr>
      <vt:lpstr>PowerPoint Presentation</vt:lpstr>
      <vt:lpstr>Exercises ; RATE 15%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james</cp:lastModifiedBy>
  <cp:revision>833</cp:revision>
  <dcterms:created xsi:type="dcterms:W3CDTF">2010-05-23T14:28:12Z</dcterms:created>
  <dcterms:modified xsi:type="dcterms:W3CDTF">2022-06-15T06:05:56Z</dcterms:modified>
</cp:coreProperties>
</file>