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2C16"/>
    <a:srgbClr val="0C788E"/>
    <a:srgbClr val="006666"/>
    <a:srgbClr val="54381C"/>
    <a:srgbClr val="A50021"/>
    <a:srgbClr val="FFFFA3"/>
    <a:srgbClr val="E6E6C4"/>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23" autoAdjust="0"/>
    <p:restoredTop sz="94652" autoAdjust="0"/>
  </p:normalViewPr>
  <p:slideViewPr>
    <p:cSldViewPr>
      <p:cViewPr varScale="1">
        <p:scale>
          <a:sx n="70" d="100"/>
          <a:sy n="70" d="100"/>
        </p:scale>
        <p:origin x="-131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B44374-90BC-421B-AEC9-DD07CA1314A2}" type="datetimeFigureOut">
              <a:rPr lang="en-US" smtClean="0"/>
              <a:t>12/1/2020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03B7BF-27B8-440A-8780-BD95B46E8D38}" type="slidenum">
              <a:rPr lang="en-US" smtClean="0"/>
              <a:t>‹#›</a:t>
            </a:fld>
            <a:endParaRPr lang="en-US"/>
          </a:p>
        </p:txBody>
      </p:sp>
    </p:spTree>
    <p:extLst>
      <p:ext uri="{BB962C8B-B14F-4D97-AF65-F5344CB8AC3E}">
        <p14:creationId xmlns:p14="http://schemas.microsoft.com/office/powerpoint/2010/main" val="6581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2AE03A7-F297-4D8C-8D66-749A163AE715}"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D06E4F0E-D1B4-48EF-AB1C-AC0BFEE64161}" type="slidenum">
              <a:rPr lang="es-ES"/>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878415B0-A075-462A-B0A2-B5FFCF59B058}" type="slidenum">
              <a:rPr lang="es-ES"/>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5F92E2C3-8770-41AE-88C2-C312BE7DB0B0}" type="slidenum">
              <a:rPr lang="es-ES"/>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4427035E-3358-4FFF-AB1F-152596EE2C90}" type="slidenum">
              <a:rPr lang="es-ES"/>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s-ES"/>
          </a:p>
        </p:txBody>
      </p:sp>
      <p:sp>
        <p:nvSpPr>
          <p:cNvPr id="8" name="Footer Placeholder 7"/>
          <p:cNvSpPr>
            <a:spLocks noGrp="1"/>
          </p:cNvSpPr>
          <p:nvPr>
            <p:ph type="ftr" sz="quarter" idx="11"/>
          </p:nvPr>
        </p:nvSpPr>
        <p:spPr/>
        <p:txBody>
          <a:bodyPr/>
          <a:lstStyle>
            <a:lvl1pPr>
              <a:defRPr/>
            </a:lvl1pPr>
          </a:lstStyle>
          <a:p>
            <a:endParaRPr lang="es-ES"/>
          </a:p>
        </p:txBody>
      </p:sp>
      <p:sp>
        <p:nvSpPr>
          <p:cNvPr id="9" name="Slide Number Placeholder 8"/>
          <p:cNvSpPr>
            <a:spLocks noGrp="1"/>
          </p:cNvSpPr>
          <p:nvPr>
            <p:ph type="sldNum" sz="quarter" idx="12"/>
          </p:nvPr>
        </p:nvSpPr>
        <p:spPr/>
        <p:txBody>
          <a:bodyPr/>
          <a:lstStyle>
            <a:lvl1pPr>
              <a:defRPr/>
            </a:lvl1pPr>
          </a:lstStyle>
          <a:p>
            <a:fld id="{2058AD96-D722-44F4-A332-B1BAE65E3DB7}" type="slidenum">
              <a:rPr lang="es-ES"/>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s-ES"/>
          </a:p>
        </p:txBody>
      </p:sp>
      <p:sp>
        <p:nvSpPr>
          <p:cNvPr id="4" name="Footer Placeholder 3"/>
          <p:cNvSpPr>
            <a:spLocks noGrp="1"/>
          </p:cNvSpPr>
          <p:nvPr>
            <p:ph type="ftr" sz="quarter" idx="11"/>
          </p:nvPr>
        </p:nvSpPr>
        <p:spPr/>
        <p:txBody>
          <a:bodyPr/>
          <a:lstStyle>
            <a:lvl1pPr>
              <a:defRPr/>
            </a:lvl1pPr>
          </a:lstStyle>
          <a:p>
            <a:endParaRPr lang="es-ES"/>
          </a:p>
        </p:txBody>
      </p:sp>
      <p:sp>
        <p:nvSpPr>
          <p:cNvPr id="5" name="Slide Number Placeholder 4"/>
          <p:cNvSpPr>
            <a:spLocks noGrp="1"/>
          </p:cNvSpPr>
          <p:nvPr>
            <p:ph type="sldNum" sz="quarter" idx="12"/>
          </p:nvPr>
        </p:nvSpPr>
        <p:spPr/>
        <p:txBody>
          <a:bodyPr/>
          <a:lstStyle>
            <a:lvl1pPr>
              <a:defRPr/>
            </a:lvl1pPr>
          </a:lstStyle>
          <a:p>
            <a:fld id="{18F2664B-5A58-46BB-9D1D-9F03A8C87DAD}" type="slidenum">
              <a:rPr lang="es-ES"/>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s-ES"/>
          </a:p>
        </p:txBody>
      </p:sp>
      <p:sp>
        <p:nvSpPr>
          <p:cNvPr id="3" name="Footer Placeholder 2"/>
          <p:cNvSpPr>
            <a:spLocks noGrp="1"/>
          </p:cNvSpPr>
          <p:nvPr>
            <p:ph type="ftr" sz="quarter" idx="11"/>
          </p:nvPr>
        </p:nvSpPr>
        <p:spPr/>
        <p:txBody>
          <a:bodyPr/>
          <a:lstStyle>
            <a:lvl1pPr>
              <a:defRPr/>
            </a:lvl1pPr>
          </a:lstStyle>
          <a:p>
            <a:endParaRPr lang="es-ES"/>
          </a:p>
        </p:txBody>
      </p:sp>
      <p:sp>
        <p:nvSpPr>
          <p:cNvPr id="4" name="Slide Number Placeholder 3"/>
          <p:cNvSpPr>
            <a:spLocks noGrp="1"/>
          </p:cNvSpPr>
          <p:nvPr>
            <p:ph type="sldNum" sz="quarter" idx="12"/>
          </p:nvPr>
        </p:nvSpPr>
        <p:spPr/>
        <p:txBody>
          <a:bodyPr/>
          <a:lstStyle>
            <a:lvl1pPr>
              <a:defRPr/>
            </a:lvl1pPr>
          </a:lstStyle>
          <a:p>
            <a:fld id="{A546F53B-5B88-476E-863F-50F257F64D6E}" type="slidenum">
              <a:rPr lang="es-ES"/>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BFCD3EF0-8BB7-4D68-BC76-C2A412B54779}" type="slidenum">
              <a:rPr lang="es-ES"/>
              <a:pPr/>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ED99FD19-FDAE-4258-BE5B-6FD27BEEEF6E}" type="slidenum">
              <a:rPr lang="es-ES"/>
              <a:pPr/>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B2FD20AE-22FF-4B59-92DA-91DFE6E3F107}" type="slidenum">
              <a:rPr lang="es-ES"/>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E9626F0F-45F0-4CEA-A874-57D6788EB032}" type="slidenum">
              <a:rPr lang="es-ES"/>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908613C-E353-4C9C-946A-7A8B6FE107B7}" type="slidenum">
              <a:rPr lang="es-ES"/>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Microsoft_Word_97_-_2003_Document1.doc"/></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3779912" y="692696"/>
            <a:ext cx="5364088" cy="1152128"/>
          </a:xfrm>
        </p:spPr>
        <p:txBody>
          <a:bodyPr/>
          <a:lstStyle/>
          <a:p>
            <a:pPr algn="l"/>
            <a:r>
              <a:rPr lang="en-US" sz="3200" dirty="0" smtClean="0">
                <a:effectLst/>
                <a:latin typeface="Algerian" pitchFamily="82" charset="0"/>
              </a:rPr>
              <a:t>SOFTWARE ENGINEERING</a:t>
            </a:r>
            <a:endParaRPr lang="es-ES" sz="32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Chapter 8: Effort estimation and Scheduling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lstStyle/>
          <a:p>
            <a:r>
              <a:rPr lang="en-US" dirty="0" smtClean="0"/>
              <a:t>Introduction</a:t>
            </a:r>
            <a:endParaRPr lang="en-US" dirty="0"/>
          </a:p>
        </p:txBody>
      </p:sp>
      <p:sp>
        <p:nvSpPr>
          <p:cNvPr id="3" name="Content Placeholder 2"/>
          <p:cNvSpPr>
            <a:spLocks noGrp="1"/>
          </p:cNvSpPr>
          <p:nvPr>
            <p:ph idx="1"/>
          </p:nvPr>
        </p:nvSpPr>
        <p:spPr>
          <a:xfrm>
            <a:off x="457200" y="1844824"/>
            <a:ext cx="8229600" cy="4708376"/>
          </a:xfrm>
        </p:spPr>
        <p:txBody>
          <a:bodyPr>
            <a:normAutofit fontScale="92500" lnSpcReduction="20000"/>
          </a:bodyPr>
          <a:lstStyle/>
          <a:p>
            <a:pPr algn="just"/>
            <a:r>
              <a:rPr lang="en-GB" dirty="0" smtClean="0"/>
              <a:t>In early 2000, the newspapers and TV in India reported with jubilation the successful test flight of a newly built light combat aircraft. But the detailed reports also indicated a sad side: The prototype delivery was more than five years late, and the project had cost more than 10 times its initial estimated cost.</a:t>
            </a:r>
          </a:p>
          <a:p>
            <a:pPr algn="just"/>
            <a:r>
              <a:rPr lang="en-GB" dirty="0" smtClean="0"/>
              <a:t>There are no quick and ready-made solutions for the estimation problem.</a:t>
            </a:r>
          </a:p>
          <a:p>
            <a:pPr algn="just"/>
            <a:r>
              <a:rPr lang="en-GB" dirty="0" smtClean="0"/>
              <a:t> Project managers, however, can improve their estimation by using tested guidelines that are based on past experience and data.</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00808"/>
            <a:ext cx="8229600" cy="4623792"/>
          </a:xfrm>
        </p:spPr>
        <p:txBody>
          <a:bodyPr/>
          <a:lstStyle/>
          <a:p>
            <a:pPr algn="just"/>
            <a:r>
              <a:rPr lang="en-GB" dirty="0" smtClean="0"/>
              <a:t>Effort estimation usually takes place in the early stages of a project, when the software to be built is being understood.</a:t>
            </a:r>
          </a:p>
          <a:p>
            <a:pPr algn="just"/>
            <a:r>
              <a:rPr lang="en-GB" dirty="0" smtClean="0"/>
              <a:t>The goal for a project manager is to obtain </a:t>
            </a:r>
            <a:r>
              <a:rPr lang="en-GB" b="1" i="1" dirty="0" smtClean="0"/>
              <a:t>reasonable</a:t>
            </a:r>
            <a:r>
              <a:rPr lang="en-GB" dirty="0" smtClean="0"/>
              <a:t> estimates so that the goals are met and the project personnel are not burned out.</a:t>
            </a:r>
          </a:p>
          <a:p>
            <a:pPr algn="just"/>
            <a:r>
              <a:rPr lang="en-GB" dirty="0" smtClean="0"/>
              <a:t>PMs CAN USE PAST DATA OR EFFORT ESTIMATION MODELS.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Fundamental estimation questions</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lgn="just"/>
            <a:r>
              <a:rPr lang="en-GB" dirty="0" smtClean="0"/>
              <a:t>How much effort is required to complete an activity?</a:t>
            </a:r>
            <a:endParaRPr lang="en-US" dirty="0" smtClean="0"/>
          </a:p>
          <a:p>
            <a:pPr lvl="0" algn="just"/>
            <a:r>
              <a:rPr lang="en-GB" dirty="0" smtClean="0"/>
              <a:t>How much calendar time is needed to complete an activity?</a:t>
            </a:r>
            <a:endParaRPr lang="en-US" dirty="0" smtClean="0"/>
          </a:p>
          <a:p>
            <a:pPr lvl="0" algn="just"/>
            <a:r>
              <a:rPr lang="en-GB" dirty="0" smtClean="0"/>
              <a:t>What is the total cost of an activity?</a:t>
            </a:r>
            <a:endParaRPr lang="en-US" dirty="0" smtClean="0"/>
          </a:p>
          <a:p>
            <a:pPr algn="just"/>
            <a:r>
              <a:rPr lang="en-GB" dirty="0" smtClean="0"/>
              <a:t>Project estimation and scheduling are interleaved management activities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Principles o</a:t>
            </a:r>
            <a:r>
              <a:rPr lang="en-GB" b="1" cap="all" dirty="0" smtClean="0"/>
              <a:t>f Cost Estimation</a:t>
            </a:r>
            <a:endParaRPr lang="en-US" dirty="0"/>
          </a:p>
        </p:txBody>
      </p:sp>
      <p:sp>
        <p:nvSpPr>
          <p:cNvPr id="3" name="Content Placeholder 2"/>
          <p:cNvSpPr>
            <a:spLocks noGrp="1"/>
          </p:cNvSpPr>
          <p:nvPr>
            <p:ph idx="1"/>
          </p:nvPr>
        </p:nvSpPr>
        <p:spPr/>
        <p:txBody>
          <a:bodyPr>
            <a:normAutofit/>
          </a:bodyPr>
          <a:lstStyle/>
          <a:p>
            <a:pPr algn="just"/>
            <a:r>
              <a:rPr lang="en-US" sz="2800" dirty="0" smtClean="0"/>
              <a:t>Cost estimation is really about estimating </a:t>
            </a:r>
            <a:r>
              <a:rPr lang="en-GB" sz="2800" dirty="0" smtClean="0"/>
              <a:t>effort which is then converted to cost.</a:t>
            </a:r>
          </a:p>
          <a:p>
            <a:pPr algn="just"/>
            <a:r>
              <a:rPr lang="en-GB" sz="2800" dirty="0" smtClean="0"/>
              <a:t>Estimates are required to:</a:t>
            </a:r>
          </a:p>
          <a:p>
            <a:pPr algn="just">
              <a:buNone/>
            </a:pPr>
            <a:r>
              <a:rPr lang="en-GB" sz="2800" dirty="0" smtClean="0"/>
              <a:t>- Prepare a tender or justify an internal project</a:t>
            </a:r>
          </a:p>
          <a:p>
            <a:pPr algn="just">
              <a:buNone/>
            </a:pPr>
            <a:r>
              <a:rPr lang="en-GB" sz="2800" dirty="0" smtClean="0"/>
              <a:t>- Chooses between alternative strategies</a:t>
            </a:r>
          </a:p>
          <a:p>
            <a:pPr algn="just"/>
            <a:r>
              <a:rPr lang="en-GB" sz="2800" dirty="0" smtClean="0"/>
              <a:t>The main uncertainties are size and productivity.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00808"/>
            <a:ext cx="8229600" cy="4623792"/>
          </a:xfrm>
        </p:spPr>
        <p:txBody>
          <a:bodyPr/>
          <a:lstStyle/>
          <a:p>
            <a:pPr algn="just"/>
            <a:r>
              <a:rPr lang="en-GB" dirty="0" smtClean="0"/>
              <a:t>Accuracy is improved by:</a:t>
            </a:r>
          </a:p>
          <a:p>
            <a:pPr algn="just">
              <a:buNone/>
            </a:pPr>
            <a:r>
              <a:rPr lang="en-GB" dirty="0" smtClean="0"/>
              <a:t>- Drawing on several different techniques</a:t>
            </a:r>
          </a:p>
          <a:p>
            <a:pPr algn="just">
              <a:buNone/>
            </a:pPr>
            <a:r>
              <a:rPr lang="en-GB" dirty="0" smtClean="0"/>
              <a:t>- Re-working estimates as more data become available</a:t>
            </a:r>
          </a:p>
          <a:p>
            <a:pPr algn="just">
              <a:buFontTx/>
              <a:buChar char="-"/>
            </a:pPr>
            <a:r>
              <a:rPr lang="en-GB" dirty="0" smtClean="0"/>
              <a:t>Maintaining historical data about past project</a:t>
            </a:r>
            <a:endParaRPr lang="en-US" dirty="0" smtClean="0"/>
          </a:p>
          <a:p>
            <a:pPr algn="just">
              <a:buFontTx/>
              <a:buChar char="-"/>
            </a:pPr>
            <a:r>
              <a:rPr lang="en-GB" dirty="0" smtClean="0"/>
              <a:t>Effort estimation can rely on previous experience, but a more scientific and desirable approach is to use an estimation model.</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GB" b="1" dirty="0" smtClean="0"/>
              <a:t>Effort (SIZE) Estimation Models</a:t>
            </a:r>
            <a:endParaRPr lang="en-US" dirty="0"/>
          </a:p>
        </p:txBody>
      </p:sp>
      <p:sp>
        <p:nvSpPr>
          <p:cNvPr id="3" name="Content Placeholder 2"/>
          <p:cNvSpPr>
            <a:spLocks noGrp="1"/>
          </p:cNvSpPr>
          <p:nvPr>
            <p:ph idx="1"/>
          </p:nvPr>
        </p:nvSpPr>
        <p:spPr>
          <a:xfrm>
            <a:off x="457200" y="1447800"/>
            <a:ext cx="8229600" cy="4876800"/>
          </a:xfrm>
        </p:spPr>
        <p:txBody>
          <a:bodyPr/>
          <a:lstStyle/>
          <a:p>
            <a:pPr algn="just"/>
            <a:r>
              <a:rPr lang="en-GB" dirty="0" smtClean="0"/>
              <a:t>A software </a:t>
            </a:r>
            <a:r>
              <a:rPr lang="en-GB" i="1" dirty="0" smtClean="0"/>
              <a:t>estimation model</a:t>
            </a:r>
            <a:r>
              <a:rPr lang="en-GB" dirty="0" smtClean="0"/>
              <a:t> defines the project characteristics whose values (or their estimates) it needs and the ways these values are used to compute the effort. </a:t>
            </a:r>
          </a:p>
          <a:p>
            <a:pPr algn="just"/>
            <a:r>
              <a:rPr lang="en-GB" dirty="0" smtClean="0"/>
              <a:t>An estimation model needs inputs to produce the effort estimate as output. </a:t>
            </a:r>
          </a:p>
          <a:p>
            <a:pPr algn="just"/>
            <a:r>
              <a:rPr lang="en-GB" dirty="0" smtClean="0"/>
              <a:t>A common approach is to use a simple equation to obtain an estimate of the overall effort from the size estimate.</a:t>
            </a:r>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Most common estimation model</a:t>
            </a:r>
            <a:endParaRPr lang="en-US" dirty="0"/>
          </a:p>
        </p:txBody>
      </p:sp>
      <p:sp>
        <p:nvSpPr>
          <p:cNvPr id="3" name="Content Placeholder 2"/>
          <p:cNvSpPr>
            <a:spLocks noGrp="1"/>
          </p:cNvSpPr>
          <p:nvPr>
            <p:ph idx="1"/>
          </p:nvPr>
        </p:nvSpPr>
        <p:spPr/>
        <p:txBody>
          <a:bodyPr/>
          <a:lstStyle/>
          <a:p>
            <a:pPr algn="just"/>
            <a:r>
              <a:rPr lang="en-US" dirty="0" smtClean="0"/>
              <a:t>1. Expert Judgment</a:t>
            </a:r>
          </a:p>
          <a:p>
            <a:pPr algn="just"/>
            <a:r>
              <a:rPr lang="en-US" dirty="0" smtClean="0"/>
              <a:t>2. Analogy</a:t>
            </a:r>
          </a:p>
          <a:p>
            <a:pPr algn="just"/>
            <a:r>
              <a:rPr lang="en-US" dirty="0" smtClean="0"/>
              <a:t>3. Parkinson’s law </a:t>
            </a:r>
          </a:p>
          <a:p>
            <a:pPr algn="just"/>
            <a:r>
              <a:rPr lang="en-US" dirty="0" smtClean="0"/>
              <a:t>4. Price to win</a:t>
            </a:r>
          </a:p>
          <a:p>
            <a:pPr lvl="0" algn="just"/>
            <a:r>
              <a:rPr lang="en-US" dirty="0" smtClean="0"/>
              <a:t>5. Top-down</a:t>
            </a:r>
          </a:p>
          <a:p>
            <a:pPr lvl="0" algn="just"/>
            <a:r>
              <a:rPr lang="en-US" dirty="0" smtClean="0"/>
              <a:t>6. Bottom- up</a:t>
            </a:r>
          </a:p>
          <a:p>
            <a:pPr lvl="0" algn="just"/>
            <a:r>
              <a:rPr lang="en-US" b="1" dirty="0" smtClean="0"/>
              <a:t>7. </a:t>
            </a:r>
            <a:r>
              <a:rPr lang="en-US" dirty="0" smtClean="0"/>
              <a:t>LINE OF CODE (LOC)</a:t>
            </a:r>
          </a:p>
          <a:p>
            <a:pPr algn="just"/>
            <a:r>
              <a:rPr lang="en-US" dirty="0" smtClean="0"/>
              <a:t>8. </a:t>
            </a:r>
            <a:r>
              <a:rPr lang="en-GB" dirty="0" smtClean="0"/>
              <a:t>Function points</a:t>
            </a:r>
            <a:endParaRPr lang="en-US" dirty="0" smtClean="0"/>
          </a:p>
          <a:p>
            <a:pPr>
              <a:buNone/>
            </a:pP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dirty="0" smtClean="0"/>
              <a:t>1. Expert </a:t>
            </a:r>
            <a:r>
              <a:rPr lang="en-US" dirty="0"/>
              <a:t>judgment</a:t>
            </a:r>
          </a:p>
        </p:txBody>
      </p:sp>
      <p:sp>
        <p:nvSpPr>
          <p:cNvPr id="270339" name="Rectangle 3"/>
          <p:cNvSpPr>
            <a:spLocks noGrp="1" noChangeArrowheads="1"/>
          </p:cNvSpPr>
          <p:nvPr>
            <p:ph type="body" idx="1"/>
          </p:nvPr>
        </p:nvSpPr>
        <p:spPr/>
        <p:txBody>
          <a:bodyPr>
            <a:normAutofit fontScale="92500" lnSpcReduction="20000"/>
          </a:bodyPr>
          <a:lstStyle/>
          <a:p>
            <a:pPr algn="just">
              <a:lnSpc>
                <a:spcPct val="90000"/>
              </a:lnSpc>
            </a:pPr>
            <a:r>
              <a:rPr lang="en-US" dirty="0" smtClean="0"/>
              <a:t> </a:t>
            </a:r>
            <a:r>
              <a:rPr lang="en-US" dirty="0"/>
              <a:t>One or more experts in both software development and the application domain use their experience to predict software costs. </a:t>
            </a:r>
            <a:endParaRPr lang="en-US" dirty="0" smtClean="0"/>
          </a:p>
          <a:p>
            <a:pPr algn="just">
              <a:lnSpc>
                <a:spcPct val="90000"/>
              </a:lnSpc>
            </a:pPr>
            <a:r>
              <a:rPr lang="en-US" dirty="0" smtClean="0"/>
              <a:t>Process </a:t>
            </a:r>
            <a:r>
              <a:rPr lang="en-US" dirty="0"/>
              <a:t>iterates until some consensus is reached</a:t>
            </a:r>
            <a:r>
              <a:rPr lang="en-US" dirty="0" smtClean="0"/>
              <a:t>.</a:t>
            </a:r>
          </a:p>
          <a:p>
            <a:pPr algn="just">
              <a:lnSpc>
                <a:spcPct val="90000"/>
              </a:lnSpc>
            </a:pPr>
            <a:endParaRPr lang="en-US" dirty="0"/>
          </a:p>
          <a:p>
            <a:pPr algn="just">
              <a:lnSpc>
                <a:spcPct val="90000"/>
              </a:lnSpc>
            </a:pPr>
            <a:r>
              <a:rPr lang="en-US" b="1" dirty="0"/>
              <a:t>Advantages: </a:t>
            </a:r>
            <a:r>
              <a:rPr lang="en-US" dirty="0"/>
              <a:t>Relatively cheap estimation method. Can be accurate if experts have direct experience of similar </a:t>
            </a:r>
            <a:r>
              <a:rPr lang="en-US" dirty="0" smtClean="0"/>
              <a:t>systems.</a:t>
            </a:r>
          </a:p>
          <a:p>
            <a:pPr algn="just">
              <a:lnSpc>
                <a:spcPct val="90000"/>
              </a:lnSpc>
            </a:pPr>
            <a:endParaRPr lang="en-US" dirty="0"/>
          </a:p>
          <a:p>
            <a:pPr algn="just">
              <a:lnSpc>
                <a:spcPct val="90000"/>
              </a:lnSpc>
            </a:pPr>
            <a:r>
              <a:rPr lang="en-US" b="1" dirty="0"/>
              <a:t>Disadvantages: </a:t>
            </a:r>
            <a:r>
              <a:rPr lang="en-US" dirty="0"/>
              <a:t>Very inaccurate if there are no experts!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en-US" dirty="0" smtClean="0"/>
              <a:t>2.Estimation </a:t>
            </a:r>
            <a:r>
              <a:rPr lang="en-US" dirty="0"/>
              <a:t>by analogy</a:t>
            </a:r>
          </a:p>
        </p:txBody>
      </p:sp>
      <p:sp>
        <p:nvSpPr>
          <p:cNvPr id="271363" name="Rectangle 3"/>
          <p:cNvSpPr>
            <a:spLocks noGrp="1" noChangeArrowheads="1"/>
          </p:cNvSpPr>
          <p:nvPr>
            <p:ph type="body" idx="1"/>
          </p:nvPr>
        </p:nvSpPr>
        <p:spPr/>
        <p:txBody>
          <a:bodyPr/>
          <a:lstStyle/>
          <a:p>
            <a:pPr algn="just"/>
            <a:r>
              <a:rPr lang="en-US" dirty="0" smtClean="0"/>
              <a:t>The </a:t>
            </a:r>
            <a:r>
              <a:rPr lang="en-US" dirty="0"/>
              <a:t>cost of a project is computed by comparing the project to a similar project in the same application domain</a:t>
            </a:r>
          </a:p>
          <a:p>
            <a:pPr algn="just"/>
            <a:r>
              <a:rPr lang="en-US" dirty="0"/>
              <a:t> </a:t>
            </a:r>
            <a:r>
              <a:rPr lang="en-US" b="1" dirty="0"/>
              <a:t>Advantages: </a:t>
            </a:r>
            <a:r>
              <a:rPr lang="en-US" dirty="0"/>
              <a:t>May be accurate if project data </a:t>
            </a:r>
            <a:r>
              <a:rPr lang="en-US" dirty="0" smtClean="0"/>
              <a:t> are available </a:t>
            </a:r>
            <a:r>
              <a:rPr lang="en-US" dirty="0"/>
              <a:t>and people/tools </a:t>
            </a:r>
            <a:r>
              <a:rPr lang="en-US" dirty="0" smtClean="0"/>
              <a:t>are the </a:t>
            </a:r>
            <a:r>
              <a:rPr lang="en-US" dirty="0"/>
              <a:t>same</a:t>
            </a:r>
          </a:p>
          <a:p>
            <a:pPr algn="just"/>
            <a:r>
              <a:rPr lang="en-US" dirty="0"/>
              <a:t>  </a:t>
            </a:r>
            <a:r>
              <a:rPr lang="en-US" b="1" dirty="0"/>
              <a:t>Disadvantages: </a:t>
            </a:r>
            <a:r>
              <a:rPr lang="en-US" dirty="0"/>
              <a:t>Impossible if no comparable project has been </a:t>
            </a:r>
            <a:r>
              <a:rPr lang="en-US" dirty="0" smtClean="0"/>
              <a:t>undertaken. </a:t>
            </a:r>
            <a:r>
              <a:rPr lang="en-US" dirty="0"/>
              <a:t>Needs systematically maintained cost </a:t>
            </a:r>
            <a:r>
              <a:rPr lang="en-US" dirty="0" smtClean="0"/>
              <a:t>database.</a:t>
            </a:r>
            <a:endParaRPr 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r>
              <a:rPr lang="en-US" dirty="0" smtClean="0"/>
              <a:t>3. Parkinson's </a:t>
            </a:r>
            <a:r>
              <a:rPr lang="en-US" dirty="0"/>
              <a:t>Law</a:t>
            </a:r>
          </a:p>
        </p:txBody>
      </p:sp>
      <p:sp>
        <p:nvSpPr>
          <p:cNvPr id="272387" name="Rectangle 3"/>
          <p:cNvSpPr>
            <a:spLocks noGrp="1" noChangeArrowheads="1"/>
          </p:cNvSpPr>
          <p:nvPr>
            <p:ph type="body" idx="1"/>
          </p:nvPr>
        </p:nvSpPr>
        <p:spPr/>
        <p:txBody>
          <a:bodyPr/>
          <a:lstStyle/>
          <a:p>
            <a:endParaRPr lang="en-US" dirty="0"/>
          </a:p>
          <a:p>
            <a:pPr algn="just">
              <a:buNone/>
            </a:pPr>
            <a:r>
              <a:rPr lang="en-US" sz="2800" dirty="0"/>
              <a:t> The project costs whatever resources are available</a:t>
            </a:r>
          </a:p>
          <a:p>
            <a:pPr algn="just"/>
            <a:r>
              <a:rPr lang="en-US" sz="2800" dirty="0"/>
              <a:t> </a:t>
            </a:r>
            <a:r>
              <a:rPr lang="en-US" sz="2800" b="1" dirty="0"/>
              <a:t>Advantages: </a:t>
            </a:r>
            <a:r>
              <a:rPr lang="en-US" sz="2800" dirty="0"/>
              <a:t>No overspend</a:t>
            </a:r>
          </a:p>
          <a:p>
            <a:pPr algn="just"/>
            <a:r>
              <a:rPr lang="en-US" sz="2800" dirty="0"/>
              <a:t> </a:t>
            </a:r>
            <a:r>
              <a:rPr lang="en-US" sz="2800" b="1" dirty="0"/>
              <a:t>Disadvantages: </a:t>
            </a:r>
            <a:r>
              <a:rPr lang="en-US" sz="2800" dirty="0"/>
              <a:t>System is usually unfinished</a:t>
            </a:r>
          </a:p>
          <a:p>
            <a:pPr algn="just"/>
            <a:endParaRPr lang="en-US" sz="2800" dirty="0"/>
          </a:p>
          <a:p>
            <a:pPr marL="274320" lvl="1" indent="-274320" algn="just">
              <a:buClr>
                <a:schemeClr val="accent3"/>
              </a:buClr>
              <a:buSzPct val="95000"/>
            </a:pPr>
            <a:r>
              <a:rPr lang="en-GB" sz="2800" dirty="0" smtClean="0"/>
              <a:t>E.g., if the software has to be delivered in 12 months and 5 people are available, the effort required is estimated to be 60 person-months.</a:t>
            </a:r>
          </a:p>
          <a:p>
            <a:endParaRPr 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r>
              <a:rPr lang="en-US" dirty="0" smtClean="0"/>
              <a:t>4. Cost </a:t>
            </a:r>
            <a:r>
              <a:rPr lang="en-US" dirty="0"/>
              <a:t>Pricing to win</a:t>
            </a:r>
          </a:p>
        </p:txBody>
      </p:sp>
      <p:sp>
        <p:nvSpPr>
          <p:cNvPr id="273411" name="Rectangle 3"/>
          <p:cNvSpPr>
            <a:spLocks noGrp="1" noChangeArrowheads="1"/>
          </p:cNvSpPr>
          <p:nvPr>
            <p:ph type="body" idx="1"/>
          </p:nvPr>
        </p:nvSpPr>
        <p:spPr/>
        <p:txBody>
          <a:bodyPr/>
          <a:lstStyle/>
          <a:p>
            <a:pPr algn="just">
              <a:lnSpc>
                <a:spcPct val="90000"/>
              </a:lnSpc>
            </a:pPr>
            <a:r>
              <a:rPr lang="en-US" dirty="0"/>
              <a:t> The project costs whatever the customer has to spend on it</a:t>
            </a:r>
          </a:p>
          <a:p>
            <a:pPr algn="just">
              <a:lnSpc>
                <a:spcPct val="90000"/>
              </a:lnSpc>
            </a:pPr>
            <a:r>
              <a:rPr lang="en-US" dirty="0"/>
              <a:t> </a:t>
            </a:r>
            <a:r>
              <a:rPr lang="en-US" b="1" dirty="0"/>
              <a:t>Advantages: </a:t>
            </a:r>
            <a:r>
              <a:rPr lang="en-US" dirty="0"/>
              <a:t>You get the contract</a:t>
            </a:r>
          </a:p>
          <a:p>
            <a:pPr algn="just">
              <a:lnSpc>
                <a:spcPct val="90000"/>
              </a:lnSpc>
            </a:pPr>
            <a:r>
              <a:rPr lang="en-US" dirty="0"/>
              <a:t> </a:t>
            </a:r>
            <a:r>
              <a:rPr lang="en-US" b="1" dirty="0"/>
              <a:t>Disadvantages: </a:t>
            </a:r>
            <a:r>
              <a:rPr lang="en-US" dirty="0"/>
              <a:t>The probability that the customer gets the system he or she wants is small. Costs do not accurately reflect the work required.  </a:t>
            </a:r>
          </a:p>
          <a:p>
            <a:pPr algn="just">
              <a:lnSpc>
                <a:spcPct val="90000"/>
              </a:lnSpc>
            </a:pPr>
            <a:r>
              <a:rPr lang="en-US" dirty="0"/>
              <a:t>How do you know what customer has?</a:t>
            </a:r>
          </a:p>
          <a:p>
            <a:pPr algn="just">
              <a:lnSpc>
                <a:spcPct val="90000"/>
              </a:lnSpc>
            </a:pPr>
            <a:r>
              <a:rPr lang="en-US" dirty="0"/>
              <a:t>Only a good strategy if you are willing to take a serious loss to get a first </a:t>
            </a:r>
            <a:r>
              <a:rPr lang="en-US" dirty="0" smtClean="0"/>
              <a:t>customer.</a:t>
            </a:r>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19200"/>
          </a:xfrm>
        </p:spPr>
        <p:txBody>
          <a:bodyPr/>
          <a:lstStyle/>
          <a:p>
            <a:r>
              <a:rPr lang="en-US" dirty="0" smtClean="0"/>
              <a:t>5. Top down approach</a:t>
            </a:r>
            <a:endParaRPr lang="en-US" dirty="0"/>
          </a:p>
        </p:txBody>
      </p:sp>
      <p:sp>
        <p:nvSpPr>
          <p:cNvPr id="3" name="Content Placeholder 2"/>
          <p:cNvSpPr>
            <a:spLocks noGrp="1"/>
          </p:cNvSpPr>
          <p:nvPr>
            <p:ph idx="1"/>
          </p:nvPr>
        </p:nvSpPr>
        <p:spPr/>
        <p:txBody>
          <a:bodyPr>
            <a:normAutofit fontScale="92500" lnSpcReduction="10000"/>
          </a:bodyPr>
          <a:lstStyle/>
          <a:p>
            <a:pPr algn="just">
              <a:buNone/>
            </a:pPr>
            <a:r>
              <a:rPr lang="en-GB" dirty="0" smtClean="0"/>
              <a:t>Estimate of the overall effort from the size estimate.</a:t>
            </a:r>
          </a:p>
          <a:p>
            <a:pPr algn="just">
              <a:buNone/>
            </a:pPr>
            <a:r>
              <a:rPr lang="en-GB" dirty="0" smtClean="0"/>
              <a:t> This equation can be determined through regression analysis of past data on effort and size. </a:t>
            </a:r>
          </a:p>
          <a:p>
            <a:pPr algn="just">
              <a:buNone/>
            </a:pPr>
            <a:endParaRPr lang="en-GB" dirty="0" smtClean="0"/>
          </a:p>
          <a:p>
            <a:pPr algn="just">
              <a:buNone/>
            </a:pPr>
            <a:r>
              <a:rPr lang="en-GB" dirty="0" smtClean="0"/>
              <a:t>Once the overall effort for the project is known, the effort for various phases or activities can be determined as a percentage of the total effort.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lstStyle/>
          <a:p>
            <a:r>
              <a:rPr lang="en-US" dirty="0" smtClean="0"/>
              <a:t>2. Bottom-up approach</a:t>
            </a:r>
            <a:endParaRPr lang="en-US" dirty="0"/>
          </a:p>
        </p:txBody>
      </p:sp>
      <p:sp>
        <p:nvSpPr>
          <p:cNvPr id="3" name="Content Placeholder 2"/>
          <p:cNvSpPr>
            <a:spLocks noGrp="1"/>
          </p:cNvSpPr>
          <p:nvPr>
            <p:ph idx="1"/>
          </p:nvPr>
        </p:nvSpPr>
        <p:spPr>
          <a:xfrm>
            <a:off x="457200" y="1447800"/>
            <a:ext cx="8229600" cy="4876800"/>
          </a:xfrm>
        </p:spPr>
        <p:txBody>
          <a:bodyPr/>
          <a:lstStyle/>
          <a:p>
            <a:pPr algn="just"/>
            <a:r>
              <a:rPr lang="en-GB" dirty="0" smtClean="0"/>
              <a:t>You obtain the estimates first for parts of the project and then for the overall estimate. </a:t>
            </a:r>
            <a:r>
              <a:rPr lang="en-GB" b="1" i="1" dirty="0" smtClean="0"/>
              <a:t>Activity-based</a:t>
            </a:r>
            <a:r>
              <a:rPr lang="en-GB" b="1" dirty="0" smtClean="0"/>
              <a:t> </a:t>
            </a:r>
            <a:r>
              <a:rPr lang="en-GB" dirty="0" smtClean="0"/>
              <a:t>estimation .</a:t>
            </a:r>
          </a:p>
          <a:p>
            <a:pPr algn="just"/>
            <a:r>
              <a:rPr lang="en-GB" dirty="0" smtClean="0"/>
              <a:t>The bottom-up approach lends itself to direct estimation of effort; once the project is partitioned into smaller tasks, it is possible to directly estimate the effort required for them. </a:t>
            </a:r>
          </a:p>
          <a:p>
            <a:pPr algn="just"/>
            <a:r>
              <a:rPr lang="en-GB" dirty="0" smtClean="0"/>
              <a:t>A risk of bottom-up methods is that you may omit some important activities in the list of tasks.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715000"/>
          </a:xfrm>
        </p:spPr>
        <p:txBody>
          <a:bodyPr>
            <a:normAutofit fontScale="92500" lnSpcReduction="20000"/>
          </a:bodyPr>
          <a:lstStyle/>
          <a:p>
            <a:pPr algn="just"/>
            <a:r>
              <a:rPr lang="en-GB" dirty="0" smtClean="0"/>
              <a:t>It may prove difficult to directly estimate the effort required for some overhead tasks, such as project management.</a:t>
            </a:r>
          </a:p>
          <a:p>
            <a:pPr algn="just"/>
            <a:endParaRPr lang="en-GB" dirty="0" smtClean="0"/>
          </a:p>
          <a:p>
            <a:pPr algn="just"/>
            <a:r>
              <a:rPr lang="en-GB" dirty="0" smtClean="0"/>
              <a:t>Top-down and the bottom-up approaches require information about the project: size (for top-down approaches) and a list of tasks (for bottom-up approaches).</a:t>
            </a:r>
          </a:p>
          <a:p>
            <a:pPr algn="just"/>
            <a:endParaRPr lang="en-GB" dirty="0" smtClean="0"/>
          </a:p>
          <a:p>
            <a:pPr algn="just"/>
            <a:r>
              <a:rPr lang="en-GB" dirty="0" smtClean="0"/>
              <a:t> In many ways, these approaches are </a:t>
            </a:r>
            <a:r>
              <a:rPr lang="en-GB" b="1" dirty="0" smtClean="0"/>
              <a:t>complementary.</a:t>
            </a:r>
            <a:r>
              <a:rPr lang="en-GB" dirty="0" smtClean="0"/>
              <a:t> Both types of estimates are more accurate if more information about the project is available or as the project proceeds.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A top-down approach gives a system level focus but lacks details. Bottom-up  gives a detailed basis but may overlook system costs.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LINES OF CODE(LOC)</a:t>
            </a:r>
            <a:endParaRPr lang="en-US" dirty="0"/>
          </a:p>
        </p:txBody>
      </p:sp>
      <p:sp>
        <p:nvSpPr>
          <p:cNvPr id="3" name="Content Placeholder 2"/>
          <p:cNvSpPr>
            <a:spLocks noGrp="1"/>
          </p:cNvSpPr>
          <p:nvPr>
            <p:ph idx="1"/>
          </p:nvPr>
        </p:nvSpPr>
        <p:spPr/>
        <p:txBody>
          <a:bodyPr/>
          <a:lstStyle/>
          <a:p>
            <a:pPr algn="just"/>
            <a:r>
              <a:rPr lang="en-US" dirty="0" smtClean="0"/>
              <a:t>This consists of number of lines of code produced.</a:t>
            </a:r>
          </a:p>
          <a:p>
            <a:pPr algn="just"/>
            <a:r>
              <a:rPr lang="en-US" dirty="0" smtClean="0"/>
              <a:t>Lines of Code measure the solution not the problem.</a:t>
            </a:r>
          </a:p>
          <a:p>
            <a:pPr algn="just"/>
            <a:r>
              <a:rPr lang="en-US" dirty="0" smtClean="0"/>
              <a:t>Only deliverable code is included (comments and blank line are ignored).</a:t>
            </a:r>
          </a:p>
          <a:p>
            <a:pPr algn="just"/>
            <a:r>
              <a:rPr lang="en-US" dirty="0" smtClean="0"/>
              <a:t>Language dependent.</a:t>
            </a:r>
          </a:p>
          <a:p>
            <a:pPr algn="just"/>
            <a:r>
              <a:rPr lang="en-US" dirty="0" smtClean="0"/>
              <a:t>Difficult to estimate in early stages of development.</a:t>
            </a:r>
          </a:p>
          <a:p>
            <a:pPr algn="just"/>
            <a:r>
              <a:rPr lang="en-US" dirty="0" smtClean="0"/>
              <a:t>Doesn’t proper measure no-coding tasks.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Productivity comparisons</a:t>
            </a:r>
            <a:endParaRPr lang="en-US" dirty="0"/>
          </a:p>
        </p:txBody>
      </p:sp>
      <p:sp>
        <p:nvSpPr>
          <p:cNvPr id="3" name="Content Placeholder 2"/>
          <p:cNvSpPr>
            <a:spLocks noGrp="1"/>
          </p:cNvSpPr>
          <p:nvPr>
            <p:ph idx="1"/>
          </p:nvPr>
        </p:nvSpPr>
        <p:spPr/>
        <p:txBody>
          <a:bodyPr>
            <a:noAutofit/>
          </a:bodyPr>
          <a:lstStyle/>
          <a:p>
            <a:pPr marL="488950" indent="-488950" algn="just" defTabSz="962025">
              <a:lnSpc>
                <a:spcPct val="90000"/>
              </a:lnSpc>
            </a:pPr>
            <a:r>
              <a:rPr lang="en-GB" sz="2800" dirty="0" smtClean="0"/>
              <a:t>The lower level the language, the more </a:t>
            </a:r>
            <a:br>
              <a:rPr lang="en-GB" sz="2800" dirty="0" smtClean="0"/>
            </a:br>
            <a:r>
              <a:rPr lang="en-GB" sz="2800" dirty="0" smtClean="0"/>
              <a:t>productive the programmer</a:t>
            </a:r>
          </a:p>
          <a:p>
            <a:pPr marL="1089025" lvl="1" indent="-479425" algn="just" defTabSz="962025">
              <a:lnSpc>
                <a:spcPct val="90000"/>
              </a:lnSpc>
            </a:pPr>
            <a:r>
              <a:rPr lang="en-GB" sz="2800" dirty="0" smtClean="0"/>
              <a:t>The same functionality takes more code to implement in a lower-level language than in a high-level language.</a:t>
            </a:r>
          </a:p>
          <a:p>
            <a:pPr marL="488950" indent="-488950" algn="just" defTabSz="962025">
              <a:lnSpc>
                <a:spcPct val="90000"/>
              </a:lnSpc>
            </a:pPr>
            <a:r>
              <a:rPr lang="en-GB" sz="2800" dirty="0" smtClean="0"/>
              <a:t>The more verbose the programmer, the higher </a:t>
            </a:r>
            <a:br>
              <a:rPr lang="en-GB" sz="2800" dirty="0" smtClean="0"/>
            </a:br>
            <a:r>
              <a:rPr lang="en-GB" sz="2800" dirty="0" smtClean="0"/>
              <a:t>the productivity</a:t>
            </a:r>
          </a:p>
          <a:p>
            <a:pPr marL="1089025" lvl="1" indent="-479425" algn="just" defTabSz="962025">
              <a:lnSpc>
                <a:spcPct val="90000"/>
              </a:lnSpc>
            </a:pPr>
            <a:r>
              <a:rPr lang="en-GB" sz="2800" dirty="0" smtClean="0"/>
              <a:t>Measures of productivity based on lines of code suggest that programmers who write verbose code are more productive than programmers who write compact code.</a:t>
            </a:r>
            <a:endParaRPr lang="en-GB"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GB" dirty="0" smtClean="0"/>
              <a:t>Low-level languages are easy for the computer to understand but are more difficult for the programmer to write: </a:t>
            </a:r>
          </a:p>
          <a:p>
            <a:pPr algn="just"/>
            <a:endParaRPr lang="en-US" altLang="en-US" dirty="0" smtClean="0"/>
          </a:p>
          <a:p>
            <a:pPr algn="just"/>
            <a:r>
              <a:rPr lang="en-US" altLang="en-US" dirty="0" smtClean="0"/>
              <a:t>High level languages :C ++, Visual Basic, Pascal, Java, Fortran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System development times</a:t>
            </a:r>
            <a:endParaRPr lang="en-US" dirty="0"/>
          </a:p>
        </p:txBody>
      </p:sp>
      <p:graphicFrame>
        <p:nvGraphicFramePr>
          <p:cNvPr id="1026" name="Object 2"/>
          <p:cNvGraphicFramePr>
            <a:graphicFrameLocks noGrp="1" noChangeAspect="1"/>
          </p:cNvGraphicFramePr>
          <p:nvPr>
            <p:ph idx="1"/>
          </p:nvPr>
        </p:nvGraphicFramePr>
        <p:xfrm>
          <a:off x="207359" y="2438400"/>
          <a:ext cx="8496641" cy="2551113"/>
        </p:xfrm>
        <a:graphic>
          <a:graphicData uri="http://schemas.openxmlformats.org/presentationml/2006/ole">
            <mc:AlternateContent xmlns:mc="http://schemas.openxmlformats.org/markup-compatibility/2006">
              <mc:Choice xmlns:v="urn:schemas-microsoft-com:vml" Requires="v">
                <p:oleObj spid="_x0000_s2051" name="Document" r:id="rId4" imgW="5726388" imgH="1718580" progId="Word.Document.8">
                  <p:embed/>
                </p:oleObj>
              </mc:Choice>
              <mc:Fallback>
                <p:oleObj name="Document" r:id="rId4" imgW="5726388" imgH="1718580" progId="Word.Document.8">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r="14359"/>
                      <a:stretch>
                        <a:fillRect/>
                      </a:stretch>
                    </p:blipFill>
                    <p:spPr bwMode="auto">
                      <a:xfrm>
                        <a:off x="207359" y="2438400"/>
                        <a:ext cx="8496641" cy="2551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Function points </a:t>
            </a:r>
            <a:endParaRPr lang="en-US" dirty="0"/>
          </a:p>
        </p:txBody>
      </p:sp>
      <p:sp>
        <p:nvSpPr>
          <p:cNvPr id="3" name="Content Placeholder 2"/>
          <p:cNvSpPr>
            <a:spLocks noGrp="1"/>
          </p:cNvSpPr>
          <p:nvPr>
            <p:ph idx="1"/>
          </p:nvPr>
        </p:nvSpPr>
        <p:spPr/>
        <p:txBody>
          <a:bodyPr>
            <a:normAutofit/>
          </a:bodyPr>
          <a:lstStyle/>
          <a:p>
            <a:pPr algn="just">
              <a:lnSpc>
                <a:spcPct val="90000"/>
              </a:lnSpc>
            </a:pPr>
            <a:r>
              <a:rPr lang="en-US" sz="2800" b="1" dirty="0" smtClean="0"/>
              <a:t>Function Points </a:t>
            </a:r>
            <a:r>
              <a:rPr lang="en-US" sz="2800" dirty="0" smtClean="0"/>
              <a:t>measure software size by quantifying the functionality provided to the user based solely on logical design and functional specifications.</a:t>
            </a:r>
          </a:p>
          <a:p>
            <a:pPr algn="just">
              <a:lnSpc>
                <a:spcPct val="90000"/>
              </a:lnSpc>
            </a:pPr>
            <a:endParaRPr lang="en-US" sz="2800" dirty="0" smtClean="0"/>
          </a:p>
          <a:p>
            <a:pPr algn="just">
              <a:lnSpc>
                <a:spcPct val="90000"/>
              </a:lnSpc>
            </a:pPr>
            <a:r>
              <a:rPr lang="en-US" sz="2800" b="1" dirty="0" smtClean="0"/>
              <a:t>Function Point Analysis (FPA) </a:t>
            </a:r>
            <a:r>
              <a:rPr lang="en-US" sz="2800" dirty="0" smtClean="0"/>
              <a:t>is a method of quantifying the size and complexity of a software system in terms of the functions that the system delivers to the user.</a:t>
            </a:r>
          </a:p>
          <a:p>
            <a:pPr>
              <a:lnSpc>
                <a:spcPct val="90000"/>
              </a:lnSpc>
            </a:pPr>
            <a:endParaRPr lang="en-US" sz="2800" dirty="0" smtClean="0"/>
          </a:p>
          <a:p>
            <a:pPr>
              <a:lnSpc>
                <a:spcPct val="90000"/>
              </a:lnSpc>
            </a:pPr>
            <a:endParaRPr lang="en-US" sz="2800" dirty="0" smtClean="0"/>
          </a:p>
          <a:p>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sz="2800" dirty="0" smtClean="0"/>
          </a:p>
          <a:p>
            <a:pPr algn="just"/>
            <a:r>
              <a:rPr lang="en-US" sz="2800" dirty="0" smtClean="0"/>
              <a:t>It is independent of the computer language, development methodology, technology or capability of the project team used to develop the application.</a:t>
            </a:r>
          </a:p>
          <a:p>
            <a:pPr algn="just"/>
            <a:endParaRPr lang="en-US" sz="2800" dirty="0" smtClean="0"/>
          </a:p>
          <a:p>
            <a:pPr algn="just"/>
            <a:r>
              <a:rPr lang="en-US" sz="2800" dirty="0" smtClean="0"/>
              <a:t>Function points can be estimated early in analysis and design.</a:t>
            </a:r>
          </a:p>
          <a:p>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Point Counting Steps</a:t>
            </a:r>
            <a:endParaRPr lang="en-US" dirty="0"/>
          </a:p>
        </p:txBody>
      </p:sp>
      <p:sp>
        <p:nvSpPr>
          <p:cNvPr id="3" name="Content Placeholder 2"/>
          <p:cNvSpPr>
            <a:spLocks noGrp="1"/>
          </p:cNvSpPr>
          <p:nvPr>
            <p:ph idx="1"/>
          </p:nvPr>
        </p:nvSpPr>
        <p:spPr/>
        <p:txBody>
          <a:bodyPr>
            <a:normAutofit/>
          </a:bodyPr>
          <a:lstStyle/>
          <a:p>
            <a:pPr marL="457200" indent="-457200" algn="just">
              <a:buNone/>
            </a:pPr>
            <a:r>
              <a:rPr lang="en-US" sz="2800" dirty="0" smtClean="0">
                <a:cs typeface="Arial" pitchFamily="34" charset="0"/>
              </a:rPr>
              <a:t>1. Determine the Unadjusted Function Point Count</a:t>
            </a:r>
            <a:r>
              <a:rPr lang="en-US" sz="2800" dirty="0" smtClean="0"/>
              <a:t> </a:t>
            </a:r>
          </a:p>
          <a:p>
            <a:pPr marL="457200" indent="-457200" algn="just">
              <a:buNone/>
            </a:pPr>
            <a:r>
              <a:rPr lang="en-US" sz="2800" dirty="0" smtClean="0">
                <a:cs typeface="Arial" pitchFamily="34" charset="0"/>
              </a:rPr>
              <a:t>2. Determine the </a:t>
            </a:r>
            <a:r>
              <a:rPr lang="en-US" sz="2800" dirty="0" smtClean="0"/>
              <a:t>Technical complexity factor</a:t>
            </a:r>
          </a:p>
          <a:p>
            <a:pPr algn="just">
              <a:buNone/>
            </a:pPr>
            <a:r>
              <a:rPr lang="en-US" sz="2800" dirty="0" smtClean="0">
                <a:cs typeface="Arial" pitchFamily="34" charset="0"/>
              </a:rPr>
              <a:t>3. Calculate the Environment Factor</a:t>
            </a:r>
          </a:p>
          <a:p>
            <a:pPr algn="just">
              <a:buNone/>
            </a:pPr>
            <a:r>
              <a:rPr lang="en-US" sz="2800" dirty="0" smtClean="0">
                <a:cs typeface="Arial" pitchFamily="34" charset="0"/>
              </a:rPr>
              <a:t>4. Calculate FP</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smtClean="0"/>
              <a:t>Function points analysis(FPA)</a:t>
            </a:r>
            <a:endParaRPr lang="en-US" dirty="0"/>
          </a:p>
        </p:txBody>
      </p:sp>
      <p:sp>
        <p:nvSpPr>
          <p:cNvPr id="3" name="Content Placeholder 2"/>
          <p:cNvSpPr>
            <a:spLocks noGrp="1"/>
          </p:cNvSpPr>
          <p:nvPr>
            <p:ph idx="1"/>
          </p:nvPr>
        </p:nvSpPr>
        <p:spPr>
          <a:xfrm>
            <a:off x="457200" y="1524000"/>
            <a:ext cx="8229600" cy="4800600"/>
          </a:xfrm>
        </p:spPr>
        <p:txBody>
          <a:bodyPr>
            <a:normAutofit lnSpcReduction="10000"/>
          </a:bodyPr>
          <a:lstStyle/>
          <a:p>
            <a:pPr algn="just">
              <a:buNone/>
            </a:pPr>
            <a:r>
              <a:rPr lang="en-US" sz="2400" dirty="0" smtClean="0">
                <a:cs typeface="Times New Roman" pitchFamily="18" charset="0"/>
              </a:rPr>
              <a:t>1. The unadjusted function point count (UFP) reflects the specific countable functionality provided to the user by the project or application. </a:t>
            </a:r>
          </a:p>
          <a:p>
            <a:pPr algn="just"/>
            <a:endParaRPr lang="en-US" b="1" dirty="0" smtClean="0"/>
          </a:p>
          <a:p>
            <a:pPr algn="just"/>
            <a:r>
              <a:rPr lang="en-US" b="1" dirty="0" smtClean="0"/>
              <a:t>Step 1</a:t>
            </a:r>
            <a:r>
              <a:rPr lang="en-US" dirty="0" smtClean="0"/>
              <a:t>: Count each of 5 information domain elements (inputs, outputs, queries, files and interfaces).</a:t>
            </a:r>
          </a:p>
          <a:p>
            <a:pPr algn="just"/>
            <a:r>
              <a:rPr lang="en-US" b="1" dirty="0" smtClean="0"/>
              <a:t>Step 2: </a:t>
            </a:r>
            <a:r>
              <a:rPr lang="en-US" dirty="0" smtClean="0"/>
              <a:t>Weight each domain element and sum to produce Unadjusted Function Point(UFP) count.</a:t>
            </a:r>
          </a:p>
          <a:p>
            <a:pPr>
              <a:buNone/>
            </a:pPr>
            <a:endParaRPr lang="en-US" dirty="0" smtClean="0"/>
          </a:p>
          <a:p>
            <a:pPr>
              <a:buNone/>
            </a:pPr>
            <a:endParaRPr lang="en-US" b="1"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2.Technical complexity factor</a:t>
            </a:r>
            <a:br>
              <a:rPr lang="en-US" b="1" dirty="0" smtClean="0"/>
            </a:br>
            <a:endParaRPr lang="en-US" dirty="0"/>
          </a:p>
        </p:txBody>
      </p:sp>
      <p:sp>
        <p:nvSpPr>
          <p:cNvPr id="3" name="Content Placeholder 2"/>
          <p:cNvSpPr>
            <a:spLocks noGrp="1"/>
          </p:cNvSpPr>
          <p:nvPr>
            <p:ph idx="1"/>
          </p:nvPr>
        </p:nvSpPr>
        <p:spPr>
          <a:xfrm>
            <a:off x="457200" y="1600200"/>
            <a:ext cx="8229600" cy="4724400"/>
          </a:xfrm>
        </p:spPr>
        <p:txBody>
          <a:bodyPr/>
          <a:lstStyle/>
          <a:p>
            <a:pPr algn="just">
              <a:buNone/>
            </a:pPr>
            <a:r>
              <a:rPr lang="en-US" b="1" dirty="0" smtClean="0"/>
              <a:t>2.Technical complexity factor</a:t>
            </a:r>
          </a:p>
          <a:p>
            <a:pPr algn="just">
              <a:buNone/>
            </a:pPr>
            <a:r>
              <a:rPr lang="en-US" b="1" dirty="0" smtClean="0"/>
              <a:t>Step 3: </a:t>
            </a:r>
            <a:r>
              <a:rPr lang="en-US" dirty="0" smtClean="0"/>
              <a:t>Grade 13 general application characteristics on an ordinal scale from 0(no influence) to 5 (strong).</a:t>
            </a:r>
          </a:p>
          <a:p>
            <a:pPr algn="just">
              <a:buNone/>
            </a:pPr>
            <a:r>
              <a:rPr lang="en-US" b="1" dirty="0" smtClean="0"/>
              <a:t>Step 4: </a:t>
            </a:r>
            <a:r>
              <a:rPr lang="en-US" dirty="0" smtClean="0"/>
              <a:t>Sum them to find their Combined Degree of Influence (CDI) and the technical complexity factor:</a:t>
            </a:r>
          </a:p>
          <a:p>
            <a:pPr algn="just">
              <a:buNone/>
            </a:pPr>
            <a:endParaRPr lang="en-US" dirty="0" smtClean="0"/>
          </a:p>
          <a:p>
            <a:pPr algn="just">
              <a:buNone/>
            </a:pPr>
            <a:r>
              <a:rPr lang="en-US" b="1" dirty="0" smtClean="0"/>
              <a:t>TCF=O.6 +(0.01 * CDI)</a:t>
            </a:r>
            <a:endParaRPr lang="en-US" dirty="0" smtClean="0"/>
          </a:p>
          <a:p>
            <a:pPr>
              <a:buNone/>
            </a:pPr>
            <a:endParaRPr lang="en-US" dirty="0" smtClean="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da-DK" b="1" dirty="0" smtClean="0"/>
              <a:t>Technical Factors and Weights</a:t>
            </a: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394010" y="1219200"/>
            <a:ext cx="7976838" cy="56388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1143000"/>
          </a:xfrm>
        </p:spPr>
        <p:txBody>
          <a:bodyPr>
            <a:normAutofit/>
          </a:bodyPr>
          <a:lstStyle/>
          <a:p>
            <a:r>
              <a:rPr lang="en-US" dirty="0" smtClean="0"/>
              <a:t>Degrees of influence</a:t>
            </a:r>
            <a:endParaRPr lang="en-US" dirty="0"/>
          </a:p>
        </p:txBody>
      </p:sp>
      <p:pic>
        <p:nvPicPr>
          <p:cNvPr id="35842" name="Picture 2"/>
          <p:cNvPicPr>
            <a:picLocks noGrp="1" noChangeAspect="1" noChangeArrowheads="1"/>
          </p:cNvPicPr>
          <p:nvPr>
            <p:ph idx="1"/>
          </p:nvPr>
        </p:nvPicPr>
        <p:blipFill>
          <a:blip r:embed="rId2" cstate="print"/>
          <a:srcRect/>
          <a:stretch>
            <a:fillRect/>
          </a:stretch>
        </p:blipFill>
        <p:spPr bwMode="auto">
          <a:xfrm>
            <a:off x="1331640" y="2276872"/>
            <a:ext cx="4718070" cy="38862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a-DK" dirty="0" smtClean="0"/>
              <a:t>3. Environment factor (EF)</a:t>
            </a:r>
            <a:endParaRPr lang="en-US" dirty="0"/>
          </a:p>
        </p:txBody>
      </p:sp>
      <p:sp>
        <p:nvSpPr>
          <p:cNvPr id="3" name="Content Placeholder 2"/>
          <p:cNvSpPr>
            <a:spLocks noGrp="1"/>
          </p:cNvSpPr>
          <p:nvPr>
            <p:ph idx="1"/>
          </p:nvPr>
        </p:nvSpPr>
        <p:spPr/>
        <p:txBody>
          <a:bodyPr/>
          <a:lstStyle/>
          <a:p>
            <a:pPr algn="just">
              <a:buNone/>
            </a:pPr>
            <a:r>
              <a:rPr lang="da-DK" b="1" dirty="0" smtClean="0"/>
              <a:t>Step 5</a:t>
            </a:r>
            <a:r>
              <a:rPr lang="da-DK" dirty="0" smtClean="0"/>
              <a:t>. Compute the environment factor (EF), </a:t>
            </a:r>
            <a:r>
              <a:rPr lang="en-US" dirty="0" smtClean="0"/>
              <a:t>Sum them to find the </a:t>
            </a:r>
            <a:r>
              <a:rPr lang="da-DK" dirty="0" smtClean="0"/>
              <a:t>environment factor. A rating of 0 means that the factor is irrelevant for this project and  5 means it is essential. </a:t>
            </a:r>
          </a:p>
          <a:p>
            <a:pPr algn="just">
              <a:buNone/>
            </a:pPr>
            <a:endParaRPr lang="da-DK" dirty="0" smtClean="0"/>
          </a:p>
          <a:p>
            <a:pPr algn="just">
              <a:buNone/>
            </a:pPr>
            <a:r>
              <a:rPr lang="da-DK" b="1" dirty="0" smtClean="0"/>
              <a:t>EF = 1.4 + (–0.03 * EFactor)</a:t>
            </a:r>
          </a:p>
          <a:p>
            <a:pPr>
              <a:buNone/>
            </a:pPr>
            <a:endParaRPr lang="en-US" dirty="0" smtClean="0"/>
          </a:p>
          <a:p>
            <a:pPr>
              <a:buNone/>
            </a:pPr>
            <a:r>
              <a:rPr lang="da-DK" b="1" dirty="0" smtClean="0"/>
              <a:t>	</a:t>
            </a:r>
            <a:endParaRPr 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cstate="print"/>
          <a:srcRect/>
          <a:stretch>
            <a:fillRect/>
          </a:stretch>
        </p:blipFill>
        <p:spPr bwMode="auto">
          <a:xfrm>
            <a:off x="152400" y="894814"/>
            <a:ext cx="8803367" cy="5734586"/>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factor(EF)</a:t>
            </a:r>
            <a:endParaRPr lang="en-US" dirty="0"/>
          </a:p>
        </p:txBody>
      </p:sp>
      <p:pic>
        <p:nvPicPr>
          <p:cNvPr id="36866" name="Picture 2"/>
          <p:cNvPicPr>
            <a:picLocks noGrp="1" noChangeAspect="1" noChangeArrowheads="1"/>
          </p:cNvPicPr>
          <p:nvPr>
            <p:ph idx="1"/>
          </p:nvPr>
        </p:nvPicPr>
        <p:blipFill>
          <a:blip r:embed="rId2" cstate="print"/>
          <a:srcRect/>
          <a:stretch>
            <a:fillRect/>
          </a:stretch>
        </p:blipFill>
        <p:spPr bwMode="auto">
          <a:xfrm>
            <a:off x="285391" y="2133600"/>
            <a:ext cx="8701177" cy="38862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None/>
            </a:pPr>
            <a:r>
              <a:rPr lang="da-DK" dirty="0" smtClean="0"/>
              <a:t>Step 6: Using the </a:t>
            </a:r>
            <a:r>
              <a:rPr lang="da-DK" b="1" dirty="0" smtClean="0"/>
              <a:t>UFP</a:t>
            </a:r>
            <a:r>
              <a:rPr lang="da-DK" dirty="0" smtClean="0"/>
              <a:t>, </a:t>
            </a:r>
            <a:r>
              <a:rPr lang="da-DK" b="1" dirty="0" smtClean="0"/>
              <a:t>TCF, EF </a:t>
            </a:r>
            <a:r>
              <a:rPr lang="da-DK" dirty="0" smtClean="0"/>
              <a:t> compute the final </a:t>
            </a:r>
            <a:r>
              <a:rPr lang="en-US" dirty="0" smtClean="0"/>
              <a:t>Function Point(FP)</a:t>
            </a:r>
            <a:r>
              <a:rPr lang="da-DK" dirty="0" smtClean="0"/>
              <a:t> as follows:</a:t>
            </a:r>
            <a:endParaRPr lang="en-US" dirty="0" smtClean="0"/>
          </a:p>
          <a:p>
            <a:pPr algn="just">
              <a:buNone/>
            </a:pPr>
            <a:endParaRPr lang="da-DK" dirty="0" smtClean="0"/>
          </a:p>
          <a:p>
            <a:pPr algn="just"/>
            <a:r>
              <a:rPr lang="da-DK" b="1" dirty="0" smtClean="0"/>
              <a:t> </a:t>
            </a:r>
            <a:r>
              <a:rPr lang="en-US" b="1" dirty="0" smtClean="0"/>
              <a:t>Function Point (FP) </a:t>
            </a:r>
            <a:r>
              <a:rPr lang="da-DK" b="1" dirty="0" smtClean="0"/>
              <a:t> = UFP * TCF * EF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sz="2800" dirty="0" smtClean="0"/>
          </a:p>
          <a:p>
            <a:pPr algn="just"/>
            <a:r>
              <a:rPr lang="en-US" sz="2800" dirty="0" smtClean="0"/>
              <a:t>FP is independent to language used.</a:t>
            </a:r>
          </a:p>
          <a:p>
            <a:pPr algn="just"/>
            <a:r>
              <a:rPr lang="en-US" sz="2800" dirty="0" smtClean="0"/>
              <a:t>Doesn’t penalize inventive solutions with fewer LOC.</a:t>
            </a:r>
          </a:p>
          <a:p>
            <a:pPr algn="just"/>
            <a:r>
              <a:rPr lang="en-US" sz="2800" dirty="0" smtClean="0"/>
              <a:t>Mainly suited to business software</a:t>
            </a:r>
          </a:p>
          <a:p>
            <a:pPr algn="just"/>
            <a:r>
              <a:rPr lang="en-US" sz="2800" dirty="0" smtClean="0"/>
              <a:t>Special training required. </a:t>
            </a:r>
          </a:p>
          <a:p>
            <a:endParaRPr lang="en-US"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points approach</a:t>
            </a:r>
            <a:endParaRPr lang="en-US" dirty="0"/>
          </a:p>
        </p:txBody>
      </p:sp>
      <p:sp>
        <p:nvSpPr>
          <p:cNvPr id="3" name="Content Placeholder 2"/>
          <p:cNvSpPr>
            <a:spLocks noGrp="1"/>
          </p:cNvSpPr>
          <p:nvPr>
            <p:ph idx="1"/>
          </p:nvPr>
        </p:nvSpPr>
        <p:spPr/>
        <p:txBody>
          <a:bodyPr>
            <a:normAutofit/>
          </a:bodyPr>
          <a:lstStyle/>
          <a:p>
            <a:pPr algn="just"/>
            <a:r>
              <a:rPr lang="en-US" sz="2800" dirty="0" smtClean="0"/>
              <a:t>Use Case Points (UCP) is an estimation method that provides the ability to estimate an application’s size and effort </a:t>
            </a:r>
            <a:r>
              <a:rPr lang="en-US" sz="2800" b="1" dirty="0" smtClean="0"/>
              <a:t>from its use cases</a:t>
            </a:r>
            <a:r>
              <a:rPr lang="en-US" sz="2800" dirty="0" smtClean="0"/>
              <a:t>.</a:t>
            </a:r>
          </a:p>
          <a:p>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dirty="0" smtClean="0"/>
              <a:t>Use case points approach</a:t>
            </a:r>
            <a:endParaRPr lang="en-US" dirty="0"/>
          </a:p>
        </p:txBody>
      </p:sp>
      <p:sp>
        <p:nvSpPr>
          <p:cNvPr id="3" name="Content Placeholder 2"/>
          <p:cNvSpPr>
            <a:spLocks noGrp="1"/>
          </p:cNvSpPr>
          <p:nvPr>
            <p:ph idx="1"/>
          </p:nvPr>
        </p:nvSpPr>
        <p:spPr>
          <a:xfrm>
            <a:off x="179512" y="1700808"/>
            <a:ext cx="8507288" cy="4623792"/>
          </a:xfrm>
        </p:spPr>
        <p:txBody>
          <a:bodyPr>
            <a:normAutofit fontScale="77500" lnSpcReduction="20000"/>
          </a:bodyPr>
          <a:lstStyle/>
          <a:p>
            <a:pPr marL="514350" indent="-514350" algn="just">
              <a:buAutoNum type="arabicPeriod"/>
            </a:pPr>
            <a:r>
              <a:rPr lang="da-DK" dirty="0" smtClean="0"/>
              <a:t>Classify each use case as simple, medium, or complex(number of transactions in a use case). </a:t>
            </a:r>
          </a:p>
          <a:p>
            <a:pPr marL="514350" indent="-514350" algn="just">
              <a:buNone/>
            </a:pPr>
            <a:r>
              <a:rPr lang="da-DK" b="1" dirty="0" smtClean="0"/>
              <a:t>N.B: </a:t>
            </a:r>
            <a:r>
              <a:rPr lang="da-DK" dirty="0" smtClean="0"/>
              <a:t>simple use case (three or fewer transactions), an average use case(four to seven transactions), and a complex use case(more than seven transactions).</a:t>
            </a:r>
          </a:p>
          <a:p>
            <a:pPr marL="514350" indent="-514350" algn="just">
              <a:buNone/>
            </a:pPr>
            <a:r>
              <a:rPr lang="da-DK" dirty="0" smtClean="0"/>
              <a:t> A simple use case is assigned a factor of 5, a medium use case a factor of 10, and a complex use case a factor of 15. </a:t>
            </a:r>
          </a:p>
          <a:p>
            <a:pPr marL="514350" indent="-514350" algn="just">
              <a:buNone/>
            </a:pPr>
            <a:r>
              <a:rPr lang="da-DK" dirty="0" smtClean="0"/>
              <a:t>2. Obtain </a:t>
            </a:r>
            <a:r>
              <a:rPr lang="da-DK" b="1" dirty="0" smtClean="0"/>
              <a:t>undjusted use case points(UUCP)</a:t>
            </a:r>
          </a:p>
          <a:p>
            <a:pPr marL="514350" indent="-514350" algn="just">
              <a:buNone/>
            </a:pPr>
            <a:r>
              <a:rPr lang="da-DK" dirty="0" smtClean="0"/>
              <a:t>3. Technical factor</a:t>
            </a:r>
          </a:p>
          <a:p>
            <a:pPr marL="514350" indent="-514350" algn="just">
              <a:buNone/>
            </a:pPr>
            <a:r>
              <a:rPr lang="da-DK" dirty="0" smtClean="0"/>
              <a:t>4</a:t>
            </a:r>
            <a:r>
              <a:rPr lang="da-DK" b="1" dirty="0" smtClean="0"/>
              <a:t>. TCF = 0.6 + (0.01 * TFactor)</a:t>
            </a:r>
          </a:p>
          <a:p>
            <a:pPr marL="514350" indent="-514350" algn="just">
              <a:buNone/>
            </a:pPr>
            <a:r>
              <a:rPr lang="da-DK" b="1" dirty="0" smtClean="0"/>
              <a:t>5. EF = 1.4 + (–0.03 * EFactor)</a:t>
            </a:r>
          </a:p>
          <a:p>
            <a:pPr marL="514350" indent="-514350" algn="just">
              <a:buNone/>
            </a:pPr>
            <a:r>
              <a:rPr lang="da-DK" b="1" dirty="0" smtClean="0"/>
              <a:t>6. UCP = UUCP * EF * TFC</a:t>
            </a:r>
            <a:endParaRPr lang="en-US" b="1" dirty="0" smtClean="0"/>
          </a:p>
          <a:p>
            <a:pPr marL="514350" indent="-514350">
              <a:buNone/>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382000" cy="5638800"/>
          </a:xfrm>
        </p:spPr>
        <p:txBody>
          <a:bodyPr/>
          <a:lstStyle/>
          <a:p>
            <a:pPr algn="just"/>
            <a:r>
              <a:rPr lang="en-US" b="1" dirty="0" smtClean="0"/>
              <a:t>Simple: </a:t>
            </a:r>
            <a:r>
              <a:rPr lang="en-US" dirty="0" smtClean="0"/>
              <a:t>A simple user interface and touches only a single database entity; its success scenario has 3 steps or less; </a:t>
            </a:r>
          </a:p>
          <a:p>
            <a:pPr algn="just"/>
            <a:r>
              <a:rPr lang="en-US" b="1" dirty="0" smtClean="0"/>
              <a:t>Average: </a:t>
            </a:r>
            <a:r>
              <a:rPr lang="en-US" dirty="0" smtClean="0"/>
              <a:t>More interface design and touches 2 or more database entities; between 4 to 7 steps; </a:t>
            </a:r>
          </a:p>
          <a:p>
            <a:pPr algn="just"/>
            <a:endParaRPr lang="en-US" dirty="0" smtClean="0"/>
          </a:p>
          <a:p>
            <a:pPr algn="just"/>
            <a:r>
              <a:rPr lang="en-US" b="1" dirty="0" smtClean="0"/>
              <a:t>Complex: </a:t>
            </a:r>
            <a:r>
              <a:rPr lang="en-US" dirty="0" smtClean="0"/>
              <a:t>Involves a complex user interface or processing and touches 3 or more database entities; over seven steps;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98658" y="1066800"/>
            <a:ext cx="8835992" cy="51816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142367" y="1676400"/>
            <a:ext cx="8804806" cy="48768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b="1" dirty="0" smtClean="0"/>
              <a:t>Use Case Complexity</a:t>
            </a:r>
            <a:endParaRPr lang="en-US" dirty="0"/>
          </a:p>
        </p:txBody>
      </p:sp>
      <p:sp>
        <p:nvSpPr>
          <p:cNvPr id="4" name="Content Placeholder 3"/>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261505" y="1981200"/>
            <a:ext cx="8620990" cy="289560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25144"/>
          </a:xfrm>
        </p:spPr>
        <p:txBody>
          <a:bodyPr/>
          <a:lstStyle/>
          <a:p>
            <a:pPr algn="just"/>
            <a:r>
              <a:rPr lang="da-DK" dirty="0" smtClean="0"/>
              <a:t>UUCPs are determined from the use cases by assigning 5 points to each simple use case, 10 points to each medium-complexity use case, and 15 to each complex use case. </a:t>
            </a:r>
          </a:p>
          <a:p>
            <a:pPr algn="just"/>
            <a:r>
              <a:rPr lang="da-DK" dirty="0" smtClean="0"/>
              <a:t>The number of simple use cases are 5 , medium use case are 9, and complex use cases were 12, respectively, so this translates to</a:t>
            </a:r>
            <a:endParaRPr lang="en-US" dirty="0" smtClean="0"/>
          </a:p>
          <a:p>
            <a:pPr algn="just"/>
            <a:r>
              <a:rPr lang="da-DK" b="1" dirty="0" smtClean="0"/>
              <a:t>UUCP = (5 * 5 )+( 9 * 10) + (12 * 15 )= 295</a:t>
            </a:r>
            <a:endParaRPr lang="en-US" b="1" dirty="0" smtClean="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lstStyle/>
          <a:p>
            <a:r>
              <a:rPr lang="da-DK" b="1" dirty="0" smtClean="0"/>
              <a:t>Technical Factors and Weights</a:t>
            </a: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473036" y="1232338"/>
            <a:ext cx="7680364" cy="5429223"/>
          </a:xfrm>
          <a:prstGeom prst="rect">
            <a:avLst/>
          </a:prstGeom>
          <a:noFill/>
          <a:ln w="9525">
            <a:solidFill>
              <a:schemeClr val="tx1"/>
            </a:solid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da-DK" dirty="0" smtClean="0"/>
              <a:t>He chose the following values of the factors; in the order given in </a:t>
            </a:r>
            <a:r>
              <a:rPr lang="da-DK" u="sng" dirty="0" smtClean="0"/>
              <a:t>Table  </a:t>
            </a:r>
            <a:r>
              <a:rPr lang="da-DK" dirty="0" smtClean="0"/>
              <a:t>: 4, 3, 5, 3, 4, 5, 5, 0, 4, 1, 2, 0, and 5. </a:t>
            </a:r>
          </a:p>
          <a:p>
            <a:endParaRPr lang="da-DK"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075" name="Picture 3"/>
          <p:cNvPicPr>
            <a:picLocks noGrp="1" noChangeAspect="1" noChangeArrowheads="1"/>
          </p:cNvPicPr>
          <p:nvPr>
            <p:ph idx="1"/>
          </p:nvPr>
        </p:nvPicPr>
        <p:blipFill>
          <a:blip r:embed="rId2" cstate="print"/>
          <a:srcRect/>
          <a:stretch>
            <a:fillRect/>
          </a:stretch>
        </p:blipFill>
        <p:spPr bwMode="auto">
          <a:xfrm>
            <a:off x="498087" y="1905001"/>
            <a:ext cx="6575502" cy="4648199"/>
          </a:xfrm>
          <a:prstGeom prst="rect">
            <a:avLst/>
          </a:prstGeom>
          <a:noFill/>
          <a:ln w="9525">
            <a:noFill/>
            <a:miter lim="800000"/>
            <a:headEnd/>
            <a:tailEnd/>
          </a:ln>
          <a:effectLst/>
        </p:spPr>
      </p:pic>
      <p:sp>
        <p:nvSpPr>
          <p:cNvPr id="4" name="TextBox 3"/>
          <p:cNvSpPr txBox="1"/>
          <p:nvPr/>
        </p:nvSpPr>
        <p:spPr>
          <a:xfrm>
            <a:off x="7010400" y="2209800"/>
            <a:ext cx="685800" cy="369332"/>
          </a:xfrm>
          <a:prstGeom prst="rect">
            <a:avLst/>
          </a:prstGeom>
          <a:noFill/>
        </p:spPr>
        <p:txBody>
          <a:bodyPr wrap="square" rtlCol="0">
            <a:spAutoFit/>
          </a:bodyPr>
          <a:lstStyle/>
          <a:p>
            <a:r>
              <a:rPr lang="en-US" b="1" dirty="0" smtClean="0"/>
              <a:t>4</a:t>
            </a:r>
            <a:endParaRPr lang="en-US" b="1" dirty="0"/>
          </a:p>
        </p:txBody>
      </p:sp>
      <p:sp>
        <p:nvSpPr>
          <p:cNvPr id="5" name="TextBox 4"/>
          <p:cNvSpPr txBox="1"/>
          <p:nvPr/>
        </p:nvSpPr>
        <p:spPr>
          <a:xfrm>
            <a:off x="7010400" y="6107668"/>
            <a:ext cx="685800" cy="369332"/>
          </a:xfrm>
          <a:prstGeom prst="rect">
            <a:avLst/>
          </a:prstGeom>
          <a:noFill/>
        </p:spPr>
        <p:txBody>
          <a:bodyPr wrap="square" rtlCol="0">
            <a:spAutoFit/>
          </a:bodyPr>
          <a:lstStyle/>
          <a:p>
            <a:r>
              <a:rPr lang="en-US" b="1" dirty="0" smtClean="0"/>
              <a:t>5</a:t>
            </a:r>
            <a:endParaRPr lang="en-US" b="1" dirty="0"/>
          </a:p>
        </p:txBody>
      </p:sp>
      <p:sp>
        <p:nvSpPr>
          <p:cNvPr id="6" name="TextBox 5"/>
          <p:cNvSpPr txBox="1"/>
          <p:nvPr/>
        </p:nvSpPr>
        <p:spPr>
          <a:xfrm>
            <a:off x="7010400" y="3135868"/>
            <a:ext cx="685800" cy="369332"/>
          </a:xfrm>
          <a:prstGeom prst="rect">
            <a:avLst/>
          </a:prstGeom>
          <a:noFill/>
        </p:spPr>
        <p:txBody>
          <a:bodyPr wrap="square" rtlCol="0">
            <a:spAutoFit/>
          </a:bodyPr>
          <a:lstStyle/>
          <a:p>
            <a:r>
              <a:rPr lang="en-US" b="1" dirty="0" smtClean="0"/>
              <a:t>3</a:t>
            </a:r>
            <a:endParaRPr lang="en-US" b="1" dirty="0"/>
          </a:p>
        </p:txBody>
      </p:sp>
      <p:sp>
        <p:nvSpPr>
          <p:cNvPr id="7" name="TextBox 6"/>
          <p:cNvSpPr txBox="1"/>
          <p:nvPr/>
        </p:nvSpPr>
        <p:spPr>
          <a:xfrm>
            <a:off x="7010400" y="3516868"/>
            <a:ext cx="685800" cy="369332"/>
          </a:xfrm>
          <a:prstGeom prst="rect">
            <a:avLst/>
          </a:prstGeom>
          <a:noFill/>
        </p:spPr>
        <p:txBody>
          <a:bodyPr wrap="square" rtlCol="0">
            <a:spAutoFit/>
          </a:bodyPr>
          <a:lstStyle/>
          <a:p>
            <a:r>
              <a:rPr lang="en-US" b="1" dirty="0" smtClean="0"/>
              <a:t>4</a:t>
            </a:r>
            <a:endParaRPr lang="en-US" b="1" dirty="0"/>
          </a:p>
        </p:txBody>
      </p:sp>
      <p:sp>
        <p:nvSpPr>
          <p:cNvPr id="8" name="TextBox 7"/>
          <p:cNvSpPr txBox="1"/>
          <p:nvPr/>
        </p:nvSpPr>
        <p:spPr>
          <a:xfrm>
            <a:off x="7010400" y="3821668"/>
            <a:ext cx="685800" cy="369332"/>
          </a:xfrm>
          <a:prstGeom prst="rect">
            <a:avLst/>
          </a:prstGeom>
          <a:noFill/>
        </p:spPr>
        <p:txBody>
          <a:bodyPr wrap="square" rtlCol="0">
            <a:spAutoFit/>
          </a:bodyPr>
          <a:lstStyle/>
          <a:p>
            <a:r>
              <a:rPr lang="en-US" b="1" dirty="0" smtClean="0"/>
              <a:t>5</a:t>
            </a:r>
            <a:endParaRPr lang="en-US" b="1" dirty="0"/>
          </a:p>
        </p:txBody>
      </p:sp>
      <p:sp>
        <p:nvSpPr>
          <p:cNvPr id="9" name="TextBox 8"/>
          <p:cNvSpPr txBox="1"/>
          <p:nvPr/>
        </p:nvSpPr>
        <p:spPr>
          <a:xfrm>
            <a:off x="7010400" y="4126468"/>
            <a:ext cx="685800" cy="369332"/>
          </a:xfrm>
          <a:prstGeom prst="rect">
            <a:avLst/>
          </a:prstGeom>
          <a:noFill/>
        </p:spPr>
        <p:txBody>
          <a:bodyPr wrap="square" rtlCol="0">
            <a:spAutoFit/>
          </a:bodyPr>
          <a:lstStyle/>
          <a:p>
            <a:r>
              <a:rPr lang="en-US" b="1" dirty="0" smtClean="0"/>
              <a:t>5</a:t>
            </a:r>
            <a:endParaRPr lang="en-US" b="1" dirty="0"/>
          </a:p>
        </p:txBody>
      </p:sp>
      <p:sp>
        <p:nvSpPr>
          <p:cNvPr id="10" name="TextBox 9"/>
          <p:cNvSpPr txBox="1"/>
          <p:nvPr/>
        </p:nvSpPr>
        <p:spPr>
          <a:xfrm>
            <a:off x="7010400" y="4419600"/>
            <a:ext cx="685800" cy="369332"/>
          </a:xfrm>
          <a:prstGeom prst="rect">
            <a:avLst/>
          </a:prstGeom>
          <a:noFill/>
        </p:spPr>
        <p:txBody>
          <a:bodyPr wrap="square" rtlCol="0">
            <a:spAutoFit/>
          </a:bodyPr>
          <a:lstStyle/>
          <a:p>
            <a:r>
              <a:rPr lang="en-US" b="1" dirty="0" smtClean="0"/>
              <a:t>0</a:t>
            </a:r>
            <a:endParaRPr lang="en-US" b="1" dirty="0"/>
          </a:p>
        </p:txBody>
      </p:sp>
      <p:sp>
        <p:nvSpPr>
          <p:cNvPr id="11" name="TextBox 10"/>
          <p:cNvSpPr txBox="1"/>
          <p:nvPr/>
        </p:nvSpPr>
        <p:spPr>
          <a:xfrm>
            <a:off x="7010400" y="4812268"/>
            <a:ext cx="685800" cy="369332"/>
          </a:xfrm>
          <a:prstGeom prst="rect">
            <a:avLst/>
          </a:prstGeom>
          <a:noFill/>
        </p:spPr>
        <p:txBody>
          <a:bodyPr wrap="square" rtlCol="0">
            <a:spAutoFit/>
          </a:bodyPr>
          <a:lstStyle/>
          <a:p>
            <a:r>
              <a:rPr lang="en-US" b="1" dirty="0" smtClean="0"/>
              <a:t>4</a:t>
            </a:r>
            <a:endParaRPr lang="en-US" b="1" dirty="0"/>
          </a:p>
        </p:txBody>
      </p:sp>
      <p:sp>
        <p:nvSpPr>
          <p:cNvPr id="12" name="TextBox 11"/>
          <p:cNvSpPr txBox="1"/>
          <p:nvPr/>
        </p:nvSpPr>
        <p:spPr>
          <a:xfrm>
            <a:off x="7010400" y="5117068"/>
            <a:ext cx="685800" cy="369332"/>
          </a:xfrm>
          <a:prstGeom prst="rect">
            <a:avLst/>
          </a:prstGeom>
          <a:noFill/>
        </p:spPr>
        <p:txBody>
          <a:bodyPr wrap="square" rtlCol="0">
            <a:spAutoFit/>
          </a:bodyPr>
          <a:lstStyle/>
          <a:p>
            <a:r>
              <a:rPr lang="en-US" b="1" dirty="0" smtClean="0"/>
              <a:t>1</a:t>
            </a:r>
            <a:endParaRPr lang="en-US" b="1" dirty="0"/>
          </a:p>
        </p:txBody>
      </p:sp>
      <p:sp>
        <p:nvSpPr>
          <p:cNvPr id="13" name="TextBox 12"/>
          <p:cNvSpPr txBox="1"/>
          <p:nvPr/>
        </p:nvSpPr>
        <p:spPr>
          <a:xfrm>
            <a:off x="7010400" y="5421868"/>
            <a:ext cx="685800" cy="369332"/>
          </a:xfrm>
          <a:prstGeom prst="rect">
            <a:avLst/>
          </a:prstGeom>
          <a:noFill/>
        </p:spPr>
        <p:txBody>
          <a:bodyPr wrap="square" rtlCol="0">
            <a:spAutoFit/>
          </a:bodyPr>
          <a:lstStyle/>
          <a:p>
            <a:r>
              <a:rPr lang="en-US" b="1" dirty="0" smtClean="0"/>
              <a:t>2</a:t>
            </a:r>
            <a:endParaRPr lang="en-US" b="1" dirty="0"/>
          </a:p>
        </p:txBody>
      </p:sp>
      <p:sp>
        <p:nvSpPr>
          <p:cNvPr id="14" name="TextBox 13"/>
          <p:cNvSpPr txBox="1"/>
          <p:nvPr/>
        </p:nvSpPr>
        <p:spPr>
          <a:xfrm>
            <a:off x="7010400" y="5726668"/>
            <a:ext cx="685800" cy="369332"/>
          </a:xfrm>
          <a:prstGeom prst="rect">
            <a:avLst/>
          </a:prstGeom>
          <a:noFill/>
        </p:spPr>
        <p:txBody>
          <a:bodyPr wrap="square" rtlCol="0">
            <a:spAutoFit/>
          </a:bodyPr>
          <a:lstStyle/>
          <a:p>
            <a:r>
              <a:rPr lang="en-US" b="1" dirty="0" smtClean="0"/>
              <a:t>0</a:t>
            </a:r>
            <a:endParaRPr lang="en-US" b="1" dirty="0"/>
          </a:p>
        </p:txBody>
      </p:sp>
      <p:sp>
        <p:nvSpPr>
          <p:cNvPr id="15" name="TextBox 14"/>
          <p:cNvSpPr txBox="1"/>
          <p:nvPr/>
        </p:nvSpPr>
        <p:spPr>
          <a:xfrm>
            <a:off x="7010400" y="2526268"/>
            <a:ext cx="685800" cy="369332"/>
          </a:xfrm>
          <a:prstGeom prst="rect">
            <a:avLst/>
          </a:prstGeom>
          <a:noFill/>
        </p:spPr>
        <p:txBody>
          <a:bodyPr wrap="square" rtlCol="0">
            <a:spAutoFit/>
          </a:bodyPr>
          <a:lstStyle/>
          <a:p>
            <a:r>
              <a:rPr lang="en-US" b="1" dirty="0" smtClean="0"/>
              <a:t>3</a:t>
            </a:r>
            <a:endParaRPr lang="en-US" b="1" dirty="0"/>
          </a:p>
        </p:txBody>
      </p:sp>
      <p:sp>
        <p:nvSpPr>
          <p:cNvPr id="16" name="TextBox 15"/>
          <p:cNvSpPr txBox="1"/>
          <p:nvPr/>
        </p:nvSpPr>
        <p:spPr>
          <a:xfrm>
            <a:off x="7010400" y="2831068"/>
            <a:ext cx="685800" cy="369332"/>
          </a:xfrm>
          <a:prstGeom prst="rect">
            <a:avLst/>
          </a:prstGeom>
          <a:noFill/>
        </p:spPr>
        <p:txBody>
          <a:bodyPr wrap="square" rtlCol="0">
            <a:spAutoFit/>
          </a:bodyPr>
          <a:lstStyle/>
          <a:p>
            <a:r>
              <a:rPr lang="en-US" b="1" dirty="0" smtClean="0"/>
              <a:t>5</a:t>
            </a:r>
            <a:endParaRPr lang="en-US"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da-DK" b="1" dirty="0" smtClean="0"/>
              <a:t>Tfactor= </a:t>
            </a:r>
            <a:r>
              <a:rPr lang="da-DK" dirty="0" smtClean="0"/>
              <a:t>(8 + 3 + 5 + 3 + 4 + 2.5 + 2.5 + 0 + 4 + 1 + 2 + 0 + 5)= 40</a:t>
            </a:r>
          </a:p>
          <a:p>
            <a:r>
              <a:rPr lang="da-DK" dirty="0" smtClean="0"/>
              <a:t>TC</a:t>
            </a:r>
            <a:r>
              <a:rPr lang="da-DK" b="1" dirty="0" smtClean="0"/>
              <a:t>F= 0.6 + (0.01 * TFactor)</a:t>
            </a:r>
          </a:p>
          <a:p>
            <a:pPr>
              <a:buNone/>
            </a:pPr>
            <a:r>
              <a:rPr lang="da-DK" b="1" dirty="0" smtClean="0"/>
              <a:t>           = 0.6 + (0.01 * 40)</a:t>
            </a:r>
          </a:p>
          <a:p>
            <a:pPr>
              <a:buNone/>
            </a:pPr>
            <a:r>
              <a:rPr lang="da-DK" b="1" dirty="0" smtClean="0"/>
              <a:t>           = 1</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b="1" dirty="0" smtClean="0"/>
              <a:t>Environmental Factors for Team and Weights</a:t>
            </a:r>
            <a:endParaRPr 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685800" y="1933441"/>
            <a:ext cx="7239000" cy="4715546"/>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da-DK" sz="2800" dirty="0" smtClean="0"/>
              <a:t>Then compute the environmental factor. We assigned the following weights to the environmental factors: 3, 1, 3, 4, 5, 5, 0, and 3.</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srcRect/>
          <a:stretch>
            <a:fillRect/>
          </a:stretch>
        </p:blipFill>
        <p:spPr bwMode="auto">
          <a:xfrm>
            <a:off x="304800" y="1905000"/>
            <a:ext cx="7149122" cy="4656998"/>
          </a:xfrm>
          <a:prstGeom prst="rect">
            <a:avLst/>
          </a:prstGeom>
          <a:noFill/>
          <a:ln w="9525">
            <a:noFill/>
            <a:miter lim="800000"/>
            <a:headEnd/>
            <a:tailEnd/>
          </a:ln>
          <a:effectLst/>
        </p:spPr>
      </p:pic>
      <p:sp>
        <p:nvSpPr>
          <p:cNvPr id="6" name="TextBox 5"/>
          <p:cNvSpPr txBox="1"/>
          <p:nvPr/>
        </p:nvSpPr>
        <p:spPr>
          <a:xfrm>
            <a:off x="7239000" y="2286001"/>
            <a:ext cx="609600" cy="584775"/>
          </a:xfrm>
          <a:prstGeom prst="rect">
            <a:avLst/>
          </a:prstGeom>
          <a:noFill/>
        </p:spPr>
        <p:txBody>
          <a:bodyPr wrap="square" rtlCol="0">
            <a:spAutoFit/>
          </a:bodyPr>
          <a:lstStyle/>
          <a:p>
            <a:r>
              <a:rPr lang="en-US" sz="3200" b="1" dirty="0" smtClean="0"/>
              <a:t>3</a:t>
            </a:r>
            <a:endParaRPr lang="en-US" sz="3200" b="1" dirty="0"/>
          </a:p>
        </p:txBody>
      </p:sp>
      <p:sp>
        <p:nvSpPr>
          <p:cNvPr id="7" name="TextBox 6"/>
          <p:cNvSpPr txBox="1"/>
          <p:nvPr/>
        </p:nvSpPr>
        <p:spPr>
          <a:xfrm>
            <a:off x="7239000" y="2819400"/>
            <a:ext cx="609600" cy="584775"/>
          </a:xfrm>
          <a:prstGeom prst="rect">
            <a:avLst/>
          </a:prstGeom>
          <a:noFill/>
        </p:spPr>
        <p:txBody>
          <a:bodyPr wrap="square" rtlCol="0">
            <a:spAutoFit/>
          </a:bodyPr>
          <a:lstStyle/>
          <a:p>
            <a:r>
              <a:rPr lang="en-US" sz="3200" b="1" dirty="0" smtClean="0"/>
              <a:t>1</a:t>
            </a:r>
            <a:endParaRPr lang="en-US" sz="3200" b="1" dirty="0"/>
          </a:p>
        </p:txBody>
      </p:sp>
      <p:sp>
        <p:nvSpPr>
          <p:cNvPr id="8" name="TextBox 7"/>
          <p:cNvSpPr txBox="1"/>
          <p:nvPr/>
        </p:nvSpPr>
        <p:spPr>
          <a:xfrm>
            <a:off x="7239000" y="3301425"/>
            <a:ext cx="609600" cy="584775"/>
          </a:xfrm>
          <a:prstGeom prst="rect">
            <a:avLst/>
          </a:prstGeom>
          <a:noFill/>
        </p:spPr>
        <p:txBody>
          <a:bodyPr wrap="square" rtlCol="0">
            <a:spAutoFit/>
          </a:bodyPr>
          <a:lstStyle/>
          <a:p>
            <a:r>
              <a:rPr lang="en-US" sz="3200" b="1" dirty="0" smtClean="0"/>
              <a:t>3</a:t>
            </a:r>
            <a:endParaRPr lang="en-US" sz="3200" b="1" dirty="0"/>
          </a:p>
        </p:txBody>
      </p:sp>
      <p:sp>
        <p:nvSpPr>
          <p:cNvPr id="9" name="TextBox 8"/>
          <p:cNvSpPr txBox="1"/>
          <p:nvPr/>
        </p:nvSpPr>
        <p:spPr>
          <a:xfrm>
            <a:off x="7239000" y="3810000"/>
            <a:ext cx="609600" cy="584775"/>
          </a:xfrm>
          <a:prstGeom prst="rect">
            <a:avLst/>
          </a:prstGeom>
          <a:noFill/>
        </p:spPr>
        <p:txBody>
          <a:bodyPr wrap="square" rtlCol="0">
            <a:spAutoFit/>
          </a:bodyPr>
          <a:lstStyle/>
          <a:p>
            <a:r>
              <a:rPr lang="en-US" sz="3200" b="1" dirty="0" smtClean="0"/>
              <a:t>4</a:t>
            </a:r>
            <a:endParaRPr lang="en-US" sz="3200" b="1" dirty="0"/>
          </a:p>
        </p:txBody>
      </p:sp>
      <p:sp>
        <p:nvSpPr>
          <p:cNvPr id="10" name="TextBox 9"/>
          <p:cNvSpPr txBox="1"/>
          <p:nvPr/>
        </p:nvSpPr>
        <p:spPr>
          <a:xfrm>
            <a:off x="7239000" y="4292025"/>
            <a:ext cx="609600" cy="584775"/>
          </a:xfrm>
          <a:prstGeom prst="rect">
            <a:avLst/>
          </a:prstGeom>
          <a:noFill/>
        </p:spPr>
        <p:txBody>
          <a:bodyPr wrap="square" rtlCol="0">
            <a:spAutoFit/>
          </a:bodyPr>
          <a:lstStyle/>
          <a:p>
            <a:r>
              <a:rPr lang="en-US" sz="3200" b="1" dirty="0" smtClean="0"/>
              <a:t>5</a:t>
            </a:r>
            <a:endParaRPr lang="en-US" sz="3200" b="1" dirty="0"/>
          </a:p>
        </p:txBody>
      </p:sp>
      <p:sp>
        <p:nvSpPr>
          <p:cNvPr id="11" name="TextBox 10"/>
          <p:cNvSpPr txBox="1"/>
          <p:nvPr/>
        </p:nvSpPr>
        <p:spPr>
          <a:xfrm>
            <a:off x="7239000" y="4800600"/>
            <a:ext cx="609600" cy="584775"/>
          </a:xfrm>
          <a:prstGeom prst="rect">
            <a:avLst/>
          </a:prstGeom>
          <a:noFill/>
        </p:spPr>
        <p:txBody>
          <a:bodyPr wrap="square" rtlCol="0">
            <a:spAutoFit/>
          </a:bodyPr>
          <a:lstStyle/>
          <a:p>
            <a:r>
              <a:rPr lang="en-US" sz="3200" b="1" dirty="0" smtClean="0"/>
              <a:t>5</a:t>
            </a:r>
            <a:endParaRPr lang="en-US" sz="3200" b="1" dirty="0"/>
          </a:p>
        </p:txBody>
      </p:sp>
      <p:sp>
        <p:nvSpPr>
          <p:cNvPr id="12" name="TextBox 11"/>
          <p:cNvSpPr txBox="1"/>
          <p:nvPr/>
        </p:nvSpPr>
        <p:spPr>
          <a:xfrm>
            <a:off x="7239000" y="5282625"/>
            <a:ext cx="609600" cy="584775"/>
          </a:xfrm>
          <a:prstGeom prst="rect">
            <a:avLst/>
          </a:prstGeom>
          <a:noFill/>
        </p:spPr>
        <p:txBody>
          <a:bodyPr wrap="square" rtlCol="0">
            <a:spAutoFit/>
          </a:bodyPr>
          <a:lstStyle/>
          <a:p>
            <a:r>
              <a:rPr lang="en-US" sz="3200" b="1" dirty="0" smtClean="0"/>
              <a:t>0</a:t>
            </a:r>
            <a:endParaRPr lang="en-US" sz="3200" b="1" dirty="0"/>
          </a:p>
        </p:txBody>
      </p:sp>
      <p:sp>
        <p:nvSpPr>
          <p:cNvPr id="14" name="TextBox 13"/>
          <p:cNvSpPr txBox="1"/>
          <p:nvPr/>
        </p:nvSpPr>
        <p:spPr>
          <a:xfrm>
            <a:off x="7315200" y="5791200"/>
            <a:ext cx="609600" cy="584775"/>
          </a:xfrm>
          <a:prstGeom prst="rect">
            <a:avLst/>
          </a:prstGeom>
          <a:noFill/>
        </p:spPr>
        <p:txBody>
          <a:bodyPr wrap="square" rtlCol="0">
            <a:spAutoFit/>
          </a:bodyPr>
          <a:lstStyle/>
          <a:p>
            <a:r>
              <a:rPr lang="en-US" sz="3200" b="1" dirty="0" smtClean="0"/>
              <a:t>3</a:t>
            </a:r>
            <a:endParaRPr lang="en-US" sz="3200"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da-DK" dirty="0" smtClean="0"/>
              <a:t>EFactor (4.5 + 0.5 + 3 + 2 + 5 + 10 + 0 – 3) = 22 </a:t>
            </a:r>
          </a:p>
          <a:p>
            <a:pPr>
              <a:buNone/>
            </a:pPr>
            <a:r>
              <a:rPr lang="da-DK" b="1" dirty="0" smtClean="0"/>
              <a:t>EF = 1.4 + (–0.03 * EFactor)</a:t>
            </a:r>
          </a:p>
          <a:p>
            <a:pPr>
              <a:buNone/>
            </a:pPr>
            <a:endParaRPr lang="da-DK" dirty="0" smtClean="0"/>
          </a:p>
          <a:p>
            <a:pPr>
              <a:buNone/>
            </a:pPr>
            <a:r>
              <a:rPr lang="da-DK" b="1" dirty="0" smtClean="0"/>
              <a:t>EF </a:t>
            </a:r>
            <a:r>
              <a:rPr lang="da-DK" dirty="0" smtClean="0"/>
              <a:t>= 1.4 + (–0.03 * 22)</a:t>
            </a:r>
          </a:p>
          <a:p>
            <a:pPr>
              <a:buNone/>
            </a:pPr>
            <a:r>
              <a:rPr lang="da-DK" b="1" dirty="0" smtClean="0"/>
              <a:t>      = </a:t>
            </a:r>
            <a:r>
              <a:rPr lang="da-DK" dirty="0" smtClean="0"/>
              <a:t> </a:t>
            </a:r>
            <a:r>
              <a:rPr lang="da-DK" b="1" dirty="0" smtClean="0"/>
              <a:t>0.74</a:t>
            </a:r>
          </a:p>
          <a:p>
            <a:r>
              <a:rPr lang="da-DK" b="1" dirty="0" smtClean="0"/>
              <a:t>UCP = UUCP * TCF * EF</a:t>
            </a:r>
            <a:endParaRPr lang="en-US" b="1" dirty="0" smtClean="0"/>
          </a:p>
          <a:p>
            <a:pPr>
              <a:buNone/>
            </a:pPr>
            <a:r>
              <a:rPr lang="da-DK" b="1" dirty="0" smtClean="0"/>
              <a:t>             = 295 * 1.0 * 0.74</a:t>
            </a:r>
          </a:p>
          <a:p>
            <a:pPr>
              <a:buNone/>
            </a:pPr>
            <a:r>
              <a:rPr lang="da-DK" b="1" dirty="0" smtClean="0"/>
              <a:t>             = 218.3</a:t>
            </a:r>
          </a:p>
          <a:p>
            <a:pPr>
              <a:buNone/>
            </a:pPr>
            <a:endParaRPr lang="da-DK" dirty="0" smtClean="0"/>
          </a:p>
          <a:p>
            <a:endParaRPr lang="da-DK" dirty="0" smtClean="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181600"/>
          </a:xfrm>
        </p:spPr>
        <p:txBody>
          <a:bodyPr/>
          <a:lstStyle/>
          <a:p>
            <a:pPr algn="just"/>
            <a:r>
              <a:rPr lang="da-DK" dirty="0" smtClean="0"/>
              <a:t>Count how many factors are less than 3 and how many factors are greater than 3.</a:t>
            </a:r>
          </a:p>
          <a:p>
            <a:pPr algn="just"/>
            <a:r>
              <a:rPr lang="da-DK" dirty="0" smtClean="0"/>
              <a:t> If the total number of factors that have a value less than 3 are few, 20 person-hours per UCP is suitable.</a:t>
            </a:r>
          </a:p>
          <a:p>
            <a:pPr algn="just">
              <a:buNone/>
            </a:pPr>
            <a:r>
              <a:rPr lang="da-DK" dirty="0" smtClean="0"/>
              <a:t>    If there are many, use 28 person-hours per UCP. </a:t>
            </a:r>
          </a:p>
          <a:p>
            <a:pPr algn="just"/>
            <a:r>
              <a:rPr lang="da-DK" dirty="0" smtClean="0"/>
              <a:t>In other words, the range is 20 to 28 person-hours per UCP, and the project manager can decide which value to use depending on the various factors.</a:t>
            </a:r>
            <a:endParaRPr lang="en-US" dirty="0" smtClean="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da-DK" sz="2800" dirty="0" smtClean="0"/>
              <a:t>For an effort of </a:t>
            </a:r>
            <a:r>
              <a:rPr lang="da-DK" sz="2800" b="1" dirty="0" smtClean="0"/>
              <a:t>20 person-hours</a:t>
            </a:r>
            <a:r>
              <a:rPr lang="da-DK" sz="2800" dirty="0" smtClean="0"/>
              <a:t> per UCP, the estimate effort is 218.3 *20= 4,366 person-hours .</a:t>
            </a:r>
          </a:p>
          <a:p>
            <a:pPr algn="just"/>
            <a:r>
              <a:rPr lang="da-DK" sz="2800" dirty="0" smtClean="0"/>
              <a:t>= </a:t>
            </a:r>
            <a:r>
              <a:rPr lang="da-DK" sz="2800" b="1" dirty="0" smtClean="0"/>
              <a:t>499 </a:t>
            </a:r>
            <a:r>
              <a:rPr lang="da-DK" sz="2800" dirty="0" smtClean="0"/>
              <a:t>person-day (At 8.75 hrs/day) or </a:t>
            </a:r>
          </a:p>
          <a:p>
            <a:pPr algn="just"/>
            <a:r>
              <a:rPr lang="da-DK" sz="2800" dirty="0" smtClean="0"/>
              <a:t>= </a:t>
            </a:r>
            <a:r>
              <a:rPr lang="da-DK" sz="2800" b="1" dirty="0" smtClean="0"/>
              <a:t>513</a:t>
            </a:r>
            <a:r>
              <a:rPr lang="da-DK" sz="2800" dirty="0" smtClean="0"/>
              <a:t>person-day(at 8.5 hours/day).</a:t>
            </a:r>
            <a:endParaRPr lang="en-US" sz="2800" dirty="0"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LOC VS. </a:t>
            </a:r>
            <a:r>
              <a:rPr lang="en-GB" cap="all" dirty="0" smtClean="0"/>
              <a:t>function</a:t>
            </a:r>
            <a:r>
              <a:rPr lang="en-GB" dirty="0" smtClean="0"/>
              <a:t> POINT</a:t>
            </a:r>
            <a:endParaRPr lang="en-US" dirty="0"/>
          </a:p>
        </p:txBody>
      </p:sp>
      <p:sp>
        <p:nvSpPr>
          <p:cNvPr id="10" name="Content Placeholder 9"/>
          <p:cNvSpPr>
            <a:spLocks noGrp="1"/>
          </p:cNvSpPr>
          <p:nvPr>
            <p:ph sz="half" idx="1"/>
          </p:nvPr>
        </p:nvSpPr>
        <p:spPr>
          <a:xfrm>
            <a:off x="457200" y="1920085"/>
            <a:ext cx="3581400" cy="4434840"/>
          </a:xfrm>
        </p:spPr>
        <p:txBody>
          <a:bodyPr/>
          <a:lstStyle/>
          <a:p>
            <a:pPr algn="just">
              <a:buFontTx/>
              <a:buChar char="-"/>
            </a:pPr>
            <a:r>
              <a:rPr lang="en-US" dirty="0" smtClean="0"/>
              <a:t>non-standard</a:t>
            </a:r>
          </a:p>
          <a:p>
            <a:pPr algn="just">
              <a:buFontTx/>
              <a:buChar char="-"/>
            </a:pPr>
            <a:r>
              <a:rPr lang="en-US" dirty="0" smtClean="0"/>
              <a:t>Language dependent</a:t>
            </a:r>
          </a:p>
          <a:p>
            <a:pPr algn="just">
              <a:buFontTx/>
              <a:buChar char="-"/>
            </a:pPr>
            <a:r>
              <a:rPr lang="en-US" dirty="0" smtClean="0"/>
              <a:t>Di</a:t>
            </a:r>
            <a:r>
              <a:rPr lang="en-GB" dirty="0" smtClean="0"/>
              <a:t>ff</a:t>
            </a:r>
            <a:r>
              <a:rPr lang="en-US" dirty="0" err="1" smtClean="0"/>
              <a:t>icult</a:t>
            </a:r>
            <a:r>
              <a:rPr lang="en-US" dirty="0" smtClean="0"/>
              <a:t> to estimate in early stages o</a:t>
            </a:r>
            <a:r>
              <a:rPr lang="en-GB" dirty="0" smtClean="0"/>
              <a:t>f </a:t>
            </a:r>
            <a:r>
              <a:rPr lang="en-US" dirty="0" smtClean="0"/>
              <a:t>development.</a:t>
            </a:r>
          </a:p>
          <a:p>
            <a:pPr algn="just">
              <a:buFontTx/>
              <a:buChar char="-"/>
            </a:pPr>
            <a:r>
              <a:rPr lang="en-US" dirty="0" smtClean="0"/>
              <a:t>Doesn’t proper measure non-coding task</a:t>
            </a:r>
            <a:endParaRPr lang="en-US" dirty="0"/>
          </a:p>
        </p:txBody>
      </p:sp>
      <p:sp>
        <p:nvSpPr>
          <p:cNvPr id="11" name="Content Placeholder 10"/>
          <p:cNvSpPr>
            <a:spLocks noGrp="1"/>
          </p:cNvSpPr>
          <p:nvPr>
            <p:ph sz="half" idx="2"/>
          </p:nvPr>
        </p:nvSpPr>
        <p:spPr/>
        <p:txBody>
          <a:bodyPr/>
          <a:lstStyle/>
          <a:p>
            <a:pPr algn="just">
              <a:buNone/>
            </a:pPr>
            <a:r>
              <a:rPr lang="en-US" dirty="0" smtClean="0"/>
              <a:t>-Language independent</a:t>
            </a:r>
          </a:p>
          <a:p>
            <a:pPr algn="just">
              <a:buNone/>
            </a:pPr>
            <a:r>
              <a:rPr lang="en-US" dirty="0" smtClean="0"/>
              <a:t>-May be derived </a:t>
            </a:r>
            <a:r>
              <a:rPr lang="en-GB" dirty="0" smtClean="0"/>
              <a:t>f</a:t>
            </a:r>
            <a:r>
              <a:rPr lang="en-US" dirty="0" err="1" smtClean="0"/>
              <a:t>rom</a:t>
            </a:r>
            <a:r>
              <a:rPr lang="en-US" dirty="0" smtClean="0"/>
              <a:t> specification document</a:t>
            </a:r>
          </a:p>
          <a:p>
            <a:pPr algn="just">
              <a:buNone/>
            </a:pPr>
            <a:r>
              <a:rPr lang="en-US" dirty="0" smtClean="0"/>
              <a:t>- Accommodate reuse and object-oriented methods</a:t>
            </a:r>
          </a:p>
          <a:p>
            <a:pPr algn="just">
              <a:buNone/>
            </a:pPr>
            <a:r>
              <a:rPr lang="en-US" dirty="0" smtClean="0"/>
              <a:t>- Special training required.</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lstStyle/>
          <a:p>
            <a:r>
              <a:rPr lang="en-GB" b="1" dirty="0" smtClean="0"/>
              <a:t>Estimating Schedule</a:t>
            </a:r>
            <a:endParaRPr lang="en-US" dirty="0"/>
          </a:p>
        </p:txBody>
      </p:sp>
      <p:sp>
        <p:nvSpPr>
          <p:cNvPr id="3" name="Content Placeholder 2"/>
          <p:cNvSpPr>
            <a:spLocks noGrp="1"/>
          </p:cNvSpPr>
          <p:nvPr>
            <p:ph idx="1"/>
          </p:nvPr>
        </p:nvSpPr>
        <p:spPr>
          <a:xfrm>
            <a:off x="457200" y="1371600"/>
            <a:ext cx="8229600" cy="4953000"/>
          </a:xfrm>
        </p:spPr>
        <p:txBody>
          <a:bodyPr/>
          <a:lstStyle/>
          <a:p>
            <a:pPr algn="just"/>
            <a:r>
              <a:rPr lang="en-GB" dirty="0" smtClean="0"/>
              <a:t>Once the effort is known or fixed, various schedules (or project </a:t>
            </a:r>
            <a:r>
              <a:rPr lang="en-GB" i="1" dirty="0" smtClean="0"/>
              <a:t>duration</a:t>
            </a:r>
            <a:r>
              <a:rPr lang="en-GB" dirty="0" smtClean="0"/>
              <a:t>) are possible, depending on the number of </a:t>
            </a:r>
            <a:r>
              <a:rPr lang="en-GB" i="1" dirty="0" smtClean="0"/>
              <a:t>resources</a:t>
            </a:r>
            <a:r>
              <a:rPr lang="en-GB" dirty="0" smtClean="0"/>
              <a:t> (people) put on the project. </a:t>
            </a:r>
          </a:p>
          <a:p>
            <a:pPr algn="just"/>
            <a:r>
              <a:rPr lang="en-GB" dirty="0" smtClean="0"/>
              <a:t>For example, for a project whose effort estimate is 56 person-months, a total schedule of 8 months is possible with 7 people. </a:t>
            </a:r>
          </a:p>
          <a:p>
            <a:pPr algn="just">
              <a:buNone/>
            </a:pPr>
            <a:r>
              <a:rPr lang="en-GB" dirty="0" smtClean="0"/>
              <a:t>A schedule of 7 months with 8 people is also possible, as is a schedule of approximately 9 months with 6 people.</a:t>
            </a:r>
            <a:endParaRPr lang="en-US" dirty="0" smtClean="0"/>
          </a:p>
          <a:p>
            <a:pPr algn="just">
              <a:buNone/>
            </a:pPr>
            <a:r>
              <a:rPr lang="en-US" dirty="0" smtClean="0"/>
              <a:t>But </a:t>
            </a:r>
            <a:r>
              <a:rPr lang="en-GB" dirty="0" smtClean="0"/>
              <a:t>1 month with 56 people .</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GB" b="1" dirty="0" smtClean="0"/>
              <a:t>"Stretching" </a:t>
            </a:r>
            <a:r>
              <a:rPr lang="en-GB" dirty="0" smtClean="0"/>
              <a:t>the schedule is easy; you simply apply fewer people (although the project may not be very valuable if completed over a long duration). </a:t>
            </a:r>
          </a:p>
          <a:p>
            <a:pPr algn="just"/>
            <a:endParaRPr lang="en-GB" dirty="0" smtClean="0"/>
          </a:p>
          <a:p>
            <a:pPr algn="just"/>
            <a:r>
              <a:rPr lang="en-GB" b="1" dirty="0" smtClean="0"/>
              <a:t>Compressing the schedule</a:t>
            </a:r>
            <a:r>
              <a:rPr lang="en-GB" dirty="0" smtClean="0"/>
              <a:t>, however, is not easy. You cannot compress the schedule of a 56 person-month project to 1 month regardless of the resources you apply. </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b="1" dirty="0" smtClean="0"/>
              <a:t>Manpower ramp-up in a typical project</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219199" y="2286000"/>
            <a:ext cx="6630811" cy="3729831"/>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334000"/>
          </a:xfrm>
        </p:spPr>
        <p:txBody>
          <a:bodyPr/>
          <a:lstStyle/>
          <a:p>
            <a:pPr algn="just"/>
            <a:r>
              <a:rPr lang="da-DK" dirty="0" smtClean="0"/>
              <a:t>Project managers often use a rule of thumb, called the </a:t>
            </a:r>
            <a:r>
              <a:rPr lang="da-DK" b="1" i="1" dirty="0" smtClean="0"/>
              <a:t>square root </a:t>
            </a:r>
            <a:r>
              <a:rPr lang="da-DK" i="1" dirty="0" smtClean="0"/>
              <a:t>check</a:t>
            </a:r>
            <a:r>
              <a:rPr lang="da-DK" dirty="0" smtClean="0"/>
              <a:t>, to check the schedule of medium-sized projects.</a:t>
            </a:r>
          </a:p>
          <a:p>
            <a:pPr algn="just"/>
            <a:endParaRPr lang="da-DK" dirty="0" smtClean="0"/>
          </a:p>
          <a:p>
            <a:pPr algn="just"/>
            <a:r>
              <a:rPr lang="da-DK" dirty="0" smtClean="0"/>
              <a:t> The principle is that the proposed schedule should be around the square root of the total effort in person-months; the schedule can be met if resources are assigned to the project.</a:t>
            </a:r>
          </a:p>
          <a:p>
            <a:pPr algn="just"/>
            <a:endParaRPr lang="da-DK" dirty="0" smtClean="0"/>
          </a:p>
          <a:p>
            <a:pPr algn="just"/>
            <a:r>
              <a:rPr lang="da-DK" dirty="0" smtClean="0"/>
              <a:t> For example, if the effort estimate is 50 person-months, a schedule of about 7 to 8 months will be suitable with about 7 to 8 full-time resources.</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da-DK" dirty="0" smtClean="0"/>
              <a:t>Once the overall duration of the project is fixed, the schedule for the major milestones must be determined. </a:t>
            </a:r>
          </a:p>
          <a:p>
            <a:pPr algn="just"/>
            <a:endParaRPr lang="da-DK" dirty="0" smtClean="0"/>
          </a:p>
          <a:p>
            <a:pPr algn="just"/>
            <a:r>
              <a:rPr lang="da-DK" dirty="0" smtClean="0"/>
              <a:t>To determine the milestones, you must first understand the manpower ramp-up that usually takes place in a project. </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181600"/>
          </a:xfrm>
        </p:spPr>
        <p:txBody>
          <a:bodyPr/>
          <a:lstStyle/>
          <a:p>
            <a:pPr algn="just"/>
            <a:r>
              <a:rPr lang="da-DK" dirty="0" smtClean="0"/>
              <a:t>The schedule distribution differs from the effort distribution. </a:t>
            </a:r>
          </a:p>
          <a:p>
            <a:pPr algn="just"/>
            <a:r>
              <a:rPr lang="da-DK" dirty="0" smtClean="0"/>
              <a:t>For these three major phases, the percentage of the </a:t>
            </a:r>
            <a:r>
              <a:rPr lang="da-DK" b="1" dirty="0" smtClean="0"/>
              <a:t>schedule</a:t>
            </a:r>
            <a:r>
              <a:rPr lang="da-DK" dirty="0" smtClean="0"/>
              <a:t> consumed in the </a:t>
            </a:r>
            <a:r>
              <a:rPr lang="da-DK" b="1" dirty="0" smtClean="0"/>
              <a:t>build phase </a:t>
            </a:r>
            <a:r>
              <a:rPr lang="da-DK" dirty="0" smtClean="0"/>
              <a:t>is smaller than the percentage of the effort consumed because this phase involves more people.</a:t>
            </a:r>
          </a:p>
          <a:p>
            <a:pPr algn="just"/>
            <a:endParaRPr lang="da-DK" dirty="0" smtClean="0"/>
          </a:p>
          <a:p>
            <a:pPr algn="just"/>
            <a:r>
              <a:rPr lang="da-DK" dirty="0" smtClean="0"/>
              <a:t>Generally speaking, design requires about </a:t>
            </a:r>
            <a:r>
              <a:rPr lang="da-DK" b="1" dirty="0" smtClean="0"/>
              <a:t>40%</a:t>
            </a:r>
            <a:r>
              <a:rPr lang="da-DK" dirty="0" smtClean="0"/>
              <a:t> of the schedule (20% for high-level design and 20% for detailed design), build consumes about </a:t>
            </a:r>
            <a:r>
              <a:rPr lang="da-DK" b="1" dirty="0" smtClean="0"/>
              <a:t>40%</a:t>
            </a:r>
            <a:r>
              <a:rPr lang="da-DK" dirty="0" smtClean="0"/>
              <a:t>, and integration and system testing consume the remaining </a:t>
            </a:r>
            <a:r>
              <a:rPr lang="da-DK" b="1" dirty="0" smtClean="0"/>
              <a:t>20%. </a:t>
            </a:r>
            <a:endParaRPr lang="en-US"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828800"/>
            <a:ext cx="8229600" cy="4495800"/>
          </a:xfrm>
        </p:spPr>
        <p:txBody>
          <a:bodyPr>
            <a:normAutofit lnSpcReduction="10000"/>
          </a:bodyPr>
          <a:lstStyle/>
          <a:p>
            <a:pPr algn="just"/>
            <a:endParaRPr lang="da-DK" dirty="0" smtClean="0"/>
          </a:p>
          <a:p>
            <a:pPr algn="just"/>
            <a:r>
              <a:rPr lang="da-DK" dirty="0" smtClean="0"/>
              <a:t>The manpower ramp-up typically is around </a:t>
            </a:r>
            <a:r>
              <a:rPr lang="da-DK" b="1" dirty="0" smtClean="0"/>
              <a:t>1:2:1</a:t>
            </a:r>
            <a:r>
              <a:rPr lang="da-DK" dirty="0" smtClean="0"/>
              <a:t> for design, build, and integration and testing, respectively (giving an effort distribution among these phases as </a:t>
            </a:r>
            <a:r>
              <a:rPr lang="da-DK" b="1" dirty="0" smtClean="0"/>
              <a:t>1:4:1</a:t>
            </a:r>
            <a:r>
              <a:rPr lang="da-DK" dirty="0" smtClean="0"/>
              <a:t>). </a:t>
            </a:r>
          </a:p>
          <a:p>
            <a:pPr algn="just"/>
            <a:endParaRPr lang="da-DK" dirty="0" smtClean="0"/>
          </a:p>
          <a:p>
            <a:pPr algn="just"/>
            <a:r>
              <a:rPr lang="da-DK" dirty="0" smtClean="0"/>
              <a:t>These types of guidelines provide a check for the milestones, which can be set based on other constraints.</a:t>
            </a:r>
            <a:endParaRPr lang="en-US" dirty="0" smtClean="0"/>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lstStyle/>
          <a:p>
            <a:pPr algn="just"/>
            <a:r>
              <a:rPr lang="da-DK" sz="2800" dirty="0" smtClean="0"/>
              <a:t>In assigning resources, PM considers various factors such as :</a:t>
            </a:r>
          </a:p>
          <a:p>
            <a:pPr algn="just">
              <a:buNone/>
            </a:pPr>
            <a:endParaRPr lang="da-DK" sz="2800" dirty="0" smtClean="0"/>
          </a:p>
          <a:p>
            <a:pPr algn="just">
              <a:buFontTx/>
              <a:buChar char="-"/>
            </a:pPr>
            <a:r>
              <a:rPr lang="da-DK" sz="2800" dirty="0" smtClean="0"/>
              <a:t>leave plans of the team members, </a:t>
            </a:r>
          </a:p>
          <a:p>
            <a:pPr algn="just">
              <a:buFontTx/>
              <a:buChar char="-"/>
            </a:pPr>
            <a:r>
              <a:rPr lang="da-DK" sz="2800" dirty="0" smtClean="0"/>
              <a:t>their personal growth plans and career paths,</a:t>
            </a:r>
          </a:p>
          <a:p>
            <a:pPr algn="just">
              <a:buFontTx/>
              <a:buChar char="-"/>
            </a:pPr>
            <a:r>
              <a:rPr lang="da-DK" sz="2800" dirty="0" smtClean="0"/>
              <a:t> their skill sets and experience,</a:t>
            </a:r>
          </a:p>
          <a:p>
            <a:pPr algn="just">
              <a:buFontTx/>
              <a:buChar char="-"/>
            </a:pPr>
            <a:r>
              <a:rPr lang="da-DK" sz="2800" dirty="0" smtClean="0"/>
              <a:t> training and mentoring needs and </a:t>
            </a:r>
          </a:p>
          <a:p>
            <a:pPr algn="just">
              <a:buFontTx/>
              <a:buChar char="-"/>
            </a:pPr>
            <a:r>
              <a:rPr lang="da-DK" sz="2800" dirty="0" smtClean="0"/>
              <a:t> the criticality of the task.</a:t>
            </a:r>
          </a:p>
          <a:p>
            <a:pPr>
              <a:buNone/>
            </a:pPr>
            <a:endParaRPr lang="en-US" dirty="0" smtClean="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534400" cy="6019800"/>
          </a:xfrm>
        </p:spPr>
        <p:txBody>
          <a:bodyPr>
            <a:normAutofit/>
          </a:bodyPr>
          <a:lstStyle/>
          <a:p>
            <a:pPr algn="just"/>
            <a:r>
              <a:rPr lang="da-DK" sz="2800" dirty="0" smtClean="0"/>
              <a:t>For each lowest-level activity, they stipulate the effort, duration, start date, end date, and resources.             For each activity, they also specify the activity code, the program code, and the module code. </a:t>
            </a:r>
          </a:p>
          <a:p>
            <a:pPr algn="just"/>
            <a:endParaRPr lang="da-DK" sz="2800" dirty="0" smtClean="0"/>
          </a:p>
          <a:p>
            <a:pPr algn="just"/>
            <a:r>
              <a:rPr lang="da-DK" sz="2800" dirty="0" smtClean="0"/>
              <a:t>They may also specify dependencies between activities, due either to an inherent dependency (for example, you can conduct a unit test plan for a program only after it has been coded) or to a resource-related dependency (the same resource is assigned two tasks).</a:t>
            </a:r>
            <a:endParaRPr lang="en-US" sz="2800" dirty="0" smtClean="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US" dirty="0" smtClean="0"/>
              <a:t>Scheduling</a:t>
            </a:r>
            <a:endParaRPr lang="en-US" dirty="0"/>
          </a:p>
        </p:txBody>
      </p:sp>
      <p:sp>
        <p:nvSpPr>
          <p:cNvPr id="3" name="Content Placeholder 2"/>
          <p:cNvSpPr>
            <a:spLocks noGrp="1"/>
          </p:cNvSpPr>
          <p:nvPr>
            <p:ph idx="1"/>
          </p:nvPr>
        </p:nvSpPr>
        <p:spPr>
          <a:xfrm>
            <a:off x="457200" y="1676400"/>
            <a:ext cx="8229600" cy="4648200"/>
          </a:xfrm>
        </p:spPr>
        <p:txBody>
          <a:bodyPr>
            <a:normAutofit/>
          </a:bodyPr>
          <a:lstStyle/>
          <a:p>
            <a:pPr algn="just"/>
            <a:r>
              <a:rPr lang="en-US" sz="2800" dirty="0" smtClean="0"/>
              <a:t>Scheduling is the process o</a:t>
            </a:r>
            <a:r>
              <a:rPr lang="en-GB" sz="2800" dirty="0" smtClean="0"/>
              <a:t>f assigning start and end dates (CALENDAR TIME) to activities within the constraints imposed by other objectives.</a:t>
            </a:r>
          </a:p>
          <a:p>
            <a:pPr algn="just"/>
            <a:r>
              <a:rPr lang="en-GB" sz="2800" dirty="0" smtClean="0"/>
              <a:t>It must also establish project milestone which allow management to assess and monitor progress.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GB" dirty="0" smtClean="0"/>
              <a:t>A schedule must take into account of:</a:t>
            </a:r>
          </a:p>
          <a:p>
            <a:pPr algn="just">
              <a:buNone/>
            </a:pPr>
            <a:r>
              <a:rPr lang="en-GB" dirty="0" smtClean="0"/>
              <a:t>- weekends and holidays</a:t>
            </a:r>
          </a:p>
          <a:p>
            <a:pPr algn="just">
              <a:buNone/>
            </a:pPr>
            <a:r>
              <a:rPr lang="en-GB" dirty="0" smtClean="0"/>
              <a:t>- annual leave</a:t>
            </a:r>
          </a:p>
          <a:p>
            <a:pPr algn="just">
              <a:buNone/>
            </a:pPr>
            <a:r>
              <a:rPr lang="en-GB" dirty="0" smtClean="0"/>
              <a:t>- average sickness leave</a:t>
            </a:r>
          </a:p>
          <a:p>
            <a:pPr algn="just">
              <a:buNone/>
            </a:pPr>
            <a:r>
              <a:rPr lang="en-GB" dirty="0" smtClean="0"/>
              <a:t>- Training</a:t>
            </a:r>
          </a:p>
          <a:p>
            <a:pPr algn="just">
              <a:buNone/>
            </a:pPr>
            <a:r>
              <a:rPr lang="en-GB" dirty="0" smtClean="0"/>
              <a:t>- Administrative duties</a:t>
            </a:r>
          </a:p>
          <a:p>
            <a:pPr algn="just">
              <a:buNone/>
            </a:pPr>
            <a:r>
              <a:rPr lang="en-GB" dirty="0" smtClean="0"/>
              <a:t>This leaves only 225 working days in a year.</a:t>
            </a:r>
            <a:endParaRPr lang="en-US" dirty="0" smtClean="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b="1" dirty="0" smtClean="0"/>
              <a:t>Detailed Scheduling</a:t>
            </a:r>
            <a:endParaRPr lang="en-US" dirty="0"/>
          </a:p>
        </p:txBody>
      </p:sp>
      <p:sp>
        <p:nvSpPr>
          <p:cNvPr id="3" name="Content Placeholder 2"/>
          <p:cNvSpPr>
            <a:spLocks noGrp="1"/>
          </p:cNvSpPr>
          <p:nvPr>
            <p:ph idx="1"/>
          </p:nvPr>
        </p:nvSpPr>
        <p:spPr/>
        <p:txBody>
          <a:bodyPr>
            <a:normAutofit/>
          </a:bodyPr>
          <a:lstStyle/>
          <a:p>
            <a:pPr algn="just"/>
            <a:r>
              <a:rPr lang="da-DK" sz="2800" dirty="0" smtClean="0"/>
              <a:t>Once the milestones and the resources are fixed, it is time to set the detailed scheduling. </a:t>
            </a:r>
          </a:p>
          <a:p>
            <a:pPr algn="just"/>
            <a:r>
              <a:rPr lang="da-DK" sz="2800" dirty="0" smtClean="0"/>
              <a:t>The project manager breaks the tasks into small schedulable activities in a hierarchical manner. </a:t>
            </a:r>
          </a:p>
          <a:p>
            <a:pPr algn="just"/>
            <a:r>
              <a:rPr lang="da-DK" sz="2800" dirty="0" smtClean="0"/>
              <a:t>For each detailed task, the project manager estimates the time required to complete it and assigns a suitable resource so that the overall schedule is met.</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da-DK" sz="2800" dirty="0" smtClean="0"/>
              <a:t>In assigning resources, various factors such as</a:t>
            </a:r>
          </a:p>
          <a:p>
            <a:pPr algn="just">
              <a:buFontTx/>
              <a:buChar char="-"/>
            </a:pPr>
            <a:r>
              <a:rPr lang="da-DK" sz="2800" dirty="0" smtClean="0"/>
              <a:t>leave plans of the team members, </a:t>
            </a:r>
          </a:p>
          <a:p>
            <a:pPr algn="just">
              <a:buFontTx/>
              <a:buChar char="-"/>
            </a:pPr>
            <a:r>
              <a:rPr lang="da-DK" sz="2800" dirty="0" smtClean="0"/>
              <a:t>their personal growth plans and career paths,</a:t>
            </a:r>
          </a:p>
          <a:p>
            <a:pPr algn="just">
              <a:buFontTx/>
              <a:buChar char="-"/>
            </a:pPr>
            <a:r>
              <a:rPr lang="da-DK" sz="2800" dirty="0" smtClean="0"/>
              <a:t> their skill sets and experience, </a:t>
            </a:r>
          </a:p>
          <a:p>
            <a:pPr algn="just">
              <a:buFontTx/>
              <a:buChar char="-"/>
            </a:pPr>
            <a:r>
              <a:rPr lang="da-DK" sz="2800" dirty="0" smtClean="0"/>
              <a:t>training and mentoring needs, </a:t>
            </a:r>
          </a:p>
          <a:p>
            <a:pPr algn="just">
              <a:buFontTx/>
              <a:buChar char="-"/>
            </a:pPr>
            <a:r>
              <a:rPr lang="da-DK" sz="2800" dirty="0" smtClean="0"/>
              <a:t>the criticality of the task, and ...</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da-DK" sz="2800" dirty="0" smtClean="0"/>
              <a:t>For detailed scheduling, project managers frequently use </a:t>
            </a:r>
            <a:r>
              <a:rPr lang="da-DK" sz="2800" b="1" dirty="0" smtClean="0"/>
              <a:t>Microsoft Project (MSP) </a:t>
            </a:r>
            <a:r>
              <a:rPr lang="da-DK" sz="2800" dirty="0" smtClean="0"/>
              <a:t>or a spreadsheet.</a:t>
            </a:r>
          </a:p>
          <a:p>
            <a:pPr algn="just"/>
            <a:endParaRPr lang="da-DK" sz="2800" dirty="0" smtClean="0"/>
          </a:p>
          <a:p>
            <a:pPr algn="just"/>
            <a:r>
              <a:rPr lang="da-DK" sz="2800" dirty="0" smtClean="0"/>
              <a:t>For each lowest-level activity, they stipulate the effort, duration, start date, end date, and resources. They may also specify dependencies between activities.</a:t>
            </a:r>
            <a:endParaRPr lang="en-US" sz="2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Project Planning Techniques</a:t>
            </a:r>
            <a:endParaRPr lang="en-US" dirty="0"/>
          </a:p>
        </p:txBody>
      </p:sp>
      <p:sp>
        <p:nvSpPr>
          <p:cNvPr id="3" name="Content Placeholder 2"/>
          <p:cNvSpPr>
            <a:spLocks noGrp="1"/>
          </p:cNvSpPr>
          <p:nvPr>
            <p:ph idx="1"/>
          </p:nvPr>
        </p:nvSpPr>
        <p:spPr>
          <a:xfrm>
            <a:off x="457200" y="2057400"/>
            <a:ext cx="8229600" cy="4267200"/>
          </a:xfrm>
        </p:spPr>
        <p:txBody>
          <a:bodyPr>
            <a:normAutofit/>
          </a:bodyPr>
          <a:lstStyle/>
          <a:p>
            <a:pPr algn="just"/>
            <a:r>
              <a:rPr lang="en-US" sz="2800" dirty="0" smtClean="0"/>
              <a:t>The three basic project planning techniques are Gantt chart, CPM and PERT. All monitor progress and costs against resource budgets. </a:t>
            </a:r>
            <a:endParaRPr lang="en-US" sz="2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rmAutofit/>
          </a:bodyPr>
          <a:lstStyle/>
          <a:p>
            <a:r>
              <a:rPr lang="en-US" dirty="0" smtClean="0"/>
              <a:t>1. Gantt charts</a:t>
            </a:r>
            <a:endParaRPr lang="en-US" dirty="0"/>
          </a:p>
        </p:txBody>
      </p:sp>
      <p:sp>
        <p:nvSpPr>
          <p:cNvPr id="3" name="Content Placeholder 2"/>
          <p:cNvSpPr>
            <a:spLocks noGrp="1"/>
          </p:cNvSpPr>
          <p:nvPr>
            <p:ph idx="1"/>
          </p:nvPr>
        </p:nvSpPr>
        <p:spPr>
          <a:xfrm>
            <a:off x="381000" y="1295400"/>
            <a:ext cx="8305800" cy="5257800"/>
          </a:xfrm>
        </p:spPr>
        <p:txBody>
          <a:bodyPr>
            <a:normAutofit fontScale="92500" lnSpcReduction="10000"/>
          </a:bodyPr>
          <a:lstStyle/>
          <a:p>
            <a:pPr algn="just"/>
            <a:r>
              <a:rPr lang="en-US" dirty="0" smtClean="0"/>
              <a:t>Bar charts or Gantt charts (named a</a:t>
            </a:r>
            <a:r>
              <a:rPr lang="en-GB" dirty="0" err="1" smtClean="0"/>
              <a:t>fter</a:t>
            </a:r>
            <a:r>
              <a:rPr lang="en-GB" dirty="0" smtClean="0"/>
              <a:t> Henry Gantt(1800)</a:t>
            </a:r>
            <a:r>
              <a:rPr lang="en-US" dirty="0" smtClean="0"/>
              <a:t>) are </a:t>
            </a:r>
            <a:r>
              <a:rPr lang="en-GB" dirty="0" smtClean="0"/>
              <a:t>effective and long established way of presenting project data in a form that is easily understood and interpreted.</a:t>
            </a:r>
          </a:p>
          <a:p>
            <a:pPr algn="just"/>
            <a:r>
              <a:rPr lang="en-US" dirty="0" smtClean="0"/>
              <a:t>Gantt chart is now commonly used for </a:t>
            </a:r>
            <a:r>
              <a:rPr lang="en-US" b="1" dirty="0" smtClean="0"/>
              <a:t>scheduling </a:t>
            </a:r>
            <a:r>
              <a:rPr lang="en-US" dirty="0" smtClean="0"/>
              <a:t>the tasks and </a:t>
            </a:r>
            <a:r>
              <a:rPr lang="en-US" b="1" dirty="0" smtClean="0"/>
              <a:t>tracking the progress </a:t>
            </a:r>
            <a:r>
              <a:rPr lang="en-US" dirty="0" smtClean="0"/>
              <a:t>of the project. Gantt charts are developed using </a:t>
            </a:r>
            <a:r>
              <a:rPr lang="en-US" b="1" dirty="0" smtClean="0"/>
              <a:t>bars</a:t>
            </a:r>
            <a:r>
              <a:rPr lang="en-US" dirty="0" smtClean="0"/>
              <a:t> to represent each task. The length of the bar shows how long the task is expected to take to complete. Duration is easily shown on Gantt charts. </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5842" name="Picture 2"/>
          <p:cNvPicPr>
            <a:picLocks noGrp="1" noChangeAspect="1" noChangeArrowheads="1"/>
          </p:cNvPicPr>
          <p:nvPr>
            <p:ph idx="1"/>
          </p:nvPr>
        </p:nvPicPr>
        <p:blipFill>
          <a:blip r:embed="rId2" cstate="print"/>
          <a:srcRect/>
          <a:stretch>
            <a:fillRect/>
          </a:stretch>
        </p:blipFill>
        <p:spPr bwMode="auto">
          <a:xfrm>
            <a:off x="0" y="3069567"/>
            <a:ext cx="9106929" cy="2112032"/>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GB" sz="2800" dirty="0" smtClean="0"/>
              <a:t>Each activity is listed separately in a vertical list and represented by a horizontal line or bar.</a:t>
            </a:r>
            <a:endParaRPr lang="en-US" sz="2800" dirty="0" smtClean="0"/>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GB" b="1" dirty="0" smtClean="0">
                <a:latin typeface="Helv"/>
              </a:rPr>
              <a:t>2. Critical </a:t>
            </a:r>
            <a:r>
              <a:rPr lang="en-GB" b="1" dirty="0">
                <a:latin typeface="Helv"/>
              </a:rPr>
              <a:t>Path</a:t>
            </a:r>
          </a:p>
        </p:txBody>
      </p:sp>
      <p:sp>
        <p:nvSpPr>
          <p:cNvPr id="20483" name="Rectangle 3"/>
          <p:cNvSpPr>
            <a:spLocks noGrp="1" noChangeArrowheads="1"/>
          </p:cNvSpPr>
          <p:nvPr>
            <p:ph type="body" idx="1"/>
          </p:nvPr>
        </p:nvSpPr>
        <p:spPr/>
        <p:txBody>
          <a:bodyPr>
            <a:normAutofit/>
          </a:bodyPr>
          <a:lstStyle/>
          <a:p>
            <a:pPr lvl="1" algn="just">
              <a:lnSpc>
                <a:spcPct val="112000"/>
              </a:lnSpc>
            </a:pPr>
            <a:r>
              <a:rPr lang="en-GB" sz="2800" dirty="0"/>
              <a:t>However sophisticated the time analysis becomes, a basic feature is always the calculation of the project duration which is the duration of the </a:t>
            </a:r>
            <a:r>
              <a:rPr lang="en-GB" sz="2800" b="1" i="1" dirty="0"/>
              <a:t>critical path</a:t>
            </a:r>
            <a:r>
              <a:rPr lang="en-GB" sz="2800" i="1" dirty="0"/>
              <a:t>.</a:t>
            </a:r>
          </a:p>
          <a:p>
            <a:pPr lvl="2" algn="just">
              <a:lnSpc>
                <a:spcPct val="112000"/>
              </a:lnSpc>
            </a:pPr>
            <a:r>
              <a:rPr lang="en-GB" sz="2800" dirty="0"/>
              <a:t>The critical path of a network gives the shortest time in which the whole project can be completed. It is the chain of activities with the longest duration times. There may be more than one critical path in a </a:t>
            </a:r>
            <a:r>
              <a:rPr lang="en-GB" sz="2800" dirty="0" smtClean="0"/>
              <a:t>network.</a:t>
            </a:r>
            <a:endParaRPr lang="en-GB" sz="2800" dirty="0"/>
          </a:p>
          <a:p>
            <a:endParaRPr lang="en-GB"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lnSpc>
                <a:spcPct val="90000"/>
              </a:lnSpc>
            </a:pPr>
            <a:r>
              <a:rPr lang="en-US" dirty="0" smtClean="0"/>
              <a:t>Critical Path Method</a:t>
            </a:r>
          </a:p>
          <a:p>
            <a:pPr lvl="1" algn="just">
              <a:lnSpc>
                <a:spcPct val="90000"/>
              </a:lnSpc>
            </a:pPr>
            <a:r>
              <a:rPr lang="en-US" dirty="0" smtClean="0"/>
              <a:t>The process for determining and optimizing the critical path</a:t>
            </a:r>
          </a:p>
          <a:p>
            <a:pPr algn="just"/>
            <a:r>
              <a:rPr lang="en-US" dirty="0" smtClean="0"/>
              <a:t>All projects have a Critical Path</a:t>
            </a:r>
          </a:p>
          <a:p>
            <a:pPr algn="just"/>
            <a:r>
              <a:rPr lang="en-US" dirty="0" smtClean="0"/>
              <a:t>Accelerating non-critical tasks do not directly shorten the schedule</a:t>
            </a:r>
          </a:p>
          <a:p>
            <a:pPr lvl="1">
              <a:lnSpc>
                <a:spcPct val="90000"/>
              </a:lnSpc>
              <a:buNone/>
            </a:pPr>
            <a:endParaRPr lang="en-US" dirty="0" smtClean="0"/>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08888"/>
          </a:xfrm>
        </p:spPr>
        <p:txBody>
          <a:bodyPr>
            <a:normAutofit fontScale="90000"/>
          </a:bodyPr>
          <a:lstStyle/>
          <a:p>
            <a:r>
              <a:rPr lang="en-US" b="1" dirty="0" smtClean="0"/>
              <a:t>Steps in CPM Project Planning </a:t>
            </a:r>
            <a:br>
              <a:rPr lang="en-US" b="1" dirty="0" smtClean="0"/>
            </a:br>
            <a:endParaRPr lang="en-US" dirty="0"/>
          </a:p>
        </p:txBody>
      </p:sp>
      <p:sp>
        <p:nvSpPr>
          <p:cNvPr id="3" name="Content Placeholder 2"/>
          <p:cNvSpPr>
            <a:spLocks noGrp="1"/>
          </p:cNvSpPr>
          <p:nvPr>
            <p:ph idx="1"/>
          </p:nvPr>
        </p:nvSpPr>
        <p:spPr/>
        <p:txBody>
          <a:bodyPr/>
          <a:lstStyle/>
          <a:p>
            <a:pPr algn="just"/>
            <a:r>
              <a:rPr lang="en-US" sz="2800" dirty="0" smtClean="0"/>
              <a:t>1. Specify the individual activities. </a:t>
            </a:r>
          </a:p>
          <a:p>
            <a:pPr algn="just"/>
            <a:r>
              <a:rPr lang="en-US" sz="2800" dirty="0" smtClean="0"/>
              <a:t>2. Determine the sequence of those activities. </a:t>
            </a:r>
          </a:p>
          <a:p>
            <a:pPr algn="just"/>
            <a:r>
              <a:rPr lang="en-US" sz="2800" dirty="0" smtClean="0"/>
              <a:t>3. Draw a network diagram. </a:t>
            </a:r>
          </a:p>
          <a:p>
            <a:pPr algn="just"/>
            <a:r>
              <a:rPr lang="en-US" sz="2800" dirty="0" smtClean="0"/>
              <a:t>4. Estimate the completion time for each activity. </a:t>
            </a:r>
          </a:p>
          <a:p>
            <a:pPr algn="just"/>
            <a:r>
              <a:rPr lang="en-US" sz="2800" dirty="0" smtClean="0"/>
              <a:t>5. Identify the critical path (longest path through the network) </a:t>
            </a:r>
          </a:p>
          <a:p>
            <a:pPr algn="just"/>
            <a:r>
              <a:rPr lang="en-US" sz="2800" dirty="0" smtClean="0"/>
              <a:t>6. Update the CPM diagram as the project progresses. </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Critical Path Example</a:t>
            </a:r>
          </a:p>
        </p:txBody>
      </p:sp>
      <p:pic>
        <p:nvPicPr>
          <p:cNvPr id="35843" name="Picture 3"/>
          <p:cNvPicPr>
            <a:picLocks noChangeAspect="1" noChangeArrowheads="1"/>
          </p:cNvPicPr>
          <p:nvPr/>
        </p:nvPicPr>
        <p:blipFill>
          <a:blip r:embed="rId2" cstate="print"/>
          <a:srcRect/>
          <a:stretch>
            <a:fillRect/>
          </a:stretch>
        </p:blipFill>
        <p:spPr bwMode="auto">
          <a:xfrm>
            <a:off x="123094" y="2281238"/>
            <a:ext cx="8882417" cy="2747962"/>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G, H, I = 12</a:t>
            </a:r>
          </a:p>
          <a:p>
            <a:r>
              <a:rPr lang="en-US" dirty="0" smtClean="0"/>
              <a:t>A, B, C, E, I = 13 </a:t>
            </a:r>
            <a:r>
              <a:rPr lang="en-US" b="1" dirty="0" smtClean="0"/>
              <a:t>--- CP</a:t>
            </a:r>
            <a:endParaRPr lang="en-US" dirty="0" smtClean="0"/>
          </a:p>
          <a:p>
            <a:r>
              <a:rPr lang="en-US" dirty="0" smtClean="0"/>
              <a:t>A, B, D, </a:t>
            </a:r>
            <a:r>
              <a:rPr lang="en-GB" cap="all" dirty="0" smtClean="0"/>
              <a:t>f</a:t>
            </a:r>
            <a:r>
              <a:rPr lang="en-US" dirty="0" smtClean="0"/>
              <a:t>, I = 11</a:t>
            </a:r>
          </a:p>
          <a:p>
            <a:r>
              <a:rPr lang="en-US" dirty="0" smtClean="0"/>
              <a:t> </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None/>
            </a:pPr>
            <a:r>
              <a:rPr lang="en-US" b="1" dirty="0" smtClean="0"/>
              <a:t>CPM Benefits </a:t>
            </a:r>
          </a:p>
          <a:p>
            <a:pPr algn="just"/>
            <a:r>
              <a:rPr lang="en-US" sz="2800" dirty="0" smtClean="0"/>
              <a:t>Provides a graphical view of the project. </a:t>
            </a:r>
          </a:p>
          <a:p>
            <a:pPr algn="just"/>
            <a:r>
              <a:rPr lang="en-US" sz="2800" dirty="0" smtClean="0"/>
              <a:t>Predicts the time required to complete the project. </a:t>
            </a:r>
          </a:p>
          <a:p>
            <a:pPr algn="just"/>
            <a:r>
              <a:rPr lang="en-US" sz="2800" dirty="0" smtClean="0"/>
              <a:t>Shows which activities are critical to maintaining the schedule and which are not. </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Some rules of the thumb</a:t>
            </a:r>
          </a:p>
        </p:txBody>
      </p:sp>
      <p:sp>
        <p:nvSpPr>
          <p:cNvPr id="18435" name="Rectangle 3"/>
          <p:cNvSpPr>
            <a:spLocks noGrp="1" noChangeArrowheads="1"/>
          </p:cNvSpPr>
          <p:nvPr>
            <p:ph type="body" idx="1"/>
          </p:nvPr>
        </p:nvSpPr>
        <p:spPr/>
        <p:txBody>
          <a:bodyPr/>
          <a:lstStyle/>
          <a:p>
            <a:pPr algn="just"/>
            <a:r>
              <a:rPr lang="en-GB" sz="2800" dirty="0"/>
              <a:t>Organize tasks </a:t>
            </a:r>
            <a:r>
              <a:rPr lang="en-GB" sz="2800" b="1" dirty="0"/>
              <a:t>concurrently</a:t>
            </a:r>
            <a:r>
              <a:rPr lang="en-GB" sz="2800" dirty="0"/>
              <a:t> to make optimal </a:t>
            </a:r>
            <a:br>
              <a:rPr lang="en-GB" sz="2800" dirty="0"/>
            </a:br>
            <a:r>
              <a:rPr lang="en-GB" sz="2800" dirty="0"/>
              <a:t>use of workforce.</a:t>
            </a:r>
          </a:p>
          <a:p>
            <a:pPr algn="just"/>
            <a:r>
              <a:rPr lang="en-GB" sz="2800" dirty="0"/>
              <a:t>Minimize </a:t>
            </a:r>
            <a:r>
              <a:rPr lang="en-GB" sz="2800" b="1" dirty="0"/>
              <a:t>task dependencies </a:t>
            </a:r>
            <a:r>
              <a:rPr lang="en-GB" sz="2800" dirty="0"/>
              <a:t>to avoid delays </a:t>
            </a:r>
            <a:br>
              <a:rPr lang="en-GB" sz="2800" dirty="0"/>
            </a:br>
            <a:r>
              <a:rPr lang="en-GB" sz="2800" dirty="0"/>
              <a:t>caused by one task waiting for another to complete.</a:t>
            </a:r>
          </a:p>
          <a:p>
            <a:pPr algn="just"/>
            <a:r>
              <a:rPr lang="en-GB" sz="2800" dirty="0"/>
              <a:t>Dependent on project managers </a:t>
            </a:r>
            <a:r>
              <a:rPr lang="en-GB" sz="2800" dirty="0" smtClean="0"/>
              <a:t>experience</a:t>
            </a:r>
            <a:r>
              <a:rPr lang="en-GB" sz="2800" dirty="0"/>
              <a:t>.</a:t>
            </a:r>
          </a:p>
          <a:p>
            <a:endParaRPr lang="en-US" sz="2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dirty="0"/>
              <a:t>Reducing Project Duration</a:t>
            </a:r>
          </a:p>
        </p:txBody>
      </p:sp>
      <p:sp>
        <p:nvSpPr>
          <p:cNvPr id="57347" name="Rectangle 3"/>
          <p:cNvSpPr>
            <a:spLocks noGrp="1" noChangeArrowheads="1"/>
          </p:cNvSpPr>
          <p:nvPr>
            <p:ph type="body" idx="1"/>
          </p:nvPr>
        </p:nvSpPr>
        <p:spPr/>
        <p:txBody>
          <a:bodyPr>
            <a:normAutofit/>
          </a:bodyPr>
          <a:lstStyle/>
          <a:p>
            <a:pPr algn="just"/>
            <a:r>
              <a:rPr lang="en-US" sz="2800" dirty="0"/>
              <a:t>How can you shorten the schedule?</a:t>
            </a:r>
          </a:p>
          <a:p>
            <a:pPr algn="just"/>
            <a:r>
              <a:rPr lang="en-US" sz="2800" dirty="0"/>
              <a:t>Via</a:t>
            </a:r>
          </a:p>
          <a:p>
            <a:pPr lvl="1" algn="just"/>
            <a:r>
              <a:rPr lang="en-US" sz="2800" dirty="0"/>
              <a:t>Reducing scope (or quality)</a:t>
            </a:r>
          </a:p>
          <a:p>
            <a:pPr lvl="1" algn="just"/>
            <a:r>
              <a:rPr lang="en-US" sz="2800" dirty="0"/>
              <a:t>Adding resources</a:t>
            </a:r>
          </a:p>
          <a:p>
            <a:pPr lvl="1" algn="just"/>
            <a:r>
              <a:rPr lang="en-US" sz="2800" dirty="0"/>
              <a:t>Concurrency (perform tasks in parallel)</a:t>
            </a:r>
          </a:p>
          <a:p>
            <a:pPr lvl="1" algn="just"/>
            <a:r>
              <a:rPr lang="en-US" sz="2800" dirty="0"/>
              <a:t>Substitution of activities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Microsoft project</a:t>
            </a:r>
            <a:endParaRPr lang="en-US" dirty="0"/>
          </a:p>
        </p:txBody>
      </p:sp>
      <p:sp>
        <p:nvSpPr>
          <p:cNvPr id="3" name="Content Placeholder 2"/>
          <p:cNvSpPr>
            <a:spLocks noGrp="1"/>
          </p:cNvSpPr>
          <p:nvPr>
            <p:ph idx="1"/>
          </p:nvPr>
        </p:nvSpPr>
        <p:spPr/>
        <p:txBody>
          <a:bodyPr/>
          <a:lstStyle/>
          <a:p>
            <a:r>
              <a:rPr lang="en-US" dirty="0" smtClean="0"/>
              <a:t>Lab activities.</a:t>
            </a:r>
          </a:p>
          <a:p>
            <a:pPr>
              <a:buNone/>
            </a:pP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End o</a:t>
            </a:r>
            <a:r>
              <a:rPr lang="en-GB" dirty="0" smtClean="0"/>
              <a:t>f </a:t>
            </a:r>
            <a:r>
              <a:rPr lang="en-US" dirty="0" smtClean="0"/>
              <a:t>chapter 8</a:t>
            </a:r>
          </a:p>
          <a:p>
            <a:endParaRPr lang="en-US" dirty="0" smtClean="0"/>
          </a:p>
          <a:p>
            <a:endParaRPr lang="en-US" dirty="0" smtClean="0"/>
          </a:p>
          <a:p>
            <a:pPr>
              <a:buNone/>
            </a:pPr>
            <a:r>
              <a:rPr lang="en-US" dirty="0" smtClean="0"/>
              <a:t>                              Thank you. </a:t>
            </a:r>
            <a:endParaRPr lang="en-US" dirty="0"/>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8303</TotalTime>
  <Words>3232</Words>
  <Application>Microsoft Office PowerPoint</Application>
  <PresentationFormat>On-screen Show (4:3)</PresentationFormat>
  <Paragraphs>314</Paragraphs>
  <Slides>80</Slides>
  <Notes>1</Notes>
  <HiddenSlides>1</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2" baseType="lpstr">
      <vt:lpstr>Diseño predeterminado</vt:lpstr>
      <vt:lpstr>Document</vt:lpstr>
      <vt:lpstr>SOFTWARE ENGINEERING</vt:lpstr>
      <vt:lpstr>Chapter 8: Effort estimation and Scheduling</vt:lpstr>
      <vt:lpstr>Introduction</vt:lpstr>
      <vt:lpstr>PowerPoint Presentation</vt:lpstr>
      <vt:lpstr>Fundamental estimation questions </vt:lpstr>
      <vt:lpstr>Principles of Cost Estimation</vt:lpstr>
      <vt:lpstr>PowerPoint Presentation</vt:lpstr>
      <vt:lpstr>Effort (SIZE) Estimation Models</vt:lpstr>
      <vt:lpstr>Most common estimation model</vt:lpstr>
      <vt:lpstr>1. Expert judgment</vt:lpstr>
      <vt:lpstr>2.Estimation by analogy</vt:lpstr>
      <vt:lpstr>3. Parkinson's Law</vt:lpstr>
      <vt:lpstr>4. Cost Pricing to win</vt:lpstr>
      <vt:lpstr>5. Top down approach</vt:lpstr>
      <vt:lpstr>2. Bottom-up approach</vt:lpstr>
      <vt:lpstr>PowerPoint Presentation</vt:lpstr>
      <vt:lpstr>PowerPoint Presentation</vt:lpstr>
      <vt:lpstr>7. LINES OF CODE(LOC)</vt:lpstr>
      <vt:lpstr>Productivity comparisons</vt:lpstr>
      <vt:lpstr>PowerPoint Presentation</vt:lpstr>
      <vt:lpstr>System development times</vt:lpstr>
      <vt:lpstr>8. Function points </vt:lpstr>
      <vt:lpstr>PowerPoint Presentation</vt:lpstr>
      <vt:lpstr>Function Point Counting Steps</vt:lpstr>
      <vt:lpstr>Function points analysis(FPA)</vt:lpstr>
      <vt:lpstr>2.Technical complexity factor </vt:lpstr>
      <vt:lpstr>Technical Factors and Weights</vt:lpstr>
      <vt:lpstr>Degrees of influence</vt:lpstr>
      <vt:lpstr>3. Environment factor (EF)</vt:lpstr>
      <vt:lpstr>PowerPoint Presentation</vt:lpstr>
      <vt:lpstr>Environment factor(EF)</vt:lpstr>
      <vt:lpstr>PowerPoint Presentation</vt:lpstr>
      <vt:lpstr>PowerPoint Presentation</vt:lpstr>
      <vt:lpstr>Use case points approach</vt:lpstr>
      <vt:lpstr>Use case points approach</vt:lpstr>
      <vt:lpstr>PowerPoint Presentation</vt:lpstr>
      <vt:lpstr>EXAMPLE</vt:lpstr>
      <vt:lpstr>PowerPoint Presentation</vt:lpstr>
      <vt:lpstr>PowerPoint Presentation</vt:lpstr>
      <vt:lpstr>Use Case Complexity</vt:lpstr>
      <vt:lpstr>PowerPoint Presentation</vt:lpstr>
      <vt:lpstr>Technical Factors and Weights</vt:lpstr>
      <vt:lpstr>PowerPoint Presentation</vt:lpstr>
      <vt:lpstr>PowerPoint Presentation</vt:lpstr>
      <vt:lpstr>PowerPoint Presentation</vt:lpstr>
      <vt:lpstr>Environmental Factors for Team and Weights</vt:lpstr>
      <vt:lpstr>PowerPoint Presentation</vt:lpstr>
      <vt:lpstr>PowerPoint Presentation</vt:lpstr>
      <vt:lpstr>PowerPoint Presentation</vt:lpstr>
      <vt:lpstr>PowerPoint Presentation</vt:lpstr>
      <vt:lpstr>PowerPoint Presentation</vt:lpstr>
      <vt:lpstr>LOC VS. function POINT</vt:lpstr>
      <vt:lpstr>Estimating Schedule</vt:lpstr>
      <vt:lpstr>PowerPoint Presentation</vt:lpstr>
      <vt:lpstr>Manpower ramp-up in a typical project</vt:lpstr>
      <vt:lpstr>PowerPoint Presentation</vt:lpstr>
      <vt:lpstr>PowerPoint Presentation</vt:lpstr>
      <vt:lpstr>PowerPoint Presentation</vt:lpstr>
      <vt:lpstr>PowerPoint Presentation</vt:lpstr>
      <vt:lpstr>PowerPoint Presentation</vt:lpstr>
      <vt:lpstr>PowerPoint Presentation</vt:lpstr>
      <vt:lpstr>Scheduling</vt:lpstr>
      <vt:lpstr>PowerPoint Presentation</vt:lpstr>
      <vt:lpstr>Detailed Scheduling</vt:lpstr>
      <vt:lpstr>PowerPoint Presentation</vt:lpstr>
      <vt:lpstr>PowerPoint Presentation</vt:lpstr>
      <vt:lpstr> Project Planning Techniques</vt:lpstr>
      <vt:lpstr>1. Gantt charts</vt:lpstr>
      <vt:lpstr>PowerPoint Presentation</vt:lpstr>
      <vt:lpstr>PowerPoint Presentation</vt:lpstr>
      <vt:lpstr>2. Critical Path</vt:lpstr>
      <vt:lpstr>PowerPoint Presentation</vt:lpstr>
      <vt:lpstr>Steps in CPM Project Planning  </vt:lpstr>
      <vt:lpstr>Critical Path Example</vt:lpstr>
      <vt:lpstr>PowerPoint Presentation</vt:lpstr>
      <vt:lpstr>PowerPoint Presentation</vt:lpstr>
      <vt:lpstr>Some rules of the thumb</vt:lpstr>
      <vt:lpstr>Reducing Project Duration</vt:lpstr>
      <vt:lpstr>Using Microsoft project</vt:lpstr>
      <vt:lpstr>PowerPoint Presentation</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james</cp:lastModifiedBy>
  <cp:revision>821</cp:revision>
  <dcterms:created xsi:type="dcterms:W3CDTF">2010-05-23T14:28:12Z</dcterms:created>
  <dcterms:modified xsi:type="dcterms:W3CDTF">2020-12-01T10:57:14Z</dcterms:modified>
</cp:coreProperties>
</file>