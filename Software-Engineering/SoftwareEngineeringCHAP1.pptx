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307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2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06666"/>
    <a:srgbClr val="54381C"/>
    <a:srgbClr val="A50021"/>
    <a:srgbClr val="FFFFA3"/>
    <a:srgbClr val="E6E6C4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3" autoAdjust="0"/>
    <p:restoredTop sz="94652" autoAdjust="0"/>
  </p:normalViewPr>
  <p:slideViewPr>
    <p:cSldViewPr>
      <p:cViewPr varScale="1">
        <p:scale>
          <a:sx n="83" d="100"/>
          <a:sy n="83" d="100"/>
        </p:scale>
        <p:origin x="137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E4F0E-D1B4-48EF-AB1C-AC0BFEE64161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8415B0-A075-462A-B0A2-B5FFCF59B058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2E2C3-8770-41AE-88C2-C312BE7DB0B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27035E-3358-4FFF-AB1F-152596EE2C90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58AD96-D722-44F4-A332-B1BAE65E3DB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2664B-5A58-46BB-9D1D-9F03A8C87DAD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46F53B-5B88-476E-863F-50F257F64D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CD3EF0-8BB7-4D68-BC76-C2A412B54779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9FD19-FDAE-4258-BE5B-6FD27BEEEF6E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D20AE-22FF-4B59-92DA-91DFE6E3F107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26F0F-45F0-4CEA-A874-57D6788EB032}" type="slidenum">
              <a:rPr lang="es-ES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908613C-E353-4C9C-946A-7A8B6FE107B7}" type="slidenum">
              <a:rPr lang="es-ES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3779912" y="692696"/>
            <a:ext cx="5364088" cy="1152128"/>
          </a:xfrm>
        </p:spPr>
        <p:txBody>
          <a:bodyPr/>
          <a:lstStyle/>
          <a:p>
            <a:pPr algn="l"/>
            <a:r>
              <a:rPr lang="en-US" sz="3200" dirty="0" smtClean="0">
                <a:effectLst/>
                <a:latin typeface="Algerian" pitchFamily="82" charset="0"/>
              </a:rPr>
              <a:t>SOFTWARE ENGINEERING</a:t>
            </a:r>
            <a:endParaRPr lang="es-E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3200" dirty="0" smtClean="0"/>
              <a:t>Part 1: Introduction to Software Engineering</a:t>
            </a:r>
          </a:p>
          <a:p>
            <a:endParaRPr lang="en-US" sz="3200" dirty="0" smtClean="0"/>
          </a:p>
          <a:p>
            <a:r>
              <a:rPr lang="en-US" sz="3200" dirty="0" smtClean="0"/>
              <a:t>Part 2: Software Project Management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 Objectives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4853136"/>
          </a:xfrm>
        </p:spPr>
        <p:txBody>
          <a:bodyPr/>
          <a:lstStyle/>
          <a:p>
            <a:r>
              <a:rPr lang="en-US" dirty="0" smtClean="0"/>
              <a:t>After the completion of this module, the learner will have a working knowledge of</a:t>
            </a:r>
          </a:p>
          <a:p>
            <a:pPr>
              <a:buFontTx/>
              <a:buChar char="-"/>
            </a:pPr>
            <a:r>
              <a:rPr lang="en-US" dirty="0" smtClean="0"/>
              <a:t>techniques for analysis, design and implementation of  software project and </a:t>
            </a:r>
          </a:p>
          <a:p>
            <a:pPr>
              <a:buFontTx/>
              <a:buChar char="-"/>
            </a:pPr>
            <a:r>
              <a:rPr lang="en-US" dirty="0" smtClean="0"/>
              <a:t>the learner will be able to manage a project by providing a feasibility study,  estimating cost and schedule, applying quality assurance, and providing configuration management of Software projects.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844823"/>
            <a:ext cx="7772400" cy="173753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PART 1: Introduction to Software Engineering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40BAE85B-8C57-41D1-968B-B8DE637265BE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dirty="0" smtClean="0"/>
              <a:t>Course outline :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57400"/>
            <a:ext cx="8305800" cy="42672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CHAPTER 1: </a:t>
            </a:r>
            <a:r>
              <a:rPr lang="en-US" dirty="0" smtClean="0"/>
              <a:t>INTRODUCTION TO SOFTWARE ENGINEERING</a:t>
            </a:r>
          </a:p>
          <a:p>
            <a:endParaRPr lang="en-US" dirty="0" smtClean="0"/>
          </a:p>
          <a:p>
            <a:r>
              <a:rPr lang="en-US" b="1" dirty="0" smtClean="0"/>
              <a:t>CHAPTER 2: </a:t>
            </a:r>
            <a:r>
              <a:rPr lang="en-US" dirty="0" smtClean="0"/>
              <a:t>SOFTWARE PROCESS</a:t>
            </a:r>
          </a:p>
          <a:p>
            <a:endParaRPr lang="en-US" dirty="0" smtClean="0"/>
          </a:p>
          <a:p>
            <a:r>
              <a:rPr lang="en-US" b="1" dirty="0" smtClean="0"/>
              <a:t>CHAPTER 3: </a:t>
            </a:r>
            <a:r>
              <a:rPr lang="en-US" dirty="0" smtClean="0"/>
              <a:t>SOFTWARE REQUIREMENTS ANALYSIS AND SPECIFICATION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2536" y="1600200"/>
            <a:ext cx="9145016" cy="4525963"/>
          </a:xfrm>
        </p:spPr>
        <p:txBody>
          <a:bodyPr/>
          <a:lstStyle/>
          <a:p>
            <a:endParaRPr lang="en-US" b="1" dirty="0" smtClean="0"/>
          </a:p>
          <a:p>
            <a:r>
              <a:rPr lang="en-US" b="1" dirty="0" smtClean="0"/>
              <a:t>CHAPTER 4: </a:t>
            </a:r>
            <a:r>
              <a:rPr lang="en-US" dirty="0" smtClean="0"/>
              <a:t>SOFTWARE ARCHITECTURE</a:t>
            </a:r>
          </a:p>
          <a:p>
            <a:r>
              <a:rPr lang="en-US" b="1" dirty="0" smtClean="0"/>
              <a:t>CHAPTER 5: </a:t>
            </a:r>
            <a:r>
              <a:rPr lang="en-US" dirty="0" smtClean="0"/>
              <a:t>SOFTWARE DESIGN</a:t>
            </a:r>
          </a:p>
          <a:p>
            <a:r>
              <a:rPr lang="en-US" b="1" dirty="0" smtClean="0"/>
              <a:t>CHAPTER 6: </a:t>
            </a:r>
            <a:r>
              <a:rPr lang="en-US" dirty="0" smtClean="0"/>
              <a:t>CODING AND UNIT TESTING</a:t>
            </a:r>
          </a:p>
          <a:p>
            <a:r>
              <a:rPr lang="en-US" b="1" dirty="0" smtClean="0"/>
              <a:t>CHAPTER </a:t>
            </a:r>
            <a:r>
              <a:rPr lang="en-US" b="1" dirty="0" smtClean="0"/>
              <a:t>7: </a:t>
            </a:r>
            <a:r>
              <a:rPr lang="en-US" dirty="0" smtClean="0"/>
              <a:t>TESTING AND MAINTENANCE</a:t>
            </a:r>
          </a:p>
          <a:p>
            <a:pPr>
              <a:buNone/>
            </a:pPr>
            <a:r>
              <a:rPr lang="en-US" dirty="0" smtClean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UNIT 2: Software project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80528" y="1600200"/>
            <a:ext cx="9073008" cy="4781128"/>
          </a:xfrm>
        </p:spPr>
        <p:txBody>
          <a:bodyPr/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Chapter </a:t>
            </a:r>
            <a:r>
              <a:rPr lang="en-US" dirty="0" smtClean="0"/>
              <a:t>1: introduction and Feasibility </a:t>
            </a:r>
            <a:r>
              <a:rPr lang="en-US" dirty="0" smtClean="0"/>
              <a:t>analysis</a:t>
            </a:r>
            <a:endParaRPr lang="en-US" dirty="0" smtClean="0"/>
          </a:p>
          <a:p>
            <a:pPr lvl="0"/>
            <a:r>
              <a:rPr lang="en-US" dirty="0" smtClean="0"/>
              <a:t>Chapter 2: Process planning</a:t>
            </a:r>
          </a:p>
          <a:p>
            <a:pPr lvl="0"/>
            <a:r>
              <a:rPr lang="en-US" dirty="0" smtClean="0"/>
              <a:t>Chapter 3: Effort Estimation and scheduling </a:t>
            </a:r>
          </a:p>
          <a:p>
            <a:pPr lvl="0"/>
            <a:r>
              <a:rPr lang="en-US" dirty="0" smtClean="0"/>
              <a:t>Chapter 4: Risk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smtClean="0"/>
              <a:t>Chapter 5: Quality planning</a:t>
            </a:r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Chapter 6: Organizational behavior</a:t>
            </a:r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Chapter 7:Configuration Management</a:t>
            </a:r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Chapter 8: Project Reviews, Monitoring and Control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 smtClean="0"/>
              <a:t>PART1: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953000"/>
          </a:xfrm>
        </p:spPr>
        <p:txBody>
          <a:bodyPr>
            <a:normAutofit fontScale="92500" lnSpcReduction="20000"/>
          </a:bodyPr>
          <a:lstStyle/>
          <a:p>
            <a:pPr lvl="0"/>
            <a:endParaRPr lang="en-US" dirty="0" smtClean="0"/>
          </a:p>
          <a:p>
            <a:pPr lvl="0"/>
            <a:r>
              <a:rPr lang="en-US" dirty="0" smtClean="0"/>
              <a:t>Define and understand the basic concepts about software engineering</a:t>
            </a:r>
          </a:p>
          <a:p>
            <a:pPr lvl="0"/>
            <a:r>
              <a:rPr lang="en-US" dirty="0" smtClean="0"/>
              <a:t>Describe the differences between computer science and software engineering, system engineering.</a:t>
            </a:r>
          </a:p>
          <a:p>
            <a:pPr lvl="0"/>
            <a:r>
              <a:rPr lang="en-US" dirty="0" smtClean="0"/>
              <a:t>Computer Aided Software engineering (CASE)</a:t>
            </a:r>
          </a:p>
          <a:p>
            <a:pPr lvl="0"/>
            <a:r>
              <a:rPr lang="en-US" dirty="0" smtClean="0"/>
              <a:t>Software Quality attributes </a:t>
            </a:r>
          </a:p>
          <a:p>
            <a:pPr lvl="0"/>
            <a:r>
              <a:rPr lang="en-US" dirty="0" smtClean="0"/>
              <a:t>To introduce ethical and professional issues that are useful to software engineers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24536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Describe several different models of the software development process and understand </a:t>
            </a:r>
          </a:p>
          <a:p>
            <a:endParaRPr lang="en-US" sz="2800" dirty="0" smtClean="0"/>
          </a:p>
          <a:p>
            <a:pPr lvl="0"/>
            <a:r>
              <a:rPr lang="en-US" sz="2800" dirty="0" smtClean="0"/>
              <a:t>To introduce architectural design and to discuss its importance </a:t>
            </a:r>
          </a:p>
          <a:p>
            <a:pPr lvl="0"/>
            <a:endParaRPr lang="en-US" sz="2800" dirty="0" smtClean="0"/>
          </a:p>
          <a:p>
            <a:pPr lvl="0"/>
            <a:r>
              <a:rPr lang="en-GB" sz="2800" dirty="0" smtClean="0"/>
              <a:t>To introduce the concepts of software requirements; To describe user, system and specification requirements</a:t>
            </a:r>
            <a:endParaRPr lang="en-US" sz="28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3792"/>
          </a:xfrm>
        </p:spPr>
        <p:txBody>
          <a:bodyPr>
            <a:normAutofit/>
          </a:bodyPr>
          <a:lstStyle/>
          <a:p>
            <a:pPr lvl="0"/>
            <a:r>
              <a:rPr lang="en-US" sz="2800" dirty="0" smtClean="0"/>
              <a:t>To understand the concepts o</a:t>
            </a:r>
            <a:r>
              <a:rPr lang="en-GB" sz="2800" dirty="0" smtClean="0"/>
              <a:t>f</a:t>
            </a:r>
            <a:r>
              <a:rPr lang="en-US" sz="2800" dirty="0" smtClean="0"/>
              <a:t> design  </a:t>
            </a:r>
          </a:p>
          <a:p>
            <a:pPr lvl="0"/>
            <a:r>
              <a:rPr lang="en-US" sz="2800" dirty="0" smtClean="0"/>
              <a:t>Introduce the notations of the Unified Modeling Language (UML).</a:t>
            </a:r>
          </a:p>
          <a:p>
            <a:pPr lvl="0"/>
            <a:endParaRPr lang="en-US" sz="2800" dirty="0" smtClean="0"/>
          </a:p>
          <a:p>
            <a:pPr lvl="0"/>
            <a:r>
              <a:rPr lang="en-US" sz="2800" dirty="0" smtClean="0"/>
              <a:t>To discuss coding and unit testing </a:t>
            </a:r>
          </a:p>
          <a:p>
            <a:pPr lvl="0"/>
            <a:endParaRPr lang="en-US" sz="2800" dirty="0" smtClean="0"/>
          </a:p>
          <a:p>
            <a:pPr lvl="0"/>
            <a:r>
              <a:rPr lang="en-GB" sz="2800" dirty="0" smtClean="0"/>
              <a:t>To understand testing techniques.</a:t>
            </a:r>
            <a:endParaRPr lang="en-US" sz="28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6868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SOFTWARE ENGINEERING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72816"/>
            <a:ext cx="8382000" cy="4704184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What is software?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dirty="0" smtClean="0"/>
              <a:t>Composed by SOFT(Not hard, easy) and WARE(used, often in shops, to refer to items of the same material).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Def1: </a:t>
            </a:r>
            <a:r>
              <a:rPr lang="en-US" dirty="0" smtClean="0"/>
              <a:t>Software is a part (item, ware) of computer, easy to find, to change, to create, to update, to replace etc. It opposes the Hardware. 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Def2: </a:t>
            </a:r>
            <a:r>
              <a:rPr lang="en-US" dirty="0" smtClean="0"/>
              <a:t>Computer programs and associated documentation such as requirements, design models and user manuals. </a:t>
            </a:r>
          </a:p>
          <a:p>
            <a:endParaRPr lang="en-US" dirty="0" smtClean="0"/>
          </a:p>
        </p:txBody>
      </p:sp>
      <p:pic>
        <p:nvPicPr>
          <p:cNvPr id="4" name="Picture 4" descr="C:\Program Files\Common Files\Microsoft Shared\Clipart\cagcat50\bd00028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1219200"/>
            <a:ext cx="1322549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23792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 smtClean="0"/>
              <a:t>Def3: </a:t>
            </a:r>
            <a:r>
              <a:rPr lang="en-US" sz="2800" dirty="0" smtClean="0"/>
              <a:t>Software (IEEE): collection of programs, procedures, rules, and associated documentation and data.</a:t>
            </a:r>
          </a:p>
          <a:p>
            <a:r>
              <a:rPr lang="en-US" sz="2800" dirty="0" smtClean="0"/>
              <a:t>Software products may be:</a:t>
            </a:r>
          </a:p>
          <a:p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- Generic - </a:t>
            </a:r>
            <a:r>
              <a:rPr lang="en-US" sz="2800" dirty="0" smtClean="0"/>
              <a:t>developed to be sold to a range of different customers.</a:t>
            </a:r>
          </a:p>
          <a:p>
            <a:pPr>
              <a:buNone/>
            </a:pPr>
            <a:r>
              <a:rPr lang="en-US" sz="2800" dirty="0" smtClean="0"/>
              <a:t>e.g.: PC software such as Excel or Word.</a:t>
            </a:r>
          </a:p>
          <a:p>
            <a:pPr>
              <a:buNone/>
            </a:pPr>
            <a:r>
              <a:rPr lang="en-US" sz="2800" b="1" dirty="0" smtClean="0"/>
              <a:t>- Custom - </a:t>
            </a:r>
            <a:r>
              <a:rPr lang="en-US" sz="2800" dirty="0" smtClean="0"/>
              <a:t>developed for a single customer according to their specifications (needs).</a:t>
            </a:r>
          </a:p>
          <a:p>
            <a:pPr>
              <a:buNone/>
            </a:pPr>
            <a:r>
              <a:rPr lang="en-US" sz="2800" dirty="0" smtClean="0"/>
              <a:t>e.g.: Software for UOK Student Records.</a:t>
            </a: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990600"/>
            <a:ext cx="8229600" cy="98420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ENGINEERING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>
              <a:buNone/>
            </a:pPr>
            <a:r>
              <a:rPr lang="en-US" sz="2800" dirty="0" smtClean="0"/>
              <a:t>Coming from the verb “</a:t>
            </a:r>
            <a:r>
              <a:rPr lang="en-US" sz="2800" b="1" dirty="0" smtClean="0"/>
              <a:t>To engineer</a:t>
            </a:r>
            <a:r>
              <a:rPr lang="en-US" sz="2800" dirty="0" smtClean="0"/>
              <a:t>” meaning “to design and build something using scientific principles”. 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Engineer has also the sense of a person whose job is to engineer. 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05152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Software engineering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11135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Software engineering is a branch of computer science that deals with the analysis, design, implementation, and maintenance of complex computer programs.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Software engineering is an engineering discipline that is concerned with all aspects of software production. It is concerned with the tools, methods and techniques used for developing software.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404664"/>
            <a:ext cx="8534400" cy="11521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Computer-Aided Software Engineering (CASE 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905000"/>
            <a:ext cx="8458200" cy="4724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Software systems that are intended to provide automated support for software process activities.</a:t>
            </a:r>
          </a:p>
          <a:p>
            <a:pPr>
              <a:buNone/>
            </a:pPr>
            <a:r>
              <a:rPr lang="en-US" dirty="0" smtClean="0"/>
              <a:t> CASE systems are often used for method support.</a:t>
            </a:r>
          </a:p>
          <a:p>
            <a:pPr>
              <a:buNone/>
            </a:pPr>
            <a:r>
              <a:rPr lang="en-US" dirty="0" smtClean="0"/>
              <a:t>They are: </a:t>
            </a:r>
          </a:p>
          <a:p>
            <a:r>
              <a:rPr lang="en-US" b="1" dirty="0" smtClean="0"/>
              <a:t>Upper-CASE: </a:t>
            </a:r>
            <a:r>
              <a:rPr lang="en-US" dirty="0" smtClean="0"/>
              <a:t>Tools to support the early process activities of requirements analysis and design;</a:t>
            </a:r>
          </a:p>
          <a:p>
            <a:r>
              <a:rPr lang="en-US" dirty="0"/>
              <a:t>data flow diagramming</a:t>
            </a:r>
          </a:p>
          <a:p>
            <a:r>
              <a:rPr lang="en-US" dirty="0"/>
              <a:t>ER diagramming</a:t>
            </a:r>
          </a:p>
          <a:p>
            <a:r>
              <a:rPr lang="en-US" dirty="0"/>
              <a:t>workflow diagramming</a:t>
            </a:r>
          </a:p>
          <a:p>
            <a:r>
              <a:rPr lang="en-US" dirty="0"/>
              <a:t>object oriented diagramming</a:t>
            </a:r>
          </a:p>
          <a:p>
            <a:r>
              <a:rPr lang="en-US" dirty="0"/>
              <a:t>data dictionary</a:t>
            </a:r>
          </a:p>
          <a:p>
            <a:r>
              <a:rPr lang="en-US" dirty="0"/>
              <a:t>business rule adoption</a:t>
            </a:r>
          </a:p>
          <a:p>
            <a:r>
              <a:rPr lang="en-US" dirty="0"/>
              <a:t>analysis tools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4" descr="C:\Program Files\Common Files\Microsoft Shared\Clipart\cagcat50\bd04972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1"/>
            <a:ext cx="1259632" cy="148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Computer-Aided Software Engineering (CASE </a:t>
            </a:r>
            <a:r>
              <a:rPr lang="en-US" dirty="0" smtClean="0"/>
              <a:t>) </a:t>
            </a:r>
            <a:r>
              <a:rPr lang="en-US" dirty="0" err="1" smtClean="0"/>
              <a:t>cont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Lower-Case: </a:t>
            </a:r>
            <a:r>
              <a:rPr lang="en-US" dirty="0"/>
              <a:t>Tools to support later activities such as programming, debugging, code generation and testing</a:t>
            </a:r>
            <a:r>
              <a:rPr lang="en-US" dirty="0" smtClean="0"/>
              <a:t>.</a:t>
            </a:r>
          </a:p>
          <a:p>
            <a:r>
              <a:rPr lang="en-US" dirty="0"/>
              <a:t>code generation</a:t>
            </a:r>
          </a:p>
          <a:p>
            <a:r>
              <a:rPr lang="en-US" dirty="0"/>
              <a:t>form generation</a:t>
            </a:r>
          </a:p>
          <a:p>
            <a:r>
              <a:rPr lang="en-US" dirty="0"/>
              <a:t>report generation</a:t>
            </a:r>
          </a:p>
          <a:p>
            <a:r>
              <a:rPr lang="en-US" dirty="0" smtClean="0"/>
              <a:t>testing </a:t>
            </a:r>
            <a:endParaRPr lang="en-US" dirty="0"/>
          </a:p>
          <a:p>
            <a:r>
              <a:rPr lang="en-US" b="1" dirty="0"/>
              <a:t>Integrated CASE </a:t>
            </a:r>
            <a:r>
              <a:rPr lang="en-US" dirty="0"/>
              <a:t>include both.</a:t>
            </a:r>
          </a:p>
          <a:p>
            <a:endParaRPr lang="en-US" dirty="0"/>
          </a:p>
        </p:txBody>
      </p:sp>
      <p:pic>
        <p:nvPicPr>
          <p:cNvPr id="4" name="Picture 4" descr="C:\Program Files\Common Files\Microsoft Shared\Clipart\cagcat50\bd04972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4368" y="1"/>
            <a:ext cx="1259632" cy="148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758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9723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More Examples of </a:t>
            </a:r>
            <a:r>
              <a:rPr lang="en-US" b="1" dirty="0" smtClean="0"/>
              <a:t>Upper-CASE:  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 smtClean="0"/>
              <a:t>Flowcharts, Organizational charts, Gantt charts, Network diagrams, ER-Diagrams:  </a:t>
            </a:r>
            <a:r>
              <a:rPr lang="en-US" b="1" dirty="0" smtClean="0"/>
              <a:t>EDRAW, SMARTDRAW</a:t>
            </a:r>
          </a:p>
          <a:p>
            <a:pPr>
              <a:buNone/>
            </a:pPr>
            <a:r>
              <a:rPr lang="en-US" dirty="0" smtClean="0"/>
              <a:t>- Data Flow Diagram tool :(Integrated </a:t>
            </a:r>
            <a:r>
              <a:rPr lang="en-US" dirty="0"/>
              <a:t>Business </a:t>
            </a:r>
            <a:r>
              <a:rPr lang="en-US" dirty="0" smtClean="0"/>
              <a:t>Management) </a:t>
            </a:r>
            <a:r>
              <a:rPr lang="en-US" b="1" dirty="0" smtClean="0"/>
              <a:t>IBMS/DFD</a:t>
            </a:r>
          </a:p>
          <a:p>
            <a:pPr>
              <a:buFontTx/>
              <a:buChar char="-"/>
            </a:pPr>
            <a:r>
              <a:rPr lang="en-US" dirty="0" smtClean="0"/>
              <a:t>System Requirement Specification document tool: </a:t>
            </a:r>
            <a:r>
              <a:rPr lang="en-US" b="1" dirty="0" smtClean="0"/>
              <a:t>ARM(</a:t>
            </a:r>
            <a:r>
              <a:rPr lang="en-US" dirty="0" smtClean="0"/>
              <a:t>Automated Requirement Measurement</a:t>
            </a:r>
            <a:r>
              <a:rPr lang="en-US" b="1" dirty="0" smtClean="0"/>
              <a:t>)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- </a:t>
            </a:r>
            <a:r>
              <a:rPr lang="en-US" dirty="0" smtClean="0"/>
              <a:t>Object-oriented analysis and design</a:t>
            </a:r>
            <a:r>
              <a:rPr lang="en-US" b="1" dirty="0" smtClean="0"/>
              <a:t>: </a:t>
            </a:r>
            <a:r>
              <a:rPr lang="en-US" b="1" dirty="0" err="1" smtClean="0"/>
              <a:t>StarUML</a:t>
            </a:r>
            <a:r>
              <a:rPr lang="en-US" dirty="0" smtClean="0"/>
              <a:t>, </a:t>
            </a:r>
            <a:r>
              <a:rPr lang="en-US" b="1" dirty="0" smtClean="0"/>
              <a:t>Rational Rose</a:t>
            </a:r>
            <a:endParaRPr lang="en-US" dirty="0" smtClean="0"/>
          </a:p>
          <a:p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007841"/>
              </p:ext>
            </p:extLst>
          </p:nvPr>
        </p:nvGraphicFramePr>
        <p:xfrm>
          <a:off x="457200" y="3543141"/>
          <a:ext cx="8229600" cy="3657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11521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More Examples of </a:t>
            </a:r>
            <a:r>
              <a:rPr lang="en-US" b="1" dirty="0" smtClean="0"/>
              <a:t>Lower-Case: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353347"/>
          </a:xfrm>
        </p:spPr>
        <p:txBody>
          <a:bodyPr/>
          <a:lstStyle/>
          <a:p>
            <a:r>
              <a:rPr lang="en-US" dirty="0" smtClean="0"/>
              <a:t>Object-oriented Design, C++ Code Generation: </a:t>
            </a:r>
            <a:r>
              <a:rPr lang="en-US" b="1" dirty="0" smtClean="0"/>
              <a:t>Smart Cost</a:t>
            </a:r>
          </a:p>
          <a:p>
            <a:r>
              <a:rPr lang="en-US" dirty="0" smtClean="0"/>
              <a:t>Database design: </a:t>
            </a:r>
            <a:r>
              <a:rPr lang="en-US" b="1" dirty="0" smtClean="0"/>
              <a:t>SQL</a:t>
            </a:r>
          </a:p>
          <a:p>
            <a:r>
              <a:rPr lang="en-US" dirty="0" smtClean="0"/>
              <a:t>Rational Software corporation; testing tools :</a:t>
            </a:r>
            <a:r>
              <a:rPr lang="en-US" b="1" dirty="0" smtClean="0"/>
              <a:t> Test 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key challenges facing software engineering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Heterogeneity: </a:t>
            </a:r>
            <a:r>
              <a:rPr lang="en-US" dirty="0" smtClean="0"/>
              <a:t>Developing techniques for building software that can cope with heterogeneous platforms and execution environments;</a:t>
            </a:r>
          </a:p>
          <a:p>
            <a:r>
              <a:rPr lang="en-US" b="1" dirty="0" smtClean="0"/>
              <a:t>Delivery:</a:t>
            </a:r>
            <a:r>
              <a:rPr lang="en-US" dirty="0" smtClean="0"/>
              <a:t> Developing techniques that lead to faster delivery of software;</a:t>
            </a:r>
          </a:p>
          <a:p>
            <a:r>
              <a:rPr lang="en-US" b="1" dirty="0" smtClean="0"/>
              <a:t>Trust: </a:t>
            </a:r>
            <a:r>
              <a:rPr lang="en-US" dirty="0" smtClean="0"/>
              <a:t> Developing techniques that demonstrate that software can be trusted by its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Programmer Vs Software Engineer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400" y="2514599"/>
            <a:ext cx="4343400" cy="411480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Individual with Good Skills</a:t>
            </a:r>
          </a:p>
          <a:p>
            <a:r>
              <a:rPr lang="en-US" sz="2800" dirty="0" smtClean="0"/>
              <a:t>Programming-in-the-Small</a:t>
            </a:r>
          </a:p>
          <a:p>
            <a:r>
              <a:rPr lang="en-US" sz="2800" dirty="0" smtClean="0"/>
              <a:t>Fluent in Several Programming Languages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419600" y="2362199"/>
            <a:ext cx="4419600" cy="3992725"/>
          </a:xfrm>
        </p:spPr>
        <p:txBody>
          <a:bodyPr>
            <a:noAutofit/>
          </a:bodyPr>
          <a:lstStyle/>
          <a:p>
            <a:r>
              <a:rPr lang="en-US" sz="2800" dirty="0" smtClean="0"/>
              <a:t>Part of a Team</a:t>
            </a:r>
          </a:p>
          <a:p>
            <a:r>
              <a:rPr lang="en-US" sz="2800" dirty="0" smtClean="0"/>
              <a:t>Programming-in-the-Large</a:t>
            </a:r>
          </a:p>
          <a:p>
            <a:r>
              <a:rPr lang="en-US" sz="2800" dirty="0" smtClean="0"/>
              <a:t>Translates Requirements into Specifications</a:t>
            </a:r>
          </a:p>
          <a:p>
            <a:r>
              <a:rPr lang="en-US" sz="2800" dirty="0" smtClean="0"/>
              <a:t>Good Communication and Interpersonal Skills</a:t>
            </a:r>
            <a:endParaRPr lang="en-US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0" y="1855788"/>
            <a:ext cx="4040188" cy="6588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/>
              <a:t>         Programmer</a:t>
            </a:r>
            <a:endParaRPr lang="en-US" sz="2800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4294967295"/>
          </p:nvPr>
        </p:nvSpPr>
        <p:spPr>
          <a:xfrm>
            <a:off x="4648201" y="1752600"/>
            <a:ext cx="3886200" cy="7620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Software Engineer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Crisis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An “early” study of “problem”:</a:t>
            </a:r>
          </a:p>
          <a:p>
            <a:pPr lvl="0">
              <a:buFontTx/>
              <a:buChar char="-"/>
            </a:pPr>
            <a:r>
              <a:rPr lang="en-US" sz="2800" dirty="0" smtClean="0"/>
              <a:t>47% of software delivered could not be used (Usually didn’t meet requirements).</a:t>
            </a:r>
          </a:p>
          <a:p>
            <a:pPr lvl="0">
              <a:buFontTx/>
              <a:buChar char="-"/>
            </a:pPr>
            <a:endParaRPr lang="en-US" sz="2800" dirty="0" smtClean="0"/>
          </a:p>
          <a:p>
            <a:pPr lvl="0">
              <a:buFontTx/>
              <a:buChar char="-"/>
            </a:pPr>
            <a:r>
              <a:rPr lang="en-US" sz="2800" dirty="0" smtClean="0"/>
              <a:t>29% of funded software never delivered (Usually canceled due to cost/schedule overruns).</a:t>
            </a:r>
          </a:p>
          <a:p>
            <a:pPr lvl="0">
              <a:buFontTx/>
              <a:buChar char="-"/>
            </a:pPr>
            <a:endParaRPr lang="en-US" sz="2800" dirty="0" smtClean="0"/>
          </a:p>
          <a:p>
            <a:pPr lvl="0">
              <a:buNone/>
            </a:pPr>
            <a:r>
              <a:rPr lang="en-US" sz="2800" dirty="0" smtClean="0"/>
              <a:t>- 19% of software useful after extensive rework (Costs 36 times more to fix problems after release).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Another study of the American government showed that software :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Produced never delivered  47%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Delivered never used  28%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Abandoned or reworked on  20%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Used after modification  3% 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Used as they are 2%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Crisis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/>
              <a:t>Characterized by: </a:t>
            </a:r>
          </a:p>
          <a:p>
            <a:r>
              <a:rPr lang="en-US" sz="2800" dirty="0" smtClean="0"/>
              <a:t>Lack of mastering the projects management , managements of funds and time and lack of actors’ readiness .</a:t>
            </a:r>
          </a:p>
          <a:p>
            <a:endParaRPr lang="en-US" sz="2800" dirty="0" smtClean="0"/>
          </a:p>
          <a:p>
            <a:r>
              <a:rPr lang="en-US" sz="2800" dirty="0" smtClean="0"/>
              <a:t>Low quality of products: </a:t>
            </a:r>
          </a:p>
          <a:p>
            <a:pPr>
              <a:buNone/>
            </a:pPr>
            <a:r>
              <a:rPr lang="en-US" sz="2800" dirty="0" smtClean="0"/>
              <a:t>- products not responding to clients’ needs </a:t>
            </a:r>
          </a:p>
          <a:p>
            <a:pPr>
              <a:buNone/>
            </a:pPr>
            <a:r>
              <a:rPr lang="en-US" sz="2800" dirty="0" smtClean="0"/>
              <a:t>- residual errors in the final product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Crisis: Solutions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873691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Clarify the problem </a:t>
            </a:r>
          </a:p>
          <a:p>
            <a:r>
              <a:rPr lang="en-US" sz="2800" dirty="0" smtClean="0"/>
              <a:t>Plan for appropriate solution </a:t>
            </a:r>
          </a:p>
          <a:p>
            <a:r>
              <a:rPr lang="en-US" sz="2800" dirty="0" smtClean="0"/>
              <a:t>Well plan implementation (Project management : resources management within time ) </a:t>
            </a:r>
          </a:p>
          <a:p>
            <a:r>
              <a:rPr lang="en-US" sz="2800" dirty="0" smtClean="0"/>
              <a:t>Involve all stakeholders- getting them ready on time </a:t>
            </a:r>
          </a:p>
          <a:p>
            <a:r>
              <a:rPr lang="en-US" sz="2800" dirty="0" smtClean="0"/>
              <a:t>Use appropriate methods and tools </a:t>
            </a:r>
          </a:p>
          <a:p>
            <a:pPr>
              <a:buNone/>
            </a:pPr>
            <a:r>
              <a:rPr lang="en-US" b="1" dirty="0" smtClean="0"/>
              <a:t>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Production</a:t>
            </a:r>
            <a:endParaRPr 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a </a:t>
            </a:r>
            <a:r>
              <a:rPr lang="en-US" sz="2800" dirty="0" smtClean="0"/>
              <a:t>UNI </a:t>
            </a:r>
            <a:r>
              <a:rPr lang="en-US" sz="2800" dirty="0"/>
              <a:t>a student system is built while the commercial org builds industrial strength </a:t>
            </a:r>
            <a:r>
              <a:rPr lang="en-US" sz="2800" dirty="0" smtClean="0"/>
              <a:t>S/W.</a:t>
            </a:r>
            <a:endParaRPr lang="en-US" sz="2800" dirty="0"/>
          </a:p>
          <a:p>
            <a:r>
              <a:rPr lang="en-US" sz="2800" dirty="0"/>
              <a:t>What is the difference between a student program and industrial strength </a:t>
            </a:r>
            <a:r>
              <a:rPr lang="en-US" sz="2800" dirty="0" smtClean="0"/>
              <a:t>S/W </a:t>
            </a:r>
            <a:r>
              <a:rPr lang="en-US" sz="2800" dirty="0"/>
              <a:t>for the same problem? 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FACBC197-656E-42D8-B777-AE35F520810E}" type="slidenum">
              <a:rPr lang="en-US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96112"/>
          </a:xfrm>
        </p:spPr>
        <p:txBody>
          <a:bodyPr/>
          <a:lstStyle/>
          <a:p>
            <a:r>
              <a:rPr lang="en-US" dirty="0"/>
              <a:t>Software…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2"/>
          </p:nvPr>
        </p:nvSpPr>
        <p:spPr>
          <a:xfrm>
            <a:off x="381000" y="1752600"/>
            <a:ext cx="4343400" cy="4648200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Tx/>
              <a:buChar char=" "/>
            </a:pPr>
            <a:r>
              <a:rPr lang="en-US" sz="2800" b="1" u="sng" dirty="0"/>
              <a:t>Student</a:t>
            </a:r>
          </a:p>
          <a:p>
            <a:pPr lvl="0"/>
            <a:r>
              <a:rPr lang="en-US" sz="2800" dirty="0" smtClean="0"/>
              <a:t>Developer is user</a:t>
            </a:r>
          </a:p>
          <a:p>
            <a:pPr lvl="0"/>
            <a:r>
              <a:rPr lang="en-US" sz="2800" dirty="0" smtClean="0"/>
              <a:t>SW not in critical use</a:t>
            </a:r>
          </a:p>
          <a:p>
            <a:pPr lvl="0"/>
            <a:r>
              <a:rPr lang="en-US" sz="2800" dirty="0" smtClean="0"/>
              <a:t>Reliability, robustness not important</a:t>
            </a:r>
          </a:p>
          <a:p>
            <a:pPr lvl="0"/>
            <a:r>
              <a:rPr lang="en-US" sz="2800" dirty="0" smtClean="0"/>
              <a:t>No investment</a:t>
            </a:r>
          </a:p>
          <a:p>
            <a:pPr lvl="0"/>
            <a:r>
              <a:rPr lang="en-US" sz="2800" dirty="0" smtClean="0"/>
              <a:t>Don’t care about portability</a:t>
            </a:r>
          </a:p>
          <a:p>
            <a:pPr lvl="0"/>
            <a:r>
              <a:rPr lang="en-US" sz="2800" dirty="0" smtClean="0"/>
              <a:t>ETC</a:t>
            </a:r>
            <a:endParaRPr lang="en-US" sz="2800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sz="quarter" idx="4"/>
          </p:nvPr>
        </p:nvSpPr>
        <p:spPr>
          <a:xfrm>
            <a:off x="4645025" y="1676400"/>
            <a:ext cx="4041775" cy="472440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Tx/>
              <a:buChar char=" "/>
            </a:pPr>
            <a:r>
              <a:rPr lang="en-US" sz="2400" b="1" u="sng" dirty="0"/>
              <a:t>Industrial Strength</a:t>
            </a:r>
          </a:p>
          <a:p>
            <a:r>
              <a:rPr lang="en-US" sz="2800" dirty="0"/>
              <a:t>Others are the users</a:t>
            </a:r>
          </a:p>
          <a:p>
            <a:pPr lvl="0"/>
            <a:r>
              <a:rPr lang="en-US" sz="2800" dirty="0" smtClean="0"/>
              <a:t>Supports important functions / business</a:t>
            </a:r>
          </a:p>
          <a:p>
            <a:pPr lvl="0"/>
            <a:r>
              <a:rPr lang="en-US" sz="2800" dirty="0" smtClean="0"/>
              <a:t>Reliability , robustness are very important</a:t>
            </a:r>
          </a:p>
          <a:p>
            <a:pPr lvl="0"/>
            <a:r>
              <a:rPr lang="en-US" sz="2800" dirty="0" smtClean="0"/>
              <a:t>Heavy investment</a:t>
            </a:r>
          </a:p>
          <a:p>
            <a:pPr lvl="0"/>
            <a:r>
              <a:rPr lang="en-US" sz="2800" dirty="0" smtClean="0"/>
              <a:t>Portability is a key issue here. ETC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79C164B-8B47-4C12-90E3-0C4F0F917C2D}" type="slidenum">
              <a:rPr lang="en-US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924800" cy="838200"/>
          </a:xfrm>
        </p:spPr>
        <p:txBody>
          <a:bodyPr>
            <a:normAutofit/>
          </a:bodyPr>
          <a:lstStyle/>
          <a:p>
            <a:r>
              <a:rPr lang="en-US"/>
              <a:t>Industrial strength software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924800" cy="4724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Key </a:t>
            </a:r>
            <a:r>
              <a:rPr lang="en-US" sz="2800" dirty="0"/>
              <a:t>difference is in quality (including usability, reliability, portability, etc</a:t>
            </a:r>
            <a:r>
              <a:rPr lang="en-US" sz="2800" dirty="0" smtClean="0"/>
              <a:t>.)</a:t>
            </a:r>
          </a:p>
          <a:p>
            <a:endParaRPr lang="en-US" sz="2800" dirty="0"/>
          </a:p>
          <a:p>
            <a:r>
              <a:rPr lang="en-US" sz="2800" b="1" dirty="0"/>
              <a:t>Brooks thumb-rule</a:t>
            </a:r>
            <a:r>
              <a:rPr lang="en-US" sz="2800" dirty="0"/>
              <a:t>: Industrial strength </a:t>
            </a:r>
            <a:r>
              <a:rPr lang="en-US" sz="2800" dirty="0" smtClean="0"/>
              <a:t>SW </a:t>
            </a:r>
            <a:r>
              <a:rPr lang="en-US" sz="2800" dirty="0"/>
              <a:t>costs 10 time more than student </a:t>
            </a:r>
            <a:r>
              <a:rPr lang="en-US" sz="2800" dirty="0" smtClean="0"/>
              <a:t>SW.</a:t>
            </a:r>
          </a:p>
          <a:p>
            <a:endParaRPr lang="en-US" sz="2800" dirty="0"/>
          </a:p>
          <a:p>
            <a:r>
              <a:rPr lang="en-US" sz="2800" dirty="0"/>
              <a:t>In this course, software means industrial strength </a:t>
            </a:r>
            <a:r>
              <a:rPr lang="en-US" sz="2800" dirty="0" smtClean="0"/>
              <a:t>software.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B5E2650-08C6-4674-A987-DD37297EA824}" type="slidenum">
              <a:rPr lang="en-US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Cost, Schedule, and 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 the industrial-strength software domain, there are three basic forces at play—cost, schedule, and quality. </a:t>
            </a:r>
          </a:p>
          <a:p>
            <a:endParaRPr lang="en-US" sz="2800" dirty="0" smtClean="0"/>
          </a:p>
          <a:p>
            <a:r>
              <a:rPr lang="en-US" sz="2800" dirty="0" smtClean="0"/>
              <a:t>The software should be produced at reasonable cost, in a reasonable time, and should be of good quality.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924800" cy="914400"/>
          </a:xfrm>
        </p:spPr>
        <p:txBody>
          <a:bodyPr/>
          <a:lstStyle/>
          <a:p>
            <a:r>
              <a:rPr lang="en-US" dirty="0"/>
              <a:t>Requires tight Schedule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848600" cy="4724400"/>
          </a:xfrm>
        </p:spPr>
        <p:txBody>
          <a:bodyPr/>
          <a:lstStyle/>
          <a:p>
            <a:r>
              <a:rPr lang="en-US" sz="2800" dirty="0"/>
              <a:t>Business requirements today demand short delivery times for </a:t>
            </a:r>
            <a:r>
              <a:rPr lang="en-US" sz="2800" dirty="0" smtClean="0"/>
              <a:t>software</a:t>
            </a:r>
          </a:p>
          <a:p>
            <a:endParaRPr lang="en-US" sz="2800" dirty="0"/>
          </a:p>
          <a:p>
            <a:r>
              <a:rPr lang="en-US" sz="2800" dirty="0"/>
              <a:t>In the past, software products have often failed to be completed in </a:t>
            </a:r>
            <a:r>
              <a:rPr lang="en-US" sz="2800" dirty="0" smtClean="0"/>
              <a:t>time.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AFF6FCA0-52AF-48C4-99AD-31DDB8F97C6E}" type="slidenum">
              <a:rPr lang="en-US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Along with productivity, quality is the other major driving factor</a:t>
            </a:r>
          </a:p>
          <a:p>
            <a:r>
              <a:rPr lang="en-US" sz="2800" dirty="0"/>
              <a:t>Developing high Q </a:t>
            </a:r>
            <a:r>
              <a:rPr lang="en-US" sz="2800" dirty="0" smtClean="0"/>
              <a:t>software </a:t>
            </a:r>
            <a:r>
              <a:rPr lang="en-US" sz="2800" dirty="0"/>
              <a:t>is a basic goal</a:t>
            </a:r>
          </a:p>
          <a:p>
            <a:r>
              <a:rPr lang="en-US" sz="2800" dirty="0"/>
              <a:t>Quality of </a:t>
            </a:r>
            <a:r>
              <a:rPr lang="en-US" sz="2800" dirty="0" smtClean="0"/>
              <a:t>S/W </a:t>
            </a:r>
            <a:r>
              <a:rPr lang="en-US" sz="2800" dirty="0"/>
              <a:t>is harder to define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967C805-816E-4FE6-8C22-2A6D81C16F47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– ISO standard</a:t>
            </a:r>
          </a:p>
        </p:txBody>
      </p:sp>
      <p:pic>
        <p:nvPicPr>
          <p:cNvPr id="49157" name="Picture 5" descr="Fig1-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2819400"/>
            <a:ext cx="8153400" cy="2154532"/>
          </a:xfrm>
          <a:noFill/>
          <a:ln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F85723-2F73-42CE-8EBF-C52F5E937B40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Quality – ISO std…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ISO </a:t>
            </a:r>
            <a:r>
              <a:rPr lang="en-US" sz="2800" dirty="0" smtClean="0"/>
              <a:t>standard </a:t>
            </a:r>
            <a:r>
              <a:rPr lang="en-US" sz="2800" dirty="0"/>
              <a:t>has six attributes</a:t>
            </a:r>
          </a:p>
          <a:p>
            <a:pPr lvl="1"/>
            <a:r>
              <a:rPr lang="en-US" sz="2800" b="1" dirty="0"/>
              <a:t>Functionality</a:t>
            </a:r>
          </a:p>
          <a:p>
            <a:pPr lvl="1"/>
            <a:r>
              <a:rPr lang="en-US" sz="2800" b="1" dirty="0"/>
              <a:t>Reliability</a:t>
            </a:r>
          </a:p>
          <a:p>
            <a:pPr lvl="1"/>
            <a:r>
              <a:rPr lang="en-US" sz="2800" b="1" dirty="0"/>
              <a:t>Usability</a:t>
            </a:r>
          </a:p>
          <a:p>
            <a:pPr lvl="1"/>
            <a:r>
              <a:rPr lang="en-US" sz="2800" b="1" dirty="0"/>
              <a:t>Efficiency</a:t>
            </a:r>
          </a:p>
          <a:p>
            <a:pPr lvl="1"/>
            <a:r>
              <a:rPr lang="en-US" sz="2800" b="1" dirty="0"/>
              <a:t>Maintainability</a:t>
            </a:r>
          </a:p>
          <a:p>
            <a:pPr lvl="1"/>
            <a:r>
              <a:rPr lang="en-US" sz="2800" b="1" dirty="0"/>
              <a:t>Portability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EA2BD94-EAF3-4DCD-8B23-3FA4A7C57D7B}" type="slidenum">
              <a:rPr lang="en-US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78038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b="1" dirty="0" smtClean="0"/>
              <a:t>Functionality: </a:t>
            </a:r>
            <a:r>
              <a:rPr lang="en-US" dirty="0" smtClean="0"/>
              <a:t>The capability to provide functions which meet stated and implied needs when the software is used.</a:t>
            </a:r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2. Usability: </a:t>
            </a:r>
            <a:r>
              <a:rPr lang="en-US" dirty="0" smtClean="0"/>
              <a:t>The capability to be understood, learned, and used. Easier to …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/>
              <a:t>3. Efficiency: </a:t>
            </a:r>
            <a:r>
              <a:rPr lang="en-US" sz="2800" dirty="0" smtClean="0"/>
              <a:t>The capability to provide appropriate performance relative to the amount of resources used.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b="1" dirty="0" smtClean="0"/>
              <a:t>4. Portability: </a:t>
            </a:r>
            <a:r>
              <a:rPr lang="en-US" sz="2800" dirty="0" smtClean="0"/>
              <a:t>The capability to be adapted for different specified environments/Platforms without applying actions or means other than those provided for this purpose in the product.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924800" cy="838200"/>
          </a:xfrm>
        </p:spPr>
        <p:txBody>
          <a:bodyPr/>
          <a:lstStyle/>
          <a:p>
            <a:r>
              <a:rPr lang="en-US" dirty="0" smtClean="0"/>
              <a:t>5. Reliability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752600"/>
            <a:ext cx="8153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/>
              <a:t>Reliability: </a:t>
            </a:r>
            <a:r>
              <a:rPr lang="en-US" sz="2800" dirty="0" smtClean="0"/>
              <a:t>The capability to provide failure-free service. This quality is the most considered as general criteria. </a:t>
            </a:r>
          </a:p>
          <a:p>
            <a:pPr>
              <a:lnSpc>
                <a:spcPct val="90000"/>
              </a:lnSpc>
              <a:buNone/>
            </a:pP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Reliability </a:t>
            </a:r>
            <a:r>
              <a:rPr lang="en-US" sz="2800" dirty="0"/>
              <a:t>= Probability of failure 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hard to measure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approximated by no. of defects in </a:t>
            </a:r>
            <a:r>
              <a:rPr lang="en-US" sz="2800" dirty="0" smtClean="0"/>
              <a:t>software</a:t>
            </a:r>
          </a:p>
          <a:p>
            <a:pPr lvl="1"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0C35CDA-75E1-4C35-8680-28D0141D55CC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dirty="0" smtClean="0"/>
              <a:t>6. Maintainability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648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endParaRPr lang="en-US" sz="2800" dirty="0" smtClean="0"/>
          </a:p>
          <a:p>
            <a:pPr>
              <a:lnSpc>
                <a:spcPct val="80000"/>
              </a:lnSpc>
            </a:pPr>
            <a:r>
              <a:rPr lang="en-US" sz="2800" b="1" dirty="0" smtClean="0"/>
              <a:t>Maintainability: </a:t>
            </a:r>
            <a:r>
              <a:rPr lang="en-US" sz="2800" dirty="0" smtClean="0"/>
              <a:t>The capability to be modified for purposes of making corrections, improvements, or adaptation.</a:t>
            </a:r>
          </a:p>
          <a:p>
            <a:pPr>
              <a:lnSpc>
                <a:spcPct val="80000"/>
              </a:lnSpc>
            </a:pPr>
            <a:endParaRPr lang="en-US" sz="2800" dirty="0" smtClean="0"/>
          </a:p>
          <a:p>
            <a:pPr>
              <a:lnSpc>
                <a:spcPct val="80000"/>
              </a:lnSpc>
            </a:pPr>
            <a:r>
              <a:rPr lang="en-US" sz="2800" dirty="0" smtClean="0"/>
              <a:t>Once S/W </a:t>
            </a:r>
            <a:r>
              <a:rPr lang="en-US" sz="2800" dirty="0"/>
              <a:t>delivered, it enters the maintenance phase, in which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Residual errors are fixed – this is  </a:t>
            </a:r>
            <a:r>
              <a:rPr lang="en-US" sz="2800" b="1" dirty="0"/>
              <a:t>corrective maintenance</a:t>
            </a:r>
          </a:p>
          <a:p>
            <a:pPr lvl="1">
              <a:lnSpc>
                <a:spcPct val="80000"/>
              </a:lnSpc>
            </a:pPr>
            <a:r>
              <a:rPr lang="en-US" sz="2800" dirty="0"/>
              <a:t>Upgrades and environment changes are done – this is </a:t>
            </a:r>
            <a:r>
              <a:rPr lang="en-US" sz="2800" b="1" dirty="0"/>
              <a:t>adaptive </a:t>
            </a:r>
            <a:r>
              <a:rPr lang="en-US" sz="2800" b="1" dirty="0" smtClean="0"/>
              <a:t>maintenance</a:t>
            </a:r>
          </a:p>
          <a:p>
            <a:pPr lvl="1">
              <a:lnSpc>
                <a:spcPct val="80000"/>
              </a:lnSpc>
            </a:pP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DFBB1C9F-9383-45A6-B2E5-045C3AF0668A}" type="slidenum">
              <a:rPr lang="en-US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Maintenance can consume more effort than development over the life of the software.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533400"/>
            <a:ext cx="8610600" cy="1023392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/>
              <a:t>Professional and Ethical Responsibility</a:t>
            </a: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Software engineering involves wider responsibilities than simply the application of technical skills. </a:t>
            </a:r>
          </a:p>
          <a:p>
            <a:endParaRPr lang="en-US" sz="2800" dirty="0" smtClean="0"/>
          </a:p>
          <a:p>
            <a:r>
              <a:rPr lang="en-US" sz="2800" dirty="0" smtClean="0"/>
              <a:t>Software engineers must behave in an honest and ethically responsible way if they are to be respected as professionals.</a:t>
            </a:r>
          </a:p>
          <a:p>
            <a:endParaRPr lang="en-US" sz="2800" dirty="0" smtClean="0"/>
          </a:p>
          <a:p>
            <a:r>
              <a:rPr lang="en-US" sz="2800" dirty="0" smtClean="0"/>
              <a:t>Software engineer should be fair to and supportive  of their colleagues.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229600" cy="455178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 b="1" dirty="0" smtClean="0"/>
              <a:t>Confidentiality </a:t>
            </a:r>
          </a:p>
          <a:p>
            <a:pPr lvl="1">
              <a:lnSpc>
                <a:spcPct val="90000"/>
              </a:lnSpc>
            </a:pPr>
            <a:r>
              <a:rPr lang="en-GB" sz="2800" dirty="0" smtClean="0"/>
              <a:t>Engineers should normally respect the confidentiality of their employers or clients irrespective of whether or not a formal confidentiality agreement has been signed.</a:t>
            </a:r>
          </a:p>
          <a:p>
            <a:pPr lvl="1">
              <a:lnSpc>
                <a:spcPct val="90000"/>
              </a:lnSpc>
            </a:pPr>
            <a:endParaRPr lang="en-GB" sz="2800" dirty="0" smtClean="0"/>
          </a:p>
          <a:p>
            <a:pPr>
              <a:lnSpc>
                <a:spcPct val="90000"/>
              </a:lnSpc>
            </a:pPr>
            <a:r>
              <a:rPr lang="en-GB" sz="2800" b="1" dirty="0" smtClean="0"/>
              <a:t>Competence </a:t>
            </a:r>
          </a:p>
          <a:p>
            <a:pPr lvl="1">
              <a:lnSpc>
                <a:spcPct val="90000"/>
              </a:lnSpc>
            </a:pPr>
            <a:r>
              <a:rPr lang="en-GB" sz="2800" dirty="0" smtClean="0"/>
              <a:t>Engineers should not misrepresent their level of competence. They should not knowingly accept work which is out with their competence.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 smtClean="0"/>
              <a:t>Intellectual property rights</a:t>
            </a:r>
            <a:r>
              <a:rPr lang="en-GB" sz="5400" dirty="0" smtClean="0"/>
              <a:t> </a:t>
            </a:r>
            <a:br>
              <a:rPr lang="en-GB" sz="5400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GB" sz="2800" dirty="0" smtClean="0"/>
              <a:t>Engineers should be aware of local laws governing the use of intellectual property such as patents, copyright, etc. </a:t>
            </a:r>
          </a:p>
          <a:p>
            <a:pPr lvl="1"/>
            <a:endParaRPr lang="en-GB" sz="2800" dirty="0" smtClean="0"/>
          </a:p>
          <a:p>
            <a:pPr lvl="1"/>
            <a:r>
              <a:rPr lang="en-GB" sz="2800" dirty="0" smtClean="0"/>
              <a:t>They should be careful to ensure that the intellectual property of employers and clients is protected.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 smtClean="0"/>
              <a:t>Computer misuse </a:t>
            </a:r>
          </a:p>
          <a:p>
            <a:pPr lvl="1"/>
            <a:r>
              <a:rPr lang="en-GB" sz="2800" dirty="0" smtClean="0"/>
              <a:t>Software engineers should not use their technical skills to misuse other people’s computers. </a:t>
            </a:r>
          </a:p>
          <a:p>
            <a:pPr lvl="1"/>
            <a:endParaRPr lang="en-GB" sz="2800" dirty="0" smtClean="0"/>
          </a:p>
          <a:p>
            <a:pPr lvl="1"/>
            <a:r>
              <a:rPr lang="en-GB" sz="2800" dirty="0" smtClean="0"/>
              <a:t>Computer misuse ranges from relatively trivial (game playing on an employer’s machine) to extremely serious (dissemination of viruses).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200" dirty="0" smtClean="0"/>
              <a:t>End of chapter 1</a:t>
            </a:r>
          </a:p>
          <a:p>
            <a:pPr algn="ctr"/>
            <a:endParaRPr lang="en-US" sz="3200" dirty="0" smtClean="0"/>
          </a:p>
          <a:p>
            <a:pPr algn="ctr">
              <a:buNone/>
            </a:pPr>
            <a:r>
              <a:rPr lang="en-US" sz="3200" dirty="0" smtClean="0"/>
              <a:t>Thank you.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3623C-4085-4AB5-944F-49B5F43A318E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9505</TotalTime>
  <Words>1655</Words>
  <Application>Microsoft Office PowerPoint</Application>
  <PresentationFormat>On-screen Show (4:3)</PresentationFormat>
  <Paragraphs>273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Algerian</vt:lpstr>
      <vt:lpstr>Arial</vt:lpstr>
      <vt:lpstr>Wingdings</vt:lpstr>
      <vt:lpstr>Diseño predeterminado</vt:lpstr>
      <vt:lpstr>SOFTWARE ENGINEERING</vt:lpstr>
      <vt:lpstr>SOFTWARE ENGINEERING</vt:lpstr>
      <vt:lpstr>Module Objectives</vt:lpstr>
      <vt:lpstr> PART 1: Introduction to Software Engineering </vt:lpstr>
      <vt:lpstr>Course outline :</vt:lpstr>
      <vt:lpstr>PowerPoint Presentation</vt:lpstr>
      <vt:lpstr>UNIT 2: Software project management</vt:lpstr>
      <vt:lpstr>PowerPoint Presentation</vt:lpstr>
      <vt:lpstr>PART1: objectives</vt:lpstr>
      <vt:lpstr>PowerPoint Presentation</vt:lpstr>
      <vt:lpstr>PowerPoint Presentation</vt:lpstr>
      <vt:lpstr>SOFTWARE ENGINEERING CONCEPTS</vt:lpstr>
      <vt:lpstr>PowerPoint Presentation</vt:lpstr>
      <vt:lpstr>ENGINEERING </vt:lpstr>
      <vt:lpstr>  Software engineering</vt:lpstr>
      <vt:lpstr>Computer-Aided Software Engineering (CASE )</vt:lpstr>
      <vt:lpstr>Computer-Aided Software Engineering (CASE ) cont….</vt:lpstr>
      <vt:lpstr>More Examples of Upper-CASE:   </vt:lpstr>
      <vt:lpstr> More Examples of Lower-Case:</vt:lpstr>
      <vt:lpstr>The key challenges facing software engineering</vt:lpstr>
      <vt:lpstr>Programmer Vs Software Engineer</vt:lpstr>
      <vt:lpstr>Software Crisis</vt:lpstr>
      <vt:lpstr>PowerPoint Presentation</vt:lpstr>
      <vt:lpstr>Software Crisis</vt:lpstr>
      <vt:lpstr>Software Crisis: Solutions </vt:lpstr>
      <vt:lpstr>Software Production</vt:lpstr>
      <vt:lpstr>Software…</vt:lpstr>
      <vt:lpstr>Industrial strength software</vt:lpstr>
      <vt:lpstr>Cost, Schedule, and Quality</vt:lpstr>
      <vt:lpstr>Requires tight Schedule</vt:lpstr>
      <vt:lpstr>Quality</vt:lpstr>
      <vt:lpstr>Quality – ISO standard</vt:lpstr>
      <vt:lpstr>Quality – ISO std…</vt:lpstr>
      <vt:lpstr>PowerPoint Presentation</vt:lpstr>
      <vt:lpstr>PowerPoint Presentation</vt:lpstr>
      <vt:lpstr>5. Reliability</vt:lpstr>
      <vt:lpstr>6. Maintainability</vt:lpstr>
      <vt:lpstr>PowerPoint Presentation</vt:lpstr>
      <vt:lpstr>Professional and Ethical Responsibility</vt:lpstr>
      <vt:lpstr>PowerPoint Presentation</vt:lpstr>
      <vt:lpstr>Intellectual property rights  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Shyaka</cp:lastModifiedBy>
  <cp:revision>828</cp:revision>
  <dcterms:created xsi:type="dcterms:W3CDTF">2010-05-23T14:28:12Z</dcterms:created>
  <dcterms:modified xsi:type="dcterms:W3CDTF">2025-11-13T05:24:45Z</dcterms:modified>
</cp:coreProperties>
</file>