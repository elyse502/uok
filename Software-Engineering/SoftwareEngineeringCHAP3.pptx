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0"/>
  </p:notesMasterIdLst>
  <p:sldIdLst>
    <p:sldId id="256" r:id="rId2"/>
    <p:sldId id="266" r:id="rId3"/>
    <p:sldId id="267" r:id="rId4"/>
    <p:sldId id="268" r:id="rId5"/>
    <p:sldId id="269" r:id="rId6"/>
    <p:sldId id="270" r:id="rId7"/>
    <p:sldId id="271" r:id="rId8"/>
    <p:sldId id="272" r:id="rId9"/>
    <p:sldId id="273" r:id="rId10"/>
    <p:sldId id="274" r:id="rId11"/>
    <p:sldId id="275" r:id="rId12"/>
    <p:sldId id="276" r:id="rId13"/>
    <p:sldId id="277" r:id="rId14"/>
    <p:sldId id="278" r:id="rId15"/>
    <p:sldId id="279" r:id="rId16"/>
    <p:sldId id="280" r:id="rId17"/>
    <p:sldId id="281" r:id="rId18"/>
    <p:sldId id="282" r:id="rId19"/>
    <p:sldId id="283" r:id="rId20"/>
    <p:sldId id="284" r:id="rId21"/>
    <p:sldId id="285" r:id="rId22"/>
    <p:sldId id="286" r:id="rId23"/>
    <p:sldId id="287" r:id="rId24"/>
    <p:sldId id="288" r:id="rId25"/>
    <p:sldId id="289" r:id="rId26"/>
    <p:sldId id="290" r:id="rId27"/>
    <p:sldId id="291" r:id="rId28"/>
    <p:sldId id="292" r:id="rId29"/>
    <p:sldId id="293" r:id="rId30"/>
    <p:sldId id="294" r:id="rId31"/>
    <p:sldId id="295" r:id="rId32"/>
    <p:sldId id="296" r:id="rId33"/>
    <p:sldId id="297" r:id="rId34"/>
    <p:sldId id="298" r:id="rId35"/>
    <p:sldId id="299" r:id="rId36"/>
    <p:sldId id="300" r:id="rId37"/>
    <p:sldId id="301" r:id="rId38"/>
    <p:sldId id="302" r:id="rId39"/>
    <p:sldId id="303" r:id="rId40"/>
    <p:sldId id="304" r:id="rId41"/>
    <p:sldId id="305" r:id="rId42"/>
    <p:sldId id="306" r:id="rId43"/>
    <p:sldId id="307" r:id="rId44"/>
    <p:sldId id="308" r:id="rId45"/>
    <p:sldId id="309" r:id="rId46"/>
    <p:sldId id="310" r:id="rId47"/>
    <p:sldId id="311" r:id="rId48"/>
    <p:sldId id="312" r:id="rId49"/>
    <p:sldId id="313" r:id="rId50"/>
    <p:sldId id="314" r:id="rId51"/>
    <p:sldId id="315" r:id="rId52"/>
    <p:sldId id="316" r:id="rId53"/>
    <p:sldId id="317" r:id="rId54"/>
    <p:sldId id="318" r:id="rId55"/>
    <p:sldId id="319" r:id="rId56"/>
    <p:sldId id="320" r:id="rId57"/>
    <p:sldId id="321" r:id="rId58"/>
    <p:sldId id="322" r:id="rId59"/>
  </p:sldIdLst>
  <p:sldSz cx="9144000" cy="6858000" type="screen4x3"/>
  <p:notesSz cx="6858000" cy="9144000"/>
  <p:defaultTextStyle>
    <a:defPPr>
      <a:defRPr lang="es-E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2C16"/>
    <a:srgbClr val="0C788E"/>
    <a:srgbClr val="006666"/>
    <a:srgbClr val="54381C"/>
    <a:srgbClr val="A50021"/>
    <a:srgbClr val="FFFFA3"/>
    <a:srgbClr val="E6E6C4"/>
    <a:srgbClr val="FF5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23" autoAdjust="0"/>
    <p:restoredTop sz="94652" autoAdjust="0"/>
  </p:normalViewPr>
  <p:slideViewPr>
    <p:cSldViewPr>
      <p:cViewPr>
        <p:scale>
          <a:sx n="77" d="100"/>
          <a:sy n="77" d="100"/>
        </p:scale>
        <p:origin x="-1104" y="-4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FF052E7-137E-4876-9BEF-661FB0632550}" type="datetimeFigureOut">
              <a:rPr lang="en-US" smtClean="0"/>
              <a:t>7/20/2020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9FA20FD-064F-4B79-BBBE-208BF2E93965}" type="slidenum">
              <a:rPr lang="en-US" smtClean="0"/>
              <a:t>‹#›</a:t>
            </a:fld>
            <a:endParaRPr lang="en-US"/>
          </a:p>
        </p:txBody>
      </p:sp>
    </p:spTree>
    <p:extLst>
      <p:ext uri="{BB962C8B-B14F-4D97-AF65-F5344CB8AC3E}">
        <p14:creationId xmlns:p14="http://schemas.microsoft.com/office/powerpoint/2010/main" val="30260649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Acronym/</a:t>
            </a:r>
            <a:r>
              <a:rPr lang="en-US" b="1" dirty="0" err="1" smtClean="0"/>
              <a:t>Initialism</a:t>
            </a:r>
            <a:r>
              <a:rPr lang="en-US" dirty="0" smtClean="0"/>
              <a:t> </a:t>
            </a:r>
            <a:r>
              <a:rPr lang="en-US" b="1" dirty="0" smtClean="0"/>
              <a:t>Meaning</a:t>
            </a:r>
            <a:r>
              <a:rPr lang="en-US" dirty="0" smtClean="0"/>
              <a:t> </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Modem: modulation/demodulation</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ASAP As Soon As Possible </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err="1" smtClean="0"/>
              <a:t>BTWBy</a:t>
            </a:r>
            <a:r>
              <a:rPr lang="en-US" dirty="0" smtClean="0"/>
              <a:t> The Way </a:t>
            </a:r>
            <a:r>
              <a:rPr lang="en-US" dirty="0" err="1" smtClean="0"/>
              <a:t>FWIWFor</a:t>
            </a:r>
            <a:r>
              <a:rPr lang="en-US" dirty="0" smtClean="0"/>
              <a:t> What It's Worth </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FYI For Your Information </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err="1" smtClean="0"/>
              <a:t>IMHOIn</a:t>
            </a:r>
            <a:r>
              <a:rPr lang="en-US" dirty="0" smtClean="0"/>
              <a:t> My Humble Opinion </a:t>
            </a:r>
            <a:r>
              <a:rPr lang="en-US" dirty="0" err="1" smtClean="0"/>
              <a:t>IMOIn</a:t>
            </a:r>
            <a:r>
              <a:rPr lang="en-US" dirty="0" smtClean="0"/>
              <a:t> My Opinion</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 LOL Laughing Out Loud </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ROTFL Rolling On The Floor Laughing </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TIAT hanks In Advance </a:t>
            </a:r>
          </a:p>
          <a:p>
            <a:endParaRPr lang="en-US" dirty="0"/>
          </a:p>
        </p:txBody>
      </p:sp>
      <p:sp>
        <p:nvSpPr>
          <p:cNvPr id="4" name="Slide Number Placeholder 3"/>
          <p:cNvSpPr>
            <a:spLocks noGrp="1"/>
          </p:cNvSpPr>
          <p:nvPr>
            <p:ph type="sldNum" sz="quarter" idx="10"/>
          </p:nvPr>
        </p:nvSpPr>
        <p:spPr/>
        <p:txBody>
          <a:bodyPr/>
          <a:lstStyle/>
          <a:p>
            <a:fld id="{FE49DF72-4583-4F5B-89EF-28195C580C00}" type="slidenum">
              <a:rPr lang="en-US" smtClean="0"/>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Join up, mixture</a:t>
            </a:r>
            <a:endParaRPr lang="en-US" dirty="0"/>
          </a:p>
        </p:txBody>
      </p:sp>
      <p:sp>
        <p:nvSpPr>
          <p:cNvPr id="4" name="Slide Number Placeholder 3"/>
          <p:cNvSpPr>
            <a:spLocks noGrp="1"/>
          </p:cNvSpPr>
          <p:nvPr>
            <p:ph type="sldNum" sz="quarter" idx="10"/>
          </p:nvPr>
        </p:nvSpPr>
        <p:spPr/>
        <p:txBody>
          <a:bodyPr/>
          <a:lstStyle/>
          <a:p>
            <a:fld id="{FE49DF72-4583-4F5B-89EF-28195C580C00}" type="slidenum">
              <a:rPr lang="en-US" smtClean="0"/>
              <a:pPr/>
              <a:t>32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endParaRPr lang="es-ES"/>
          </a:p>
        </p:txBody>
      </p:sp>
      <p:sp>
        <p:nvSpPr>
          <p:cNvPr id="5" name="Footer Placeholder 4"/>
          <p:cNvSpPr>
            <a:spLocks noGrp="1"/>
          </p:cNvSpPr>
          <p:nvPr>
            <p:ph type="ftr" sz="quarter" idx="11"/>
          </p:nvPr>
        </p:nvSpPr>
        <p:spPr/>
        <p:txBody>
          <a:bodyPr/>
          <a:lstStyle>
            <a:lvl1pPr>
              <a:defRPr/>
            </a:lvl1pPr>
          </a:lstStyle>
          <a:p>
            <a:endParaRPr lang="es-ES"/>
          </a:p>
        </p:txBody>
      </p:sp>
      <p:sp>
        <p:nvSpPr>
          <p:cNvPr id="6" name="Slide Number Placeholder 5"/>
          <p:cNvSpPr>
            <a:spLocks noGrp="1"/>
          </p:cNvSpPr>
          <p:nvPr>
            <p:ph type="sldNum" sz="quarter" idx="12"/>
          </p:nvPr>
        </p:nvSpPr>
        <p:spPr/>
        <p:txBody>
          <a:bodyPr/>
          <a:lstStyle>
            <a:lvl1pPr>
              <a:defRPr/>
            </a:lvl1pPr>
          </a:lstStyle>
          <a:p>
            <a:fld id="{D06E4F0E-D1B4-48EF-AB1C-AC0BFEE64161}" type="slidenum">
              <a:rPr lang="es-ES"/>
              <a:pPr/>
              <a:t>‹#›</a:t>
            </a:fld>
            <a:endParaRPr lang="es-E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s-ES"/>
          </a:p>
        </p:txBody>
      </p:sp>
      <p:sp>
        <p:nvSpPr>
          <p:cNvPr id="5" name="Footer Placeholder 4"/>
          <p:cNvSpPr>
            <a:spLocks noGrp="1"/>
          </p:cNvSpPr>
          <p:nvPr>
            <p:ph type="ftr" sz="quarter" idx="11"/>
          </p:nvPr>
        </p:nvSpPr>
        <p:spPr/>
        <p:txBody>
          <a:bodyPr/>
          <a:lstStyle>
            <a:lvl1pPr>
              <a:defRPr/>
            </a:lvl1pPr>
          </a:lstStyle>
          <a:p>
            <a:endParaRPr lang="es-ES"/>
          </a:p>
        </p:txBody>
      </p:sp>
      <p:sp>
        <p:nvSpPr>
          <p:cNvPr id="6" name="Slide Number Placeholder 5"/>
          <p:cNvSpPr>
            <a:spLocks noGrp="1"/>
          </p:cNvSpPr>
          <p:nvPr>
            <p:ph type="sldNum" sz="quarter" idx="12"/>
          </p:nvPr>
        </p:nvSpPr>
        <p:spPr/>
        <p:txBody>
          <a:bodyPr/>
          <a:lstStyle>
            <a:lvl1pPr>
              <a:defRPr/>
            </a:lvl1pPr>
          </a:lstStyle>
          <a:p>
            <a:fld id="{878415B0-A075-462A-B0A2-B5FFCF59B058}" type="slidenum">
              <a:rPr lang="es-ES"/>
              <a:pPr/>
              <a:t>‹#›</a:t>
            </a:fld>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s-ES"/>
          </a:p>
        </p:txBody>
      </p:sp>
      <p:sp>
        <p:nvSpPr>
          <p:cNvPr id="5" name="Footer Placeholder 4"/>
          <p:cNvSpPr>
            <a:spLocks noGrp="1"/>
          </p:cNvSpPr>
          <p:nvPr>
            <p:ph type="ftr" sz="quarter" idx="11"/>
          </p:nvPr>
        </p:nvSpPr>
        <p:spPr/>
        <p:txBody>
          <a:bodyPr/>
          <a:lstStyle>
            <a:lvl1pPr>
              <a:defRPr/>
            </a:lvl1pPr>
          </a:lstStyle>
          <a:p>
            <a:endParaRPr lang="es-ES"/>
          </a:p>
        </p:txBody>
      </p:sp>
      <p:sp>
        <p:nvSpPr>
          <p:cNvPr id="6" name="Slide Number Placeholder 5"/>
          <p:cNvSpPr>
            <a:spLocks noGrp="1"/>
          </p:cNvSpPr>
          <p:nvPr>
            <p:ph type="sldNum" sz="quarter" idx="12"/>
          </p:nvPr>
        </p:nvSpPr>
        <p:spPr/>
        <p:txBody>
          <a:bodyPr/>
          <a:lstStyle>
            <a:lvl1pPr>
              <a:defRPr/>
            </a:lvl1pPr>
          </a:lstStyle>
          <a:p>
            <a:fld id="{5F92E2C3-8770-41AE-88C2-C312BE7DB0B0}" type="slidenum">
              <a:rPr lang="es-ES"/>
              <a:pPr/>
              <a:t>‹#›</a:t>
            </a:fld>
            <a:endParaRPr lang="es-E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endParaRPr lang="es-ES"/>
          </a:p>
        </p:txBody>
      </p:sp>
      <p:sp>
        <p:nvSpPr>
          <p:cNvPr id="6" name="Footer Placeholder 5"/>
          <p:cNvSpPr>
            <a:spLocks noGrp="1"/>
          </p:cNvSpPr>
          <p:nvPr>
            <p:ph type="ftr" sz="quarter" idx="11"/>
          </p:nvPr>
        </p:nvSpPr>
        <p:spPr/>
        <p:txBody>
          <a:bodyPr/>
          <a:lstStyle>
            <a:lvl1pPr>
              <a:defRPr/>
            </a:lvl1pPr>
          </a:lstStyle>
          <a:p>
            <a:endParaRPr lang="es-ES"/>
          </a:p>
        </p:txBody>
      </p:sp>
      <p:sp>
        <p:nvSpPr>
          <p:cNvPr id="7" name="Slide Number Placeholder 6"/>
          <p:cNvSpPr>
            <a:spLocks noGrp="1"/>
          </p:cNvSpPr>
          <p:nvPr>
            <p:ph type="sldNum" sz="quarter" idx="12"/>
          </p:nvPr>
        </p:nvSpPr>
        <p:spPr/>
        <p:txBody>
          <a:bodyPr/>
          <a:lstStyle>
            <a:lvl1pPr>
              <a:defRPr/>
            </a:lvl1pPr>
          </a:lstStyle>
          <a:p>
            <a:fld id="{4427035E-3358-4FFF-AB1F-152596EE2C90}" type="slidenum">
              <a:rPr lang="es-ES"/>
              <a:pPr/>
              <a:t>‹#›</a:t>
            </a:fld>
            <a:endParaRPr lang="es-E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endParaRPr lang="es-ES"/>
          </a:p>
        </p:txBody>
      </p:sp>
      <p:sp>
        <p:nvSpPr>
          <p:cNvPr id="8" name="Footer Placeholder 7"/>
          <p:cNvSpPr>
            <a:spLocks noGrp="1"/>
          </p:cNvSpPr>
          <p:nvPr>
            <p:ph type="ftr" sz="quarter" idx="11"/>
          </p:nvPr>
        </p:nvSpPr>
        <p:spPr/>
        <p:txBody>
          <a:bodyPr/>
          <a:lstStyle>
            <a:lvl1pPr>
              <a:defRPr/>
            </a:lvl1pPr>
          </a:lstStyle>
          <a:p>
            <a:endParaRPr lang="es-ES"/>
          </a:p>
        </p:txBody>
      </p:sp>
      <p:sp>
        <p:nvSpPr>
          <p:cNvPr id="9" name="Slide Number Placeholder 8"/>
          <p:cNvSpPr>
            <a:spLocks noGrp="1"/>
          </p:cNvSpPr>
          <p:nvPr>
            <p:ph type="sldNum" sz="quarter" idx="12"/>
          </p:nvPr>
        </p:nvSpPr>
        <p:spPr/>
        <p:txBody>
          <a:bodyPr/>
          <a:lstStyle>
            <a:lvl1pPr>
              <a:defRPr/>
            </a:lvl1pPr>
          </a:lstStyle>
          <a:p>
            <a:fld id="{2058AD96-D722-44F4-A332-B1BAE65E3DB7}" type="slidenum">
              <a:rPr lang="es-ES"/>
              <a:pPr/>
              <a:t>‹#›</a:t>
            </a:fld>
            <a:endParaRPr lang="es-E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endParaRPr lang="es-ES"/>
          </a:p>
        </p:txBody>
      </p:sp>
      <p:sp>
        <p:nvSpPr>
          <p:cNvPr id="4" name="Footer Placeholder 3"/>
          <p:cNvSpPr>
            <a:spLocks noGrp="1"/>
          </p:cNvSpPr>
          <p:nvPr>
            <p:ph type="ftr" sz="quarter" idx="11"/>
          </p:nvPr>
        </p:nvSpPr>
        <p:spPr/>
        <p:txBody>
          <a:bodyPr/>
          <a:lstStyle>
            <a:lvl1pPr>
              <a:defRPr/>
            </a:lvl1pPr>
          </a:lstStyle>
          <a:p>
            <a:endParaRPr lang="es-ES"/>
          </a:p>
        </p:txBody>
      </p:sp>
      <p:sp>
        <p:nvSpPr>
          <p:cNvPr id="5" name="Slide Number Placeholder 4"/>
          <p:cNvSpPr>
            <a:spLocks noGrp="1"/>
          </p:cNvSpPr>
          <p:nvPr>
            <p:ph type="sldNum" sz="quarter" idx="12"/>
          </p:nvPr>
        </p:nvSpPr>
        <p:spPr/>
        <p:txBody>
          <a:bodyPr/>
          <a:lstStyle>
            <a:lvl1pPr>
              <a:defRPr/>
            </a:lvl1pPr>
          </a:lstStyle>
          <a:p>
            <a:fld id="{18F2664B-5A58-46BB-9D1D-9F03A8C87DAD}" type="slidenum">
              <a:rPr lang="es-ES"/>
              <a:pPr/>
              <a:t>‹#›</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s-ES"/>
          </a:p>
        </p:txBody>
      </p:sp>
      <p:sp>
        <p:nvSpPr>
          <p:cNvPr id="3" name="Footer Placeholder 2"/>
          <p:cNvSpPr>
            <a:spLocks noGrp="1"/>
          </p:cNvSpPr>
          <p:nvPr>
            <p:ph type="ftr" sz="quarter" idx="11"/>
          </p:nvPr>
        </p:nvSpPr>
        <p:spPr/>
        <p:txBody>
          <a:bodyPr/>
          <a:lstStyle>
            <a:lvl1pPr>
              <a:defRPr/>
            </a:lvl1pPr>
          </a:lstStyle>
          <a:p>
            <a:endParaRPr lang="es-ES"/>
          </a:p>
        </p:txBody>
      </p:sp>
      <p:sp>
        <p:nvSpPr>
          <p:cNvPr id="4" name="Slide Number Placeholder 3"/>
          <p:cNvSpPr>
            <a:spLocks noGrp="1"/>
          </p:cNvSpPr>
          <p:nvPr>
            <p:ph type="sldNum" sz="quarter" idx="12"/>
          </p:nvPr>
        </p:nvSpPr>
        <p:spPr/>
        <p:txBody>
          <a:bodyPr/>
          <a:lstStyle>
            <a:lvl1pPr>
              <a:defRPr/>
            </a:lvl1pPr>
          </a:lstStyle>
          <a:p>
            <a:fld id="{A546F53B-5B88-476E-863F-50F257F64D6E}" type="slidenum">
              <a:rPr lang="es-ES"/>
              <a:pPr/>
              <a:t>‹#›</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s-ES"/>
          </a:p>
        </p:txBody>
      </p:sp>
      <p:sp>
        <p:nvSpPr>
          <p:cNvPr id="6" name="Footer Placeholder 5"/>
          <p:cNvSpPr>
            <a:spLocks noGrp="1"/>
          </p:cNvSpPr>
          <p:nvPr>
            <p:ph type="ftr" sz="quarter" idx="11"/>
          </p:nvPr>
        </p:nvSpPr>
        <p:spPr/>
        <p:txBody>
          <a:bodyPr/>
          <a:lstStyle>
            <a:lvl1pPr>
              <a:defRPr/>
            </a:lvl1pPr>
          </a:lstStyle>
          <a:p>
            <a:endParaRPr lang="es-ES"/>
          </a:p>
        </p:txBody>
      </p:sp>
      <p:sp>
        <p:nvSpPr>
          <p:cNvPr id="7" name="Slide Number Placeholder 6"/>
          <p:cNvSpPr>
            <a:spLocks noGrp="1"/>
          </p:cNvSpPr>
          <p:nvPr>
            <p:ph type="sldNum" sz="quarter" idx="12"/>
          </p:nvPr>
        </p:nvSpPr>
        <p:spPr/>
        <p:txBody>
          <a:bodyPr/>
          <a:lstStyle>
            <a:lvl1pPr>
              <a:defRPr/>
            </a:lvl1pPr>
          </a:lstStyle>
          <a:p>
            <a:fld id="{BFCD3EF0-8BB7-4D68-BC76-C2A412B54779}" type="slidenum">
              <a:rPr lang="es-ES"/>
              <a:pPr/>
              <a:t>‹#›</a:t>
            </a:fld>
            <a:endParaRPr lang="es-E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s-ES"/>
          </a:p>
        </p:txBody>
      </p:sp>
      <p:sp>
        <p:nvSpPr>
          <p:cNvPr id="6" name="Footer Placeholder 5"/>
          <p:cNvSpPr>
            <a:spLocks noGrp="1"/>
          </p:cNvSpPr>
          <p:nvPr>
            <p:ph type="ftr" sz="quarter" idx="11"/>
          </p:nvPr>
        </p:nvSpPr>
        <p:spPr/>
        <p:txBody>
          <a:bodyPr/>
          <a:lstStyle>
            <a:lvl1pPr>
              <a:defRPr/>
            </a:lvl1pPr>
          </a:lstStyle>
          <a:p>
            <a:endParaRPr lang="es-ES"/>
          </a:p>
        </p:txBody>
      </p:sp>
      <p:sp>
        <p:nvSpPr>
          <p:cNvPr id="7" name="Slide Number Placeholder 6"/>
          <p:cNvSpPr>
            <a:spLocks noGrp="1"/>
          </p:cNvSpPr>
          <p:nvPr>
            <p:ph type="sldNum" sz="quarter" idx="12"/>
          </p:nvPr>
        </p:nvSpPr>
        <p:spPr/>
        <p:txBody>
          <a:bodyPr/>
          <a:lstStyle>
            <a:lvl1pPr>
              <a:defRPr/>
            </a:lvl1pPr>
          </a:lstStyle>
          <a:p>
            <a:fld id="{ED99FD19-FDAE-4258-BE5B-6FD27BEEEF6E}" type="slidenum">
              <a:rPr lang="es-ES"/>
              <a:pPr/>
              <a:t>‹#›</a:t>
            </a:fld>
            <a:endParaRPr lang="es-E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s-ES"/>
          </a:p>
        </p:txBody>
      </p:sp>
      <p:sp>
        <p:nvSpPr>
          <p:cNvPr id="5" name="Footer Placeholder 4"/>
          <p:cNvSpPr>
            <a:spLocks noGrp="1"/>
          </p:cNvSpPr>
          <p:nvPr>
            <p:ph type="ftr" sz="quarter" idx="11"/>
          </p:nvPr>
        </p:nvSpPr>
        <p:spPr/>
        <p:txBody>
          <a:bodyPr/>
          <a:lstStyle>
            <a:lvl1pPr>
              <a:defRPr/>
            </a:lvl1pPr>
          </a:lstStyle>
          <a:p>
            <a:endParaRPr lang="es-ES"/>
          </a:p>
        </p:txBody>
      </p:sp>
      <p:sp>
        <p:nvSpPr>
          <p:cNvPr id="6" name="Slide Number Placeholder 5"/>
          <p:cNvSpPr>
            <a:spLocks noGrp="1"/>
          </p:cNvSpPr>
          <p:nvPr>
            <p:ph type="sldNum" sz="quarter" idx="12"/>
          </p:nvPr>
        </p:nvSpPr>
        <p:spPr/>
        <p:txBody>
          <a:bodyPr/>
          <a:lstStyle>
            <a:lvl1pPr>
              <a:defRPr/>
            </a:lvl1pPr>
          </a:lstStyle>
          <a:p>
            <a:fld id="{B2FD20AE-22FF-4B59-92DA-91DFE6E3F107}" type="slidenum">
              <a:rPr lang="es-ES"/>
              <a:pPr/>
              <a:t>‹#›</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s-ES"/>
          </a:p>
        </p:txBody>
      </p:sp>
      <p:sp>
        <p:nvSpPr>
          <p:cNvPr id="5" name="Footer Placeholder 4"/>
          <p:cNvSpPr>
            <a:spLocks noGrp="1"/>
          </p:cNvSpPr>
          <p:nvPr>
            <p:ph type="ftr" sz="quarter" idx="11"/>
          </p:nvPr>
        </p:nvSpPr>
        <p:spPr/>
        <p:txBody>
          <a:bodyPr/>
          <a:lstStyle>
            <a:lvl1pPr>
              <a:defRPr/>
            </a:lvl1pPr>
          </a:lstStyle>
          <a:p>
            <a:endParaRPr lang="es-ES"/>
          </a:p>
        </p:txBody>
      </p:sp>
      <p:sp>
        <p:nvSpPr>
          <p:cNvPr id="6" name="Slide Number Placeholder 5"/>
          <p:cNvSpPr>
            <a:spLocks noGrp="1"/>
          </p:cNvSpPr>
          <p:nvPr>
            <p:ph type="sldNum" sz="quarter" idx="12"/>
          </p:nvPr>
        </p:nvSpPr>
        <p:spPr/>
        <p:txBody>
          <a:bodyPr/>
          <a:lstStyle>
            <a:lvl1pPr>
              <a:defRPr/>
            </a:lvl1pPr>
          </a:lstStyle>
          <a:p>
            <a:fld id="{E9626F0F-45F0-4CEA-A874-57D6788EB032}" type="slidenum">
              <a:rPr lang="es-ES"/>
              <a:pPr/>
              <a:t>‹#›</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s-ES" smtClean="0"/>
              <a:t>Haga clic para cambiar el estilo de título	</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endParaRPr lang="es-E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endParaRPr lang="es-E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B908613C-E353-4C9C-946A-7A8B6FE107B7}" type="slidenum">
              <a:rPr lang="es-ES"/>
              <a:pPr/>
              <a:t>‹#›</a:t>
            </a:fld>
            <a:endParaRPr lang="es-E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cs typeface="Arial" charset="0"/>
        </a:defRPr>
      </a:lvl2pPr>
      <a:lvl3pPr algn="ctr" rtl="0" fontAlgn="base">
        <a:spcBef>
          <a:spcPct val="0"/>
        </a:spcBef>
        <a:spcAft>
          <a:spcPct val="0"/>
        </a:spcAft>
        <a:defRPr sz="4400">
          <a:solidFill>
            <a:schemeClr val="tx2"/>
          </a:solidFill>
          <a:latin typeface="Arial" charset="0"/>
          <a:cs typeface="Arial" charset="0"/>
        </a:defRPr>
      </a:lvl3pPr>
      <a:lvl4pPr algn="ctr" rtl="0" fontAlgn="base">
        <a:spcBef>
          <a:spcPct val="0"/>
        </a:spcBef>
        <a:spcAft>
          <a:spcPct val="0"/>
        </a:spcAft>
        <a:defRPr sz="4400">
          <a:solidFill>
            <a:schemeClr val="tx2"/>
          </a:solidFill>
          <a:latin typeface="Arial" charset="0"/>
          <a:cs typeface="Arial" charset="0"/>
        </a:defRPr>
      </a:lvl4pPr>
      <a:lvl5pPr algn="ctr" rtl="0" fontAlgn="base">
        <a:spcBef>
          <a:spcPct val="0"/>
        </a:spcBef>
        <a:spcAft>
          <a:spcPct val="0"/>
        </a:spcAft>
        <a:defRPr sz="4400">
          <a:solidFill>
            <a:schemeClr val="tx2"/>
          </a:solidFill>
          <a:latin typeface="Arial"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cs typeface="+mn-cs"/>
        </a:defRPr>
      </a:lvl2pPr>
      <a:lvl3pPr marL="1143000" indent="-228600" algn="l" rtl="0" fontAlgn="base">
        <a:spcBef>
          <a:spcPct val="20000"/>
        </a:spcBef>
        <a:spcAft>
          <a:spcPct val="0"/>
        </a:spcAft>
        <a:buChar char="•"/>
        <a:defRPr sz="2400">
          <a:solidFill>
            <a:schemeClr val="tx1"/>
          </a:solidFill>
          <a:latin typeface="+mn-lt"/>
          <a:cs typeface="+mn-cs"/>
        </a:defRPr>
      </a:lvl3pPr>
      <a:lvl4pPr marL="1600200" indent="-228600" algn="l" rtl="0" fontAlgn="base">
        <a:spcBef>
          <a:spcPct val="20000"/>
        </a:spcBef>
        <a:spcAft>
          <a:spcPct val="0"/>
        </a:spcAft>
        <a:buChar char="–"/>
        <a:defRPr sz="2000">
          <a:solidFill>
            <a:schemeClr val="tx1"/>
          </a:solidFill>
          <a:latin typeface="+mn-lt"/>
          <a:cs typeface="+mn-cs"/>
        </a:defRPr>
      </a:lvl4pPr>
      <a:lvl5pPr marL="2057400" indent="-228600" algn="l" rtl="0" fontAlgn="base">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2198" name="Rectangle 150"/>
          <p:cNvSpPr>
            <a:spLocks noGrp="1" noChangeArrowheads="1"/>
          </p:cNvSpPr>
          <p:nvPr>
            <p:ph type="ctrTitle"/>
          </p:nvPr>
        </p:nvSpPr>
        <p:spPr>
          <a:xfrm>
            <a:off x="3779912" y="692696"/>
            <a:ext cx="5364088" cy="1152128"/>
          </a:xfrm>
        </p:spPr>
        <p:txBody>
          <a:bodyPr/>
          <a:lstStyle/>
          <a:p>
            <a:pPr algn="l"/>
            <a:r>
              <a:rPr lang="en-US" sz="3200" dirty="0" smtClean="0">
                <a:effectLst/>
                <a:latin typeface="Algerian" pitchFamily="82" charset="0"/>
              </a:rPr>
              <a:t>SOFTWARE ENGINEERING</a:t>
            </a:r>
            <a:endParaRPr lang="es-ES" sz="3200" b="1" dirty="0">
              <a:solidFill>
                <a:schemeClr val="bg1"/>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8600" y="2819400"/>
            <a:ext cx="8915400" cy="2161736"/>
          </a:xfrm>
        </p:spPr>
        <p:txBody>
          <a:bodyPr>
            <a:noAutofit/>
          </a:bodyPr>
          <a:lstStyle/>
          <a:p>
            <a:pPr algn="l"/>
            <a:r>
              <a:rPr lang="en-US" sz="4400" dirty="0" smtClean="0"/>
              <a:t>Chapter 3: Software Requirements Analysis and Specification</a:t>
            </a:r>
            <a:endParaRPr lang="en-US" sz="44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704088"/>
            <a:ext cx="8229600" cy="1048512"/>
          </a:xfrm>
        </p:spPr>
        <p:txBody>
          <a:bodyPr/>
          <a:lstStyle/>
          <a:p>
            <a:r>
              <a:rPr lang="en-US" dirty="0" smtClean="0"/>
              <a:t>Objectives</a:t>
            </a:r>
            <a:endParaRPr lang="en-US" dirty="0"/>
          </a:p>
        </p:txBody>
      </p:sp>
      <p:sp>
        <p:nvSpPr>
          <p:cNvPr id="2" name="Content Placeholder 1"/>
          <p:cNvSpPr>
            <a:spLocks noGrp="1"/>
          </p:cNvSpPr>
          <p:nvPr>
            <p:ph idx="1"/>
          </p:nvPr>
        </p:nvSpPr>
        <p:spPr>
          <a:xfrm>
            <a:off x="457200" y="1905000"/>
            <a:ext cx="8229600" cy="4724400"/>
          </a:xfrm>
        </p:spPr>
        <p:txBody>
          <a:bodyPr>
            <a:normAutofit/>
          </a:bodyPr>
          <a:lstStyle/>
          <a:p>
            <a:pPr>
              <a:buNone/>
            </a:pPr>
            <a:r>
              <a:rPr lang="en-US" dirty="0" smtClean="0"/>
              <a:t>- </a:t>
            </a:r>
            <a:r>
              <a:rPr lang="en-US" sz="2800" dirty="0" smtClean="0"/>
              <a:t>To introduce the concepts of software requirements</a:t>
            </a:r>
          </a:p>
          <a:p>
            <a:pPr>
              <a:buNone/>
            </a:pPr>
            <a:r>
              <a:rPr lang="en-US" sz="2800" dirty="0" smtClean="0"/>
              <a:t>requirements</a:t>
            </a:r>
          </a:p>
          <a:p>
            <a:pPr>
              <a:buFontTx/>
              <a:buChar char="-"/>
            </a:pPr>
            <a:r>
              <a:rPr lang="en-US" sz="2800" dirty="0" smtClean="0"/>
              <a:t>To describe user requirement and system requirements</a:t>
            </a:r>
          </a:p>
          <a:p>
            <a:pPr>
              <a:buFontTx/>
              <a:buChar char="-"/>
            </a:pPr>
            <a:r>
              <a:rPr lang="en-US" sz="2800" dirty="0" smtClean="0"/>
              <a:t>To explain how software requirements may be organized in a requirements document</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a:t>
            </a:r>
            <a:endParaRPr lang="en-US" dirty="0"/>
          </a:p>
        </p:txBody>
      </p:sp>
      <p:sp>
        <p:nvSpPr>
          <p:cNvPr id="3" name="Content Placeholder 2"/>
          <p:cNvSpPr>
            <a:spLocks noGrp="1"/>
          </p:cNvSpPr>
          <p:nvPr>
            <p:ph idx="1"/>
          </p:nvPr>
        </p:nvSpPr>
        <p:spPr/>
        <p:txBody>
          <a:bodyPr>
            <a:normAutofit/>
          </a:bodyPr>
          <a:lstStyle/>
          <a:p>
            <a:r>
              <a:rPr lang="en-US" sz="2800" dirty="0" smtClean="0"/>
              <a:t>Requirement (IEEE) is defined as:</a:t>
            </a:r>
          </a:p>
          <a:p>
            <a:pPr>
              <a:buNone/>
            </a:pPr>
            <a:r>
              <a:rPr lang="en-US" sz="2800" dirty="0" smtClean="0"/>
              <a:t> 1. A condition or capability that must be possessed by a system to satisfy a contract, standard, specification, or other formally imposed document.</a:t>
            </a:r>
          </a:p>
          <a:p>
            <a:pPr>
              <a:buNone/>
            </a:pPr>
            <a:endParaRPr lang="en-US" sz="2800" dirty="0" smtClean="0"/>
          </a:p>
          <a:p>
            <a:pPr>
              <a:buNone/>
            </a:pPr>
            <a:r>
              <a:rPr lang="en-US" sz="2800" dirty="0" smtClean="0"/>
              <a:t>2. A condition of capability needed by a user to solve a problem or achieve an objective;</a:t>
            </a:r>
          </a:p>
          <a:p>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2800" dirty="0" smtClean="0"/>
              <a:t>Requirement phase ends with a Software Requirements Specification (SRS) document</a:t>
            </a:r>
          </a:p>
          <a:p>
            <a:endParaRPr lang="en-US" sz="2800" dirty="0" smtClean="0"/>
          </a:p>
          <a:p>
            <a:r>
              <a:rPr lang="en-US" sz="2800" dirty="0" smtClean="0"/>
              <a:t>SRS specifies what the proposed system should do</a:t>
            </a:r>
          </a:p>
          <a:p>
            <a:endParaRPr lang="en-US" sz="2800" dirty="0" smtClean="0"/>
          </a:p>
          <a:p>
            <a:r>
              <a:rPr lang="en-US" sz="2800" dirty="0" smtClean="0"/>
              <a:t>Identifying and specifying requirement necessarily involves people interaction</a:t>
            </a:r>
          </a:p>
          <a:p>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704088"/>
            <a:ext cx="8229600" cy="896112"/>
          </a:xfrm>
        </p:spPr>
        <p:txBody>
          <a:bodyPr>
            <a:normAutofit/>
          </a:bodyPr>
          <a:lstStyle/>
          <a:p>
            <a:r>
              <a:rPr lang="en-US" dirty="0" smtClean="0"/>
              <a:t>Requirements</a:t>
            </a:r>
            <a:endParaRPr lang="en-US" dirty="0"/>
          </a:p>
        </p:txBody>
      </p:sp>
      <p:sp>
        <p:nvSpPr>
          <p:cNvPr id="2" name="Content Placeholder 1"/>
          <p:cNvSpPr>
            <a:spLocks noGrp="1"/>
          </p:cNvSpPr>
          <p:nvPr>
            <p:ph idx="1"/>
          </p:nvPr>
        </p:nvSpPr>
        <p:spPr>
          <a:xfrm>
            <a:off x="304800" y="1752600"/>
            <a:ext cx="8534400" cy="4724400"/>
          </a:xfrm>
        </p:spPr>
        <p:txBody>
          <a:bodyPr>
            <a:normAutofit fontScale="92500" lnSpcReduction="10000"/>
          </a:bodyPr>
          <a:lstStyle/>
          <a:p>
            <a:r>
              <a:rPr lang="en-US" dirty="0" smtClean="0"/>
              <a:t>The requirements must be written so that several contractors can bid for the contract</a:t>
            </a:r>
          </a:p>
          <a:p>
            <a:r>
              <a:rPr lang="en-US" dirty="0" smtClean="0"/>
              <a:t>Once a contract has been awarded, the contractor must write a </a:t>
            </a:r>
            <a:r>
              <a:rPr lang="en-US" b="1" dirty="0" smtClean="0"/>
              <a:t>system definition </a:t>
            </a:r>
            <a:r>
              <a:rPr lang="en-US" dirty="0" smtClean="0"/>
              <a:t>for the client in more detail so that the client understands and can validate what the software will do. </a:t>
            </a:r>
          </a:p>
          <a:p>
            <a:endParaRPr lang="en-US" dirty="0" smtClean="0"/>
          </a:p>
          <a:p>
            <a:r>
              <a:rPr lang="en-US" dirty="0" smtClean="0"/>
              <a:t>Both of these documents may be called </a:t>
            </a:r>
            <a:r>
              <a:rPr lang="en-US" b="1" dirty="0" smtClean="0"/>
              <a:t>the </a:t>
            </a:r>
            <a:r>
              <a:rPr lang="en-US" b="1" i="1" dirty="0" smtClean="0"/>
              <a:t>requirements document</a:t>
            </a:r>
            <a:r>
              <a:rPr lang="en-US" i="1" dirty="0" smtClean="0"/>
              <a:t> </a:t>
            </a:r>
            <a:r>
              <a:rPr lang="en-US" dirty="0" smtClean="0"/>
              <a:t>for the system.</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533400"/>
            <a:ext cx="8229600" cy="990600"/>
          </a:xfrm>
        </p:spPr>
        <p:txBody>
          <a:bodyPr>
            <a:normAutofit fontScale="90000"/>
          </a:bodyPr>
          <a:lstStyle/>
          <a:p>
            <a:r>
              <a:rPr lang="en-US" dirty="0" smtClean="0"/>
              <a:t>Function and Goals of  requirement</a:t>
            </a:r>
            <a:endParaRPr lang="en-US" dirty="0"/>
          </a:p>
        </p:txBody>
      </p:sp>
      <p:sp>
        <p:nvSpPr>
          <p:cNvPr id="2" name="Content Placeholder 1"/>
          <p:cNvSpPr>
            <a:spLocks noGrp="1"/>
          </p:cNvSpPr>
          <p:nvPr>
            <p:ph idx="1"/>
          </p:nvPr>
        </p:nvSpPr>
        <p:spPr>
          <a:xfrm>
            <a:off x="228600" y="1600200"/>
            <a:ext cx="8534400" cy="4953000"/>
          </a:xfrm>
        </p:spPr>
        <p:txBody>
          <a:bodyPr>
            <a:normAutofit/>
          </a:bodyPr>
          <a:lstStyle/>
          <a:p>
            <a:pPr>
              <a:buNone/>
            </a:pPr>
            <a:endParaRPr lang="en-US" dirty="0" smtClean="0"/>
          </a:p>
          <a:p>
            <a:pPr>
              <a:buFontTx/>
              <a:buChar char="-"/>
            </a:pPr>
            <a:r>
              <a:rPr lang="en-US" sz="2800" dirty="0" smtClean="0"/>
              <a:t>May be the basis for a bid for a contract - therefore must be open to interpretation</a:t>
            </a:r>
          </a:p>
          <a:p>
            <a:pPr marL="338138" indent="-338138">
              <a:spcBef>
                <a:spcPct val="50000"/>
              </a:spcBef>
              <a:buNone/>
            </a:pPr>
            <a:r>
              <a:rPr lang="en-US" sz="2800" b="1" dirty="0" smtClean="0">
                <a:solidFill>
                  <a:srgbClr val="0000CC"/>
                </a:solidFill>
                <a:cs typeface="Times New Roman" charset="0"/>
              </a:rPr>
              <a:t>- Understand</a:t>
            </a:r>
            <a:r>
              <a:rPr lang="en-US" sz="2800" dirty="0" smtClean="0">
                <a:cs typeface="Times New Roman" charset="0"/>
              </a:rPr>
              <a:t> the requirements </a:t>
            </a:r>
            <a:r>
              <a:rPr lang="en-US" sz="2800" b="1" dirty="0" smtClean="0">
                <a:solidFill>
                  <a:srgbClr val="0000CC"/>
                </a:solidFill>
                <a:cs typeface="Times New Roman" charset="0"/>
              </a:rPr>
              <a:t>in detail</a:t>
            </a:r>
            <a:r>
              <a:rPr lang="en-US" sz="2800" dirty="0" smtClean="0">
                <a:cs typeface="Times New Roman" charset="0"/>
              </a:rPr>
              <a:t>.</a:t>
            </a:r>
          </a:p>
          <a:p>
            <a:pPr marL="338138" indent="-338138">
              <a:spcBef>
                <a:spcPct val="50000"/>
              </a:spcBef>
              <a:buNone/>
            </a:pPr>
            <a:r>
              <a:rPr lang="en-US" sz="2800" b="1" dirty="0" smtClean="0">
                <a:solidFill>
                  <a:srgbClr val="0000CC"/>
                </a:solidFill>
                <a:cs typeface="Times New Roman" charset="0"/>
              </a:rPr>
              <a:t>- Define</a:t>
            </a:r>
            <a:r>
              <a:rPr lang="en-US" sz="2800" dirty="0" smtClean="0">
                <a:cs typeface="Times New Roman" charset="0"/>
              </a:rPr>
              <a:t> the requirements in a manner that is </a:t>
            </a:r>
            <a:r>
              <a:rPr lang="en-US" sz="2800" b="1" dirty="0" smtClean="0">
                <a:solidFill>
                  <a:srgbClr val="0000CC"/>
                </a:solidFill>
                <a:cs typeface="Times New Roman" charset="0"/>
              </a:rPr>
              <a:t>clear to the client</a:t>
            </a:r>
            <a:r>
              <a:rPr lang="en-US" sz="2800" dirty="0" smtClean="0">
                <a:cs typeface="Times New Roman" charset="0"/>
              </a:rPr>
              <a:t>.  This may be a written specification, prototype system, or other form of communication.  </a:t>
            </a:r>
          </a:p>
          <a:p>
            <a:pPr>
              <a:buFontTx/>
              <a:buChar char="-"/>
            </a:pPr>
            <a:endParaRPr lang="en-US" dirty="0" smtClean="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338138" indent="-338138">
              <a:spcBef>
                <a:spcPct val="50000"/>
              </a:spcBef>
              <a:buNone/>
            </a:pPr>
            <a:r>
              <a:rPr lang="en-US" b="1" dirty="0" smtClean="0">
                <a:solidFill>
                  <a:srgbClr val="0000CC"/>
                </a:solidFill>
                <a:cs typeface="Times New Roman" charset="0"/>
              </a:rPr>
              <a:t>- Define</a:t>
            </a:r>
            <a:r>
              <a:rPr lang="en-US" dirty="0" smtClean="0">
                <a:cs typeface="Times New Roman" charset="0"/>
              </a:rPr>
              <a:t> the requirements in a manner that is </a:t>
            </a:r>
            <a:r>
              <a:rPr lang="en-US" b="1" dirty="0" smtClean="0">
                <a:solidFill>
                  <a:srgbClr val="0000CC"/>
                </a:solidFill>
                <a:cs typeface="Times New Roman" charset="0"/>
              </a:rPr>
              <a:t>clear to the people</a:t>
            </a:r>
            <a:r>
              <a:rPr lang="en-US" dirty="0" smtClean="0">
                <a:cs typeface="Times New Roman" charset="0"/>
              </a:rPr>
              <a:t> who will </a:t>
            </a:r>
            <a:r>
              <a:rPr lang="en-US" b="1" dirty="0" smtClean="0">
                <a:solidFill>
                  <a:srgbClr val="0000CC"/>
                </a:solidFill>
                <a:cs typeface="Times New Roman" charset="0"/>
              </a:rPr>
              <a:t>design, implement and maintain the system.</a:t>
            </a:r>
          </a:p>
          <a:p>
            <a:pPr marL="338138" indent="-338138">
              <a:spcBef>
                <a:spcPct val="50000"/>
              </a:spcBef>
              <a:buNone/>
            </a:pPr>
            <a:r>
              <a:rPr lang="en-US" b="1" dirty="0" smtClean="0">
                <a:solidFill>
                  <a:srgbClr val="0000CC"/>
                </a:solidFill>
                <a:cs typeface="Times New Roman" charset="0"/>
              </a:rPr>
              <a:t>- Ensure</a:t>
            </a:r>
            <a:r>
              <a:rPr lang="en-US" dirty="0" smtClean="0">
                <a:cs typeface="Times New Roman" charset="0"/>
              </a:rPr>
              <a:t> that the </a:t>
            </a:r>
            <a:r>
              <a:rPr lang="en-US" b="1" dirty="0" smtClean="0">
                <a:solidFill>
                  <a:srgbClr val="0000CC"/>
                </a:solidFill>
                <a:cs typeface="Times New Roman" charset="0"/>
              </a:rPr>
              <a:t>client</a:t>
            </a:r>
            <a:r>
              <a:rPr lang="en-US" dirty="0" smtClean="0">
                <a:cs typeface="Times New Roman" charset="0"/>
              </a:rPr>
              <a:t> </a:t>
            </a:r>
            <a:r>
              <a:rPr lang="en-US" b="1" dirty="0" smtClean="0">
                <a:solidFill>
                  <a:srgbClr val="0000CC"/>
                </a:solidFill>
                <a:cs typeface="Times New Roman" charset="0"/>
              </a:rPr>
              <a:t>and developers </a:t>
            </a:r>
            <a:r>
              <a:rPr lang="en-US" dirty="0" smtClean="0">
                <a:cs typeface="Times New Roman" charset="0"/>
              </a:rPr>
              <a:t>understand the  requirements and their </a:t>
            </a:r>
            <a:r>
              <a:rPr lang="en-US" b="1" dirty="0" smtClean="0">
                <a:solidFill>
                  <a:srgbClr val="0000CC"/>
                </a:solidFill>
                <a:cs typeface="Times New Roman" charset="0"/>
              </a:rPr>
              <a:t>implications.</a:t>
            </a:r>
            <a:endParaRPr lang="en-US" dirty="0" smtClean="0">
              <a:cs typeface="Times New Roman" charset="0"/>
            </a:endParaRPr>
          </a:p>
          <a:p>
            <a:pPr marL="338138" indent="-338138">
              <a:spcBef>
                <a:spcPct val="50000"/>
              </a:spcBef>
              <a:buNone/>
            </a:pPr>
            <a:r>
              <a:rPr lang="en-US" dirty="0" smtClean="0">
                <a:cs typeface="Times New Roman" charset="0"/>
              </a:rPr>
              <a:t>The set of requirements will be the basis for acceptance testing.</a:t>
            </a:r>
          </a:p>
          <a:p>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704088"/>
            <a:ext cx="8229600" cy="972312"/>
          </a:xfrm>
        </p:spPr>
        <p:txBody>
          <a:bodyPr>
            <a:normAutofit fontScale="90000"/>
          </a:bodyPr>
          <a:lstStyle/>
          <a:p>
            <a:r>
              <a:rPr lang="en-US" dirty="0" smtClean="0"/>
              <a:t>Why are Requirements Important?</a:t>
            </a:r>
            <a:endParaRPr lang="en-US" dirty="0"/>
          </a:p>
        </p:txBody>
      </p:sp>
      <p:sp>
        <p:nvSpPr>
          <p:cNvPr id="2" name="Content Placeholder 1"/>
          <p:cNvSpPr>
            <a:spLocks noGrp="1"/>
          </p:cNvSpPr>
          <p:nvPr>
            <p:ph idx="1"/>
          </p:nvPr>
        </p:nvSpPr>
        <p:spPr>
          <a:xfrm>
            <a:off x="457200" y="1676400"/>
            <a:ext cx="8229600" cy="4800600"/>
          </a:xfrm>
        </p:spPr>
        <p:txBody>
          <a:bodyPr>
            <a:normAutofit fontScale="92500" lnSpcReduction="10000"/>
          </a:bodyPr>
          <a:lstStyle/>
          <a:p>
            <a:pPr>
              <a:buNone/>
            </a:pPr>
            <a:r>
              <a:rPr lang="en-US" b="1" dirty="0" smtClean="0">
                <a:solidFill>
                  <a:srgbClr val="0000CC"/>
                </a:solidFill>
              </a:rPr>
              <a:t>Causes of failed software projects</a:t>
            </a:r>
          </a:p>
          <a:p>
            <a:pPr>
              <a:spcBef>
                <a:spcPct val="10000"/>
              </a:spcBef>
              <a:buNone/>
              <a:tabLst>
                <a:tab pos="6057900" algn="r"/>
              </a:tabLst>
            </a:pPr>
            <a:r>
              <a:rPr lang="en-US" b="1" i="1" dirty="0" smtClean="0"/>
              <a:t>- </a:t>
            </a:r>
            <a:r>
              <a:rPr lang="en-US" sz="2800" b="1" i="1" dirty="0" smtClean="0"/>
              <a:t>Incomplete requirements</a:t>
            </a:r>
            <a:r>
              <a:rPr lang="en-US" sz="2800" b="1" dirty="0" smtClean="0"/>
              <a:t>	13.1%</a:t>
            </a:r>
          </a:p>
          <a:p>
            <a:pPr>
              <a:spcBef>
                <a:spcPct val="10000"/>
              </a:spcBef>
              <a:buNone/>
              <a:tabLst>
                <a:tab pos="6057900" algn="r"/>
              </a:tabLst>
            </a:pPr>
            <a:r>
              <a:rPr lang="en-US" sz="2800" b="1" i="1" dirty="0" smtClean="0"/>
              <a:t>- Lack of user involvement</a:t>
            </a:r>
            <a:r>
              <a:rPr lang="en-US" sz="2800" b="1" dirty="0" smtClean="0"/>
              <a:t>	12.4%</a:t>
            </a:r>
          </a:p>
          <a:p>
            <a:pPr>
              <a:spcBef>
                <a:spcPct val="10000"/>
              </a:spcBef>
              <a:buNone/>
              <a:tabLst>
                <a:tab pos="6057900" algn="r"/>
              </a:tabLst>
            </a:pPr>
            <a:r>
              <a:rPr lang="en-US" sz="2800" b="1" dirty="0" smtClean="0"/>
              <a:t>- Lack of resources	10.6%</a:t>
            </a:r>
          </a:p>
          <a:p>
            <a:pPr>
              <a:spcBef>
                <a:spcPct val="10000"/>
              </a:spcBef>
              <a:buNone/>
              <a:tabLst>
                <a:tab pos="6057900" algn="r"/>
              </a:tabLst>
            </a:pPr>
            <a:r>
              <a:rPr lang="en-US" sz="2800" b="1" i="1" dirty="0" smtClean="0"/>
              <a:t>- Unrealistic expectations</a:t>
            </a:r>
            <a:r>
              <a:rPr lang="en-US" sz="2800" b="1" dirty="0" smtClean="0"/>
              <a:t>	  9.9%</a:t>
            </a:r>
          </a:p>
          <a:p>
            <a:pPr>
              <a:spcBef>
                <a:spcPct val="10000"/>
              </a:spcBef>
              <a:buNone/>
              <a:tabLst>
                <a:tab pos="6057900" algn="r"/>
              </a:tabLst>
            </a:pPr>
            <a:r>
              <a:rPr lang="en-US" sz="2800" b="1" dirty="0" smtClean="0"/>
              <a:t>- Lack of executive support	  9.3%</a:t>
            </a:r>
          </a:p>
          <a:p>
            <a:pPr>
              <a:spcBef>
                <a:spcPct val="10000"/>
              </a:spcBef>
              <a:buNone/>
              <a:tabLst>
                <a:tab pos="6057900" algn="r"/>
              </a:tabLst>
            </a:pPr>
            <a:r>
              <a:rPr lang="en-US" sz="2800" b="1" i="1" dirty="0" smtClean="0"/>
              <a:t>- Changing </a:t>
            </a:r>
            <a:r>
              <a:rPr lang="en-US" sz="2800" b="1" i="1" dirty="0" err="1" smtClean="0"/>
              <a:t>requirs</a:t>
            </a:r>
            <a:r>
              <a:rPr lang="en-US" sz="2800" b="1" i="1" dirty="0" smtClean="0"/>
              <a:t> &amp; specs</a:t>
            </a:r>
            <a:r>
              <a:rPr lang="en-US" sz="2800" b="1" dirty="0" smtClean="0"/>
              <a:t>	  8.8%</a:t>
            </a:r>
          </a:p>
          <a:p>
            <a:pPr>
              <a:spcBef>
                <a:spcPct val="10000"/>
              </a:spcBef>
              <a:buNone/>
              <a:tabLst>
                <a:tab pos="6057900" algn="r"/>
              </a:tabLst>
            </a:pPr>
            <a:r>
              <a:rPr lang="en-US" sz="2800" b="1" dirty="0" smtClean="0"/>
              <a:t>- Lack of planning	  8.1%</a:t>
            </a:r>
          </a:p>
          <a:p>
            <a:pPr>
              <a:spcBef>
                <a:spcPct val="10000"/>
              </a:spcBef>
              <a:buNone/>
              <a:tabLst>
                <a:tab pos="6057900" algn="r"/>
              </a:tabLst>
            </a:pPr>
            <a:r>
              <a:rPr lang="en-US" sz="2800" b="1" i="1" dirty="0" smtClean="0"/>
              <a:t>- System no longer needed</a:t>
            </a:r>
            <a:r>
              <a:rPr lang="en-US" sz="2800" b="1" dirty="0" smtClean="0"/>
              <a:t>	  7.5%</a:t>
            </a:r>
          </a:p>
          <a:p>
            <a:pPr>
              <a:spcBef>
                <a:spcPct val="10000"/>
              </a:spcBef>
              <a:buNone/>
              <a:tabLst>
                <a:tab pos="6057900" algn="r"/>
              </a:tabLst>
            </a:pPr>
            <a:r>
              <a:rPr lang="en-US" b="1" i="1" dirty="0" smtClean="0">
                <a:solidFill>
                  <a:srgbClr val="0000CC"/>
                </a:solidFill>
              </a:rPr>
              <a:t>The commonest mistake is to build the wrong system.</a:t>
            </a:r>
          </a:p>
          <a:p>
            <a:pPr>
              <a:spcBef>
                <a:spcPct val="10000"/>
              </a:spcBef>
              <a:tabLst>
                <a:tab pos="6057900" algn="r"/>
              </a:tabLst>
            </a:pPr>
            <a:endParaRPr lang="en-US" dirty="0" smtClean="0"/>
          </a:p>
          <a:p>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704088"/>
            <a:ext cx="8229600" cy="972312"/>
          </a:xfrm>
        </p:spPr>
        <p:txBody>
          <a:bodyPr/>
          <a:lstStyle/>
          <a:p>
            <a:r>
              <a:rPr lang="en-US" dirty="0" smtClean="0"/>
              <a:t>Types of software requirements</a:t>
            </a:r>
            <a:endParaRPr lang="en-US" dirty="0"/>
          </a:p>
        </p:txBody>
      </p:sp>
      <p:sp>
        <p:nvSpPr>
          <p:cNvPr id="2" name="Content Placeholder 1"/>
          <p:cNvSpPr>
            <a:spLocks noGrp="1"/>
          </p:cNvSpPr>
          <p:nvPr>
            <p:ph idx="1"/>
          </p:nvPr>
        </p:nvSpPr>
        <p:spPr>
          <a:xfrm>
            <a:off x="381000" y="1828800"/>
            <a:ext cx="8458200" cy="4724400"/>
          </a:xfrm>
        </p:spPr>
        <p:txBody>
          <a:bodyPr>
            <a:normAutofit/>
          </a:bodyPr>
          <a:lstStyle/>
          <a:p>
            <a:pPr>
              <a:buNone/>
            </a:pPr>
            <a:r>
              <a:rPr lang="en-US" b="1" dirty="0" smtClean="0"/>
              <a:t>1. User requirements</a:t>
            </a:r>
          </a:p>
          <a:p>
            <a:pPr>
              <a:buNone/>
            </a:pPr>
            <a:r>
              <a:rPr lang="en-US" b="1" dirty="0" smtClean="0"/>
              <a:t>2. System requirements</a:t>
            </a:r>
          </a:p>
          <a:p>
            <a:pPr>
              <a:buNone/>
            </a:pPr>
            <a:r>
              <a:rPr lang="en-US" dirty="0" smtClean="0"/>
              <a:t> </a:t>
            </a:r>
            <a:r>
              <a:rPr lang="en-US" b="1" dirty="0" smtClean="0"/>
              <a:t>3. Software specification</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2667000" y="2286000"/>
            <a:ext cx="3048000" cy="6858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rPr>
              <a:t>Software requirements</a:t>
            </a:r>
            <a:endParaRPr lang="en-US" sz="2400" dirty="0">
              <a:solidFill>
                <a:schemeClr val="tx1"/>
              </a:solidFill>
            </a:endParaRPr>
          </a:p>
        </p:txBody>
      </p:sp>
      <p:sp>
        <p:nvSpPr>
          <p:cNvPr id="9" name="Content Placeholder 4"/>
          <p:cNvSpPr txBox="1">
            <a:spLocks/>
          </p:cNvSpPr>
          <p:nvPr/>
        </p:nvSpPr>
        <p:spPr>
          <a:xfrm>
            <a:off x="2971800" y="4038600"/>
            <a:ext cx="2819400" cy="6858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noAutofit/>
          </a:bodyPr>
          <a:lstStyle/>
          <a:p>
            <a:pPr marL="274320" marR="0" lvl="0" indent="-274320" algn="ctr" defTabSz="914400" rtl="0" eaLnBrk="1" fontAlgn="auto" latinLnBrk="0" hangingPunct="1">
              <a:lnSpc>
                <a:spcPct val="100000"/>
              </a:lnSpc>
              <a:spcBef>
                <a:spcPct val="20000"/>
              </a:spcBef>
              <a:spcAft>
                <a:spcPts val="0"/>
              </a:spcAft>
              <a:buClr>
                <a:schemeClr val="accent3"/>
              </a:buClr>
              <a:buSzPct val="95000"/>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System</a:t>
            </a:r>
            <a:r>
              <a:rPr kumimoji="0" lang="en-US" sz="2400" b="0" i="0" u="none" strike="noStrike" kern="1200" cap="none" spc="0" normalizeH="0" noProof="0" dirty="0" smtClean="0">
                <a:ln>
                  <a:noFill/>
                </a:ln>
                <a:solidFill>
                  <a:schemeClr val="tx1"/>
                </a:solidFill>
                <a:effectLst/>
                <a:uLnTx/>
                <a:uFillTx/>
                <a:latin typeface="+mn-lt"/>
                <a:ea typeface="+mn-ea"/>
                <a:cs typeface="+mn-cs"/>
              </a:rPr>
              <a:t> </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requirements</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10" name="Content Placeholder 4"/>
          <p:cNvSpPr txBox="1">
            <a:spLocks/>
          </p:cNvSpPr>
          <p:nvPr/>
        </p:nvSpPr>
        <p:spPr>
          <a:xfrm>
            <a:off x="76200" y="4038600"/>
            <a:ext cx="2819400" cy="6858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normAutofit/>
          </a:bodyPr>
          <a:lstStyle/>
          <a:p>
            <a:pPr marL="274320" marR="0" lvl="0" indent="-274320" algn="ctr" defTabSz="914400" rtl="0" eaLnBrk="1" fontAlgn="auto" latinLnBrk="0" hangingPunct="1">
              <a:lnSpc>
                <a:spcPct val="100000"/>
              </a:lnSpc>
              <a:spcBef>
                <a:spcPct val="20000"/>
              </a:spcBef>
              <a:spcAft>
                <a:spcPts val="0"/>
              </a:spcAft>
              <a:buClr>
                <a:schemeClr val="accent3"/>
              </a:buClr>
              <a:buSzPct val="95000"/>
              <a:tabLst/>
              <a:defRPr/>
            </a:pPr>
            <a:r>
              <a:rPr lang="en-US" sz="2400" dirty="0" smtClean="0">
                <a:solidFill>
                  <a:schemeClr val="tx1"/>
                </a:solidFill>
              </a:rPr>
              <a:t>User </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requirements</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12" name="Content Placeholder 4"/>
          <p:cNvSpPr txBox="1">
            <a:spLocks/>
          </p:cNvSpPr>
          <p:nvPr/>
        </p:nvSpPr>
        <p:spPr>
          <a:xfrm>
            <a:off x="5943600" y="4038600"/>
            <a:ext cx="2819400" cy="6858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noAutofit/>
          </a:bodyPr>
          <a:lstStyle/>
          <a:p>
            <a:pPr marL="274320" lvl="0" indent="-274320" algn="ctr">
              <a:spcBef>
                <a:spcPct val="20000"/>
              </a:spcBef>
              <a:buClr>
                <a:schemeClr val="accent3"/>
              </a:buClr>
              <a:buSzPct val="95000"/>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Software </a:t>
            </a:r>
            <a:r>
              <a:rPr lang="en-US" sz="2400" dirty="0" smtClean="0">
                <a:solidFill>
                  <a:schemeClr val="tx1"/>
                </a:solidFill>
              </a:rPr>
              <a:t>specification</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cxnSp>
        <p:nvCxnSpPr>
          <p:cNvPr id="26" name="Straight Arrow Connector 25"/>
          <p:cNvCxnSpPr/>
          <p:nvPr/>
        </p:nvCxnSpPr>
        <p:spPr>
          <a:xfrm rot="10800000" flipV="1">
            <a:off x="1905000" y="2971800"/>
            <a:ext cx="1524000" cy="1066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4" idx="2"/>
          </p:cNvCxnSpPr>
          <p:nvPr/>
        </p:nvCxnSpPr>
        <p:spPr>
          <a:xfrm rot="5400000">
            <a:off x="3695700" y="3467100"/>
            <a:ext cx="990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4800600" y="2971800"/>
            <a:ext cx="1981200" cy="990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1143000"/>
          </a:xfrm>
        </p:spPr>
        <p:txBody>
          <a:bodyPr/>
          <a:lstStyle/>
          <a:p>
            <a:r>
              <a:rPr lang="en-US" dirty="0" smtClean="0"/>
              <a:t>1. User requirements</a:t>
            </a:r>
            <a:endParaRPr lang="en-US" dirty="0"/>
          </a:p>
        </p:txBody>
      </p:sp>
      <p:sp>
        <p:nvSpPr>
          <p:cNvPr id="3" name="Content Placeholder 2"/>
          <p:cNvSpPr>
            <a:spLocks noGrp="1"/>
          </p:cNvSpPr>
          <p:nvPr>
            <p:ph idx="1"/>
          </p:nvPr>
        </p:nvSpPr>
        <p:spPr>
          <a:xfrm>
            <a:off x="304800" y="1828800"/>
            <a:ext cx="8458200" cy="4724400"/>
          </a:xfrm>
        </p:spPr>
        <p:txBody>
          <a:bodyPr>
            <a:normAutofit fontScale="92500" lnSpcReduction="10000"/>
          </a:bodyPr>
          <a:lstStyle/>
          <a:p>
            <a:r>
              <a:rPr lang="en-US" dirty="0" smtClean="0"/>
              <a:t> Statements in natural language plus diagrams of the services the system provides and its operational constraints. Written for customers</a:t>
            </a:r>
          </a:p>
          <a:p>
            <a:pPr>
              <a:buNone/>
            </a:pPr>
            <a:r>
              <a:rPr lang="en-US" sz="2800" b="1" dirty="0" smtClean="0"/>
              <a:t>- Functional</a:t>
            </a:r>
            <a:r>
              <a:rPr lang="en-US" sz="2800" dirty="0" smtClean="0"/>
              <a:t> and</a:t>
            </a:r>
          </a:p>
          <a:p>
            <a:pPr>
              <a:buFontTx/>
              <a:buChar char="-"/>
            </a:pPr>
            <a:r>
              <a:rPr lang="en-US" sz="2800" b="1" dirty="0" smtClean="0"/>
              <a:t>Non-functional requirements</a:t>
            </a:r>
          </a:p>
          <a:p>
            <a:pPr>
              <a:buNone/>
            </a:pPr>
            <a:endParaRPr lang="en-US" sz="2800" b="1" dirty="0" smtClean="0"/>
          </a:p>
          <a:p>
            <a:r>
              <a:rPr lang="en-US" dirty="0" smtClean="0"/>
              <a:t>User requirement should describe functional and non-functional requirements so that they are understandable by system users who don’t have detailed technical knowledge.</a:t>
            </a:r>
          </a:p>
          <a:p>
            <a:pPr>
              <a:buNone/>
            </a:pPr>
            <a:endParaRPr lang="en-US" b="1"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04800" y="704088"/>
            <a:ext cx="8686800" cy="896112"/>
          </a:xfrm>
        </p:spPr>
        <p:txBody>
          <a:bodyPr>
            <a:noAutofit/>
          </a:bodyPr>
          <a:lstStyle/>
          <a:p>
            <a:r>
              <a:rPr lang="en-US" sz="4800" dirty="0" smtClean="0"/>
              <a:t>Functional requirements</a:t>
            </a:r>
            <a:endParaRPr lang="en-US" sz="4800" dirty="0"/>
          </a:p>
        </p:txBody>
      </p:sp>
      <p:sp>
        <p:nvSpPr>
          <p:cNvPr id="2" name="Content Placeholder 1"/>
          <p:cNvSpPr>
            <a:spLocks noGrp="1"/>
          </p:cNvSpPr>
          <p:nvPr>
            <p:ph idx="1"/>
          </p:nvPr>
        </p:nvSpPr>
        <p:spPr>
          <a:xfrm>
            <a:off x="228600" y="1676400"/>
            <a:ext cx="8610600" cy="4800600"/>
          </a:xfrm>
        </p:spPr>
        <p:txBody>
          <a:bodyPr>
            <a:normAutofit/>
          </a:bodyPr>
          <a:lstStyle/>
          <a:p>
            <a:pPr>
              <a:buFontTx/>
              <a:buChar char="-"/>
            </a:pPr>
            <a:r>
              <a:rPr lang="en-US" sz="2800" dirty="0" smtClean="0"/>
              <a:t>Statements of services/functionality the system should provide/ do,</a:t>
            </a:r>
          </a:p>
          <a:p>
            <a:pPr>
              <a:buFontTx/>
              <a:buChar char="-"/>
            </a:pPr>
            <a:r>
              <a:rPr lang="en-US" sz="2800" dirty="0" smtClean="0"/>
              <a:t> how the system should react to particular inputs and how the system should behave in particular situations.</a:t>
            </a:r>
          </a:p>
          <a:p>
            <a:pPr>
              <a:buNone/>
            </a:pPr>
            <a:r>
              <a:rPr lang="en-US" sz="2800" dirty="0" smtClean="0"/>
              <a:t>- Describe functionality or system services</a:t>
            </a:r>
          </a:p>
          <a:p>
            <a:pPr>
              <a:buFontTx/>
              <a:buChar char="-"/>
            </a:pPr>
            <a:r>
              <a:rPr lang="en-US" sz="2800" dirty="0" smtClean="0"/>
              <a:t>Depend on the type of software, expected users and the type of system where the software is used</a:t>
            </a:r>
          </a:p>
          <a:p>
            <a:pPr>
              <a:buFontTx/>
              <a:buChar char="-"/>
            </a:pPr>
            <a:endParaRPr lang="en-US" dirty="0" smtClean="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US" sz="4800" dirty="0" smtClean="0"/>
              <a:t>Examples of functional requirements</a:t>
            </a:r>
            <a:endParaRPr lang="en-US" sz="4800" dirty="0"/>
          </a:p>
        </p:txBody>
      </p:sp>
      <p:sp>
        <p:nvSpPr>
          <p:cNvPr id="2" name="Content Placeholder 1"/>
          <p:cNvSpPr>
            <a:spLocks noGrp="1"/>
          </p:cNvSpPr>
          <p:nvPr>
            <p:ph idx="1"/>
          </p:nvPr>
        </p:nvSpPr>
        <p:spPr/>
        <p:txBody>
          <a:bodyPr>
            <a:normAutofit/>
          </a:bodyPr>
          <a:lstStyle/>
          <a:p>
            <a:pPr>
              <a:buFontTx/>
              <a:buChar char="-"/>
            </a:pPr>
            <a:r>
              <a:rPr lang="en-US" sz="2800" dirty="0" smtClean="0"/>
              <a:t>The user shall be able to search either all of the initial set of databases or select a subset from it.</a:t>
            </a:r>
          </a:p>
          <a:p>
            <a:pPr>
              <a:buFontTx/>
              <a:buChar char="-"/>
            </a:pPr>
            <a:r>
              <a:rPr lang="en-US" sz="2800" dirty="0" smtClean="0"/>
              <a:t>In library, member should be able to borrow a book, return a book, …</a:t>
            </a:r>
          </a:p>
          <a:p>
            <a:pPr>
              <a:buFontTx/>
              <a:buChar char="-"/>
            </a:pPr>
            <a:endParaRPr lang="en-US" sz="2800" dirty="0" smtClean="0"/>
          </a:p>
          <a:p>
            <a:pPr>
              <a:buNone/>
            </a:pPr>
            <a:r>
              <a:rPr lang="en-US" sz="2800" dirty="0" smtClean="0"/>
              <a:t>- The system shall provide appropriate viewers for the user to read documents in the document store.</a:t>
            </a:r>
          </a:p>
          <a:p>
            <a:pPr>
              <a:buNone/>
            </a:pPr>
            <a:endParaRPr lang="en-US" sz="28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No-Functional requirements</a:t>
            </a:r>
            <a:endParaRPr lang="en-US" dirty="0"/>
          </a:p>
        </p:txBody>
      </p:sp>
      <p:sp>
        <p:nvSpPr>
          <p:cNvPr id="3" name="Content Placeholder 2"/>
          <p:cNvSpPr>
            <a:spLocks noGrp="1"/>
          </p:cNvSpPr>
          <p:nvPr>
            <p:ph idx="1"/>
          </p:nvPr>
        </p:nvSpPr>
        <p:spPr/>
        <p:txBody>
          <a:bodyPr/>
          <a:lstStyle/>
          <a:p>
            <a:pPr>
              <a:buNone/>
            </a:pPr>
            <a:r>
              <a:rPr lang="en-US" sz="2800" dirty="0" smtClean="0"/>
              <a:t>Also called </a:t>
            </a:r>
            <a:r>
              <a:rPr lang="en-US" sz="2800" b="1" dirty="0" smtClean="0"/>
              <a:t>Quality requirement.</a:t>
            </a:r>
          </a:p>
          <a:p>
            <a:pPr>
              <a:buNone/>
            </a:pPr>
            <a:r>
              <a:rPr lang="en-US" sz="2800" dirty="0" smtClean="0"/>
              <a:t>They define system properties and constraints e.g.</a:t>
            </a:r>
          </a:p>
          <a:p>
            <a:pPr>
              <a:buNone/>
            </a:pPr>
            <a:r>
              <a:rPr lang="en-US" sz="2800" dirty="0" smtClean="0"/>
              <a:t>reliability, response time, timing constraints, constraints on the development process, standards  and storage requirements.</a:t>
            </a:r>
          </a:p>
          <a:p>
            <a:pPr>
              <a:buNone/>
            </a:pPr>
            <a:r>
              <a:rPr lang="en-US" sz="2800" dirty="0" smtClean="0"/>
              <a:t>Constraints are I/O device capability, system representations, etc.</a:t>
            </a:r>
          </a:p>
          <a:p>
            <a:pPr>
              <a:buNone/>
            </a:pPr>
            <a:endParaRPr lang="en-US" dirty="0" smtClean="0"/>
          </a:p>
          <a:p>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704088"/>
            <a:ext cx="8229600" cy="819912"/>
          </a:xfrm>
        </p:spPr>
        <p:txBody>
          <a:bodyPr/>
          <a:lstStyle/>
          <a:p>
            <a:r>
              <a:rPr lang="en-US" dirty="0" smtClean="0"/>
              <a:t>Non-functional requirements</a:t>
            </a:r>
            <a:endParaRPr lang="en-US" dirty="0"/>
          </a:p>
        </p:txBody>
      </p:sp>
      <p:sp>
        <p:nvSpPr>
          <p:cNvPr id="2" name="Content Placeholder 1"/>
          <p:cNvSpPr>
            <a:spLocks noGrp="1"/>
          </p:cNvSpPr>
          <p:nvPr>
            <p:ph idx="1"/>
          </p:nvPr>
        </p:nvSpPr>
        <p:spPr>
          <a:xfrm>
            <a:off x="304800" y="1600200"/>
            <a:ext cx="8534400" cy="4724400"/>
          </a:xfrm>
        </p:spPr>
        <p:txBody>
          <a:bodyPr>
            <a:normAutofit/>
          </a:bodyPr>
          <a:lstStyle/>
          <a:p>
            <a:r>
              <a:rPr lang="en-US" sz="2800" dirty="0" smtClean="0"/>
              <a:t>Not directly concerned with specific services to be delivered by the system. </a:t>
            </a:r>
          </a:p>
          <a:p>
            <a:pPr>
              <a:buNone/>
            </a:pPr>
            <a:endParaRPr lang="en-US" dirty="0" smtClean="0"/>
          </a:p>
          <a:p>
            <a:r>
              <a:rPr lang="en-US" sz="2800" dirty="0" smtClean="0"/>
              <a:t>Non-functional requirements may be more critical than functional requirements. If these are not met, the system is useless</a:t>
            </a:r>
          </a:p>
          <a:p>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endParaRPr lang="en-US"/>
          </a:p>
        </p:txBody>
      </p:sp>
      <p:pic>
        <p:nvPicPr>
          <p:cNvPr id="5" name="Picture 4"/>
          <p:cNvPicPr/>
          <p:nvPr/>
        </p:nvPicPr>
        <p:blipFill>
          <a:blip r:embed="rId2" cstate="print"/>
          <a:srcRect/>
          <a:stretch>
            <a:fillRect/>
          </a:stretch>
        </p:blipFill>
        <p:spPr bwMode="auto">
          <a:xfrm>
            <a:off x="914400" y="304800"/>
            <a:ext cx="7239000" cy="6553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457200"/>
            <a:ext cx="8229600" cy="838200"/>
          </a:xfrm>
        </p:spPr>
        <p:txBody>
          <a:bodyPr/>
          <a:lstStyle/>
          <a:p>
            <a:r>
              <a:rPr lang="en-US" dirty="0" smtClean="0"/>
              <a:t>Non-functional classifications</a:t>
            </a:r>
            <a:endParaRPr lang="en-US" dirty="0"/>
          </a:p>
        </p:txBody>
      </p:sp>
      <p:sp>
        <p:nvSpPr>
          <p:cNvPr id="2" name="Content Placeholder 1"/>
          <p:cNvSpPr>
            <a:spLocks noGrp="1"/>
          </p:cNvSpPr>
          <p:nvPr>
            <p:ph idx="1"/>
          </p:nvPr>
        </p:nvSpPr>
        <p:spPr>
          <a:xfrm>
            <a:off x="457200" y="1295400"/>
            <a:ext cx="8229600" cy="5029200"/>
          </a:xfrm>
        </p:spPr>
        <p:txBody>
          <a:bodyPr>
            <a:normAutofit fontScale="85000" lnSpcReduction="20000"/>
          </a:bodyPr>
          <a:lstStyle/>
          <a:p>
            <a:r>
              <a:rPr lang="en-US" b="1" dirty="0" smtClean="0"/>
              <a:t>Product requirements</a:t>
            </a:r>
          </a:p>
          <a:p>
            <a:pPr>
              <a:buNone/>
            </a:pPr>
            <a:r>
              <a:rPr lang="en-US" dirty="0" smtClean="0"/>
              <a:t>Requirements which specify that the delivered product must behave in a particular way e.g. reliability, portability, usability, efficiency (space(storage), performance ).</a:t>
            </a:r>
          </a:p>
          <a:p>
            <a:pPr>
              <a:buNone/>
            </a:pPr>
            <a:endParaRPr lang="en-US" dirty="0" smtClean="0"/>
          </a:p>
          <a:p>
            <a:pPr>
              <a:buNone/>
            </a:pPr>
            <a:r>
              <a:rPr lang="en-US" b="1" dirty="0" smtClean="0"/>
              <a:t>Performance</a:t>
            </a:r>
          </a:p>
          <a:p>
            <a:pPr>
              <a:buNone/>
            </a:pPr>
            <a:r>
              <a:rPr lang="en-US" dirty="0" err="1" smtClean="0"/>
              <a:t>Eg</a:t>
            </a:r>
            <a:r>
              <a:rPr lang="en-US" dirty="0" smtClean="0"/>
              <a:t>. 1. The medical system shall be available to all clinics during working hours Mon- Fri 7.30 -17.30, down time should not exceed 5 second in any one day 	</a:t>
            </a:r>
          </a:p>
          <a:p>
            <a:pPr>
              <a:buNone/>
            </a:pPr>
            <a:endParaRPr lang="en-US" dirty="0" smtClean="0"/>
          </a:p>
          <a:p>
            <a:pPr>
              <a:buNone/>
            </a:pPr>
            <a:r>
              <a:rPr lang="en-US" dirty="0" smtClean="0"/>
              <a:t>	</a:t>
            </a:r>
          </a:p>
          <a:p>
            <a:pPr>
              <a:buNone/>
            </a:pP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a:buNone/>
            </a:pPr>
            <a:r>
              <a:rPr lang="en-US" dirty="0" smtClean="0"/>
              <a:t>2. The system shall accommodate 400 users during the peak time windows of 8:00 to 10:00 am local time.</a:t>
            </a:r>
          </a:p>
          <a:p>
            <a:pPr>
              <a:buNone/>
            </a:pPr>
            <a:r>
              <a:rPr lang="en-US" b="1" dirty="0" smtClean="0"/>
              <a:t> </a:t>
            </a:r>
            <a:endParaRPr lang="en-US" dirty="0" smtClean="0"/>
          </a:p>
          <a:p>
            <a:pPr>
              <a:buNone/>
            </a:pPr>
            <a:r>
              <a:rPr lang="en-US" dirty="0" smtClean="0"/>
              <a:t>3. All web pages generated by the system shall be fully downloadable in no more than 7 seconds over 40kbps modem connection.</a:t>
            </a:r>
          </a:p>
          <a:p>
            <a:endParaRPr lang="en-US" dirty="0" smtClean="0"/>
          </a:p>
          <a:p>
            <a:pPr>
              <a:buNone/>
            </a:pPr>
            <a:r>
              <a:rPr lang="en-US" dirty="0" smtClean="0"/>
              <a:t>4. The system shall display the confirmation messages to users within 4 seconds after user submit information to the system.</a:t>
            </a:r>
          </a:p>
          <a:p>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b="1" dirty="0" smtClean="0"/>
              <a:t>Usability requirements </a:t>
            </a:r>
            <a:r>
              <a:rPr lang="en-US" dirty="0" smtClean="0"/>
              <a:t>include:</a:t>
            </a:r>
          </a:p>
          <a:p>
            <a:r>
              <a:rPr lang="en-US" dirty="0" smtClean="0"/>
              <a:t>Well-structured user manuals</a:t>
            </a:r>
          </a:p>
          <a:p>
            <a:r>
              <a:rPr lang="en-US" dirty="0" smtClean="0"/>
              <a:t>Informative error messages</a:t>
            </a:r>
          </a:p>
          <a:p>
            <a:r>
              <a:rPr lang="en-US" dirty="0" smtClean="0"/>
              <a:t>Help facilities</a:t>
            </a:r>
          </a:p>
          <a:p>
            <a:r>
              <a:rPr lang="en-US" dirty="0" smtClean="0"/>
              <a:t>Well-formed graphical user interfaces</a:t>
            </a:r>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Organizational requirements</a:t>
            </a:r>
          </a:p>
          <a:p>
            <a:pPr>
              <a:buNone/>
            </a:pPr>
            <a:r>
              <a:rPr lang="en-US" dirty="0" smtClean="0"/>
              <a:t>Requirements which are a consequence of organizational policies and procedures e.g. process standards used, implementation requirements, delivery, etc.</a:t>
            </a:r>
          </a:p>
          <a:p>
            <a:pPr>
              <a:buNone/>
            </a:pPr>
            <a:endParaRPr lang="en-US" dirty="0" smtClean="0"/>
          </a:p>
          <a:p>
            <a:pPr>
              <a:buNone/>
            </a:pPr>
            <a:r>
              <a:rPr lang="en-US" dirty="0" smtClean="0"/>
              <a:t>Ex.  Users of system shall authenticate themselves using their identity card</a:t>
            </a:r>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219200"/>
            <a:ext cx="8229600" cy="5334000"/>
          </a:xfrm>
        </p:spPr>
        <p:txBody>
          <a:bodyPr>
            <a:normAutofit fontScale="85000" lnSpcReduction="10000"/>
          </a:bodyPr>
          <a:lstStyle/>
          <a:p>
            <a:r>
              <a:rPr lang="en-US" b="1" dirty="0" smtClean="0"/>
              <a:t>External requirements</a:t>
            </a:r>
          </a:p>
          <a:p>
            <a:pPr>
              <a:buNone/>
            </a:pPr>
            <a:r>
              <a:rPr lang="en-US" dirty="0" smtClean="0"/>
              <a:t>Requirements which arise from factors which are external to the system and its development process e.g. interoperability requirements, legislative requirements (privacy and safety).</a:t>
            </a:r>
          </a:p>
          <a:p>
            <a:pPr>
              <a:buNone/>
            </a:pPr>
            <a:endParaRPr lang="en-US" dirty="0" smtClean="0"/>
          </a:p>
          <a:p>
            <a:pPr>
              <a:buNone/>
            </a:pPr>
            <a:r>
              <a:rPr lang="en-US" b="1" dirty="0" smtClean="0"/>
              <a:t>Safety</a:t>
            </a:r>
          </a:p>
          <a:p>
            <a:pPr>
              <a:buNone/>
            </a:pPr>
            <a:r>
              <a:rPr lang="en-US" dirty="0" err="1" smtClean="0"/>
              <a:t>e.g</a:t>
            </a:r>
            <a:r>
              <a:rPr lang="en-US" dirty="0" smtClean="0"/>
              <a:t> : The system shall not operate if the external temperature is below 4 degrees Celsius.</a:t>
            </a:r>
          </a:p>
          <a:p>
            <a:pPr>
              <a:buNone/>
            </a:pPr>
            <a:r>
              <a:rPr lang="en-US" dirty="0" smtClean="0"/>
              <a:t>The database may get crashed at any certain time due to virus or operating system failure. Therefore, it is required to take the database backup.</a:t>
            </a:r>
          </a:p>
          <a:p>
            <a:pPr>
              <a:buNone/>
            </a:pPr>
            <a:endParaRPr lang="en-US" dirty="0" smtClean="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Privacy</a:t>
            </a:r>
          </a:p>
          <a:p>
            <a:pPr>
              <a:buNone/>
            </a:pPr>
            <a:r>
              <a:rPr lang="en-US" dirty="0" smtClean="0"/>
              <a:t>The system shall not disclose any personal information about customers apart from their name and reference number to the operators of the system.</a:t>
            </a:r>
          </a:p>
          <a:p>
            <a:pPr>
              <a:buNone/>
            </a:pPr>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704088"/>
            <a:ext cx="8229600" cy="743712"/>
          </a:xfrm>
        </p:spPr>
        <p:txBody>
          <a:bodyPr>
            <a:noAutofit/>
          </a:bodyPr>
          <a:lstStyle/>
          <a:p>
            <a:r>
              <a:rPr lang="en-US" sz="4800" dirty="0" smtClean="0"/>
              <a:t>Requirements readers</a:t>
            </a:r>
            <a:endParaRPr lang="en-US" sz="4800" dirty="0"/>
          </a:p>
        </p:txBody>
      </p:sp>
      <p:pic>
        <p:nvPicPr>
          <p:cNvPr id="1026" name="Picture 2"/>
          <p:cNvPicPr>
            <a:picLocks noGrp="1" noChangeAspect="1" noChangeArrowheads="1"/>
          </p:cNvPicPr>
          <p:nvPr>
            <p:ph idx="1"/>
          </p:nvPr>
        </p:nvPicPr>
        <p:blipFill>
          <a:blip r:embed="rId2" cstate="print"/>
          <a:srcRect/>
          <a:stretch>
            <a:fillRect/>
          </a:stretch>
        </p:blipFill>
        <p:spPr bwMode="auto">
          <a:xfrm>
            <a:off x="-152400" y="1524000"/>
            <a:ext cx="7268417" cy="5243992"/>
          </a:xfrm>
          <a:prstGeom prst="rect">
            <a:avLst/>
          </a:prstGeom>
          <a:noFill/>
          <a:ln w="9525">
            <a:noFill/>
            <a:miter lim="800000"/>
            <a:headEnd/>
            <a:tailEnd/>
          </a:ln>
          <a:effectLst/>
        </p:spPr>
      </p:pic>
      <p:pic>
        <p:nvPicPr>
          <p:cNvPr id="4" name="Picture 5" descr="C:\Program Files\Common Files\Microsoft Shared\Clipart\cagcat50\bd05515_.wmf"/>
          <p:cNvPicPr>
            <a:picLocks noChangeAspect="1" noChangeArrowheads="1"/>
          </p:cNvPicPr>
          <p:nvPr/>
        </p:nvPicPr>
        <p:blipFill>
          <a:blip r:embed="rId3" cstate="print"/>
          <a:srcRect/>
          <a:stretch>
            <a:fillRect/>
          </a:stretch>
        </p:blipFill>
        <p:spPr bwMode="auto">
          <a:xfrm>
            <a:off x="6477000" y="2286001"/>
            <a:ext cx="2623062" cy="2819399"/>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704088"/>
            <a:ext cx="8229600" cy="819912"/>
          </a:xfrm>
        </p:spPr>
        <p:txBody>
          <a:bodyPr/>
          <a:lstStyle/>
          <a:p>
            <a:r>
              <a:rPr lang="en-US" dirty="0" smtClean="0"/>
              <a:t>Requirements imprecision</a:t>
            </a:r>
            <a:endParaRPr lang="en-US" dirty="0"/>
          </a:p>
        </p:txBody>
      </p:sp>
      <p:sp>
        <p:nvSpPr>
          <p:cNvPr id="2" name="Content Placeholder 1"/>
          <p:cNvSpPr>
            <a:spLocks noGrp="1"/>
          </p:cNvSpPr>
          <p:nvPr>
            <p:ph idx="1"/>
          </p:nvPr>
        </p:nvSpPr>
        <p:spPr>
          <a:xfrm>
            <a:off x="304800" y="1676400"/>
            <a:ext cx="8534400" cy="4648200"/>
          </a:xfrm>
        </p:spPr>
        <p:txBody>
          <a:bodyPr>
            <a:normAutofit/>
          </a:bodyPr>
          <a:lstStyle/>
          <a:p>
            <a:pPr>
              <a:buNone/>
            </a:pPr>
            <a:r>
              <a:rPr lang="en-US" sz="2800" dirty="0" smtClean="0"/>
              <a:t>- Problems arise when requirements are not precisely stated</a:t>
            </a:r>
          </a:p>
          <a:p>
            <a:pPr>
              <a:buNone/>
            </a:pPr>
            <a:r>
              <a:rPr lang="en-US" sz="2800" dirty="0" smtClean="0"/>
              <a:t>- Ambiguous requirements may be interpreted in</a:t>
            </a:r>
          </a:p>
          <a:p>
            <a:pPr>
              <a:buNone/>
            </a:pPr>
            <a:r>
              <a:rPr lang="en-US" sz="2800" dirty="0" smtClean="0"/>
              <a:t>different ways by developers and users</a:t>
            </a:r>
          </a:p>
          <a:p>
            <a:pPr>
              <a:buFontTx/>
              <a:buChar char="-"/>
            </a:pPr>
            <a:r>
              <a:rPr lang="en-US" sz="2800" dirty="0" smtClean="0"/>
              <a:t>Consider the term ‘appropriate viewers’</a:t>
            </a:r>
          </a:p>
          <a:p>
            <a:pPr>
              <a:buNone/>
            </a:pPr>
            <a:r>
              <a:rPr lang="en-US" sz="2800" dirty="0" smtClean="0"/>
              <a:t>- Developer interpretation - Provide a text viewer that shows the contents of the document</a:t>
            </a:r>
            <a:endParaRPr lang="en-US" sz="2800" dirty="0"/>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smtClean="0"/>
              <a:t>Requirements completeness and consistency</a:t>
            </a:r>
            <a:endParaRPr lang="en-US" dirty="0"/>
          </a:p>
        </p:txBody>
      </p:sp>
      <p:sp>
        <p:nvSpPr>
          <p:cNvPr id="2" name="Content Placeholder 1"/>
          <p:cNvSpPr>
            <a:spLocks noGrp="1"/>
          </p:cNvSpPr>
          <p:nvPr>
            <p:ph idx="1"/>
          </p:nvPr>
        </p:nvSpPr>
        <p:spPr/>
        <p:txBody>
          <a:bodyPr/>
          <a:lstStyle/>
          <a:p>
            <a:r>
              <a:rPr lang="en-US" b="1" dirty="0" smtClean="0"/>
              <a:t>Complete</a:t>
            </a:r>
          </a:p>
          <a:p>
            <a:pPr>
              <a:buNone/>
            </a:pPr>
            <a:r>
              <a:rPr lang="en-US" dirty="0" smtClean="0"/>
              <a:t>They should include descriptions of all facilities required</a:t>
            </a:r>
          </a:p>
          <a:p>
            <a:r>
              <a:rPr lang="en-US" b="1" dirty="0" smtClean="0"/>
              <a:t>Consistent</a:t>
            </a:r>
          </a:p>
          <a:p>
            <a:pPr>
              <a:buNone/>
            </a:pPr>
            <a:r>
              <a:rPr lang="en-US" dirty="0" smtClean="0"/>
              <a:t>There should be no conflicts or contradictions in the descriptions of the system facilities</a:t>
            </a:r>
          </a:p>
          <a:p>
            <a:r>
              <a:rPr lang="en-US" dirty="0" smtClean="0"/>
              <a:t>In practice, it is impossible to produce a complete and consistent requirements document.</a:t>
            </a:r>
            <a:endParaRPr lang="en-US" dirty="0"/>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smtClean="0"/>
              <a:t>Goals of no-functional requirements</a:t>
            </a:r>
            <a:endParaRPr lang="en-US" dirty="0"/>
          </a:p>
        </p:txBody>
      </p:sp>
      <p:sp>
        <p:nvSpPr>
          <p:cNvPr id="2" name="Content Placeholder 1"/>
          <p:cNvSpPr>
            <a:spLocks noGrp="1"/>
          </p:cNvSpPr>
          <p:nvPr>
            <p:ph idx="1"/>
          </p:nvPr>
        </p:nvSpPr>
        <p:spPr/>
        <p:txBody>
          <a:bodyPr>
            <a:normAutofit/>
          </a:bodyPr>
          <a:lstStyle/>
          <a:p>
            <a:pPr>
              <a:buFontTx/>
              <a:buChar char="-"/>
            </a:pPr>
            <a:r>
              <a:rPr lang="en-US" dirty="0" smtClean="0"/>
              <a:t>Non-functional requirements may be very difficult to state precisely and imprecise requirements may be difficult to verify.</a:t>
            </a:r>
          </a:p>
          <a:p>
            <a:pPr>
              <a:buNone/>
            </a:pPr>
            <a:r>
              <a:rPr lang="en-US" b="1" dirty="0" smtClean="0"/>
              <a:t>Goal:</a:t>
            </a:r>
          </a:p>
          <a:p>
            <a:pPr>
              <a:buNone/>
            </a:pPr>
            <a:r>
              <a:rPr lang="en-US" dirty="0" smtClean="0"/>
              <a:t>- A general intention of the user such as ease of use</a:t>
            </a:r>
          </a:p>
          <a:p>
            <a:pPr>
              <a:buNone/>
            </a:pPr>
            <a:r>
              <a:rPr lang="en-US" dirty="0" smtClean="0"/>
              <a:t>- Verifiable non-functional requirement</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Examples</a:t>
            </a:r>
            <a:endParaRPr lang="en-US" dirty="0"/>
          </a:p>
        </p:txBody>
      </p:sp>
      <p:sp>
        <p:nvSpPr>
          <p:cNvPr id="2" name="Content Placeholder 1"/>
          <p:cNvSpPr>
            <a:spLocks noGrp="1"/>
          </p:cNvSpPr>
          <p:nvPr>
            <p:ph idx="1"/>
          </p:nvPr>
        </p:nvSpPr>
        <p:spPr/>
        <p:txBody>
          <a:bodyPr>
            <a:normAutofit fontScale="85000" lnSpcReduction="10000"/>
          </a:bodyPr>
          <a:lstStyle/>
          <a:p>
            <a:r>
              <a:rPr lang="en-US" b="1" dirty="0" smtClean="0"/>
              <a:t>A system goal</a:t>
            </a:r>
          </a:p>
          <a:p>
            <a:pPr>
              <a:buNone/>
            </a:pPr>
            <a:r>
              <a:rPr lang="en-US" dirty="0" smtClean="0"/>
              <a:t>The system should be easy to use by experienced controllers and should be </a:t>
            </a:r>
            <a:r>
              <a:rPr lang="en-US" dirty="0" err="1" smtClean="0"/>
              <a:t>organised</a:t>
            </a:r>
            <a:r>
              <a:rPr lang="en-US" dirty="0" smtClean="0"/>
              <a:t> in such a way that user errors are </a:t>
            </a:r>
            <a:r>
              <a:rPr lang="en-US" dirty="0" err="1" smtClean="0"/>
              <a:t>minimised</a:t>
            </a:r>
            <a:r>
              <a:rPr lang="en-US" dirty="0" smtClean="0"/>
              <a:t>.</a:t>
            </a:r>
          </a:p>
          <a:p>
            <a:r>
              <a:rPr lang="en-US" b="1" dirty="0" smtClean="0"/>
              <a:t>A verifiable non-functional requirement</a:t>
            </a:r>
          </a:p>
          <a:p>
            <a:pPr>
              <a:buNone/>
            </a:pPr>
            <a:r>
              <a:rPr lang="en-US" dirty="0" smtClean="0"/>
              <a:t> Experienced controllers shall be able to use all the system functions after a total of two hours training. </a:t>
            </a:r>
          </a:p>
          <a:p>
            <a:pPr>
              <a:buNone/>
            </a:pPr>
            <a:r>
              <a:rPr lang="en-US" dirty="0" smtClean="0"/>
              <a:t>After this training, the average number of errors made by experienced users shall not exceed two per day.</a:t>
            </a:r>
            <a:endParaRPr lang="en-US" dirty="0"/>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0"/>
            <a:ext cx="8229600" cy="990600"/>
          </a:xfrm>
        </p:spPr>
        <p:txBody>
          <a:bodyPr/>
          <a:lstStyle/>
          <a:p>
            <a:r>
              <a:rPr lang="en-US" dirty="0" smtClean="0"/>
              <a:t>Requirements measures</a:t>
            </a:r>
            <a:endParaRPr lang="en-US" dirty="0"/>
          </a:p>
        </p:txBody>
      </p:sp>
      <p:graphicFrame>
        <p:nvGraphicFramePr>
          <p:cNvPr id="4" name="Content Placeholder 3"/>
          <p:cNvGraphicFramePr>
            <a:graphicFrameLocks noGrp="1"/>
          </p:cNvGraphicFramePr>
          <p:nvPr>
            <p:ph idx="1"/>
          </p:nvPr>
        </p:nvGraphicFramePr>
        <p:xfrm>
          <a:off x="304800" y="1002690"/>
          <a:ext cx="8610600" cy="5675166"/>
        </p:xfrm>
        <a:graphic>
          <a:graphicData uri="http://schemas.openxmlformats.org/drawingml/2006/table">
            <a:tbl>
              <a:tblPr firstRow="1" bandRow="1">
                <a:tableStyleId>{5940675A-B579-460E-94D1-54222C63F5DA}</a:tableStyleId>
              </a:tblPr>
              <a:tblGrid>
                <a:gridCol w="4305300"/>
                <a:gridCol w="4305300"/>
              </a:tblGrid>
              <a:tr h="336826">
                <a:tc>
                  <a:txBody>
                    <a:bodyPr/>
                    <a:lstStyle/>
                    <a:p>
                      <a:r>
                        <a:rPr kumimoji="0" lang="en-US" sz="1800" b="1" kern="1200" baseline="0" dirty="0" smtClean="0">
                          <a:solidFill>
                            <a:schemeClr val="tx1"/>
                          </a:solidFill>
                          <a:latin typeface="+mn-lt"/>
                          <a:ea typeface="+mn-ea"/>
                          <a:cs typeface="+mn-cs"/>
                        </a:rPr>
                        <a:t>Property</a:t>
                      </a:r>
                      <a:endParaRPr lang="en-US" dirty="0"/>
                    </a:p>
                  </a:txBody>
                  <a:tcPr/>
                </a:tc>
                <a:tc>
                  <a:txBody>
                    <a:bodyPr/>
                    <a:lstStyle/>
                    <a:p>
                      <a:r>
                        <a:rPr kumimoji="0" lang="en-US" sz="1800" b="1" kern="1200" baseline="0" dirty="0" smtClean="0">
                          <a:solidFill>
                            <a:schemeClr val="tx1"/>
                          </a:solidFill>
                          <a:latin typeface="+mn-lt"/>
                          <a:ea typeface="+mn-ea"/>
                          <a:cs typeface="+mn-cs"/>
                        </a:rPr>
                        <a:t>Measure</a:t>
                      </a:r>
                      <a:endParaRPr lang="en-US" dirty="0"/>
                    </a:p>
                  </a:txBody>
                  <a:tcPr/>
                </a:tc>
              </a:tr>
              <a:tr h="842065">
                <a:tc>
                  <a:txBody>
                    <a:bodyPr/>
                    <a:lstStyle/>
                    <a:p>
                      <a:r>
                        <a:rPr kumimoji="0" lang="en-US" sz="1800" kern="1200" baseline="0" dirty="0" smtClean="0">
                          <a:solidFill>
                            <a:schemeClr val="tx1"/>
                          </a:solidFill>
                          <a:latin typeface="+mn-lt"/>
                          <a:ea typeface="+mn-ea"/>
                          <a:cs typeface="+mn-cs"/>
                        </a:rPr>
                        <a:t>Speed</a:t>
                      </a:r>
                      <a:endParaRPr lang="en-US" dirty="0"/>
                    </a:p>
                  </a:txBody>
                  <a:tcPr/>
                </a:tc>
                <a:tc>
                  <a:txBody>
                    <a:bodyPr/>
                    <a:lstStyle/>
                    <a:p>
                      <a:r>
                        <a:rPr kumimoji="0" lang="en-US" sz="1800" kern="1200" baseline="0" dirty="0" smtClean="0">
                          <a:solidFill>
                            <a:schemeClr val="tx1"/>
                          </a:solidFill>
                          <a:latin typeface="+mn-lt"/>
                          <a:ea typeface="+mn-ea"/>
                          <a:cs typeface="+mn-cs"/>
                        </a:rPr>
                        <a:t>Processed transactions/second</a:t>
                      </a:r>
                    </a:p>
                    <a:p>
                      <a:r>
                        <a:rPr kumimoji="0" lang="en-US" sz="1800" kern="1200" baseline="0" dirty="0" smtClean="0">
                          <a:solidFill>
                            <a:schemeClr val="tx1"/>
                          </a:solidFill>
                          <a:latin typeface="+mn-lt"/>
                          <a:ea typeface="+mn-ea"/>
                          <a:cs typeface="+mn-cs"/>
                        </a:rPr>
                        <a:t>User/Event response time</a:t>
                      </a:r>
                    </a:p>
                    <a:p>
                      <a:r>
                        <a:rPr kumimoji="0" lang="en-US" sz="1800" kern="1200" baseline="0" dirty="0" smtClean="0">
                          <a:solidFill>
                            <a:schemeClr val="tx1"/>
                          </a:solidFill>
                          <a:latin typeface="+mn-lt"/>
                          <a:ea typeface="+mn-ea"/>
                          <a:cs typeface="+mn-cs"/>
                        </a:rPr>
                        <a:t>Screen refresh time</a:t>
                      </a:r>
                      <a:endParaRPr lang="en-US" dirty="0"/>
                    </a:p>
                  </a:txBody>
                  <a:tcPr/>
                </a:tc>
              </a:tr>
              <a:tr h="589445">
                <a:tc>
                  <a:txBody>
                    <a:bodyPr/>
                    <a:lstStyle/>
                    <a:p>
                      <a:r>
                        <a:rPr kumimoji="0" lang="en-US" sz="1800" kern="1200" baseline="0" dirty="0" smtClean="0">
                          <a:solidFill>
                            <a:schemeClr val="tx1"/>
                          </a:solidFill>
                          <a:latin typeface="+mn-lt"/>
                          <a:ea typeface="+mn-ea"/>
                          <a:cs typeface="+mn-cs"/>
                        </a:rPr>
                        <a:t>Size</a:t>
                      </a:r>
                      <a:endParaRPr lang="en-US" dirty="0"/>
                    </a:p>
                  </a:txBody>
                  <a:tcPr/>
                </a:tc>
                <a:tc>
                  <a:txBody>
                    <a:bodyPr/>
                    <a:lstStyle/>
                    <a:p>
                      <a:r>
                        <a:rPr kumimoji="0" lang="en-US" sz="1800" kern="1200" baseline="0" dirty="0" smtClean="0">
                          <a:solidFill>
                            <a:schemeClr val="tx1"/>
                          </a:solidFill>
                          <a:latin typeface="+mn-lt"/>
                          <a:ea typeface="+mn-ea"/>
                          <a:cs typeface="+mn-cs"/>
                        </a:rPr>
                        <a:t>K Bytes</a:t>
                      </a:r>
                    </a:p>
                    <a:p>
                      <a:r>
                        <a:rPr kumimoji="0" lang="en-US" sz="1800" kern="1200" baseline="0" dirty="0" smtClean="0">
                          <a:solidFill>
                            <a:schemeClr val="tx1"/>
                          </a:solidFill>
                          <a:latin typeface="+mn-lt"/>
                          <a:ea typeface="+mn-ea"/>
                          <a:cs typeface="+mn-cs"/>
                        </a:rPr>
                        <a:t>Number of RAM chips</a:t>
                      </a:r>
                      <a:endParaRPr lang="en-US" dirty="0"/>
                    </a:p>
                  </a:txBody>
                  <a:tcPr/>
                </a:tc>
              </a:tr>
              <a:tr h="589445">
                <a:tc>
                  <a:txBody>
                    <a:bodyPr/>
                    <a:lstStyle/>
                    <a:p>
                      <a:r>
                        <a:rPr kumimoji="0" lang="en-US" sz="1800" kern="1200" baseline="0" dirty="0" smtClean="0">
                          <a:solidFill>
                            <a:schemeClr val="tx1"/>
                          </a:solidFill>
                          <a:latin typeface="+mn-lt"/>
                          <a:ea typeface="+mn-ea"/>
                          <a:cs typeface="+mn-cs"/>
                        </a:rPr>
                        <a:t>Ease of use</a:t>
                      </a:r>
                      <a:endParaRPr lang="en-US" dirty="0"/>
                    </a:p>
                  </a:txBody>
                  <a:tcPr/>
                </a:tc>
                <a:tc>
                  <a:txBody>
                    <a:bodyPr/>
                    <a:lstStyle/>
                    <a:p>
                      <a:r>
                        <a:rPr kumimoji="0" lang="en-US" sz="1800" kern="1200" baseline="0" dirty="0" smtClean="0">
                          <a:solidFill>
                            <a:schemeClr val="tx1"/>
                          </a:solidFill>
                          <a:latin typeface="+mn-lt"/>
                          <a:ea typeface="+mn-ea"/>
                          <a:cs typeface="+mn-cs"/>
                        </a:rPr>
                        <a:t>Training time</a:t>
                      </a:r>
                    </a:p>
                    <a:p>
                      <a:r>
                        <a:rPr kumimoji="0" lang="en-US" sz="1800" kern="1200" baseline="0" dirty="0" smtClean="0">
                          <a:solidFill>
                            <a:schemeClr val="tx1"/>
                          </a:solidFill>
                          <a:latin typeface="+mn-lt"/>
                          <a:ea typeface="+mn-ea"/>
                          <a:cs typeface="+mn-cs"/>
                        </a:rPr>
                        <a:t>Number of help frames</a:t>
                      </a:r>
                      <a:endParaRPr lang="en-US" dirty="0"/>
                    </a:p>
                  </a:txBody>
                  <a:tcPr/>
                </a:tc>
              </a:tr>
              <a:tr h="1094684">
                <a:tc>
                  <a:txBody>
                    <a:bodyPr/>
                    <a:lstStyle/>
                    <a:p>
                      <a:r>
                        <a:rPr kumimoji="0" lang="en-US" sz="1800" kern="1200" baseline="0" dirty="0" smtClean="0">
                          <a:solidFill>
                            <a:schemeClr val="tx1"/>
                          </a:solidFill>
                          <a:latin typeface="+mn-lt"/>
                          <a:ea typeface="+mn-ea"/>
                          <a:cs typeface="+mn-cs"/>
                        </a:rPr>
                        <a:t>Reliability</a:t>
                      </a:r>
                      <a:endParaRPr lang="en-US" dirty="0"/>
                    </a:p>
                  </a:txBody>
                  <a:tcPr/>
                </a:tc>
                <a:tc>
                  <a:txBody>
                    <a:bodyPr/>
                    <a:lstStyle/>
                    <a:p>
                      <a:r>
                        <a:rPr kumimoji="0" lang="en-US" sz="1800" kern="1200" baseline="0" dirty="0" smtClean="0">
                          <a:solidFill>
                            <a:schemeClr val="tx1"/>
                          </a:solidFill>
                          <a:latin typeface="+mn-lt"/>
                          <a:ea typeface="+mn-ea"/>
                          <a:cs typeface="+mn-cs"/>
                        </a:rPr>
                        <a:t>Mean time to failure</a:t>
                      </a:r>
                    </a:p>
                    <a:p>
                      <a:r>
                        <a:rPr kumimoji="0" lang="en-US" sz="1800" kern="1200" baseline="0" dirty="0" smtClean="0">
                          <a:solidFill>
                            <a:schemeClr val="tx1"/>
                          </a:solidFill>
                          <a:latin typeface="+mn-lt"/>
                          <a:ea typeface="+mn-ea"/>
                          <a:cs typeface="+mn-cs"/>
                        </a:rPr>
                        <a:t>Probability of unavailability</a:t>
                      </a:r>
                    </a:p>
                    <a:p>
                      <a:r>
                        <a:rPr kumimoji="0" lang="en-US" sz="1800" kern="1200" baseline="0" dirty="0" smtClean="0">
                          <a:solidFill>
                            <a:schemeClr val="tx1"/>
                          </a:solidFill>
                          <a:latin typeface="+mn-lt"/>
                          <a:ea typeface="+mn-ea"/>
                          <a:cs typeface="+mn-cs"/>
                        </a:rPr>
                        <a:t>Rate of failure occurrence</a:t>
                      </a:r>
                    </a:p>
                    <a:p>
                      <a:r>
                        <a:rPr kumimoji="0" lang="en-US" sz="1800" kern="1200" baseline="0" dirty="0" smtClean="0">
                          <a:solidFill>
                            <a:schemeClr val="tx1"/>
                          </a:solidFill>
                          <a:latin typeface="+mn-lt"/>
                          <a:ea typeface="+mn-ea"/>
                          <a:cs typeface="+mn-cs"/>
                        </a:rPr>
                        <a:t>Availability</a:t>
                      </a:r>
                      <a:endParaRPr lang="en-US" dirty="0"/>
                    </a:p>
                  </a:txBody>
                  <a:tcPr/>
                </a:tc>
              </a:tr>
              <a:tr h="1011726">
                <a:tc>
                  <a:txBody>
                    <a:bodyPr/>
                    <a:lstStyle/>
                    <a:p>
                      <a:r>
                        <a:rPr kumimoji="0" lang="en-US" sz="1800" kern="1200" baseline="0" dirty="0" smtClean="0">
                          <a:solidFill>
                            <a:schemeClr val="tx1"/>
                          </a:solidFill>
                          <a:latin typeface="+mn-lt"/>
                          <a:ea typeface="+mn-ea"/>
                          <a:cs typeface="+mn-cs"/>
                        </a:rPr>
                        <a:t>Robustness</a:t>
                      </a:r>
                      <a:endParaRPr lang="en-US" dirty="0"/>
                    </a:p>
                  </a:txBody>
                  <a:tcPr/>
                </a:tc>
                <a:tc>
                  <a:txBody>
                    <a:bodyPr/>
                    <a:lstStyle/>
                    <a:p>
                      <a:r>
                        <a:rPr kumimoji="0" lang="en-US" sz="1800" kern="1200" baseline="0" dirty="0" smtClean="0">
                          <a:solidFill>
                            <a:schemeClr val="tx1"/>
                          </a:solidFill>
                          <a:latin typeface="+mn-lt"/>
                          <a:ea typeface="+mn-ea"/>
                          <a:cs typeface="+mn-cs"/>
                        </a:rPr>
                        <a:t>Time to restart after failure</a:t>
                      </a:r>
                    </a:p>
                    <a:p>
                      <a:r>
                        <a:rPr kumimoji="0" lang="en-US" sz="1800" kern="1200" baseline="0" dirty="0" smtClean="0">
                          <a:solidFill>
                            <a:schemeClr val="tx1"/>
                          </a:solidFill>
                          <a:latin typeface="+mn-lt"/>
                          <a:ea typeface="+mn-ea"/>
                          <a:cs typeface="+mn-cs"/>
                        </a:rPr>
                        <a:t>Percentage of events causing failure</a:t>
                      </a:r>
                    </a:p>
                    <a:p>
                      <a:r>
                        <a:rPr kumimoji="0" lang="en-US" sz="1800" kern="1200" baseline="0" dirty="0" smtClean="0">
                          <a:solidFill>
                            <a:schemeClr val="tx1"/>
                          </a:solidFill>
                          <a:latin typeface="+mn-lt"/>
                          <a:ea typeface="+mn-ea"/>
                          <a:cs typeface="+mn-cs"/>
                        </a:rPr>
                        <a:t>Probability of data corruption on failure</a:t>
                      </a:r>
                      <a:endParaRPr lang="en-US" dirty="0"/>
                    </a:p>
                  </a:txBody>
                  <a:tcPr/>
                </a:tc>
              </a:tr>
              <a:tr h="842065">
                <a:tc>
                  <a:txBody>
                    <a:bodyPr/>
                    <a:lstStyle/>
                    <a:p>
                      <a:r>
                        <a:rPr kumimoji="0" lang="en-US" sz="1800" kern="1200" baseline="0" dirty="0" smtClean="0">
                          <a:solidFill>
                            <a:schemeClr val="tx1"/>
                          </a:solidFill>
                          <a:latin typeface="+mn-lt"/>
                          <a:ea typeface="+mn-ea"/>
                          <a:cs typeface="+mn-cs"/>
                        </a:rPr>
                        <a:t>Portability</a:t>
                      </a:r>
                      <a:endParaRPr lang="en-US" dirty="0"/>
                    </a:p>
                  </a:txBody>
                  <a:tcPr/>
                </a:tc>
                <a:tc>
                  <a:txBody>
                    <a:bodyPr/>
                    <a:lstStyle/>
                    <a:p>
                      <a:r>
                        <a:rPr kumimoji="0" lang="en-US" sz="1800" kern="1200" baseline="0" dirty="0" smtClean="0">
                          <a:solidFill>
                            <a:schemeClr val="tx1"/>
                          </a:solidFill>
                          <a:latin typeface="+mn-lt"/>
                          <a:ea typeface="+mn-ea"/>
                          <a:cs typeface="+mn-cs"/>
                        </a:rPr>
                        <a:t>Percentage of target dependent statements</a:t>
                      </a:r>
                    </a:p>
                    <a:p>
                      <a:r>
                        <a:rPr kumimoji="0" lang="en-US" sz="1800" kern="1200" baseline="0" dirty="0" smtClean="0">
                          <a:solidFill>
                            <a:schemeClr val="tx1"/>
                          </a:solidFill>
                          <a:latin typeface="+mn-lt"/>
                          <a:ea typeface="+mn-ea"/>
                          <a:cs typeface="+mn-cs"/>
                        </a:rPr>
                        <a:t>Number of target systems</a:t>
                      </a:r>
                      <a:endParaRPr lang="en-US" dirty="0"/>
                    </a:p>
                  </a:txBody>
                  <a:tcPr/>
                </a:tc>
              </a:tr>
            </a:tbl>
          </a:graphicData>
        </a:graphic>
      </p:graphicFrame>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457200"/>
            <a:ext cx="8229600" cy="990600"/>
          </a:xfrm>
        </p:spPr>
        <p:txBody>
          <a:bodyPr/>
          <a:lstStyle/>
          <a:p>
            <a:r>
              <a:rPr lang="en-US" dirty="0" smtClean="0"/>
              <a:t>Domain requirements</a:t>
            </a:r>
            <a:endParaRPr lang="en-US" dirty="0"/>
          </a:p>
        </p:txBody>
      </p:sp>
      <p:sp>
        <p:nvSpPr>
          <p:cNvPr id="2" name="Content Placeholder 1"/>
          <p:cNvSpPr>
            <a:spLocks noGrp="1"/>
          </p:cNvSpPr>
          <p:nvPr>
            <p:ph idx="1"/>
          </p:nvPr>
        </p:nvSpPr>
        <p:spPr>
          <a:xfrm>
            <a:off x="457200" y="1524000"/>
            <a:ext cx="8229600" cy="5029200"/>
          </a:xfrm>
        </p:spPr>
        <p:txBody>
          <a:bodyPr>
            <a:normAutofit/>
          </a:bodyPr>
          <a:lstStyle/>
          <a:p>
            <a:r>
              <a:rPr lang="en-US" sz="2800" dirty="0" smtClean="0"/>
              <a:t>Requirements that come from the application domain of the system and that reflect characteristics of that domain</a:t>
            </a:r>
          </a:p>
          <a:p>
            <a:endParaRPr lang="en-US" sz="2800" dirty="0" smtClean="0"/>
          </a:p>
          <a:p>
            <a:r>
              <a:rPr lang="en-US" sz="2800" dirty="0" smtClean="0"/>
              <a:t>Derived from the application domain and describe system characteristics and features that reflect the domain</a:t>
            </a:r>
          </a:p>
          <a:p>
            <a:endParaRPr lang="en-US" sz="2800" dirty="0" smtClean="0"/>
          </a:p>
          <a:p>
            <a:r>
              <a:rPr lang="en-US" sz="2800" dirty="0" smtClean="0"/>
              <a:t>If domain requirements are not satisfied, the system may be unworkable</a:t>
            </a:r>
            <a:endParaRPr lang="en-US" sz="2800" dirty="0"/>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Domain requirements problems</a:t>
            </a:r>
            <a:endParaRPr lang="en-US" dirty="0"/>
          </a:p>
        </p:txBody>
      </p:sp>
      <p:sp>
        <p:nvSpPr>
          <p:cNvPr id="2" name="Content Placeholder 1"/>
          <p:cNvSpPr>
            <a:spLocks noGrp="1"/>
          </p:cNvSpPr>
          <p:nvPr>
            <p:ph idx="1"/>
          </p:nvPr>
        </p:nvSpPr>
        <p:spPr/>
        <p:txBody>
          <a:bodyPr/>
          <a:lstStyle/>
          <a:p>
            <a:r>
              <a:rPr lang="en-US" b="1" dirty="0" smtClean="0"/>
              <a:t>Understandability</a:t>
            </a:r>
          </a:p>
          <a:p>
            <a:pPr>
              <a:buNone/>
            </a:pPr>
            <a:r>
              <a:rPr lang="en-US" dirty="0" smtClean="0"/>
              <a:t>Requirements are expressed in the language of the application domain</a:t>
            </a:r>
          </a:p>
          <a:p>
            <a:pPr>
              <a:buNone/>
            </a:pPr>
            <a:r>
              <a:rPr lang="en-US" dirty="0" smtClean="0"/>
              <a:t>This is often not understood by software engineers developing the system</a:t>
            </a:r>
          </a:p>
          <a:p>
            <a:r>
              <a:rPr lang="en-US" b="1" dirty="0" smtClean="0"/>
              <a:t>Implicitness</a:t>
            </a:r>
          </a:p>
          <a:p>
            <a:pPr>
              <a:buNone/>
            </a:pPr>
            <a:r>
              <a:rPr lang="en-US" dirty="0" smtClean="0"/>
              <a:t>Domain specialists understand the area so well that they do not think of making the domain requirements explicit</a:t>
            </a:r>
            <a:endParaRPr 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704088"/>
            <a:ext cx="8229600" cy="819912"/>
          </a:xfrm>
        </p:spPr>
        <p:txBody>
          <a:bodyPr/>
          <a:lstStyle/>
          <a:p>
            <a:r>
              <a:rPr lang="en-US" dirty="0" smtClean="0"/>
              <a:t>Problems with natural language</a:t>
            </a:r>
            <a:endParaRPr lang="en-US" dirty="0"/>
          </a:p>
        </p:txBody>
      </p:sp>
      <p:sp>
        <p:nvSpPr>
          <p:cNvPr id="2" name="Content Placeholder 1"/>
          <p:cNvSpPr>
            <a:spLocks noGrp="1"/>
          </p:cNvSpPr>
          <p:nvPr>
            <p:ph idx="1"/>
          </p:nvPr>
        </p:nvSpPr>
        <p:spPr>
          <a:xfrm>
            <a:off x="381000" y="1600200"/>
            <a:ext cx="8458200" cy="5029200"/>
          </a:xfrm>
        </p:spPr>
        <p:txBody>
          <a:bodyPr>
            <a:noAutofit/>
          </a:bodyPr>
          <a:lstStyle/>
          <a:p>
            <a:r>
              <a:rPr lang="en-US" sz="2800" dirty="0" smtClean="0"/>
              <a:t>User requirements are defined using natural language, tables and diagrams.</a:t>
            </a:r>
          </a:p>
          <a:p>
            <a:r>
              <a:rPr lang="en-US" sz="2800" b="1" dirty="0" smtClean="0"/>
              <a:t>Lack of clarity</a:t>
            </a:r>
          </a:p>
          <a:p>
            <a:pPr>
              <a:buNone/>
            </a:pPr>
            <a:r>
              <a:rPr lang="en-US" sz="2800" dirty="0" smtClean="0"/>
              <a:t>Precision is difficult without making the document difficult to read</a:t>
            </a:r>
          </a:p>
          <a:p>
            <a:r>
              <a:rPr lang="en-US" sz="2800" b="1" dirty="0" smtClean="0"/>
              <a:t>Requirements confusion</a:t>
            </a:r>
          </a:p>
          <a:p>
            <a:pPr>
              <a:buNone/>
            </a:pPr>
            <a:r>
              <a:rPr lang="en-US" sz="2800" dirty="0" smtClean="0"/>
              <a:t>Functional and non-functional requirements tend to be mixed-up.</a:t>
            </a:r>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Database requirement</a:t>
            </a:r>
            <a:endParaRPr lang="en-US" dirty="0"/>
          </a:p>
        </p:txBody>
      </p:sp>
      <p:sp>
        <p:nvSpPr>
          <p:cNvPr id="2" name="Content Placeholder 1"/>
          <p:cNvSpPr>
            <a:spLocks noGrp="1"/>
          </p:cNvSpPr>
          <p:nvPr>
            <p:ph idx="1"/>
          </p:nvPr>
        </p:nvSpPr>
        <p:spPr/>
        <p:txBody>
          <a:bodyPr>
            <a:normAutofit/>
          </a:bodyPr>
          <a:lstStyle/>
          <a:p>
            <a:r>
              <a:rPr lang="en-US" sz="2800" dirty="0" smtClean="0"/>
              <a:t>The database shall support the generation and control of configuration objects; that is, objects which are themselves groupings of other objects in the database. </a:t>
            </a:r>
          </a:p>
          <a:p>
            <a:endParaRPr lang="en-US" sz="2800" dirty="0" smtClean="0"/>
          </a:p>
          <a:p>
            <a:pPr>
              <a:buNone/>
            </a:pPr>
            <a:r>
              <a:rPr lang="en-US" sz="2800" dirty="0" smtClean="0"/>
              <a:t>The configuration control facilities shall allow access to the objects in a version group by the use of an incomplete name.</a:t>
            </a:r>
            <a:endParaRPr lang="en-US" sz="2800"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2. System requirements</a:t>
            </a:r>
            <a:endParaRPr lang="en-US" dirty="0"/>
          </a:p>
        </p:txBody>
      </p:sp>
      <p:sp>
        <p:nvSpPr>
          <p:cNvPr id="2" name="Content Placeholder 1"/>
          <p:cNvSpPr>
            <a:spLocks noGrp="1"/>
          </p:cNvSpPr>
          <p:nvPr>
            <p:ph idx="1"/>
          </p:nvPr>
        </p:nvSpPr>
        <p:spPr>
          <a:xfrm>
            <a:off x="457200" y="1935480"/>
            <a:ext cx="8229600" cy="4693920"/>
          </a:xfrm>
        </p:spPr>
        <p:txBody>
          <a:bodyPr>
            <a:normAutofit fontScale="92500" lnSpcReduction="10000"/>
          </a:bodyPr>
          <a:lstStyle/>
          <a:p>
            <a:pPr>
              <a:buNone/>
            </a:pPr>
            <a:r>
              <a:rPr lang="en-US" dirty="0" smtClean="0"/>
              <a:t>A structured document setting out detailed descriptions of the system services. </a:t>
            </a:r>
          </a:p>
          <a:p>
            <a:pPr>
              <a:buNone/>
            </a:pPr>
            <a:endParaRPr lang="en-US" dirty="0" smtClean="0"/>
          </a:p>
          <a:p>
            <a:pPr>
              <a:buNone/>
            </a:pPr>
            <a:r>
              <a:rPr lang="en-US" b="1" dirty="0" smtClean="0"/>
              <a:t>Minimum End-user Hardware Requirements </a:t>
            </a:r>
          </a:p>
          <a:p>
            <a:pPr>
              <a:buNone/>
            </a:pPr>
            <a:r>
              <a:rPr lang="en-US" dirty="0" smtClean="0"/>
              <a:t>Such as Operating System , Processor , RAM, Screen Resolution , Color Settings , Audio Support , Internet Connection Speed </a:t>
            </a:r>
          </a:p>
          <a:p>
            <a:pPr>
              <a:buNone/>
            </a:pPr>
            <a:r>
              <a:rPr lang="en-US" b="1" dirty="0" smtClean="0"/>
              <a:t>Minimum End-user Software Requirements </a:t>
            </a:r>
          </a:p>
          <a:p>
            <a:pPr>
              <a:buNone/>
            </a:pPr>
            <a:r>
              <a:rPr lang="en-US" dirty="0" smtClean="0"/>
              <a:t>Such as Web Browser, Adobe Flash Player , Java plug-ins …</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2800" b="1" dirty="0" smtClean="0"/>
              <a:t>Proxy and Firewall Administration  (listening port)</a:t>
            </a:r>
          </a:p>
          <a:p>
            <a:r>
              <a:rPr lang="en-US" sz="2800" dirty="0" smtClean="0"/>
              <a:t>Written for developers</a:t>
            </a:r>
          </a:p>
          <a:p>
            <a:endParaRPr lang="en-US" b="1" dirty="0" smtClean="0"/>
          </a:p>
          <a:p>
            <a:endParaRPr lang="en-US"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1008888"/>
          </a:xfrm>
        </p:spPr>
        <p:txBody>
          <a:bodyPr>
            <a:normAutofit fontScale="90000"/>
          </a:bodyPr>
          <a:lstStyle/>
          <a:p>
            <a:r>
              <a:rPr lang="en-US" b="1" dirty="0" smtClean="0"/>
              <a:t>3. Software specification</a:t>
            </a:r>
            <a:br>
              <a:rPr lang="en-US" b="1" dirty="0" smtClean="0"/>
            </a:br>
            <a:endParaRPr lang="en-US" dirty="0"/>
          </a:p>
        </p:txBody>
      </p:sp>
      <p:sp>
        <p:nvSpPr>
          <p:cNvPr id="3" name="Content Placeholder 2"/>
          <p:cNvSpPr>
            <a:spLocks noGrp="1"/>
          </p:cNvSpPr>
          <p:nvPr>
            <p:ph idx="1"/>
          </p:nvPr>
        </p:nvSpPr>
        <p:spPr/>
        <p:txBody>
          <a:bodyPr/>
          <a:lstStyle/>
          <a:p>
            <a:r>
              <a:rPr lang="en-US" dirty="0" smtClean="0"/>
              <a:t>A detailed software description which can serve as a basis for a design or implementation. Written for developers</a:t>
            </a:r>
          </a:p>
          <a:p>
            <a:endParaRPr 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Requirements and design</a:t>
            </a:r>
            <a:endParaRPr lang="en-US" dirty="0"/>
          </a:p>
        </p:txBody>
      </p:sp>
      <p:sp>
        <p:nvSpPr>
          <p:cNvPr id="2" name="Content Placeholder 1"/>
          <p:cNvSpPr>
            <a:spLocks noGrp="1"/>
          </p:cNvSpPr>
          <p:nvPr>
            <p:ph idx="1"/>
          </p:nvPr>
        </p:nvSpPr>
        <p:spPr/>
        <p:txBody>
          <a:bodyPr>
            <a:normAutofit lnSpcReduction="10000"/>
          </a:bodyPr>
          <a:lstStyle/>
          <a:p>
            <a:r>
              <a:rPr lang="en-US" dirty="0" smtClean="0"/>
              <a:t>In principle, requirements should state what the</a:t>
            </a:r>
          </a:p>
          <a:p>
            <a:pPr>
              <a:buNone/>
            </a:pPr>
            <a:r>
              <a:rPr lang="en-US" dirty="0" smtClean="0"/>
              <a:t>system should do and the design should describe how it does this</a:t>
            </a:r>
          </a:p>
          <a:p>
            <a:r>
              <a:rPr lang="en-US" dirty="0" smtClean="0"/>
              <a:t>In practice, requirements analysis and design are inseparable</a:t>
            </a:r>
          </a:p>
          <a:p>
            <a:r>
              <a:rPr lang="en-US" dirty="0" smtClean="0"/>
              <a:t>The system may inter-operate with other systems that generate design requirements</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704088"/>
            <a:ext cx="8229600" cy="972312"/>
          </a:xfrm>
        </p:spPr>
        <p:txBody>
          <a:bodyPr/>
          <a:lstStyle/>
          <a:p>
            <a:r>
              <a:rPr lang="en-US" dirty="0" smtClean="0"/>
              <a:t>The requirements document</a:t>
            </a:r>
            <a:endParaRPr lang="en-US" dirty="0"/>
          </a:p>
        </p:txBody>
      </p:sp>
      <p:sp>
        <p:nvSpPr>
          <p:cNvPr id="2" name="Content Placeholder 1"/>
          <p:cNvSpPr>
            <a:spLocks noGrp="1"/>
          </p:cNvSpPr>
          <p:nvPr>
            <p:ph idx="1"/>
          </p:nvPr>
        </p:nvSpPr>
        <p:spPr>
          <a:xfrm>
            <a:off x="381000" y="1752600"/>
            <a:ext cx="8458200" cy="4343400"/>
          </a:xfrm>
        </p:spPr>
        <p:txBody>
          <a:bodyPr>
            <a:normAutofit fontScale="85000" lnSpcReduction="20000"/>
          </a:bodyPr>
          <a:lstStyle/>
          <a:p>
            <a:r>
              <a:rPr lang="en-US" dirty="0" smtClean="0"/>
              <a:t>The requirements document, also called </a:t>
            </a:r>
            <a:r>
              <a:rPr lang="en-US" b="1" dirty="0" smtClean="0"/>
              <a:t>Software requirement specification (SRS) </a:t>
            </a:r>
            <a:r>
              <a:rPr lang="en-US" dirty="0" smtClean="0"/>
              <a:t>is the official statement of what is required of the system developers</a:t>
            </a:r>
          </a:p>
          <a:p>
            <a:endParaRPr lang="en-US" dirty="0" smtClean="0"/>
          </a:p>
          <a:p>
            <a:r>
              <a:rPr lang="en-US" dirty="0" smtClean="0"/>
              <a:t>Should include both a definition and a specification of requirements</a:t>
            </a:r>
          </a:p>
          <a:p>
            <a:endParaRPr lang="en-US" dirty="0" smtClean="0"/>
          </a:p>
          <a:p>
            <a:r>
              <a:rPr lang="en-US" dirty="0" smtClean="0"/>
              <a:t>It is NOT a design document. It should set of WHAT the system should do rather than HOW it should do it</a:t>
            </a:r>
            <a:endParaRPr 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sp>
        <p:nvSpPr>
          <p:cNvPr id="2" name="Content Placeholder 1"/>
          <p:cNvSpPr>
            <a:spLocks noGrp="1"/>
          </p:cNvSpPr>
          <p:nvPr>
            <p:ph idx="1"/>
          </p:nvPr>
        </p:nvSpPr>
        <p:spPr/>
        <p:txBody>
          <a:bodyPr/>
          <a:lstStyle/>
          <a:p>
            <a:r>
              <a:rPr lang="en-US" sz="2800" dirty="0" smtClean="0"/>
              <a:t>It includes user requirements for a system and detailed specification of the system requirements. </a:t>
            </a:r>
          </a:p>
          <a:p>
            <a:endParaRPr lang="en-US" sz="2800" dirty="0" smtClean="0"/>
          </a:p>
          <a:p>
            <a:r>
              <a:rPr lang="en-US" sz="2800" dirty="0" smtClean="0"/>
              <a:t>User and system requirements are integrated into a single description other times user requirements are put in the introduction of SRS. </a:t>
            </a:r>
          </a:p>
          <a:p>
            <a:pPr>
              <a:buNone/>
            </a:pPr>
            <a:endParaRPr lang="en-US"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04800" y="704088"/>
            <a:ext cx="8382000" cy="896112"/>
          </a:xfrm>
        </p:spPr>
        <p:txBody>
          <a:bodyPr>
            <a:normAutofit fontScale="90000"/>
          </a:bodyPr>
          <a:lstStyle/>
          <a:p>
            <a:r>
              <a:rPr lang="en-US" dirty="0" smtClean="0"/>
              <a:t>Guidelines for writing requirements</a:t>
            </a:r>
            <a:endParaRPr lang="en-US" dirty="0"/>
          </a:p>
        </p:txBody>
      </p:sp>
      <p:sp>
        <p:nvSpPr>
          <p:cNvPr id="2" name="Content Placeholder 1"/>
          <p:cNvSpPr>
            <a:spLocks noGrp="1"/>
          </p:cNvSpPr>
          <p:nvPr>
            <p:ph idx="1"/>
          </p:nvPr>
        </p:nvSpPr>
        <p:spPr>
          <a:xfrm>
            <a:off x="457200" y="1752600"/>
            <a:ext cx="8229600" cy="4572000"/>
          </a:xfrm>
        </p:spPr>
        <p:txBody>
          <a:bodyPr>
            <a:normAutofit/>
          </a:bodyPr>
          <a:lstStyle/>
          <a:p>
            <a:r>
              <a:rPr lang="en-US" sz="2800" dirty="0" smtClean="0"/>
              <a:t>Use a standard format and use it for all</a:t>
            </a:r>
          </a:p>
          <a:p>
            <a:pPr>
              <a:buNone/>
            </a:pPr>
            <a:r>
              <a:rPr lang="en-US" sz="2800" dirty="0" smtClean="0"/>
              <a:t>requirements</a:t>
            </a:r>
          </a:p>
          <a:p>
            <a:r>
              <a:rPr lang="en-US" sz="2800" dirty="0" smtClean="0"/>
              <a:t>Use language in a consistent way. Use </a:t>
            </a:r>
            <a:r>
              <a:rPr lang="en-US" sz="2800" b="1" dirty="0" smtClean="0"/>
              <a:t>shall</a:t>
            </a:r>
            <a:r>
              <a:rPr lang="en-US" sz="2800" dirty="0" smtClean="0"/>
              <a:t> for mandatory requirements, </a:t>
            </a:r>
            <a:r>
              <a:rPr lang="en-US" sz="2800" b="1" dirty="0" smtClean="0"/>
              <a:t>should</a:t>
            </a:r>
            <a:r>
              <a:rPr lang="en-US" sz="2800" dirty="0" smtClean="0"/>
              <a:t> for desirable requirements</a:t>
            </a:r>
          </a:p>
          <a:p>
            <a:r>
              <a:rPr lang="en-US" sz="2800" dirty="0" smtClean="0"/>
              <a:t>Use text highlighting to identify key parts of the requirement</a:t>
            </a:r>
          </a:p>
          <a:p>
            <a:r>
              <a:rPr lang="en-US" sz="2800" dirty="0" smtClean="0"/>
              <a:t>Avoid the use of computer jargon</a:t>
            </a:r>
            <a:endParaRPr lang="en-US" sz="2800"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smtClean="0"/>
              <a:t>Generic Requirements document structure</a:t>
            </a:r>
            <a:endParaRPr lang="en-US" dirty="0"/>
          </a:p>
        </p:txBody>
      </p:sp>
      <p:sp>
        <p:nvSpPr>
          <p:cNvPr id="2" name="Content Placeholder 1"/>
          <p:cNvSpPr>
            <a:spLocks noGrp="1"/>
          </p:cNvSpPr>
          <p:nvPr>
            <p:ph idx="1"/>
          </p:nvPr>
        </p:nvSpPr>
        <p:spPr/>
        <p:txBody>
          <a:bodyPr/>
          <a:lstStyle/>
          <a:p>
            <a:r>
              <a:rPr lang="en-US" dirty="0" smtClean="0"/>
              <a:t> Introduction</a:t>
            </a:r>
          </a:p>
          <a:p>
            <a:r>
              <a:rPr lang="en-US" dirty="0" smtClean="0"/>
              <a:t>Glossary</a:t>
            </a:r>
          </a:p>
          <a:p>
            <a:r>
              <a:rPr lang="en-US" dirty="0" smtClean="0"/>
              <a:t>User requirements definition</a:t>
            </a:r>
          </a:p>
          <a:p>
            <a:r>
              <a:rPr lang="en-US" dirty="0" smtClean="0"/>
              <a:t>System architecture</a:t>
            </a:r>
          </a:p>
          <a:p>
            <a:r>
              <a:rPr lang="en-US" dirty="0" smtClean="0"/>
              <a:t>System requirements specification</a:t>
            </a:r>
          </a:p>
          <a:p>
            <a:r>
              <a:rPr lang="en-US" dirty="0" smtClean="0"/>
              <a:t>System models</a:t>
            </a:r>
          </a:p>
          <a:p>
            <a:r>
              <a:rPr lang="en-US" dirty="0" smtClean="0"/>
              <a:t>System evolution</a:t>
            </a:r>
          </a:p>
          <a:p>
            <a:r>
              <a:rPr lang="en-US" dirty="0" smtClean="0"/>
              <a:t>Appendices</a:t>
            </a:r>
          </a:p>
          <a:p>
            <a:r>
              <a:rPr lang="en-US" dirty="0" smtClean="0"/>
              <a:t>Index</a:t>
            </a:r>
            <a:endParaRPr 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04088"/>
            <a:ext cx="8763000" cy="819912"/>
          </a:xfrm>
        </p:spPr>
        <p:txBody>
          <a:bodyPr>
            <a:normAutofit fontScale="90000"/>
          </a:bodyPr>
          <a:lstStyle/>
          <a:p>
            <a:r>
              <a:rPr lang="it-IT" altLang="en-US" sz="5400" dirty="0" smtClean="0"/>
              <a:t>Requirements document structure</a:t>
            </a:r>
            <a:endParaRPr lang="en-US" dirty="0"/>
          </a:p>
        </p:txBody>
      </p:sp>
      <p:sp>
        <p:nvSpPr>
          <p:cNvPr id="3" name="Content Placeholder 2"/>
          <p:cNvSpPr>
            <a:spLocks noGrp="1"/>
          </p:cNvSpPr>
          <p:nvPr>
            <p:ph idx="1"/>
          </p:nvPr>
        </p:nvSpPr>
        <p:spPr>
          <a:xfrm>
            <a:off x="457200" y="1600200"/>
            <a:ext cx="8229600" cy="5029200"/>
          </a:xfrm>
        </p:spPr>
        <p:txBody>
          <a:bodyPr>
            <a:normAutofit/>
          </a:bodyPr>
          <a:lstStyle/>
          <a:p>
            <a:r>
              <a:rPr lang="it-IT" altLang="en-US" sz="2800" b="1" dirty="0" smtClean="0"/>
              <a:t>Introduction</a:t>
            </a:r>
          </a:p>
          <a:p>
            <a:pPr lvl="1">
              <a:buSzPct val="75000"/>
            </a:pPr>
            <a:r>
              <a:rPr lang="it-IT" altLang="en-US" sz="2800" dirty="0" smtClean="0"/>
              <a:t>Describe need for the system and how it fits with business objectives</a:t>
            </a:r>
          </a:p>
          <a:p>
            <a:r>
              <a:rPr lang="it-IT" altLang="en-US" sz="2800" b="1" dirty="0" smtClean="0"/>
              <a:t>Glossary</a:t>
            </a:r>
          </a:p>
          <a:p>
            <a:pPr lvl="1">
              <a:buSzPct val="75000"/>
            </a:pPr>
            <a:r>
              <a:rPr lang="it-IT" altLang="en-US" sz="2800" dirty="0" smtClean="0"/>
              <a:t>Define technical terms used</a:t>
            </a:r>
          </a:p>
          <a:p>
            <a:r>
              <a:rPr lang="it-IT" altLang="en-US" sz="2800" b="1" dirty="0" smtClean="0"/>
              <a:t>Functional requirements definition </a:t>
            </a:r>
            <a:r>
              <a:rPr lang="it-IT" altLang="en-US" sz="2800" dirty="0" smtClean="0"/>
              <a:t>(user reqs.)</a:t>
            </a:r>
          </a:p>
          <a:p>
            <a:pPr lvl="1">
              <a:buSzPct val="75000"/>
            </a:pPr>
            <a:r>
              <a:rPr lang="it-IT" altLang="en-US" sz="2800" dirty="0" smtClean="0"/>
              <a:t>Describe the services to be provided</a:t>
            </a:r>
          </a:p>
          <a:p>
            <a:endParaRPr lang="en-US"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it-IT" altLang="en-US" sz="2800" b="1" dirty="0" smtClean="0"/>
              <a:t>Non-functional requirements </a:t>
            </a:r>
            <a:r>
              <a:rPr lang="it-IT" altLang="en-US" sz="2800" dirty="0" smtClean="0"/>
              <a:t>definition (user reqs.)</a:t>
            </a:r>
          </a:p>
          <a:p>
            <a:pPr lvl="1">
              <a:buSzPct val="75000"/>
            </a:pPr>
            <a:r>
              <a:rPr lang="it-IT" altLang="en-US" sz="2800" dirty="0" smtClean="0"/>
              <a:t>Define constraints on the system and the development process</a:t>
            </a:r>
          </a:p>
          <a:p>
            <a:r>
              <a:rPr lang="it-IT" altLang="en-US" sz="2800" b="1" dirty="0" smtClean="0"/>
              <a:t>System Architecture</a:t>
            </a:r>
          </a:p>
          <a:p>
            <a:pPr lvl="1">
              <a:buSzPct val="75000"/>
            </a:pPr>
            <a:r>
              <a:rPr lang="it-IT" altLang="en-US" sz="2800" dirty="0" smtClean="0"/>
              <a:t>helps structuring requirements around subsystems</a:t>
            </a:r>
          </a:p>
          <a:p>
            <a:r>
              <a:rPr lang="it-IT" altLang="en-US" sz="2800" b="1" dirty="0" smtClean="0"/>
              <a:t>System evolution</a:t>
            </a:r>
          </a:p>
          <a:p>
            <a:pPr lvl="1">
              <a:buSzPct val="75000"/>
            </a:pPr>
            <a:r>
              <a:rPr lang="it-IT" altLang="en-US" sz="2800" dirty="0" smtClean="0"/>
              <a:t>Define fundamental assumptions on which the system is based and anticipated changes</a:t>
            </a:r>
          </a:p>
          <a:p>
            <a:pPr lvl="1">
              <a:buSzPct val="75000"/>
            </a:pPr>
            <a:endParaRPr lang="it-IT" altLang="en-US" sz="2800" dirty="0" smtClean="0"/>
          </a:p>
          <a:p>
            <a:endParaRPr lang="en-US"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5257800"/>
          </a:xfrm>
        </p:spPr>
        <p:txBody>
          <a:bodyPr>
            <a:normAutofit/>
          </a:bodyPr>
          <a:lstStyle/>
          <a:p>
            <a:r>
              <a:rPr lang="it-IT" altLang="en-US" sz="2800" b="1" dirty="0" smtClean="0"/>
              <a:t>System and software requirements specification</a:t>
            </a:r>
          </a:p>
          <a:p>
            <a:pPr lvl="1">
              <a:buSzPct val="75000"/>
            </a:pPr>
            <a:r>
              <a:rPr lang="it-IT" altLang="en-US" sz="2800" dirty="0" smtClean="0"/>
              <a:t>Detailed specification of functional requirements</a:t>
            </a:r>
          </a:p>
          <a:p>
            <a:r>
              <a:rPr lang="it-IT" altLang="en-US" sz="2800" b="1" dirty="0" smtClean="0"/>
              <a:t>System models</a:t>
            </a:r>
          </a:p>
          <a:p>
            <a:pPr lvl="1">
              <a:buSzPct val="75000"/>
            </a:pPr>
            <a:r>
              <a:rPr lang="it-IT" altLang="en-US" sz="2800" dirty="0" smtClean="0"/>
              <a:t>Define models showing system components and relationships </a:t>
            </a:r>
          </a:p>
          <a:p>
            <a:endParaRPr lang="en-US"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it-IT" altLang="en-US" sz="2800" b="1" dirty="0" smtClean="0"/>
              <a:t>Appendices</a:t>
            </a:r>
          </a:p>
          <a:p>
            <a:pPr lvl="1">
              <a:buSzPct val="75000"/>
            </a:pPr>
            <a:r>
              <a:rPr lang="it-IT" altLang="en-US" sz="2800" dirty="0" smtClean="0"/>
              <a:t>System hardware platform description</a:t>
            </a:r>
          </a:p>
          <a:p>
            <a:pPr lvl="1">
              <a:buSzPct val="75000"/>
            </a:pPr>
            <a:r>
              <a:rPr lang="it-IT" altLang="en-US" sz="2800" dirty="0" smtClean="0"/>
              <a:t>Database requirements (as an ER model perhaps)</a:t>
            </a:r>
          </a:p>
          <a:p>
            <a:pPr lvl="1">
              <a:buSzPct val="75000"/>
            </a:pPr>
            <a:r>
              <a:rPr lang="it-IT" altLang="en-US" sz="2800" dirty="0" smtClean="0"/>
              <a:t>May include USER MANUAL and TEST PLAN</a:t>
            </a:r>
          </a:p>
          <a:p>
            <a:r>
              <a:rPr lang="it-IT" altLang="en-US" sz="2800" b="1" dirty="0" smtClean="0"/>
              <a:t>Index</a:t>
            </a:r>
          </a:p>
          <a:p>
            <a:endParaRPr lang="en-US"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4" name="Rectangle 2"/>
          <p:cNvSpPr>
            <a:spLocks noGrp="1" noChangeArrowheads="1"/>
          </p:cNvSpPr>
          <p:nvPr>
            <p:ph type="title"/>
          </p:nvPr>
        </p:nvSpPr>
        <p:spPr>
          <a:xfrm>
            <a:off x="685800" y="533400"/>
            <a:ext cx="7772400" cy="838200"/>
          </a:xfrm>
        </p:spPr>
        <p:txBody>
          <a:bodyPr>
            <a:normAutofit/>
          </a:bodyPr>
          <a:lstStyle/>
          <a:p>
            <a:pPr eaLnBrk="1" hangingPunct="1"/>
            <a:r>
              <a:rPr lang="en-US" sz="4400" dirty="0" smtClean="0"/>
              <a:t>Summary</a:t>
            </a:r>
          </a:p>
        </p:txBody>
      </p:sp>
      <p:sp>
        <p:nvSpPr>
          <p:cNvPr id="56325" name="Rectangle 3"/>
          <p:cNvSpPr>
            <a:spLocks noGrp="1" noChangeArrowheads="1"/>
          </p:cNvSpPr>
          <p:nvPr>
            <p:ph idx="1"/>
          </p:nvPr>
        </p:nvSpPr>
        <p:spPr>
          <a:xfrm>
            <a:off x="609600" y="1676400"/>
            <a:ext cx="7848600" cy="4800600"/>
          </a:xfrm>
        </p:spPr>
        <p:txBody>
          <a:bodyPr>
            <a:normAutofit/>
          </a:bodyPr>
          <a:lstStyle/>
          <a:p>
            <a:pPr eaLnBrk="1" hangingPunct="1"/>
            <a:r>
              <a:rPr lang="en-US" sz="2800" dirty="0" smtClean="0"/>
              <a:t>Having a good quality SRS is essential for Q&amp;P</a:t>
            </a:r>
          </a:p>
          <a:p>
            <a:pPr eaLnBrk="1" hangingPunct="1"/>
            <a:r>
              <a:rPr lang="en-US" sz="2800" dirty="0" smtClean="0"/>
              <a:t>The req. phase has 3 major sub phases</a:t>
            </a:r>
          </a:p>
          <a:p>
            <a:pPr lvl="1" eaLnBrk="1" hangingPunct="1"/>
            <a:r>
              <a:rPr lang="en-US" sz="2800" dirty="0" smtClean="0"/>
              <a:t>analysis , specification and validation</a:t>
            </a:r>
          </a:p>
          <a:p>
            <a:pPr eaLnBrk="1" hangingPunct="1"/>
            <a:r>
              <a:rPr lang="en-US" sz="2800" dirty="0" smtClean="0"/>
              <a:t>Analysis</a:t>
            </a:r>
          </a:p>
          <a:p>
            <a:pPr lvl="1" eaLnBrk="1" hangingPunct="1"/>
            <a:r>
              <a:rPr lang="en-US" sz="2800" dirty="0" smtClean="0"/>
              <a:t>for problem understanding and modeling</a:t>
            </a:r>
          </a:p>
          <a:p>
            <a:pPr eaLnBrk="1" hangingPunct="1"/>
            <a:r>
              <a:rPr lang="en-US" sz="2800" dirty="0" smtClean="0"/>
              <a:t>Key properties of an SRS: correctness, completeness, consistency, unambiguousness</a:t>
            </a:r>
          </a:p>
        </p:txBody>
      </p:sp>
      <p:sp>
        <p:nvSpPr>
          <p:cNvPr id="56322" name="Footer Placeholder 4"/>
          <p:cNvSpPr>
            <a:spLocks noGrp="1"/>
          </p:cNvSpPr>
          <p:nvPr>
            <p:ph type="ftr" sz="quarter" idx="11"/>
          </p:nvPr>
        </p:nvSpPr>
        <p:spPr>
          <a:noFill/>
        </p:spPr>
        <p:txBody>
          <a:bodyPr/>
          <a:lstStyle/>
          <a:p>
            <a:r>
              <a:rPr lang="en-US" smtClean="0"/>
              <a:t>Requirements</a:t>
            </a:r>
          </a:p>
        </p:txBody>
      </p:sp>
      <p:sp>
        <p:nvSpPr>
          <p:cNvPr id="56323" name="Slide Number Placeholder 5"/>
          <p:cNvSpPr>
            <a:spLocks noGrp="1"/>
          </p:cNvSpPr>
          <p:nvPr>
            <p:ph type="sldNum" sz="quarter" idx="12"/>
          </p:nvPr>
        </p:nvSpPr>
        <p:spPr>
          <a:noFill/>
        </p:spPr>
        <p:txBody>
          <a:bodyPr/>
          <a:lstStyle/>
          <a:p>
            <a:fld id="{D2614671-8CF1-4417-99F2-70FB2E572C83}" type="slidenum">
              <a:rPr lang="en-US" smtClean="0"/>
              <a:pPr/>
              <a:t>46</a:t>
            </a:fld>
            <a:endParaRPr lang="en-US" smtClean="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ctr"/>
            <a:r>
              <a:rPr lang="en-US" dirty="0" smtClean="0"/>
              <a:t>END OF CHAPTER 3</a:t>
            </a:r>
          </a:p>
          <a:p>
            <a:pPr algn="ctr"/>
            <a:r>
              <a:rPr lang="en-US" dirty="0" smtClean="0"/>
              <a:t>Thank you.</a:t>
            </a:r>
            <a:endParaRPr lang="en-US"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From Library Management System, provide:</a:t>
            </a:r>
          </a:p>
          <a:p>
            <a:r>
              <a:rPr lang="en-US" dirty="0" smtClean="0"/>
              <a:t>1. FUNCTIONAL REQUIREMENTS, </a:t>
            </a:r>
          </a:p>
          <a:p>
            <a:r>
              <a:rPr lang="en-US" dirty="0" smtClean="0"/>
              <a:t>2. NO-FUNCTIONAL REQUIREMENTS AND</a:t>
            </a:r>
          </a:p>
          <a:p>
            <a:r>
              <a:rPr lang="en-US" dirty="0" smtClean="0"/>
              <a:t>3. SYSTEM REQUIREMENTS</a:t>
            </a:r>
            <a:endParaRPr lang="en-US"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proposal</a:t>
            </a:r>
            <a:endParaRPr lang="en-US" dirty="0"/>
          </a:p>
        </p:txBody>
      </p:sp>
      <p:sp>
        <p:nvSpPr>
          <p:cNvPr id="3" name="Content Placeholder 2"/>
          <p:cNvSpPr>
            <a:spLocks noGrp="1"/>
          </p:cNvSpPr>
          <p:nvPr>
            <p:ph idx="1"/>
          </p:nvPr>
        </p:nvSpPr>
        <p:spPr/>
        <p:txBody>
          <a:bodyPr>
            <a:normAutofit/>
          </a:bodyPr>
          <a:lstStyle/>
          <a:p>
            <a:r>
              <a:rPr lang="en-US" sz="3600" dirty="0" smtClean="0"/>
              <a:t>Topic : Transport agency management system</a:t>
            </a:r>
          </a:p>
          <a:p>
            <a:endParaRPr lang="en-US" sz="3600" dirty="0" smtClean="0"/>
          </a:p>
          <a:p>
            <a:r>
              <a:rPr lang="en-US" sz="3600" dirty="0" smtClean="0"/>
              <a:t>Case study : Stella Express</a:t>
            </a:r>
            <a:endParaRPr lang="en-US" sz="3600"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638800"/>
          </a:xfrm>
        </p:spPr>
        <p:txBody>
          <a:bodyPr>
            <a:normAutofit/>
          </a:bodyPr>
          <a:lstStyle/>
          <a:p>
            <a:r>
              <a:rPr lang="en-US" sz="2800" dirty="0" smtClean="0"/>
              <a:t>1. Introduction</a:t>
            </a:r>
          </a:p>
          <a:p>
            <a:r>
              <a:rPr lang="en-US" sz="2800" dirty="0" smtClean="0"/>
              <a:t>2. Problem statement</a:t>
            </a:r>
          </a:p>
          <a:p>
            <a:r>
              <a:rPr lang="en-US" sz="2800" dirty="0" smtClean="0"/>
              <a:t>3. Objectives</a:t>
            </a:r>
          </a:p>
          <a:p>
            <a:r>
              <a:rPr lang="en-US" sz="2800" dirty="0" smtClean="0"/>
              <a:t>- general objectives</a:t>
            </a:r>
          </a:p>
          <a:p>
            <a:r>
              <a:rPr lang="en-US" sz="2800" dirty="0" smtClean="0"/>
              <a:t>-Specific objectives</a:t>
            </a:r>
          </a:p>
          <a:p>
            <a:r>
              <a:rPr lang="en-US" sz="2800" dirty="0" smtClean="0"/>
              <a:t>4. Scope of the project</a:t>
            </a:r>
          </a:p>
          <a:p>
            <a:r>
              <a:rPr lang="en-US" sz="2800" dirty="0" smtClean="0"/>
              <a:t>5. Interest of the project (Personal, Org, Community)</a:t>
            </a:r>
          </a:p>
          <a:p>
            <a:r>
              <a:rPr lang="en-US" sz="2800" dirty="0" smtClean="0"/>
              <a:t>6. Methodology</a:t>
            </a:r>
          </a:p>
          <a:p>
            <a:r>
              <a:rPr lang="en-US" sz="2800" dirty="0" smtClean="0"/>
              <a:t>7. Organization/ Division of the project</a:t>
            </a:r>
            <a:endParaRPr lang="en-US" sz="2800"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en-US" dirty="0" smtClean="0"/>
              <a:t>1. Introduction (1page)</a:t>
            </a:r>
            <a:endParaRPr lang="en-US" dirty="0"/>
          </a:p>
        </p:txBody>
      </p:sp>
      <p:sp>
        <p:nvSpPr>
          <p:cNvPr id="3" name="Content Placeholder 2"/>
          <p:cNvSpPr>
            <a:spLocks noGrp="1"/>
          </p:cNvSpPr>
          <p:nvPr>
            <p:ph idx="1"/>
          </p:nvPr>
        </p:nvSpPr>
        <p:spPr>
          <a:xfrm>
            <a:off x="304800" y="1143000"/>
            <a:ext cx="8458200" cy="5562600"/>
          </a:xfrm>
        </p:spPr>
        <p:txBody>
          <a:bodyPr>
            <a:normAutofit fontScale="92500" lnSpcReduction="20000"/>
          </a:bodyPr>
          <a:lstStyle/>
          <a:p>
            <a:r>
              <a:rPr lang="en-US" dirty="0" smtClean="0"/>
              <a:t>The use of Information technology has been of great importance within transport area. Many companies has adopted IT for managing their daily activities. (Name, date).</a:t>
            </a:r>
          </a:p>
          <a:p>
            <a:r>
              <a:rPr lang="en-US" dirty="0" smtClean="0"/>
              <a:t>Stella Express, one of the transport agency in Rwanda. Where different customers comes to buy ticket….</a:t>
            </a:r>
          </a:p>
          <a:p>
            <a:r>
              <a:rPr lang="en-US" dirty="0" smtClean="0"/>
              <a:t>Stella express has many problems such customer has to come to office to do reservation, they record customer on piece of paper,….</a:t>
            </a:r>
          </a:p>
          <a:p>
            <a:r>
              <a:rPr lang="en-US" dirty="0" smtClean="0"/>
              <a:t>The purpose of this project entitled “….” is to develop a software which will help SE to overcome the stated problem.</a:t>
            </a:r>
            <a:endParaRPr lang="en-US"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 Problem statement</a:t>
            </a:r>
            <a:endParaRPr lang="en-US" dirty="0"/>
          </a:p>
        </p:txBody>
      </p:sp>
      <p:sp>
        <p:nvSpPr>
          <p:cNvPr id="3" name="Content Placeholder 2"/>
          <p:cNvSpPr>
            <a:spLocks noGrp="1"/>
          </p:cNvSpPr>
          <p:nvPr>
            <p:ph idx="1"/>
          </p:nvPr>
        </p:nvSpPr>
        <p:spPr/>
        <p:txBody>
          <a:bodyPr/>
          <a:lstStyle/>
          <a:p>
            <a:r>
              <a:rPr lang="en-US" dirty="0" smtClean="0"/>
              <a:t>Stella E has been using manual way for record customers, selling tickets.</a:t>
            </a:r>
          </a:p>
          <a:p>
            <a:r>
              <a:rPr lang="en-US" dirty="0" smtClean="0"/>
              <a:t>This created many problem:</a:t>
            </a:r>
          </a:p>
          <a:p>
            <a:r>
              <a:rPr lang="en-US" dirty="0" smtClean="0"/>
              <a:t>- Time  and money consuming to go to the office for reservation</a:t>
            </a:r>
          </a:p>
          <a:p>
            <a:pPr>
              <a:buNone/>
            </a:pPr>
            <a:r>
              <a:rPr lang="en-US" dirty="0" smtClean="0"/>
              <a:t>-Search of existing customers is very difficult </a:t>
            </a:r>
          </a:p>
          <a:p>
            <a:pPr>
              <a:buNone/>
            </a:pPr>
            <a:r>
              <a:rPr lang="en-US" dirty="0" smtClean="0"/>
              <a:t>- Daily inventory,</a:t>
            </a:r>
          </a:p>
          <a:p>
            <a:pPr>
              <a:buNone/>
            </a:pPr>
            <a:r>
              <a:rPr lang="en-US" dirty="0" smtClean="0"/>
              <a:t>-</a:t>
            </a:r>
          </a:p>
          <a:p>
            <a:pPr>
              <a:buNone/>
            </a:pPr>
            <a:r>
              <a:rPr lang="en-US" dirty="0" smtClean="0"/>
              <a:t>-</a:t>
            </a:r>
            <a:endParaRPr lang="en-US" dirty="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15112"/>
          </a:xfrm>
        </p:spPr>
        <p:txBody>
          <a:bodyPr>
            <a:normAutofit fontScale="90000"/>
          </a:bodyPr>
          <a:lstStyle/>
          <a:p>
            <a:r>
              <a:rPr lang="en-US" dirty="0" smtClean="0"/>
              <a:t>3. Objectives</a:t>
            </a:r>
            <a:endParaRPr lang="en-US" dirty="0"/>
          </a:p>
        </p:txBody>
      </p:sp>
      <p:sp>
        <p:nvSpPr>
          <p:cNvPr id="3" name="Content Placeholder 2"/>
          <p:cNvSpPr>
            <a:spLocks noGrp="1"/>
          </p:cNvSpPr>
          <p:nvPr>
            <p:ph idx="1"/>
          </p:nvPr>
        </p:nvSpPr>
        <p:spPr>
          <a:xfrm>
            <a:off x="457200" y="1295400"/>
            <a:ext cx="8229600" cy="5029200"/>
          </a:xfrm>
        </p:spPr>
        <p:txBody>
          <a:bodyPr>
            <a:normAutofit fontScale="77500" lnSpcReduction="20000"/>
          </a:bodyPr>
          <a:lstStyle/>
          <a:p>
            <a:r>
              <a:rPr lang="en-US" b="1" dirty="0" smtClean="0"/>
              <a:t>General objectives</a:t>
            </a:r>
          </a:p>
          <a:p>
            <a:pPr>
              <a:buNone/>
            </a:pPr>
            <a:r>
              <a:rPr lang="en-US" dirty="0" smtClean="0"/>
              <a:t>The general objective of this project is to analyze, design and implement Stella Express management system</a:t>
            </a:r>
          </a:p>
          <a:p>
            <a:r>
              <a:rPr lang="en-US" b="1" dirty="0" smtClean="0"/>
              <a:t>Specific objectives</a:t>
            </a:r>
          </a:p>
          <a:p>
            <a:r>
              <a:rPr lang="en-US" b="1" dirty="0" smtClean="0"/>
              <a:t>- </a:t>
            </a:r>
            <a:r>
              <a:rPr lang="en-US" dirty="0" smtClean="0"/>
              <a:t>record client</a:t>
            </a:r>
          </a:p>
          <a:p>
            <a:r>
              <a:rPr lang="en-US" dirty="0" smtClean="0"/>
              <a:t>- Record driver</a:t>
            </a:r>
          </a:p>
          <a:p>
            <a:r>
              <a:rPr lang="en-US" dirty="0" smtClean="0"/>
              <a:t>- Record bus</a:t>
            </a:r>
          </a:p>
          <a:p>
            <a:r>
              <a:rPr lang="en-US" dirty="0" smtClean="0"/>
              <a:t>- Reserve place online</a:t>
            </a:r>
          </a:p>
          <a:p>
            <a:r>
              <a:rPr lang="en-US" dirty="0" smtClean="0"/>
              <a:t>- cancel reservation</a:t>
            </a:r>
          </a:p>
          <a:p>
            <a:r>
              <a:rPr lang="en-US" dirty="0" smtClean="0"/>
              <a:t>- Record line</a:t>
            </a:r>
          </a:p>
          <a:p>
            <a:r>
              <a:rPr lang="en-US" dirty="0" smtClean="0"/>
              <a:t>- Schedule  trip</a:t>
            </a:r>
          </a:p>
          <a:p>
            <a:r>
              <a:rPr lang="en-US" dirty="0" smtClean="0"/>
              <a:t>- Buy ticket</a:t>
            </a:r>
            <a:endParaRPr lang="en-US"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4. Scope of the project</a:t>
            </a:r>
            <a:endParaRPr lang="en-US" dirty="0"/>
          </a:p>
        </p:txBody>
      </p:sp>
      <p:sp>
        <p:nvSpPr>
          <p:cNvPr id="3" name="Content Placeholder 2"/>
          <p:cNvSpPr>
            <a:spLocks noGrp="1"/>
          </p:cNvSpPr>
          <p:nvPr>
            <p:ph idx="1"/>
          </p:nvPr>
        </p:nvSpPr>
        <p:spPr/>
        <p:txBody>
          <a:bodyPr/>
          <a:lstStyle/>
          <a:p>
            <a:r>
              <a:rPr lang="en-US" dirty="0" smtClean="0"/>
              <a:t>There are many activities that can be computerized with Stella express such Human resource management, payment management, salary management. But due to the time and budget limitation, this project will be limited to scheduling management.</a:t>
            </a:r>
            <a:endParaRPr lang="en-US" dirty="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5. Interest of the study</a:t>
            </a:r>
            <a:endParaRPr lang="en-US" dirty="0"/>
          </a:p>
        </p:txBody>
      </p:sp>
      <p:sp>
        <p:nvSpPr>
          <p:cNvPr id="3" name="Content Placeholder 2"/>
          <p:cNvSpPr>
            <a:spLocks noGrp="1"/>
          </p:cNvSpPr>
          <p:nvPr>
            <p:ph idx="1"/>
          </p:nvPr>
        </p:nvSpPr>
        <p:spPr/>
        <p:txBody>
          <a:bodyPr/>
          <a:lstStyle/>
          <a:p>
            <a:r>
              <a:rPr lang="en-US" dirty="0" smtClean="0"/>
              <a:t>- Personal Interest</a:t>
            </a:r>
          </a:p>
          <a:p>
            <a:r>
              <a:rPr lang="en-US" dirty="0" smtClean="0"/>
              <a:t>- Organization/Company/ Institution interest</a:t>
            </a:r>
          </a:p>
          <a:p>
            <a:r>
              <a:rPr lang="en-US" dirty="0" smtClean="0"/>
              <a:t>- Community interest</a:t>
            </a:r>
            <a:endParaRPr lang="en-US"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6.Methodology</a:t>
            </a:r>
            <a:endParaRPr lang="en-US" dirty="0"/>
          </a:p>
        </p:txBody>
      </p:sp>
      <p:sp>
        <p:nvSpPr>
          <p:cNvPr id="3" name="Content Placeholder 2"/>
          <p:cNvSpPr>
            <a:spLocks noGrp="1"/>
          </p:cNvSpPr>
          <p:nvPr>
            <p:ph idx="1"/>
          </p:nvPr>
        </p:nvSpPr>
        <p:spPr/>
        <p:txBody>
          <a:bodyPr/>
          <a:lstStyle/>
          <a:p>
            <a:r>
              <a:rPr lang="en-US" dirty="0" smtClean="0"/>
              <a:t>6.1. Data collection methods</a:t>
            </a:r>
          </a:p>
          <a:p>
            <a:r>
              <a:rPr lang="en-US" dirty="0" smtClean="0"/>
              <a:t>- Interview</a:t>
            </a:r>
          </a:p>
          <a:p>
            <a:pPr>
              <a:buNone/>
            </a:pPr>
            <a:r>
              <a:rPr lang="en-US" dirty="0" smtClean="0"/>
              <a:t>(short description)</a:t>
            </a:r>
          </a:p>
          <a:p>
            <a:r>
              <a:rPr lang="en-US" dirty="0" smtClean="0"/>
              <a:t>- Observation </a:t>
            </a:r>
          </a:p>
          <a:p>
            <a:pPr>
              <a:buNone/>
            </a:pPr>
            <a:r>
              <a:rPr lang="en-US" dirty="0" smtClean="0"/>
              <a:t>(short description)</a:t>
            </a:r>
          </a:p>
          <a:p>
            <a:r>
              <a:rPr lang="en-US" dirty="0" smtClean="0"/>
              <a:t>- Documentation</a:t>
            </a:r>
          </a:p>
          <a:p>
            <a:pPr>
              <a:buNone/>
            </a:pPr>
            <a:r>
              <a:rPr lang="en-US" dirty="0" smtClean="0"/>
              <a:t>(short description)</a:t>
            </a:r>
          </a:p>
          <a:p>
            <a:endParaRPr lang="en-US"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6.2. Software engineering methods</a:t>
            </a:r>
            <a:endParaRPr lang="en-US" dirty="0"/>
          </a:p>
        </p:txBody>
      </p:sp>
      <p:sp>
        <p:nvSpPr>
          <p:cNvPr id="3" name="Content Placeholder 2"/>
          <p:cNvSpPr>
            <a:spLocks noGrp="1"/>
          </p:cNvSpPr>
          <p:nvPr>
            <p:ph idx="1"/>
          </p:nvPr>
        </p:nvSpPr>
        <p:spPr/>
        <p:txBody>
          <a:bodyPr/>
          <a:lstStyle/>
          <a:p>
            <a:r>
              <a:rPr lang="en-US" dirty="0" smtClean="0"/>
              <a:t>- Software development process model</a:t>
            </a:r>
          </a:p>
          <a:p>
            <a:pPr>
              <a:buNone/>
            </a:pPr>
            <a:r>
              <a:rPr lang="en-US" dirty="0" smtClean="0"/>
              <a:t>( W, P, I, XP, TB)</a:t>
            </a:r>
          </a:p>
          <a:p>
            <a:pPr>
              <a:buFontTx/>
              <a:buChar char="-"/>
            </a:pPr>
            <a:r>
              <a:rPr lang="en-US" dirty="0" smtClean="0"/>
              <a:t>Analysis and design methods (Structured System analysis and Design </a:t>
            </a:r>
            <a:r>
              <a:rPr lang="en-US" b="1" dirty="0" smtClean="0"/>
              <a:t>OR</a:t>
            </a:r>
            <a:r>
              <a:rPr lang="en-US" dirty="0" smtClean="0"/>
              <a:t> Object oriented analysis and Design).</a:t>
            </a:r>
          </a:p>
          <a:p>
            <a:pPr>
              <a:buFontTx/>
              <a:buChar char="-"/>
            </a:pPr>
            <a:r>
              <a:rPr lang="en-US" dirty="0" smtClean="0"/>
              <a:t>Database management system (DBMS): </a:t>
            </a:r>
            <a:r>
              <a:rPr lang="en-US" dirty="0" err="1" smtClean="0"/>
              <a:t>Mysql</a:t>
            </a:r>
            <a:r>
              <a:rPr lang="en-US" dirty="0" smtClean="0"/>
              <a:t>, </a:t>
            </a:r>
            <a:r>
              <a:rPr lang="en-US" b="1" dirty="0" smtClean="0"/>
              <a:t>OR</a:t>
            </a:r>
            <a:r>
              <a:rPr lang="en-US" dirty="0" smtClean="0"/>
              <a:t> Oracle, </a:t>
            </a:r>
            <a:r>
              <a:rPr lang="en-US" b="1" dirty="0" smtClean="0"/>
              <a:t>OR</a:t>
            </a:r>
            <a:r>
              <a:rPr lang="en-US" dirty="0" smtClean="0"/>
              <a:t> Microsoft access</a:t>
            </a:r>
          </a:p>
          <a:p>
            <a:pPr>
              <a:buFontTx/>
              <a:buChar char="-"/>
            </a:pPr>
            <a:r>
              <a:rPr lang="en-US" dirty="0" smtClean="0"/>
              <a:t>Programming language: Java, C#, …</a:t>
            </a:r>
          </a:p>
          <a:p>
            <a:pPr>
              <a:buFontTx/>
              <a:buChar char="-"/>
            </a:pPr>
            <a:r>
              <a:rPr lang="en-US" dirty="0" smtClean="0"/>
              <a:t>Any other tools, ….</a:t>
            </a:r>
          </a:p>
          <a:p>
            <a:pPr>
              <a:buFontTx/>
              <a:buChar char="-"/>
            </a:pPr>
            <a:endParaRPr lang="en-US"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7. Division of the project</a:t>
            </a:r>
            <a:endParaRPr lang="en-US" dirty="0"/>
          </a:p>
        </p:txBody>
      </p:sp>
      <p:sp>
        <p:nvSpPr>
          <p:cNvPr id="3" name="Content Placeholder 2"/>
          <p:cNvSpPr>
            <a:spLocks noGrp="1"/>
          </p:cNvSpPr>
          <p:nvPr>
            <p:ph idx="1"/>
          </p:nvPr>
        </p:nvSpPr>
        <p:spPr/>
        <p:txBody>
          <a:bodyPr/>
          <a:lstStyle/>
          <a:p>
            <a:r>
              <a:rPr lang="en-US" dirty="0" smtClean="0"/>
              <a:t>Chapter 1 will provide an introduction, problem,…..</a:t>
            </a:r>
          </a:p>
          <a:p>
            <a:r>
              <a:rPr lang="en-US" dirty="0" smtClean="0"/>
              <a:t>Chapter 2 provide a literature review  (basic concepts about our project, ), methodology </a:t>
            </a:r>
          </a:p>
          <a:p>
            <a:r>
              <a:rPr lang="en-US" dirty="0" smtClean="0"/>
              <a:t>Chapter 3 will deal system analysis and design</a:t>
            </a:r>
          </a:p>
          <a:p>
            <a:r>
              <a:rPr lang="en-US" dirty="0" smtClean="0"/>
              <a:t>Chapter 4 will deal with implementation </a:t>
            </a:r>
          </a:p>
          <a:p>
            <a:r>
              <a:rPr lang="en-US" dirty="0" smtClean="0"/>
              <a:t>Chapter 5 provide conclusion and recommendations.</a:t>
            </a:r>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Diseño predeterminado">
  <a:themeElements>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iseño predeterminado">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iseño predeterminado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iseño predeterminado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iseño predeterminado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iseño predeterminado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iseño predeterminado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iseño predeterminado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iseño predeterminad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iseño predeterminado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iseño predeterminado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iseño predeterminado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iseño predeterminado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8308</TotalTime>
  <Words>2269</Words>
  <Application>Microsoft Office PowerPoint</Application>
  <PresentationFormat>On-screen Show (4:3)</PresentationFormat>
  <Paragraphs>330</Paragraphs>
  <Slides>58</Slides>
  <Notes>2</Notes>
  <HiddenSlides>6</HiddenSlides>
  <MMClips>0</MMClips>
  <ScaleCrop>false</ScaleCrop>
  <HeadingPairs>
    <vt:vector size="4" baseType="variant">
      <vt:variant>
        <vt:lpstr>Theme</vt:lpstr>
      </vt:variant>
      <vt:variant>
        <vt:i4>1</vt:i4>
      </vt:variant>
      <vt:variant>
        <vt:lpstr>Slide Titles</vt:lpstr>
      </vt:variant>
      <vt:variant>
        <vt:i4>58</vt:i4>
      </vt:variant>
    </vt:vector>
  </HeadingPairs>
  <TitlesOfParts>
    <vt:vector size="59" baseType="lpstr">
      <vt:lpstr>Diseño predeterminado</vt:lpstr>
      <vt:lpstr>SOFTWARE ENGINEERING</vt:lpstr>
      <vt:lpstr>PowerPoint Presentation</vt:lpstr>
      <vt:lpstr>Objectives</vt:lpstr>
      <vt:lpstr>Requirement</vt:lpstr>
      <vt:lpstr>PowerPoint Presentation</vt:lpstr>
      <vt:lpstr>Requirements</vt:lpstr>
      <vt:lpstr>Function and Goals of  requirement</vt:lpstr>
      <vt:lpstr>PowerPoint Presentation</vt:lpstr>
      <vt:lpstr>Why are Requirements Important?</vt:lpstr>
      <vt:lpstr>Types of software requirements</vt:lpstr>
      <vt:lpstr>PowerPoint Presentation</vt:lpstr>
      <vt:lpstr>1. User requirements</vt:lpstr>
      <vt:lpstr>Functional requirements</vt:lpstr>
      <vt:lpstr>Examples of functional requirements</vt:lpstr>
      <vt:lpstr>No-Functional requirements</vt:lpstr>
      <vt:lpstr>Non-functional requirements</vt:lpstr>
      <vt:lpstr>PowerPoint Presentation</vt:lpstr>
      <vt:lpstr>Non-functional classifications</vt:lpstr>
      <vt:lpstr>PowerPoint Presentation</vt:lpstr>
      <vt:lpstr>PowerPoint Presentation</vt:lpstr>
      <vt:lpstr>PowerPoint Presentation</vt:lpstr>
      <vt:lpstr>PowerPoint Presentation</vt:lpstr>
      <vt:lpstr>PowerPoint Presentation</vt:lpstr>
      <vt:lpstr>Requirements readers</vt:lpstr>
      <vt:lpstr>Requirements imprecision</vt:lpstr>
      <vt:lpstr>Requirements completeness and consistency</vt:lpstr>
      <vt:lpstr>Goals of no-functional requirements</vt:lpstr>
      <vt:lpstr>Examples</vt:lpstr>
      <vt:lpstr>Requirements measures</vt:lpstr>
      <vt:lpstr>Domain requirements</vt:lpstr>
      <vt:lpstr>Domain requirements problems</vt:lpstr>
      <vt:lpstr>Problems with natural language</vt:lpstr>
      <vt:lpstr>Database requirement</vt:lpstr>
      <vt:lpstr>2. System requirements</vt:lpstr>
      <vt:lpstr>PowerPoint Presentation</vt:lpstr>
      <vt:lpstr>3. Software specification </vt:lpstr>
      <vt:lpstr>Requirements and design</vt:lpstr>
      <vt:lpstr>The requirements document</vt:lpstr>
      <vt:lpstr>PowerPoint Presentation</vt:lpstr>
      <vt:lpstr>Guidelines for writing requirements</vt:lpstr>
      <vt:lpstr>Generic Requirements document structure</vt:lpstr>
      <vt:lpstr>Requirements document structure</vt:lpstr>
      <vt:lpstr>PowerPoint Presentation</vt:lpstr>
      <vt:lpstr>PowerPoint Presentation</vt:lpstr>
      <vt:lpstr>PowerPoint Presentation</vt:lpstr>
      <vt:lpstr>Summary</vt:lpstr>
      <vt:lpstr>PowerPoint Presentation</vt:lpstr>
      <vt:lpstr>PowerPoint Presentation</vt:lpstr>
      <vt:lpstr>Project proposal</vt:lpstr>
      <vt:lpstr>PowerPoint Presentation</vt:lpstr>
      <vt:lpstr>1. Introduction (1page)</vt:lpstr>
      <vt:lpstr>2. Problem statement</vt:lpstr>
      <vt:lpstr>3. Objectives</vt:lpstr>
      <vt:lpstr>4. Scope of the project</vt:lpstr>
      <vt:lpstr>5. Interest of the study</vt:lpstr>
      <vt:lpstr>6.Methodology</vt:lpstr>
      <vt:lpstr>6.2. Software engineering methods</vt:lpstr>
      <vt:lpstr>7. Division of the project</vt:lpstr>
    </vt:vector>
  </TitlesOfParts>
  <Company>Toshiba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Mariajose</dc:creator>
  <cp:lastModifiedBy>james</cp:lastModifiedBy>
  <cp:revision>821</cp:revision>
  <dcterms:created xsi:type="dcterms:W3CDTF">2010-05-23T14:28:12Z</dcterms:created>
  <dcterms:modified xsi:type="dcterms:W3CDTF">2020-07-20T08:33:05Z</dcterms:modified>
</cp:coreProperties>
</file>