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7" r:id="rId53"/>
    <p:sldId id="318" r:id="rId54"/>
    <p:sldId id="320" r:id="rId55"/>
    <p:sldId id="321" r:id="rId56"/>
    <p:sldId id="322" r:id="rId57"/>
    <p:sldId id="323" r:id="rId58"/>
    <p:sldId id="324" r:id="rId59"/>
    <p:sldId id="325" r:id="rId60"/>
    <p:sldId id="326" r:id="rId61"/>
    <p:sldId id="327" r:id="rId62"/>
    <p:sldId id="328" r:id="rId63"/>
    <p:sldId id="329" r:id="rId64"/>
    <p:sldId id="330" r:id="rId65"/>
    <p:sldId id="331" r:id="rId66"/>
    <p:sldId id="332" r:id="rId67"/>
    <p:sldId id="333" r:id="rId68"/>
    <p:sldId id="334" r:id="rId69"/>
    <p:sldId id="335" r:id="rId70"/>
    <p:sldId id="336" r:id="rId71"/>
    <p:sldId id="337" r:id="rId72"/>
    <p:sldId id="338" r:id="rId73"/>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2C16"/>
    <a:srgbClr val="0C788E"/>
    <a:srgbClr val="006666"/>
    <a:srgbClr val="54381C"/>
    <a:srgbClr val="A50021"/>
    <a:srgbClr val="FFFFA3"/>
    <a:srgbClr val="E6E6C4"/>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23" autoAdjust="0"/>
    <p:restoredTop sz="94652" autoAdjust="0"/>
  </p:normalViewPr>
  <p:slideViewPr>
    <p:cSldViewPr>
      <p:cViewPr varScale="1">
        <p:scale>
          <a:sx n="83" d="100"/>
          <a:sy n="83" d="100"/>
        </p:scale>
        <p:origin x="137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D06E4F0E-D1B4-48EF-AB1C-AC0BFEE64161}" type="slidenum">
              <a:rPr lang="es-ES"/>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878415B0-A075-462A-B0A2-B5FFCF59B058}" type="slidenum">
              <a:rPr lang="es-ES"/>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5F92E2C3-8770-41AE-88C2-C312BE7DB0B0}" type="slidenum">
              <a:rPr lang="es-ES"/>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4427035E-3358-4FFF-AB1F-152596EE2C90}" type="slidenum">
              <a:rPr lang="es-ES"/>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s-ES"/>
          </a:p>
        </p:txBody>
      </p:sp>
      <p:sp>
        <p:nvSpPr>
          <p:cNvPr id="8" name="Footer Placeholder 7"/>
          <p:cNvSpPr>
            <a:spLocks noGrp="1"/>
          </p:cNvSpPr>
          <p:nvPr>
            <p:ph type="ftr" sz="quarter" idx="11"/>
          </p:nvPr>
        </p:nvSpPr>
        <p:spPr/>
        <p:txBody>
          <a:bodyPr/>
          <a:lstStyle>
            <a:lvl1pPr>
              <a:defRPr/>
            </a:lvl1pPr>
          </a:lstStyle>
          <a:p>
            <a:endParaRPr lang="es-ES"/>
          </a:p>
        </p:txBody>
      </p:sp>
      <p:sp>
        <p:nvSpPr>
          <p:cNvPr id="9" name="Slide Number Placeholder 8"/>
          <p:cNvSpPr>
            <a:spLocks noGrp="1"/>
          </p:cNvSpPr>
          <p:nvPr>
            <p:ph type="sldNum" sz="quarter" idx="12"/>
          </p:nvPr>
        </p:nvSpPr>
        <p:spPr/>
        <p:txBody>
          <a:bodyPr/>
          <a:lstStyle>
            <a:lvl1pPr>
              <a:defRPr/>
            </a:lvl1pPr>
          </a:lstStyle>
          <a:p>
            <a:fld id="{2058AD96-D722-44F4-A332-B1BAE65E3DB7}" type="slidenum">
              <a:rPr lang="es-ES"/>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s-ES"/>
          </a:p>
        </p:txBody>
      </p:sp>
      <p:sp>
        <p:nvSpPr>
          <p:cNvPr id="4" name="Footer Placeholder 3"/>
          <p:cNvSpPr>
            <a:spLocks noGrp="1"/>
          </p:cNvSpPr>
          <p:nvPr>
            <p:ph type="ftr" sz="quarter" idx="11"/>
          </p:nvPr>
        </p:nvSpPr>
        <p:spPr/>
        <p:txBody>
          <a:bodyPr/>
          <a:lstStyle>
            <a:lvl1pPr>
              <a:defRPr/>
            </a:lvl1pPr>
          </a:lstStyle>
          <a:p>
            <a:endParaRPr lang="es-ES"/>
          </a:p>
        </p:txBody>
      </p:sp>
      <p:sp>
        <p:nvSpPr>
          <p:cNvPr id="5" name="Slide Number Placeholder 4"/>
          <p:cNvSpPr>
            <a:spLocks noGrp="1"/>
          </p:cNvSpPr>
          <p:nvPr>
            <p:ph type="sldNum" sz="quarter" idx="12"/>
          </p:nvPr>
        </p:nvSpPr>
        <p:spPr/>
        <p:txBody>
          <a:bodyPr/>
          <a:lstStyle>
            <a:lvl1pPr>
              <a:defRPr/>
            </a:lvl1pPr>
          </a:lstStyle>
          <a:p>
            <a:fld id="{18F2664B-5A58-46BB-9D1D-9F03A8C87DAD}" type="slidenum">
              <a:rPr lang="es-ES"/>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s-ES"/>
          </a:p>
        </p:txBody>
      </p:sp>
      <p:sp>
        <p:nvSpPr>
          <p:cNvPr id="3" name="Footer Placeholder 2"/>
          <p:cNvSpPr>
            <a:spLocks noGrp="1"/>
          </p:cNvSpPr>
          <p:nvPr>
            <p:ph type="ftr" sz="quarter" idx="11"/>
          </p:nvPr>
        </p:nvSpPr>
        <p:spPr/>
        <p:txBody>
          <a:bodyPr/>
          <a:lstStyle>
            <a:lvl1pPr>
              <a:defRPr/>
            </a:lvl1pPr>
          </a:lstStyle>
          <a:p>
            <a:endParaRPr lang="es-ES"/>
          </a:p>
        </p:txBody>
      </p:sp>
      <p:sp>
        <p:nvSpPr>
          <p:cNvPr id="4" name="Slide Number Placeholder 3"/>
          <p:cNvSpPr>
            <a:spLocks noGrp="1"/>
          </p:cNvSpPr>
          <p:nvPr>
            <p:ph type="sldNum" sz="quarter" idx="12"/>
          </p:nvPr>
        </p:nvSpPr>
        <p:spPr/>
        <p:txBody>
          <a:bodyPr/>
          <a:lstStyle>
            <a:lvl1pPr>
              <a:defRPr/>
            </a:lvl1pPr>
          </a:lstStyle>
          <a:p>
            <a:fld id="{A546F53B-5B88-476E-863F-50F257F64D6E}" type="slidenum">
              <a:rPr lang="es-ES"/>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BFCD3EF0-8BB7-4D68-BC76-C2A412B54779}" type="slidenum">
              <a:rPr lang="es-ES"/>
              <a:pPr/>
              <a:t>‹#›</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ED99FD19-FDAE-4258-BE5B-6FD27BEEEF6E}" type="slidenum">
              <a:rPr lang="es-ES"/>
              <a:pPr/>
              <a:t>‹#›</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B2FD20AE-22FF-4B59-92DA-91DFE6E3F107}" type="slidenum">
              <a:rPr lang="es-ES"/>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E9626F0F-45F0-4CEA-A874-57D6788EB032}" type="slidenum">
              <a:rPr lang="es-ES"/>
              <a:pPr/>
              <a:t>‹#›</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1182688" y="2017713"/>
            <a:ext cx="7772400" cy="4114800"/>
          </a:xfrm>
        </p:spPr>
        <p:txBody>
          <a:bodyPr/>
          <a:lstStyle/>
          <a:p>
            <a:pPr lvl="0"/>
            <a:endParaRPr lang="en-US" noProof="0" smtClean="0"/>
          </a:p>
        </p:txBody>
      </p:sp>
      <p:sp>
        <p:nvSpPr>
          <p:cNvPr id="4" name="Rectangle 11"/>
          <p:cNvSpPr>
            <a:spLocks noGrp="1" noChangeArrowheads="1"/>
          </p:cNvSpPr>
          <p:nvPr>
            <p:ph type="dt" sz="half" idx="10"/>
          </p:nvPr>
        </p:nvSpPr>
        <p:spPr>
          <a:ln/>
        </p:spPr>
        <p:txBody>
          <a:bodyPr/>
          <a:lstStyle>
            <a:lvl1pPr>
              <a:defRPr/>
            </a:lvl1pPr>
          </a:lstStyle>
          <a:p>
            <a:pPr>
              <a:defRPr/>
            </a:pPr>
            <a:fld id="{660CB95F-8B4F-4C3C-9155-09FBB389A879}" type="datetime1">
              <a:rPr lang="en-US" smtClean="0"/>
              <a:pPr>
                <a:defRPr/>
              </a:pPr>
              <a:t>11/14/2025</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3BFA0112-E4B9-4C48-BAAF-DA1DB2A561C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s-E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s-E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908613C-E353-4C9C-946A-7A8B6FE107B7}" type="slidenum">
              <a:rPr lang="es-ES"/>
              <a:pPr/>
              <a:t>‹#›</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3779912" y="692696"/>
            <a:ext cx="5364088" cy="1152128"/>
          </a:xfrm>
        </p:spPr>
        <p:txBody>
          <a:bodyPr/>
          <a:lstStyle/>
          <a:p>
            <a:pPr algn="l"/>
            <a:r>
              <a:rPr lang="en-US" sz="3200" dirty="0" smtClean="0">
                <a:effectLst/>
                <a:latin typeface="Algerian" pitchFamily="82" charset="0"/>
              </a:rPr>
              <a:t>SOFTWARE ENGINEERING</a:t>
            </a:r>
            <a:endParaRPr lang="es-ES" sz="3200" b="1"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II: Software Development Process</a:t>
            </a:r>
            <a:endParaRPr lang="en-US" dirty="0"/>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A7DCF3E3-43C3-4D4D-80D8-9AA0A767ECB9}"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lstStyle/>
          <a:p>
            <a:r>
              <a:rPr lang="en-US" dirty="0" smtClean="0"/>
              <a:t>Objectives</a:t>
            </a:r>
            <a:endParaRPr lang="en-US" dirty="0"/>
          </a:p>
        </p:txBody>
      </p:sp>
      <p:sp>
        <p:nvSpPr>
          <p:cNvPr id="3" name="Content Placeholder 2"/>
          <p:cNvSpPr>
            <a:spLocks noGrp="1"/>
          </p:cNvSpPr>
          <p:nvPr>
            <p:ph idx="1"/>
          </p:nvPr>
        </p:nvSpPr>
        <p:spPr>
          <a:xfrm>
            <a:off x="457200" y="1676400"/>
            <a:ext cx="8229600" cy="4800600"/>
          </a:xfrm>
        </p:spPr>
        <p:txBody>
          <a:bodyPr>
            <a:normAutofit/>
          </a:bodyPr>
          <a:lstStyle/>
          <a:p>
            <a:pPr lvl="0" algn="just"/>
            <a:r>
              <a:rPr lang="en-US" sz="2800" dirty="0" smtClean="0"/>
              <a:t>Role of a process and a process model in a software project;</a:t>
            </a:r>
          </a:p>
          <a:p>
            <a:pPr lvl="0" algn="just"/>
            <a:endParaRPr lang="en-US" sz="2800" dirty="0" smtClean="0"/>
          </a:p>
          <a:p>
            <a:pPr lvl="0" algn="just"/>
            <a:r>
              <a:rPr lang="en-US" sz="2800" dirty="0" smtClean="0"/>
              <a:t>Various models for the development process: waterfall, prototyping, iterative, timeboxing, and Agile methods (Extreme Programming)XP;</a:t>
            </a:r>
          </a:p>
          <a:p>
            <a:pPr lvl="0"/>
            <a:endParaRPr lang="en-US" dirty="0" smtClean="0"/>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pPr eaLnBrk="1" hangingPunct="1"/>
            <a:r>
              <a:rPr lang="en-US" smtClean="0"/>
              <a:t>Project and Process</a:t>
            </a:r>
          </a:p>
        </p:txBody>
      </p:sp>
      <p:sp>
        <p:nvSpPr>
          <p:cNvPr id="8197" name="Rectangle 3"/>
          <p:cNvSpPr>
            <a:spLocks noGrp="1" noChangeArrowheads="1"/>
          </p:cNvSpPr>
          <p:nvPr>
            <p:ph idx="1"/>
          </p:nvPr>
        </p:nvSpPr>
        <p:spPr/>
        <p:txBody>
          <a:bodyPr>
            <a:normAutofit/>
          </a:bodyPr>
          <a:lstStyle/>
          <a:p>
            <a:pPr algn="just"/>
            <a:r>
              <a:rPr lang="en-US" sz="2800" dirty="0" smtClean="0"/>
              <a:t>A process is a sequence of steps performed for a given purpose.</a:t>
            </a:r>
          </a:p>
          <a:p>
            <a:pPr algn="just"/>
            <a:endParaRPr lang="en-US" sz="2800" dirty="0" smtClean="0"/>
          </a:p>
          <a:p>
            <a:pPr algn="just" eaLnBrk="1" hangingPunct="1"/>
            <a:r>
              <a:rPr lang="en-US" sz="2800" dirty="0" smtClean="0"/>
              <a:t>Development process takes the project from user needs to software.</a:t>
            </a:r>
          </a:p>
          <a:p>
            <a:pPr algn="just" eaLnBrk="1" hangingPunct="1"/>
            <a:endParaRPr lang="en-US" sz="2800" dirty="0" smtClean="0"/>
          </a:p>
          <a:p>
            <a:pPr algn="just" eaLnBrk="1" hangingPunct="1"/>
            <a:r>
              <a:rPr lang="en-US" sz="2800" dirty="0" smtClean="0"/>
              <a:t>There are other goals of cost, schedule and quality, besides delivering software</a:t>
            </a:r>
          </a:p>
        </p:txBody>
      </p:sp>
      <p:sp>
        <p:nvSpPr>
          <p:cNvPr id="8195" name="Slide Number Placeholder 5"/>
          <p:cNvSpPr>
            <a:spLocks noGrp="1"/>
          </p:cNvSpPr>
          <p:nvPr>
            <p:ph type="sldNum" sz="quarter" idx="12"/>
          </p:nvPr>
        </p:nvSpPr>
        <p:spPr>
          <a:noFill/>
        </p:spPr>
        <p:txBody>
          <a:bodyPr/>
          <a:lstStyle/>
          <a:p>
            <a:fld id="{428ACC75-5262-4C72-BCB3-6A2401BC233A}" type="slidenum">
              <a:rPr lang="en-US"/>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457200" y="274638"/>
            <a:ext cx="8229600" cy="1096962"/>
          </a:xfrm>
        </p:spPr>
        <p:txBody>
          <a:bodyPr>
            <a:normAutofit/>
          </a:bodyPr>
          <a:lstStyle/>
          <a:p>
            <a:pPr eaLnBrk="1" hangingPunct="1"/>
            <a:r>
              <a:rPr lang="en-US" dirty="0" smtClean="0"/>
              <a:t>Software Development Problem</a:t>
            </a:r>
          </a:p>
        </p:txBody>
      </p:sp>
      <p:sp>
        <p:nvSpPr>
          <p:cNvPr id="4101" name="Rectangle 3"/>
          <p:cNvSpPr>
            <a:spLocks noGrp="1" noChangeArrowheads="1"/>
          </p:cNvSpPr>
          <p:nvPr>
            <p:ph idx="1"/>
          </p:nvPr>
        </p:nvSpPr>
        <p:spPr>
          <a:xfrm>
            <a:off x="381000" y="1916832"/>
            <a:ext cx="8574088" cy="4636369"/>
          </a:xfrm>
        </p:spPr>
        <p:txBody>
          <a:bodyPr/>
          <a:lstStyle/>
          <a:p>
            <a:r>
              <a:rPr lang="en-US" sz="2800" dirty="0" smtClean="0"/>
              <a:t>While developing software, the purpose is to develop software to satisfy the needs of some users or clients.</a:t>
            </a:r>
          </a:p>
          <a:p>
            <a:endParaRPr lang="en-US" dirty="0" smtClean="0"/>
          </a:p>
          <a:p>
            <a:endParaRPr lang="en-US" dirty="0" smtClean="0"/>
          </a:p>
        </p:txBody>
      </p:sp>
      <p:sp>
        <p:nvSpPr>
          <p:cNvPr id="4099" name="Slide Number Placeholder 5"/>
          <p:cNvSpPr>
            <a:spLocks noGrp="1"/>
          </p:cNvSpPr>
          <p:nvPr>
            <p:ph type="sldNum" sz="quarter" idx="12"/>
          </p:nvPr>
        </p:nvSpPr>
        <p:spPr>
          <a:noFill/>
        </p:spPr>
        <p:txBody>
          <a:bodyPr/>
          <a:lstStyle/>
          <a:p>
            <a:fld id="{2D51D7B2-7CE7-4708-94E5-6008C113E91A}" type="slidenum">
              <a:rPr lang="en-US"/>
              <a:pPr/>
              <a:t>5</a:t>
            </a:fld>
            <a:endParaRPr lang="en-US"/>
          </a:p>
        </p:txBody>
      </p:sp>
      <p:pic>
        <p:nvPicPr>
          <p:cNvPr id="6" name="Picture 4" descr="Fig1-2"/>
          <p:cNvPicPr>
            <a:picLocks noChangeAspect="1" noChangeArrowheads="1"/>
          </p:cNvPicPr>
          <p:nvPr/>
        </p:nvPicPr>
        <p:blipFill>
          <a:blip r:embed="rId2" cstate="print"/>
          <a:srcRect/>
          <a:stretch>
            <a:fillRect/>
          </a:stretch>
        </p:blipFill>
        <p:spPr>
          <a:xfrm>
            <a:off x="1979712" y="3284984"/>
            <a:ext cx="5562068" cy="3181497"/>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The 4 P’s of software engineering </a:t>
            </a:r>
            <a:endParaRPr lang="en-US" dirty="0"/>
          </a:p>
        </p:txBody>
      </p:sp>
      <p:sp>
        <p:nvSpPr>
          <p:cNvPr id="2" name="Content Placeholder 1"/>
          <p:cNvSpPr>
            <a:spLocks noGrp="1"/>
          </p:cNvSpPr>
          <p:nvPr>
            <p:ph idx="1"/>
          </p:nvPr>
        </p:nvSpPr>
        <p:spPr/>
        <p:txBody>
          <a:bodyPr>
            <a:normAutofit/>
          </a:bodyPr>
          <a:lstStyle/>
          <a:p>
            <a:r>
              <a:rPr lang="en-US" sz="2800" b="1" dirty="0" smtClean="0"/>
              <a:t>Project: </a:t>
            </a:r>
            <a:r>
              <a:rPr lang="en-US" sz="2800" dirty="0" smtClean="0"/>
              <a:t>The task at hand</a:t>
            </a:r>
          </a:p>
          <a:p>
            <a:r>
              <a:rPr lang="en-US" sz="2800" b="1" dirty="0" smtClean="0"/>
              <a:t>People: </a:t>
            </a:r>
            <a:r>
              <a:rPr lang="en-US" sz="2800" dirty="0" smtClean="0"/>
              <a:t>By whom is done </a:t>
            </a:r>
          </a:p>
          <a:p>
            <a:r>
              <a:rPr lang="en-US" sz="2800" b="1" dirty="0" smtClean="0"/>
              <a:t>Process: </a:t>
            </a:r>
            <a:r>
              <a:rPr lang="en-US" sz="2800" dirty="0" smtClean="0"/>
              <a:t>The manner it is done</a:t>
            </a:r>
          </a:p>
          <a:p>
            <a:r>
              <a:rPr lang="en-US" sz="2800" b="1" dirty="0" smtClean="0"/>
              <a:t>Product: </a:t>
            </a:r>
            <a:r>
              <a:rPr lang="en-US" sz="2800" dirty="0" smtClean="0"/>
              <a:t>The artifacts produced</a:t>
            </a:r>
            <a:endParaRPr lang="en-US" sz="2800"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a:xfrm>
            <a:off x="457200" y="704088"/>
            <a:ext cx="8229600" cy="1048512"/>
          </a:xfrm>
        </p:spPr>
        <p:txBody>
          <a:bodyPr/>
          <a:lstStyle/>
          <a:p>
            <a:pPr eaLnBrk="1" hangingPunct="1"/>
            <a:r>
              <a:rPr lang="en-US" dirty="0" smtClean="0"/>
              <a:t>Process, People, Technology</a:t>
            </a:r>
          </a:p>
        </p:txBody>
      </p:sp>
      <p:sp>
        <p:nvSpPr>
          <p:cNvPr id="5125" name="Rectangle 3"/>
          <p:cNvSpPr>
            <a:spLocks noGrp="1" noChangeArrowheads="1"/>
          </p:cNvSpPr>
          <p:nvPr>
            <p:ph idx="1"/>
          </p:nvPr>
        </p:nvSpPr>
        <p:spPr>
          <a:xfrm>
            <a:off x="381000" y="1905000"/>
            <a:ext cx="8458200" cy="4495800"/>
          </a:xfrm>
        </p:spPr>
        <p:txBody>
          <a:bodyPr>
            <a:normAutofit/>
          </a:bodyPr>
          <a:lstStyle/>
          <a:p>
            <a:pPr eaLnBrk="1" hangingPunct="1"/>
            <a:r>
              <a:rPr lang="en-US" sz="2800" dirty="0" smtClean="0"/>
              <a:t>Quality &amp; Productivity depends on people, process, and technology</a:t>
            </a:r>
          </a:p>
          <a:p>
            <a:pPr lvl="1" eaLnBrk="1" hangingPunct="1"/>
            <a:r>
              <a:rPr lang="en-US" sz="2800" dirty="0" smtClean="0"/>
              <a:t>Processes help people become more productive and create fewer errors</a:t>
            </a:r>
          </a:p>
          <a:p>
            <a:pPr lvl="1" eaLnBrk="1" hangingPunct="1"/>
            <a:r>
              <a:rPr lang="en-US" sz="2800" dirty="0" smtClean="0"/>
              <a:t>Tools help people execute some tasks in the process more efficiently and effectively</a:t>
            </a:r>
          </a:p>
          <a:p>
            <a:pPr lvl="1" eaLnBrk="1" hangingPunct="1"/>
            <a:r>
              <a:rPr lang="en-US" sz="2800" dirty="0" smtClean="0"/>
              <a:t>So, process forms the core</a:t>
            </a:r>
          </a:p>
        </p:txBody>
      </p:sp>
      <p:sp>
        <p:nvSpPr>
          <p:cNvPr id="5123" name="Slide Number Placeholder 5"/>
          <p:cNvSpPr>
            <a:spLocks noGrp="1"/>
          </p:cNvSpPr>
          <p:nvPr>
            <p:ph type="sldNum" sz="quarter" idx="12"/>
          </p:nvPr>
        </p:nvSpPr>
        <p:spPr>
          <a:noFill/>
        </p:spPr>
        <p:txBody>
          <a:bodyPr/>
          <a:lstStyle/>
          <a:p>
            <a:fld id="{A9CAB812-AE4D-4E55-BF19-E52246432652}" type="slidenum">
              <a:rPr lang="en-US"/>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457200" y="704088"/>
            <a:ext cx="8229600" cy="819912"/>
          </a:xfrm>
        </p:spPr>
        <p:txBody>
          <a:bodyPr/>
          <a:lstStyle/>
          <a:p>
            <a:pPr eaLnBrk="1" hangingPunct="1"/>
            <a:r>
              <a:rPr lang="en-US" dirty="0" smtClean="0"/>
              <a:t>Software Process</a:t>
            </a:r>
          </a:p>
        </p:txBody>
      </p:sp>
      <p:sp>
        <p:nvSpPr>
          <p:cNvPr id="9221" name="Rectangle 3"/>
          <p:cNvSpPr>
            <a:spLocks noGrp="1" noChangeArrowheads="1"/>
          </p:cNvSpPr>
          <p:nvPr>
            <p:ph idx="1"/>
          </p:nvPr>
        </p:nvSpPr>
        <p:spPr>
          <a:xfrm>
            <a:off x="457200" y="1916832"/>
            <a:ext cx="8229600" cy="4407768"/>
          </a:xfrm>
        </p:spPr>
        <p:txBody>
          <a:bodyPr>
            <a:normAutofit/>
          </a:bodyPr>
          <a:lstStyle/>
          <a:p>
            <a:pPr algn="just" eaLnBrk="1" hangingPunct="1">
              <a:lnSpc>
                <a:spcPct val="90000"/>
              </a:lnSpc>
            </a:pPr>
            <a:r>
              <a:rPr lang="en-US" sz="2800" b="1" dirty="0" smtClean="0"/>
              <a:t>Software Process</a:t>
            </a:r>
            <a:r>
              <a:rPr lang="en-US" sz="2800" dirty="0" smtClean="0"/>
              <a:t>: The sequence of steps performed to produce software with high quality, within budget and schedule.</a:t>
            </a:r>
          </a:p>
          <a:p>
            <a:pPr algn="just" eaLnBrk="1" hangingPunct="1">
              <a:lnSpc>
                <a:spcPct val="90000"/>
              </a:lnSpc>
            </a:pPr>
            <a:endParaRPr lang="en-US" sz="2800" dirty="0" smtClean="0"/>
          </a:p>
          <a:p>
            <a:pPr algn="just" eaLnBrk="1" hangingPunct="1">
              <a:lnSpc>
                <a:spcPct val="90000"/>
              </a:lnSpc>
            </a:pPr>
            <a:r>
              <a:rPr lang="en-US" sz="2800" dirty="0" smtClean="0"/>
              <a:t>Many types of activities performed by different people in a software project.</a:t>
            </a:r>
          </a:p>
          <a:p>
            <a:pPr algn="just" eaLnBrk="1" hangingPunct="1">
              <a:lnSpc>
                <a:spcPct val="90000"/>
              </a:lnSpc>
            </a:pPr>
            <a:endParaRPr lang="en-US" sz="2800" dirty="0" smtClean="0"/>
          </a:p>
          <a:p>
            <a:pPr algn="just">
              <a:lnSpc>
                <a:spcPct val="90000"/>
              </a:lnSpc>
            </a:pPr>
            <a:r>
              <a:rPr lang="en-US" sz="2800" dirty="0" smtClean="0"/>
              <a:t>Process is distinct from product ; products are outcomes of executing a process on a project.</a:t>
            </a:r>
          </a:p>
          <a:p>
            <a:pPr eaLnBrk="1" hangingPunct="1">
              <a:lnSpc>
                <a:spcPct val="90000"/>
              </a:lnSpc>
            </a:pPr>
            <a:endParaRPr lang="en-US" sz="2800" dirty="0" smtClean="0"/>
          </a:p>
        </p:txBody>
      </p:sp>
      <p:sp>
        <p:nvSpPr>
          <p:cNvPr id="9219" name="Slide Number Placeholder 5"/>
          <p:cNvSpPr>
            <a:spLocks noGrp="1"/>
          </p:cNvSpPr>
          <p:nvPr>
            <p:ph type="sldNum" sz="quarter" idx="12"/>
          </p:nvPr>
        </p:nvSpPr>
        <p:spPr>
          <a:noFill/>
        </p:spPr>
        <p:txBody>
          <a:bodyPr/>
          <a:lstStyle/>
          <a:p>
            <a:fld id="{CC19E257-42C1-438E-9B52-1C68C338BE73}" type="slidenum">
              <a:rPr lang="en-US"/>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xfrm>
            <a:off x="35496" y="704088"/>
            <a:ext cx="9108504" cy="819912"/>
          </a:xfrm>
        </p:spPr>
        <p:txBody>
          <a:bodyPr/>
          <a:lstStyle/>
          <a:p>
            <a:pPr eaLnBrk="1" hangingPunct="1"/>
            <a:r>
              <a:rPr lang="en-US" dirty="0" smtClean="0"/>
              <a:t>Component </a:t>
            </a:r>
            <a:r>
              <a:rPr lang="en-US" dirty="0" smtClean="0"/>
              <a:t>of Software </a:t>
            </a:r>
            <a:r>
              <a:rPr lang="en-US" dirty="0" smtClean="0"/>
              <a:t>Processes</a:t>
            </a:r>
          </a:p>
        </p:txBody>
      </p:sp>
      <p:sp>
        <p:nvSpPr>
          <p:cNvPr id="10245" name="Rectangle 3"/>
          <p:cNvSpPr>
            <a:spLocks noGrp="1" noChangeArrowheads="1"/>
          </p:cNvSpPr>
          <p:nvPr>
            <p:ph idx="1"/>
          </p:nvPr>
        </p:nvSpPr>
        <p:spPr>
          <a:xfrm>
            <a:off x="457200" y="1905000"/>
            <a:ext cx="8229600" cy="4267200"/>
          </a:xfrm>
        </p:spPr>
        <p:txBody>
          <a:bodyPr>
            <a:normAutofit/>
          </a:bodyPr>
          <a:lstStyle/>
          <a:p>
            <a:pPr algn="just" eaLnBrk="1" hangingPunct="1">
              <a:lnSpc>
                <a:spcPct val="90000"/>
              </a:lnSpc>
            </a:pPr>
            <a:r>
              <a:rPr lang="en-US" sz="2800" dirty="0" smtClean="0"/>
              <a:t>Two major processes:  </a:t>
            </a:r>
          </a:p>
          <a:p>
            <a:pPr lvl="1" algn="just" eaLnBrk="1" hangingPunct="1">
              <a:lnSpc>
                <a:spcPct val="90000"/>
              </a:lnSpc>
            </a:pPr>
            <a:r>
              <a:rPr lang="en-US" sz="2800" b="1" dirty="0" smtClean="0"/>
              <a:t>Development Process</a:t>
            </a:r>
            <a:r>
              <a:rPr lang="en-US" sz="2800" dirty="0" smtClean="0"/>
              <a:t>– focuses on development and quality steps needed to engineer the software.</a:t>
            </a:r>
          </a:p>
          <a:p>
            <a:pPr lvl="1" algn="just" eaLnBrk="1" hangingPunct="1">
              <a:lnSpc>
                <a:spcPct val="90000"/>
              </a:lnSpc>
            </a:pPr>
            <a:endParaRPr lang="en-US" sz="2800" dirty="0" smtClean="0"/>
          </a:p>
          <a:p>
            <a:pPr lvl="1" algn="just" eaLnBrk="1" hangingPunct="1">
              <a:lnSpc>
                <a:spcPct val="90000"/>
              </a:lnSpc>
            </a:pPr>
            <a:r>
              <a:rPr lang="en-US" sz="2800" b="1" dirty="0" smtClean="0"/>
              <a:t>Project management </a:t>
            </a:r>
            <a:r>
              <a:rPr lang="en-US" sz="2800" dirty="0" smtClean="0"/>
              <a:t>– focuses on planning and controlling the development process</a:t>
            </a:r>
          </a:p>
          <a:p>
            <a:pPr lvl="1" eaLnBrk="1" hangingPunct="1">
              <a:lnSpc>
                <a:spcPct val="90000"/>
              </a:lnSpc>
              <a:buNone/>
            </a:pPr>
            <a:endParaRPr lang="en-US" sz="2400" dirty="0" smtClean="0"/>
          </a:p>
        </p:txBody>
      </p:sp>
      <p:sp>
        <p:nvSpPr>
          <p:cNvPr id="10243" name="Slide Number Placeholder 5"/>
          <p:cNvSpPr>
            <a:spLocks noGrp="1"/>
          </p:cNvSpPr>
          <p:nvPr>
            <p:ph type="sldNum" sz="quarter" idx="12"/>
          </p:nvPr>
        </p:nvSpPr>
        <p:spPr>
          <a:noFill/>
        </p:spPr>
        <p:txBody>
          <a:bodyPr/>
          <a:lstStyle/>
          <a:p>
            <a:fld id="{6BA04CE6-0D6B-4169-88AB-B4B1FB592D98}" type="slidenum">
              <a:rPr lang="en-US"/>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a:xfrm>
            <a:off x="609600" y="381000"/>
            <a:ext cx="7848600" cy="990600"/>
          </a:xfrm>
        </p:spPr>
        <p:txBody>
          <a:bodyPr/>
          <a:lstStyle/>
          <a:p>
            <a:pPr eaLnBrk="1" hangingPunct="1"/>
            <a:r>
              <a:rPr lang="en-US" smtClean="0"/>
              <a:t>Process Specification</a:t>
            </a:r>
          </a:p>
        </p:txBody>
      </p:sp>
      <p:sp>
        <p:nvSpPr>
          <p:cNvPr id="12293" name="Rectangle 3"/>
          <p:cNvSpPr>
            <a:spLocks noGrp="1" noChangeArrowheads="1"/>
          </p:cNvSpPr>
          <p:nvPr>
            <p:ph idx="1"/>
          </p:nvPr>
        </p:nvSpPr>
        <p:spPr>
          <a:xfrm>
            <a:off x="762000" y="1600200"/>
            <a:ext cx="8077200" cy="5105400"/>
          </a:xfrm>
        </p:spPr>
        <p:txBody>
          <a:bodyPr>
            <a:normAutofit/>
          </a:bodyPr>
          <a:lstStyle/>
          <a:p>
            <a:pPr algn="just" eaLnBrk="1" hangingPunct="1"/>
            <a:r>
              <a:rPr lang="en-US" sz="2800" dirty="0" smtClean="0"/>
              <a:t>Process is generally a set of phases</a:t>
            </a:r>
          </a:p>
          <a:p>
            <a:pPr algn="just" eaLnBrk="1" hangingPunct="1"/>
            <a:endParaRPr lang="en-US" sz="2800" dirty="0" smtClean="0"/>
          </a:p>
          <a:p>
            <a:pPr algn="just" eaLnBrk="1" hangingPunct="1"/>
            <a:r>
              <a:rPr lang="en-US" sz="2800" dirty="0" smtClean="0"/>
              <a:t>Each phase performs a well defined task and generally produces an output</a:t>
            </a:r>
          </a:p>
          <a:p>
            <a:pPr algn="just" eaLnBrk="1" hangingPunct="1"/>
            <a:endParaRPr lang="en-US" sz="2800" dirty="0" smtClean="0"/>
          </a:p>
          <a:p>
            <a:pPr algn="just" eaLnBrk="1" hangingPunct="1"/>
            <a:r>
              <a:rPr lang="en-US" sz="2800" dirty="0" smtClean="0"/>
              <a:t>Intermediate outputs – </a:t>
            </a:r>
            <a:r>
              <a:rPr lang="en-US" sz="2800" b="1" i="1" dirty="0" smtClean="0"/>
              <a:t>work products</a:t>
            </a:r>
          </a:p>
          <a:p>
            <a:pPr algn="just" eaLnBrk="1" hangingPunct="1"/>
            <a:endParaRPr lang="en-US" sz="2800" b="1" i="1" dirty="0" smtClean="0"/>
          </a:p>
          <a:p>
            <a:pPr algn="just" eaLnBrk="1" hangingPunct="1"/>
            <a:r>
              <a:rPr lang="en-US" sz="2800" dirty="0" smtClean="0"/>
              <a:t>How to perform a particular phase  </a:t>
            </a:r>
            <a:r>
              <a:rPr lang="en-US" sz="2800" b="1" i="1" dirty="0" smtClean="0"/>
              <a:t>methodologies</a:t>
            </a:r>
            <a:r>
              <a:rPr lang="en-US" sz="2800" dirty="0" smtClean="0"/>
              <a:t> have been proposed</a:t>
            </a:r>
          </a:p>
        </p:txBody>
      </p:sp>
      <p:sp>
        <p:nvSpPr>
          <p:cNvPr id="12291" name="Slide Number Placeholder 5"/>
          <p:cNvSpPr>
            <a:spLocks noGrp="1"/>
          </p:cNvSpPr>
          <p:nvPr>
            <p:ph type="sldNum" sz="quarter" idx="12"/>
          </p:nvPr>
        </p:nvSpPr>
        <p:spPr>
          <a:noFill/>
        </p:spPr>
        <p:txBody>
          <a:bodyPr/>
          <a:lstStyle/>
          <a:p>
            <a:fld id="{7593AC5C-5F51-4924-A3F9-189BD51A9185}" type="slidenum">
              <a:rPr lang="en-US"/>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pPr eaLnBrk="1" hangingPunct="1"/>
            <a:r>
              <a:rPr lang="en-US" dirty="0" smtClean="0"/>
              <a:t>Software Development Process</a:t>
            </a:r>
          </a:p>
        </p:txBody>
      </p:sp>
      <p:sp>
        <p:nvSpPr>
          <p:cNvPr id="18437" name="Rectangle 3"/>
          <p:cNvSpPr>
            <a:spLocks noGrp="1" noChangeArrowheads="1"/>
          </p:cNvSpPr>
          <p:nvPr>
            <p:ph idx="1"/>
          </p:nvPr>
        </p:nvSpPr>
        <p:spPr/>
        <p:txBody>
          <a:bodyPr>
            <a:normAutofit/>
          </a:bodyPr>
          <a:lstStyle/>
          <a:p>
            <a:pPr eaLnBrk="1" hangingPunct="1"/>
            <a:r>
              <a:rPr lang="en-US" sz="2800" dirty="0" smtClean="0"/>
              <a:t>Why we have phases</a:t>
            </a:r>
          </a:p>
          <a:p>
            <a:pPr lvl="1" eaLnBrk="1" hangingPunct="1"/>
            <a:r>
              <a:rPr lang="en-US" sz="2800" dirty="0" smtClean="0"/>
              <a:t>To employ divide and conquer</a:t>
            </a:r>
          </a:p>
          <a:p>
            <a:pPr lvl="1" eaLnBrk="1" hangingPunct="1"/>
            <a:endParaRPr lang="en-US" sz="2800" dirty="0" smtClean="0"/>
          </a:p>
          <a:p>
            <a:pPr lvl="1" eaLnBrk="1" hangingPunct="1"/>
            <a:r>
              <a:rPr lang="en-US" sz="2800" dirty="0" smtClean="0"/>
              <a:t>each phase handles a different part of the problem</a:t>
            </a:r>
          </a:p>
          <a:p>
            <a:pPr lvl="1" eaLnBrk="1" hangingPunct="1"/>
            <a:endParaRPr lang="en-US" sz="2800" dirty="0" smtClean="0"/>
          </a:p>
          <a:p>
            <a:pPr lvl="1" eaLnBrk="1" hangingPunct="1"/>
            <a:r>
              <a:rPr lang="en-US" sz="2800" dirty="0" smtClean="0"/>
              <a:t>helps in continuous validation  </a:t>
            </a:r>
          </a:p>
          <a:p>
            <a:pPr lvl="1" eaLnBrk="1" hangingPunct="1"/>
            <a:r>
              <a:rPr lang="en-US" sz="2800" dirty="0" smtClean="0"/>
              <a:t>Commonly 5 phases</a:t>
            </a:r>
          </a:p>
        </p:txBody>
      </p:sp>
      <p:sp>
        <p:nvSpPr>
          <p:cNvPr id="18435" name="Slide Number Placeholder 5"/>
          <p:cNvSpPr>
            <a:spLocks noGrp="1"/>
          </p:cNvSpPr>
          <p:nvPr>
            <p:ph type="sldNum" sz="quarter" idx="12"/>
          </p:nvPr>
        </p:nvSpPr>
        <p:spPr>
          <a:noFill/>
        </p:spPr>
        <p:txBody>
          <a:bodyPr/>
          <a:lstStyle/>
          <a:p>
            <a:fld id="{3C4F0866-14B4-41F5-98D5-E4F28E1C2B9B}" type="slidenum">
              <a:rPr lang="en-US"/>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Systems Analysis</a:t>
            </a:r>
            <a:endParaRPr lang="en-US" dirty="0"/>
          </a:p>
        </p:txBody>
      </p:sp>
      <p:sp>
        <p:nvSpPr>
          <p:cNvPr id="3" name="Content Placeholder 2"/>
          <p:cNvSpPr>
            <a:spLocks noGrp="1"/>
          </p:cNvSpPr>
          <p:nvPr>
            <p:ph idx="1"/>
          </p:nvPr>
        </p:nvSpPr>
        <p:spPr/>
        <p:txBody>
          <a:bodyPr/>
          <a:lstStyle/>
          <a:p>
            <a:r>
              <a:rPr lang="en-US" sz="2800" dirty="0" smtClean="0"/>
              <a:t>what the system should do to meet information requirements</a:t>
            </a:r>
          </a:p>
          <a:p>
            <a:endParaRPr lang="en-US" sz="2800" dirty="0" smtClean="0"/>
          </a:p>
          <a:p>
            <a:r>
              <a:rPr lang="en-US" sz="2800" dirty="0" smtClean="0"/>
              <a:t>analyze the current situation to determine the real cause of the problem </a:t>
            </a:r>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Systems Design </a:t>
            </a:r>
            <a:endParaRPr lang="en-US" dirty="0"/>
          </a:p>
        </p:txBody>
      </p:sp>
      <p:sp>
        <p:nvSpPr>
          <p:cNvPr id="3" name="Content Placeholder 2"/>
          <p:cNvSpPr>
            <a:spLocks noGrp="1"/>
          </p:cNvSpPr>
          <p:nvPr>
            <p:ph idx="1"/>
          </p:nvPr>
        </p:nvSpPr>
        <p:spPr/>
        <p:txBody>
          <a:bodyPr/>
          <a:lstStyle/>
          <a:p>
            <a:r>
              <a:rPr lang="en-US" dirty="0" smtClean="0"/>
              <a:t>how the system will actually solve the problem.</a:t>
            </a:r>
          </a:p>
          <a:p>
            <a:endParaRPr lang="en-US" b="1" dirty="0" smtClean="0"/>
          </a:p>
          <a:p>
            <a:pPr>
              <a:buNone/>
            </a:pPr>
            <a:r>
              <a:rPr lang="en-US" b="1" dirty="0" smtClean="0"/>
              <a:t>logical and physical design specifications. </a:t>
            </a:r>
            <a:endParaRPr lang="en-US" dirty="0" smtClean="0"/>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Logical design specifications</a:t>
            </a:r>
            <a:endParaRPr lang="en-US" dirty="0"/>
          </a:p>
        </p:txBody>
      </p:sp>
      <p:sp>
        <p:nvSpPr>
          <p:cNvPr id="3" name="Content Placeholder 2"/>
          <p:cNvSpPr>
            <a:spLocks noGrp="1"/>
          </p:cNvSpPr>
          <p:nvPr>
            <p:ph idx="1"/>
          </p:nvPr>
        </p:nvSpPr>
        <p:spPr/>
        <p:txBody>
          <a:bodyPr>
            <a:normAutofit/>
          </a:bodyPr>
          <a:lstStyle/>
          <a:p>
            <a:r>
              <a:rPr lang="en-US" sz="2800" dirty="0" smtClean="0"/>
              <a:t>This lays out the components of the system and their relationship to each other as they would appear to users </a:t>
            </a:r>
          </a:p>
          <a:p>
            <a:endParaRPr lang="en-US" sz="2800" dirty="0" smtClean="0"/>
          </a:p>
          <a:p>
            <a:r>
              <a:rPr lang="en-US" sz="2800" dirty="0" smtClean="0"/>
              <a:t>shows what the system does. </a:t>
            </a:r>
          </a:p>
          <a:p>
            <a:endParaRPr lang="en-US" sz="2800" dirty="0" smtClean="0"/>
          </a:p>
          <a:p>
            <a:r>
              <a:rPr lang="en-US" sz="2800" dirty="0" smtClean="0"/>
              <a:t>It describes inputs and outputs, processing functions to be performed, business procedures, data models and controls.</a:t>
            </a:r>
            <a:endParaRPr lang="en-US" sz="2800"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Physical design specifications</a:t>
            </a:r>
            <a:endParaRPr lang="en-US" dirty="0"/>
          </a:p>
        </p:txBody>
      </p:sp>
      <p:sp>
        <p:nvSpPr>
          <p:cNvPr id="3" name="Content Placeholder 2"/>
          <p:cNvSpPr>
            <a:spLocks noGrp="1"/>
          </p:cNvSpPr>
          <p:nvPr>
            <p:ph idx="1"/>
          </p:nvPr>
        </p:nvSpPr>
        <p:spPr/>
        <p:txBody>
          <a:bodyPr>
            <a:normAutofit/>
          </a:bodyPr>
          <a:lstStyle/>
          <a:p>
            <a:r>
              <a:rPr lang="en-US" sz="2800" dirty="0" smtClean="0"/>
              <a:t>process of translating the abstract logical model into the specific technical design for the new system.</a:t>
            </a:r>
          </a:p>
          <a:p>
            <a:endParaRPr lang="en-US" sz="2800" dirty="0" smtClean="0"/>
          </a:p>
          <a:p>
            <a:r>
              <a:rPr lang="en-US" sz="2800" dirty="0" smtClean="0"/>
              <a:t>It produces the actual specifications for hardware, software physical database, input/output media and manual procedures.</a:t>
            </a:r>
            <a:endParaRPr lang="en-US" sz="2800"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 Programming/Coding</a:t>
            </a:r>
            <a:endParaRPr lang="en-US" dirty="0"/>
          </a:p>
        </p:txBody>
      </p:sp>
      <p:sp>
        <p:nvSpPr>
          <p:cNvPr id="3" name="Content Placeholder 2"/>
          <p:cNvSpPr>
            <a:spLocks noGrp="1"/>
          </p:cNvSpPr>
          <p:nvPr>
            <p:ph idx="1"/>
          </p:nvPr>
        </p:nvSpPr>
        <p:spPr/>
        <p:txBody>
          <a:bodyPr/>
          <a:lstStyle/>
          <a:p>
            <a:endParaRPr lang="en-US" dirty="0" smtClean="0"/>
          </a:p>
          <a:p>
            <a:r>
              <a:rPr lang="en-US" sz="2800" dirty="0" smtClean="0"/>
              <a:t>System specifications that were prepared during the design stage are translated into program code</a:t>
            </a:r>
            <a:endParaRPr lang="en-US" sz="2800"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4. System Testing and integration</a:t>
            </a:r>
            <a:endParaRPr lang="en-US" dirty="0"/>
          </a:p>
        </p:txBody>
      </p:sp>
      <p:sp>
        <p:nvSpPr>
          <p:cNvPr id="3" name="Content Placeholder 2"/>
          <p:cNvSpPr>
            <a:spLocks noGrp="1"/>
          </p:cNvSpPr>
          <p:nvPr>
            <p:ph idx="1"/>
          </p:nvPr>
        </p:nvSpPr>
        <p:spPr>
          <a:xfrm>
            <a:off x="457200" y="2209800"/>
            <a:ext cx="8229600" cy="4114800"/>
          </a:xfrm>
        </p:spPr>
        <p:txBody>
          <a:bodyPr>
            <a:normAutofit/>
          </a:bodyPr>
          <a:lstStyle/>
          <a:p>
            <a:r>
              <a:rPr lang="en-US" sz="2800" dirty="0" smtClean="0"/>
              <a:t>Unit testing or program testing</a:t>
            </a:r>
          </a:p>
          <a:p>
            <a:endParaRPr lang="en-US" sz="2800" dirty="0" smtClean="0"/>
          </a:p>
          <a:p>
            <a:r>
              <a:rPr lang="en-US" sz="2800" dirty="0" smtClean="0"/>
              <a:t>System testing</a:t>
            </a:r>
          </a:p>
          <a:p>
            <a:endParaRPr lang="en-US" sz="2800" dirty="0" smtClean="0"/>
          </a:p>
          <a:p>
            <a:r>
              <a:rPr lang="en-US" sz="2800" dirty="0" smtClean="0"/>
              <a:t>Acceptance testing</a:t>
            </a:r>
            <a:endParaRPr lang="en-US" sz="2800"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 Operation and maintenance</a:t>
            </a:r>
            <a:endParaRPr lang="en-US" dirty="0"/>
          </a:p>
        </p:txBody>
      </p:sp>
      <p:sp>
        <p:nvSpPr>
          <p:cNvPr id="3" name="Content Placeholder 2"/>
          <p:cNvSpPr>
            <a:spLocks noGrp="1"/>
          </p:cNvSpPr>
          <p:nvPr>
            <p:ph idx="1"/>
          </p:nvPr>
        </p:nvSpPr>
        <p:spPr/>
        <p:txBody>
          <a:bodyPr/>
          <a:lstStyle/>
          <a:p>
            <a:r>
              <a:rPr lang="en-US" dirty="0" smtClean="0"/>
              <a:t>System is periodically reviewed by both users and technical specialists to determine how well it has met its original objectives and</a:t>
            </a:r>
          </a:p>
          <a:p>
            <a:endParaRPr lang="en-US" dirty="0" smtClean="0"/>
          </a:p>
          <a:p>
            <a:r>
              <a:rPr lang="en-US" dirty="0" smtClean="0"/>
              <a:t> To decide whether any revisions or modifications are in order.</a:t>
            </a:r>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endParaRPr lang="en-US" dirty="0" smtClean="0"/>
          </a:p>
        </p:txBody>
      </p:sp>
      <p:sp>
        <p:nvSpPr>
          <p:cNvPr id="6" name="Content Placeholder 5"/>
          <p:cNvSpPr>
            <a:spLocks noGrp="1"/>
          </p:cNvSpPr>
          <p:nvPr>
            <p:ph idx="1"/>
          </p:nvPr>
        </p:nvSpPr>
        <p:spPr/>
        <p:txBody>
          <a:bodyPr/>
          <a:lstStyle/>
          <a:p>
            <a:pPr algn="ctr"/>
            <a:endParaRPr lang="en-US" b="1" dirty="0" smtClean="0"/>
          </a:p>
          <a:p>
            <a:pPr algn="ctr"/>
            <a:endParaRPr lang="en-US" b="1" dirty="0" smtClean="0"/>
          </a:p>
          <a:p>
            <a:pPr algn="ctr"/>
            <a:endParaRPr lang="en-US" b="1" dirty="0" smtClean="0"/>
          </a:p>
          <a:p>
            <a:pPr algn="ctr"/>
            <a:r>
              <a:rPr lang="en-US" b="1" dirty="0" smtClean="0"/>
              <a:t>Development Process and Process Models</a:t>
            </a:r>
            <a:endParaRPr lang="en-US" b="1" dirty="0"/>
          </a:p>
        </p:txBody>
      </p:sp>
      <p:sp>
        <p:nvSpPr>
          <p:cNvPr id="15363" name="Rectangle 16"/>
          <p:cNvSpPr>
            <a:spLocks noGrp="1" noChangeArrowheads="1"/>
          </p:cNvSpPr>
          <p:nvPr>
            <p:ph type="sldNum" sz="quarter" idx="12"/>
          </p:nvPr>
        </p:nvSpPr>
        <p:spPr>
          <a:noFill/>
        </p:spPr>
        <p:txBody>
          <a:bodyPr/>
          <a:lstStyle/>
          <a:p>
            <a:fld id="{4DD36D96-5806-476B-806E-F79ACCDBF3F6}" type="slidenum">
              <a:rPr lang="en-US"/>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a:xfrm>
            <a:off x="457200" y="704088"/>
            <a:ext cx="8229600" cy="819912"/>
          </a:xfrm>
        </p:spPr>
        <p:txBody>
          <a:bodyPr/>
          <a:lstStyle/>
          <a:p>
            <a:pPr eaLnBrk="1" hangingPunct="1"/>
            <a:r>
              <a:rPr lang="en-US" dirty="0" smtClean="0"/>
              <a:t>Process Models</a:t>
            </a:r>
          </a:p>
        </p:txBody>
      </p:sp>
      <p:sp>
        <p:nvSpPr>
          <p:cNvPr id="20485" name="Rectangle 3"/>
          <p:cNvSpPr>
            <a:spLocks noGrp="1" noChangeArrowheads="1"/>
          </p:cNvSpPr>
          <p:nvPr>
            <p:ph idx="1"/>
          </p:nvPr>
        </p:nvSpPr>
        <p:spPr>
          <a:xfrm>
            <a:off x="457200" y="1524000"/>
            <a:ext cx="8229600" cy="5029200"/>
          </a:xfrm>
        </p:spPr>
        <p:txBody>
          <a:bodyPr>
            <a:normAutofit fontScale="92500" lnSpcReduction="10000"/>
          </a:bodyPr>
          <a:lstStyle/>
          <a:p>
            <a:endParaRPr lang="en-US" b="1" dirty="0" smtClean="0"/>
          </a:p>
          <a:p>
            <a:pPr algn="just"/>
            <a:r>
              <a:rPr lang="en-US" b="1" dirty="0" smtClean="0"/>
              <a:t>Process model : </a:t>
            </a:r>
            <a:r>
              <a:rPr lang="en-US" dirty="0" smtClean="0"/>
              <a:t>A simplified representation of a software process presented from a specific perspective. It describes the workflow and how the process elements interact together</a:t>
            </a:r>
            <a:r>
              <a:rPr lang="en-US" i="1" dirty="0" smtClean="0"/>
              <a:t>. </a:t>
            </a:r>
          </a:p>
          <a:p>
            <a:pPr algn="just" eaLnBrk="1" hangingPunct="1"/>
            <a:endParaRPr lang="en-US" dirty="0" smtClean="0"/>
          </a:p>
          <a:p>
            <a:pPr algn="just"/>
            <a:r>
              <a:rPr lang="en-US" dirty="0" smtClean="0"/>
              <a:t>Process Models may be linear, incremental or iteratively.</a:t>
            </a:r>
          </a:p>
          <a:p>
            <a:pPr algn="just"/>
            <a:r>
              <a:rPr lang="en-US" dirty="0" smtClean="0"/>
              <a:t>Different models perform them in different manner</a:t>
            </a:r>
          </a:p>
          <a:p>
            <a:pPr>
              <a:buNone/>
            </a:pPr>
            <a:endParaRPr lang="en-US" dirty="0" smtClean="0"/>
          </a:p>
        </p:txBody>
      </p:sp>
      <p:sp>
        <p:nvSpPr>
          <p:cNvPr id="20483" name="Slide Number Placeholder 5"/>
          <p:cNvSpPr>
            <a:spLocks noGrp="1"/>
          </p:cNvSpPr>
          <p:nvPr>
            <p:ph type="sldNum" sz="quarter" idx="12"/>
          </p:nvPr>
        </p:nvSpPr>
        <p:spPr>
          <a:noFill/>
        </p:spPr>
        <p:txBody>
          <a:bodyPr/>
          <a:lstStyle/>
          <a:p>
            <a:fld id="{614A9F89-E627-4593-B8E7-BBACB0DF105C}" type="slidenum">
              <a:rPr lang="en-US"/>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Software Development Process Model</a:t>
            </a:r>
            <a:endParaRPr lang="en-US" dirty="0"/>
          </a:p>
        </p:txBody>
      </p:sp>
      <p:sp>
        <p:nvSpPr>
          <p:cNvPr id="3" name="Content Placeholder 2"/>
          <p:cNvSpPr>
            <a:spLocks noGrp="1"/>
          </p:cNvSpPr>
          <p:nvPr>
            <p:ph idx="1"/>
          </p:nvPr>
        </p:nvSpPr>
        <p:spPr>
          <a:xfrm>
            <a:off x="457200" y="2209800"/>
            <a:ext cx="8229600" cy="4114800"/>
          </a:xfrm>
        </p:spPr>
        <p:txBody>
          <a:bodyPr/>
          <a:lstStyle/>
          <a:p>
            <a:pPr lvl="0">
              <a:buNone/>
            </a:pPr>
            <a:r>
              <a:rPr lang="en-US" sz="2800" dirty="0" smtClean="0"/>
              <a:t>1. Waterfall Model;</a:t>
            </a:r>
          </a:p>
          <a:p>
            <a:pPr lvl="0">
              <a:buNone/>
            </a:pPr>
            <a:r>
              <a:rPr lang="en-US" sz="2800" dirty="0" smtClean="0"/>
              <a:t>2. Prototyping Model;</a:t>
            </a:r>
          </a:p>
          <a:p>
            <a:pPr lvl="0">
              <a:buNone/>
            </a:pPr>
            <a:r>
              <a:rPr lang="en-US" sz="2800" dirty="0" smtClean="0"/>
              <a:t>3. Iterative Development Model;</a:t>
            </a:r>
          </a:p>
          <a:p>
            <a:pPr lvl="0">
              <a:buNone/>
            </a:pPr>
            <a:r>
              <a:rPr lang="en-US" sz="2800" dirty="0" smtClean="0"/>
              <a:t>4. Timeboxing Model;</a:t>
            </a:r>
          </a:p>
          <a:p>
            <a:pPr lvl="0">
              <a:buNone/>
            </a:pPr>
            <a:r>
              <a:rPr lang="en-US" sz="2800" dirty="0" smtClean="0"/>
              <a:t>5. Agile Model (Extreme Programming ) </a:t>
            </a:r>
          </a:p>
          <a:p>
            <a:pPr>
              <a:buNone/>
            </a:pPr>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457200" y="704088"/>
            <a:ext cx="8229600" cy="896112"/>
          </a:xfrm>
        </p:spPr>
        <p:txBody>
          <a:bodyPr/>
          <a:lstStyle/>
          <a:p>
            <a:pPr eaLnBrk="1" hangingPunct="1"/>
            <a:r>
              <a:rPr lang="en-US" dirty="0" smtClean="0"/>
              <a:t>1. Waterfall Model</a:t>
            </a:r>
          </a:p>
        </p:txBody>
      </p:sp>
      <p:sp>
        <p:nvSpPr>
          <p:cNvPr id="21509" name="Rectangle 3"/>
          <p:cNvSpPr>
            <a:spLocks noGrp="1" noChangeArrowheads="1"/>
          </p:cNvSpPr>
          <p:nvPr>
            <p:ph idx="1"/>
          </p:nvPr>
        </p:nvSpPr>
        <p:spPr/>
        <p:txBody>
          <a:bodyPr>
            <a:normAutofit/>
          </a:bodyPr>
          <a:lstStyle/>
          <a:p>
            <a:r>
              <a:rPr lang="en-US" sz="2800" dirty="0" smtClean="0"/>
              <a:t>Dependent phases that are executed in a sequential order. </a:t>
            </a:r>
          </a:p>
          <a:p>
            <a:r>
              <a:rPr lang="en-US" sz="2800" dirty="0" smtClean="0"/>
              <a:t>The complete solution is not released until the final phase. Linear sequence of stages/phases.</a:t>
            </a:r>
          </a:p>
          <a:p>
            <a:pPr eaLnBrk="1" hangingPunct="1"/>
            <a:r>
              <a:rPr lang="en-US" sz="2800" dirty="0" smtClean="0"/>
              <a:t>A phase starts only when the previous has completed; no feedback </a:t>
            </a:r>
          </a:p>
          <a:p>
            <a:pPr eaLnBrk="1" hangingPunct="1"/>
            <a:r>
              <a:rPr lang="en-US" sz="2800" dirty="0" smtClean="0"/>
              <a:t>The phases partition the project, each addressing a separate concern</a:t>
            </a:r>
          </a:p>
        </p:txBody>
      </p:sp>
      <p:sp>
        <p:nvSpPr>
          <p:cNvPr id="21507" name="Slide Number Placeholder 5"/>
          <p:cNvSpPr>
            <a:spLocks noGrp="1"/>
          </p:cNvSpPr>
          <p:nvPr>
            <p:ph type="sldNum" sz="quarter" idx="12"/>
          </p:nvPr>
        </p:nvSpPr>
        <p:spPr>
          <a:noFill/>
        </p:spPr>
        <p:txBody>
          <a:bodyPr/>
          <a:lstStyle/>
          <a:p>
            <a:fld id="{DF691DC6-9586-4231-9624-41DB582B27DE}" type="slidenum">
              <a:rPr lang="en-US"/>
              <a:pPr/>
              <a:t>22</a:t>
            </a:fld>
            <a:endParaRPr lang="en-US"/>
          </a:p>
        </p:txBody>
      </p:sp>
      <p:pic>
        <p:nvPicPr>
          <p:cNvPr id="5" name="Content Placeholder 4"/>
          <p:cNvPicPr>
            <a:picLocks/>
          </p:cNvPicPr>
          <p:nvPr/>
        </p:nvPicPr>
        <p:blipFill>
          <a:blip r:embed="rId2" cstate="print"/>
          <a:srcRect/>
          <a:stretch>
            <a:fillRect/>
          </a:stretch>
        </p:blipFill>
        <p:spPr bwMode="auto">
          <a:xfrm>
            <a:off x="6858000" y="0"/>
            <a:ext cx="1905000" cy="198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457200" y="704088"/>
            <a:ext cx="8229600" cy="972312"/>
          </a:xfrm>
        </p:spPr>
        <p:txBody>
          <a:bodyPr/>
          <a:lstStyle/>
          <a:p>
            <a:pPr eaLnBrk="1" hangingPunct="1"/>
            <a:r>
              <a:rPr lang="en-US" dirty="0" smtClean="0"/>
              <a:t>Waterfall…</a:t>
            </a:r>
          </a:p>
        </p:txBody>
      </p:sp>
      <p:sp>
        <p:nvSpPr>
          <p:cNvPr id="23557" name="Rectangle 3"/>
          <p:cNvSpPr>
            <a:spLocks noGrp="1" noChangeArrowheads="1"/>
          </p:cNvSpPr>
          <p:nvPr>
            <p:ph idx="1"/>
          </p:nvPr>
        </p:nvSpPr>
        <p:spPr>
          <a:xfrm>
            <a:off x="838200" y="1828800"/>
            <a:ext cx="7772400" cy="4303713"/>
          </a:xfrm>
        </p:spPr>
        <p:txBody>
          <a:bodyPr>
            <a:normAutofit/>
          </a:bodyPr>
          <a:lstStyle/>
          <a:p>
            <a:pPr algn="just" eaLnBrk="1" hangingPunct="1"/>
            <a:r>
              <a:rPr lang="en-US" sz="2800" dirty="0" smtClean="0"/>
              <a:t>Linear ordering implies each phase should have some output</a:t>
            </a:r>
          </a:p>
          <a:p>
            <a:pPr algn="just" eaLnBrk="1" hangingPunct="1"/>
            <a:r>
              <a:rPr lang="en-US" sz="2800" dirty="0" smtClean="0"/>
              <a:t>The output must be validated/certified</a:t>
            </a:r>
          </a:p>
          <a:p>
            <a:pPr algn="just" eaLnBrk="1" hangingPunct="1"/>
            <a:r>
              <a:rPr lang="en-US" sz="2800" dirty="0" smtClean="0"/>
              <a:t>Common outputs of a waterfall: </a:t>
            </a:r>
          </a:p>
          <a:p>
            <a:pPr algn="just">
              <a:buNone/>
            </a:pPr>
            <a:r>
              <a:rPr lang="en-US" sz="2800" dirty="0" smtClean="0"/>
              <a:t>Project plan, Software Requirement Specification and analysis, design docs, test plan and reports, final code, supporting docs.</a:t>
            </a:r>
          </a:p>
        </p:txBody>
      </p:sp>
      <p:sp>
        <p:nvSpPr>
          <p:cNvPr id="23555" name="Slide Number Placeholder 5"/>
          <p:cNvSpPr>
            <a:spLocks noGrp="1"/>
          </p:cNvSpPr>
          <p:nvPr>
            <p:ph type="sldNum" sz="quarter" idx="12"/>
          </p:nvPr>
        </p:nvSpPr>
        <p:spPr>
          <a:noFill/>
        </p:spPr>
        <p:txBody>
          <a:bodyPr/>
          <a:lstStyle/>
          <a:p>
            <a:fld id="{D51B9D70-D2BB-4234-BE12-F26C5417AB86}" type="slidenum">
              <a:rPr lang="en-US"/>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7DCF3E3-43C3-4D4D-80D8-9AA0A767ECB9}" type="slidenum">
              <a:rPr lang="en-US" smtClean="0"/>
              <a:pPr/>
              <a:t>24</a:t>
            </a:fld>
            <a:endParaRPr lang="en-US"/>
          </a:p>
        </p:txBody>
      </p:sp>
      <p:pic>
        <p:nvPicPr>
          <p:cNvPr id="7" name="Content Placeholder 6"/>
          <p:cNvPicPr>
            <a:picLocks noGrp="1"/>
          </p:cNvPicPr>
          <p:nvPr>
            <p:ph idx="1"/>
          </p:nvPr>
        </p:nvPicPr>
        <p:blipFill>
          <a:blip r:embed="rId2" cstate="print"/>
          <a:srcRect/>
          <a:stretch>
            <a:fillRect/>
          </a:stretch>
        </p:blipFill>
        <p:spPr bwMode="auto">
          <a:xfrm>
            <a:off x="838200" y="762000"/>
            <a:ext cx="7010399" cy="5714999"/>
          </a:xfrm>
          <a:prstGeom prst="rect">
            <a:avLst/>
          </a:prstGeom>
          <a:noFill/>
          <a:ln w="9525">
            <a:noFill/>
            <a:round/>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pPr eaLnBrk="1" hangingPunct="1"/>
            <a:r>
              <a:rPr lang="en-US" smtClean="0"/>
              <a:t>Waterfall Advantages</a:t>
            </a:r>
          </a:p>
        </p:txBody>
      </p:sp>
      <p:sp>
        <p:nvSpPr>
          <p:cNvPr id="24581" name="Rectangle 3"/>
          <p:cNvSpPr>
            <a:spLocks noGrp="1" noChangeArrowheads="1"/>
          </p:cNvSpPr>
          <p:nvPr>
            <p:ph idx="1"/>
          </p:nvPr>
        </p:nvSpPr>
        <p:spPr/>
        <p:txBody>
          <a:bodyPr>
            <a:normAutofit/>
          </a:bodyPr>
          <a:lstStyle/>
          <a:p>
            <a:pPr eaLnBrk="1" hangingPunct="1"/>
            <a:r>
              <a:rPr lang="en-US" sz="2800" dirty="0" smtClean="0"/>
              <a:t>Conceptually simple, cleanly divides the problem into distinct phases that can be performed independently</a:t>
            </a:r>
          </a:p>
          <a:p>
            <a:pPr eaLnBrk="1" hangingPunct="1"/>
            <a:endParaRPr lang="en-US" sz="2800" dirty="0" smtClean="0"/>
          </a:p>
          <a:p>
            <a:pPr eaLnBrk="1" hangingPunct="1"/>
            <a:r>
              <a:rPr lang="en-US" sz="2800" dirty="0" smtClean="0"/>
              <a:t>Natural approach for problem solving</a:t>
            </a:r>
          </a:p>
          <a:p>
            <a:pPr eaLnBrk="1" hangingPunct="1"/>
            <a:endParaRPr lang="en-US" sz="2800" dirty="0" smtClean="0"/>
          </a:p>
          <a:p>
            <a:pPr eaLnBrk="1" hangingPunct="1"/>
            <a:r>
              <a:rPr lang="en-US" sz="2800" dirty="0" smtClean="0"/>
              <a:t>Easy to administer in a contractual setup – each phase is a milestone</a:t>
            </a:r>
          </a:p>
        </p:txBody>
      </p:sp>
      <p:sp>
        <p:nvSpPr>
          <p:cNvPr id="24579" name="Slide Number Placeholder 5"/>
          <p:cNvSpPr>
            <a:spLocks noGrp="1"/>
          </p:cNvSpPr>
          <p:nvPr>
            <p:ph type="sldNum" sz="quarter" idx="12"/>
          </p:nvPr>
        </p:nvSpPr>
        <p:spPr>
          <a:noFill/>
        </p:spPr>
        <p:txBody>
          <a:bodyPr/>
          <a:lstStyle/>
          <a:p>
            <a:fld id="{41AFF758-0890-4A71-A774-4E91D65B8A87}" type="slidenum">
              <a:rPr lang="en-US"/>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a:xfrm>
            <a:off x="457200" y="704088"/>
            <a:ext cx="8229600" cy="667512"/>
          </a:xfrm>
        </p:spPr>
        <p:txBody>
          <a:bodyPr>
            <a:normAutofit fontScale="90000"/>
          </a:bodyPr>
          <a:lstStyle/>
          <a:p>
            <a:pPr eaLnBrk="1" hangingPunct="1"/>
            <a:r>
              <a:rPr lang="en-US" dirty="0" smtClean="0"/>
              <a:t>Waterfall disadvantages</a:t>
            </a:r>
          </a:p>
        </p:txBody>
      </p:sp>
      <p:sp>
        <p:nvSpPr>
          <p:cNvPr id="25605" name="Rectangle 3"/>
          <p:cNvSpPr>
            <a:spLocks noGrp="1" noChangeArrowheads="1"/>
          </p:cNvSpPr>
          <p:nvPr>
            <p:ph idx="1"/>
          </p:nvPr>
        </p:nvSpPr>
        <p:spPr>
          <a:xfrm>
            <a:off x="457200" y="1447800"/>
            <a:ext cx="8229600" cy="5181600"/>
          </a:xfrm>
        </p:spPr>
        <p:txBody>
          <a:bodyPr>
            <a:normAutofit fontScale="92500"/>
          </a:bodyPr>
          <a:lstStyle/>
          <a:p>
            <a:pPr>
              <a:lnSpc>
                <a:spcPct val="90000"/>
              </a:lnSpc>
            </a:pPr>
            <a:endParaRPr lang="en-US" dirty="0" smtClean="0"/>
          </a:p>
          <a:p>
            <a:pPr algn="just">
              <a:lnSpc>
                <a:spcPct val="90000"/>
              </a:lnSpc>
            </a:pPr>
            <a:r>
              <a:rPr lang="en-US" sz="2800" dirty="0" smtClean="0"/>
              <a:t>All delivery is at the end: no available working model early in the project time plan </a:t>
            </a:r>
          </a:p>
          <a:p>
            <a:pPr algn="just" eaLnBrk="1" hangingPunct="1">
              <a:lnSpc>
                <a:spcPct val="90000"/>
              </a:lnSpc>
            </a:pPr>
            <a:r>
              <a:rPr lang="en-US" sz="2800" dirty="0" smtClean="0"/>
              <a:t>Assumes that requirements can be specified and frozen early</a:t>
            </a:r>
          </a:p>
          <a:p>
            <a:pPr algn="just" eaLnBrk="1" hangingPunct="1">
              <a:lnSpc>
                <a:spcPct val="90000"/>
              </a:lnSpc>
            </a:pPr>
            <a:endParaRPr lang="en-US" sz="2800" dirty="0" smtClean="0"/>
          </a:p>
          <a:p>
            <a:pPr algn="just" eaLnBrk="1" hangingPunct="1">
              <a:lnSpc>
                <a:spcPct val="90000"/>
              </a:lnSpc>
            </a:pPr>
            <a:r>
              <a:rPr lang="en-US" sz="2800" dirty="0" smtClean="0"/>
              <a:t>May fix hardware and other technologies too early</a:t>
            </a:r>
          </a:p>
          <a:p>
            <a:pPr algn="just" eaLnBrk="1" hangingPunct="1">
              <a:lnSpc>
                <a:spcPct val="90000"/>
              </a:lnSpc>
            </a:pPr>
            <a:endParaRPr lang="en-US" sz="2800" dirty="0" smtClean="0"/>
          </a:p>
          <a:p>
            <a:pPr algn="just"/>
            <a:r>
              <a:rPr lang="en-US" sz="2800" dirty="0" smtClean="0"/>
              <a:t>Follows the “big bang” approach – all or nothing delivery; too risky(if the project runs out of money in the middle, then there will be no software.)</a:t>
            </a:r>
          </a:p>
          <a:p>
            <a:pPr>
              <a:lnSpc>
                <a:spcPct val="90000"/>
              </a:lnSpc>
              <a:buNone/>
            </a:pPr>
            <a:endParaRPr lang="en-US" dirty="0" smtClean="0"/>
          </a:p>
        </p:txBody>
      </p:sp>
      <p:sp>
        <p:nvSpPr>
          <p:cNvPr id="25603" name="Slide Number Placeholder 5"/>
          <p:cNvSpPr>
            <a:spLocks noGrp="1"/>
          </p:cNvSpPr>
          <p:nvPr>
            <p:ph type="sldNum" sz="quarter" idx="12"/>
          </p:nvPr>
        </p:nvSpPr>
        <p:spPr>
          <a:noFill/>
        </p:spPr>
        <p:txBody>
          <a:bodyPr/>
          <a:lstStyle/>
          <a:p>
            <a:fld id="{A1118843-5E53-4E13-8F06-49D650A73E2E}" type="slidenum">
              <a:rPr lang="en-US"/>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772816"/>
            <a:ext cx="8229600" cy="4551784"/>
          </a:xfrm>
        </p:spPr>
        <p:txBody>
          <a:bodyPr/>
          <a:lstStyle/>
          <a:p>
            <a:pPr algn="just"/>
            <a:r>
              <a:rPr lang="en-US" sz="2800" dirty="0" smtClean="0"/>
              <a:t>Very document oriented, requiring docs at the end of each phase</a:t>
            </a:r>
          </a:p>
          <a:p>
            <a:pPr algn="just"/>
            <a:endParaRPr lang="en-US" sz="2800" dirty="0" smtClean="0"/>
          </a:p>
          <a:p>
            <a:pPr algn="just"/>
            <a:r>
              <a:rPr lang="en-US" sz="2800" dirty="0" smtClean="0"/>
              <a:t>Difficulty of accommodating change after the process is underway. One phase has to be complete before moving onto the next phase.</a:t>
            </a:r>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27</a:t>
            </a:fld>
            <a:endParaRPr lang="en-US"/>
          </a:p>
        </p:txBody>
      </p:sp>
      <p:pic>
        <p:nvPicPr>
          <p:cNvPr id="5" name="Content Placeholder 3"/>
          <p:cNvPicPr>
            <a:picLocks/>
          </p:cNvPicPr>
          <p:nvPr/>
        </p:nvPicPr>
        <p:blipFill>
          <a:blip r:embed="rId2" cstate="print"/>
          <a:srcRect/>
          <a:stretch>
            <a:fillRect/>
          </a:stretch>
        </p:blipFill>
        <p:spPr bwMode="auto">
          <a:xfrm>
            <a:off x="4860032" y="4509120"/>
            <a:ext cx="3941754" cy="23488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p:txBody>
          <a:bodyPr/>
          <a:lstStyle/>
          <a:p>
            <a:pPr eaLnBrk="1" hangingPunct="1"/>
            <a:r>
              <a:rPr lang="en-US" dirty="0" smtClean="0"/>
              <a:t>Waterfall Usage</a:t>
            </a:r>
          </a:p>
        </p:txBody>
      </p:sp>
      <p:sp>
        <p:nvSpPr>
          <p:cNvPr id="26629" name="Rectangle 3"/>
          <p:cNvSpPr>
            <a:spLocks noGrp="1" noChangeArrowheads="1"/>
          </p:cNvSpPr>
          <p:nvPr>
            <p:ph idx="1"/>
          </p:nvPr>
        </p:nvSpPr>
        <p:spPr/>
        <p:txBody>
          <a:bodyPr>
            <a:normAutofit/>
          </a:bodyPr>
          <a:lstStyle/>
          <a:p>
            <a:r>
              <a:rPr lang="en-US" sz="2800" dirty="0" smtClean="0"/>
              <a:t>Waterfall model is appropriate when:</a:t>
            </a:r>
          </a:p>
          <a:p>
            <a:pPr lvl="0">
              <a:buNone/>
            </a:pPr>
            <a:r>
              <a:rPr lang="en-US" sz="2800" dirty="0" smtClean="0"/>
              <a:t>- The requirements are well-understood, clear and fixed.</a:t>
            </a:r>
          </a:p>
          <a:p>
            <a:pPr lvl="0">
              <a:buNone/>
            </a:pPr>
            <a:r>
              <a:rPr lang="en-US" sz="2800" dirty="0" smtClean="0"/>
              <a:t>- Product definition is stable.</a:t>
            </a:r>
          </a:p>
          <a:p>
            <a:pPr lvl="0">
              <a:buNone/>
            </a:pPr>
            <a:r>
              <a:rPr lang="en-US" sz="2800" dirty="0" smtClean="0"/>
              <a:t>- Technology is understood.</a:t>
            </a:r>
          </a:p>
          <a:p>
            <a:pPr lvl="0">
              <a:buNone/>
            </a:pPr>
            <a:r>
              <a:rPr lang="en-US" sz="2800" dirty="0" smtClean="0"/>
              <a:t>- The project is short.</a:t>
            </a:r>
          </a:p>
          <a:p>
            <a:pPr eaLnBrk="1" hangingPunct="1">
              <a:buFontTx/>
              <a:buChar char="-"/>
            </a:pPr>
            <a:endParaRPr lang="en-US" dirty="0" smtClean="0"/>
          </a:p>
        </p:txBody>
      </p:sp>
      <p:sp>
        <p:nvSpPr>
          <p:cNvPr id="26627" name="Slide Number Placeholder 5"/>
          <p:cNvSpPr>
            <a:spLocks noGrp="1"/>
          </p:cNvSpPr>
          <p:nvPr>
            <p:ph type="sldNum" sz="quarter" idx="12"/>
          </p:nvPr>
        </p:nvSpPr>
        <p:spPr>
          <a:noFill/>
        </p:spPr>
        <p:txBody>
          <a:bodyPr/>
          <a:lstStyle/>
          <a:p>
            <a:fld id="{B39F8C73-70BB-42DA-B7F8-34FE3A52DD7A}" type="slidenum">
              <a:rPr lang="en-US"/>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457200" y="274638"/>
            <a:ext cx="8229600" cy="868362"/>
          </a:xfrm>
        </p:spPr>
        <p:txBody>
          <a:bodyPr/>
          <a:lstStyle/>
          <a:p>
            <a:pPr eaLnBrk="1" hangingPunct="1"/>
            <a:r>
              <a:rPr lang="en-US" dirty="0" smtClean="0"/>
              <a:t>2. Prototyping</a:t>
            </a:r>
          </a:p>
        </p:txBody>
      </p:sp>
      <p:sp>
        <p:nvSpPr>
          <p:cNvPr id="27653" name="Rectangle 3"/>
          <p:cNvSpPr>
            <a:spLocks noGrp="1" noChangeArrowheads="1"/>
          </p:cNvSpPr>
          <p:nvPr>
            <p:ph idx="1"/>
          </p:nvPr>
        </p:nvSpPr>
        <p:spPr>
          <a:xfrm>
            <a:off x="228600" y="1295400"/>
            <a:ext cx="8686800" cy="5257800"/>
          </a:xfrm>
        </p:spPr>
        <p:txBody>
          <a:bodyPr>
            <a:noAutofit/>
          </a:bodyPr>
          <a:lstStyle/>
          <a:p>
            <a:pPr algn="just" eaLnBrk="1" hangingPunct="1">
              <a:lnSpc>
                <a:spcPct val="90000"/>
              </a:lnSpc>
            </a:pPr>
            <a:endParaRPr lang="en-US" sz="2800" dirty="0" smtClean="0"/>
          </a:p>
          <a:p>
            <a:pPr algn="just">
              <a:lnSpc>
                <a:spcPct val="90000"/>
              </a:lnSpc>
            </a:pPr>
            <a:r>
              <a:rPr lang="en-US" sz="2800" dirty="0" smtClean="0"/>
              <a:t>Used when customer defines a set of objective but does not identify input, output, or processing requirements ; a prototype is built to understand the requirements</a:t>
            </a:r>
          </a:p>
          <a:p>
            <a:pPr algn="just">
              <a:lnSpc>
                <a:spcPct val="90000"/>
              </a:lnSpc>
            </a:pPr>
            <a:endParaRPr lang="en-US" sz="2800" dirty="0" smtClean="0"/>
          </a:p>
          <a:p>
            <a:pPr algn="just" eaLnBrk="1" hangingPunct="1">
              <a:lnSpc>
                <a:spcPct val="90000"/>
              </a:lnSpc>
            </a:pPr>
            <a:r>
              <a:rPr lang="en-US" sz="2800" dirty="0" smtClean="0"/>
              <a:t>Helps alleviate the requirements risk</a:t>
            </a:r>
          </a:p>
          <a:p>
            <a:pPr algn="just" eaLnBrk="1" hangingPunct="1">
              <a:lnSpc>
                <a:spcPct val="90000"/>
              </a:lnSpc>
            </a:pPr>
            <a:endParaRPr lang="en-US" sz="2800" dirty="0" smtClean="0"/>
          </a:p>
          <a:p>
            <a:pPr algn="just">
              <a:lnSpc>
                <a:spcPct val="90000"/>
              </a:lnSpc>
            </a:pPr>
            <a:r>
              <a:rPr lang="en-US" sz="2800" dirty="0" smtClean="0"/>
              <a:t>Prototyping addresses the requirement specification limitation of waterfall</a:t>
            </a:r>
          </a:p>
          <a:p>
            <a:pPr algn="just" eaLnBrk="1" hangingPunct="1">
              <a:lnSpc>
                <a:spcPct val="90000"/>
              </a:lnSpc>
            </a:pPr>
            <a:endParaRPr lang="en-US" sz="2800" dirty="0" smtClean="0"/>
          </a:p>
        </p:txBody>
      </p:sp>
      <p:sp>
        <p:nvSpPr>
          <p:cNvPr id="27651" name="Slide Number Placeholder 5"/>
          <p:cNvSpPr>
            <a:spLocks noGrp="1"/>
          </p:cNvSpPr>
          <p:nvPr>
            <p:ph type="sldNum" sz="quarter" idx="12"/>
          </p:nvPr>
        </p:nvSpPr>
        <p:spPr>
          <a:noFill/>
        </p:spPr>
        <p:txBody>
          <a:bodyPr/>
          <a:lstStyle/>
          <a:p>
            <a:fld id="{C350A6C7-C7DA-46D9-887C-5C13FC42E418}" type="slidenum">
              <a:rPr lang="en-US"/>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lnSpc>
                <a:spcPct val="90000"/>
              </a:lnSpc>
            </a:pPr>
            <a:r>
              <a:rPr lang="en-US" sz="2800" dirty="0" smtClean="0"/>
              <a:t>Prototype evaluation leads to redefining requirements </a:t>
            </a:r>
          </a:p>
          <a:p>
            <a:pPr algn="just">
              <a:lnSpc>
                <a:spcPct val="90000"/>
              </a:lnSpc>
            </a:pPr>
            <a:endParaRPr lang="en-US" sz="2800" dirty="0" smtClean="0"/>
          </a:p>
          <a:p>
            <a:pPr algn="just"/>
            <a:r>
              <a:rPr lang="en-US" sz="2800" dirty="0" smtClean="0"/>
              <a:t>Process is iterated until customer and developer are satisfied</a:t>
            </a:r>
            <a:endParaRPr lang="en-US" sz="2800"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7DCF3E3-43C3-4D4D-80D8-9AA0A767ECB9}" type="slidenum">
              <a:rPr lang="en-US" smtClean="0"/>
              <a:pPr/>
              <a:t>31</a:t>
            </a:fld>
            <a:endParaRPr lang="en-US"/>
          </a:p>
        </p:txBody>
      </p:sp>
      <p:pic>
        <p:nvPicPr>
          <p:cNvPr id="5" name="Content Placeholder 4"/>
          <p:cNvPicPr>
            <a:picLocks noGrp="1"/>
          </p:cNvPicPr>
          <p:nvPr>
            <p:ph idx="1"/>
          </p:nvPr>
        </p:nvPicPr>
        <p:blipFill>
          <a:blip r:embed="rId2" cstate="print"/>
          <a:srcRect/>
          <a:stretch>
            <a:fillRect/>
          </a:stretch>
        </p:blipFill>
        <p:spPr bwMode="auto">
          <a:xfrm>
            <a:off x="381000" y="1981200"/>
            <a:ext cx="8305800" cy="4155789"/>
          </a:xfrm>
          <a:prstGeom prst="rect">
            <a:avLst/>
          </a:prstGeom>
          <a:noFill/>
          <a:ln w="9525">
            <a:noFill/>
            <a:round/>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r>
              <a:rPr lang="en-US" smtClean="0"/>
              <a:t>Prototyping </a:t>
            </a:r>
          </a:p>
        </p:txBody>
      </p:sp>
      <p:sp>
        <p:nvSpPr>
          <p:cNvPr id="29701" name="Rectangle 3"/>
          <p:cNvSpPr>
            <a:spLocks noGrp="1" noChangeArrowheads="1"/>
          </p:cNvSpPr>
          <p:nvPr>
            <p:ph idx="1"/>
          </p:nvPr>
        </p:nvSpPr>
        <p:spPr/>
        <p:txBody>
          <a:bodyPr/>
          <a:lstStyle/>
          <a:p>
            <a:pPr algn="just" eaLnBrk="1" hangingPunct="1"/>
            <a:r>
              <a:rPr lang="en-US" sz="2800" dirty="0" smtClean="0"/>
              <a:t>Development of prototype</a:t>
            </a:r>
          </a:p>
          <a:p>
            <a:pPr lvl="1" algn="just" eaLnBrk="1" hangingPunct="1"/>
            <a:r>
              <a:rPr lang="en-US" sz="2800" dirty="0" smtClean="0"/>
              <a:t>Starts with initial requirements</a:t>
            </a:r>
          </a:p>
          <a:p>
            <a:pPr lvl="1" algn="just" eaLnBrk="1" hangingPunct="1"/>
            <a:endParaRPr lang="en-US" sz="2800" dirty="0" smtClean="0"/>
          </a:p>
          <a:p>
            <a:pPr lvl="1" algn="just" eaLnBrk="1" hangingPunct="1"/>
            <a:r>
              <a:rPr lang="en-US" sz="2800" dirty="0" smtClean="0"/>
              <a:t>Only key features which need better understanding are included in prototype</a:t>
            </a:r>
          </a:p>
          <a:p>
            <a:pPr lvl="1" algn="just" eaLnBrk="1" hangingPunct="1"/>
            <a:endParaRPr lang="en-US" sz="2800" dirty="0" smtClean="0"/>
          </a:p>
          <a:p>
            <a:pPr lvl="1" algn="just" eaLnBrk="1" hangingPunct="1"/>
            <a:r>
              <a:rPr lang="en-US" sz="2800" dirty="0" smtClean="0"/>
              <a:t>Feedback from users taken to improve the understanding of the requirements</a:t>
            </a:r>
          </a:p>
          <a:p>
            <a:pPr lvl="1" eaLnBrk="1" hangingPunct="1"/>
            <a:endParaRPr lang="en-US" b="1" dirty="0" smtClean="0"/>
          </a:p>
        </p:txBody>
      </p:sp>
      <p:sp>
        <p:nvSpPr>
          <p:cNvPr id="29699" name="Slide Number Placeholder 5"/>
          <p:cNvSpPr>
            <a:spLocks noGrp="1"/>
          </p:cNvSpPr>
          <p:nvPr>
            <p:ph type="sldNum" sz="quarter" idx="12"/>
          </p:nvPr>
        </p:nvSpPr>
        <p:spPr>
          <a:noFill/>
        </p:spPr>
        <p:txBody>
          <a:bodyPr/>
          <a:lstStyle/>
          <a:p>
            <a:fld id="{F3E60569-A2B3-4E13-9A7F-165A24500DFF}" type="slidenum">
              <a:rPr lang="en-US"/>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p:txBody>
          <a:bodyPr/>
          <a:lstStyle/>
          <a:p>
            <a:pPr eaLnBrk="1" hangingPunct="1"/>
            <a:r>
              <a:rPr lang="en-US" smtClean="0"/>
              <a:t>Prototyping</a:t>
            </a:r>
          </a:p>
        </p:txBody>
      </p:sp>
      <p:sp>
        <p:nvSpPr>
          <p:cNvPr id="30725" name="Rectangle 3"/>
          <p:cNvSpPr>
            <a:spLocks noGrp="1" noChangeArrowheads="1"/>
          </p:cNvSpPr>
          <p:nvPr>
            <p:ph idx="1"/>
          </p:nvPr>
        </p:nvSpPr>
        <p:spPr/>
        <p:txBody>
          <a:bodyPr>
            <a:normAutofit/>
          </a:bodyPr>
          <a:lstStyle/>
          <a:p>
            <a:pPr algn="just" eaLnBrk="1" hangingPunct="1">
              <a:lnSpc>
                <a:spcPct val="90000"/>
              </a:lnSpc>
            </a:pPr>
            <a:r>
              <a:rPr lang="en-US" sz="2800" dirty="0" smtClean="0"/>
              <a:t>Cost can be kept low</a:t>
            </a:r>
          </a:p>
          <a:p>
            <a:pPr lvl="1" algn="just" eaLnBrk="1" hangingPunct="1">
              <a:lnSpc>
                <a:spcPct val="90000"/>
              </a:lnSpc>
            </a:pPr>
            <a:r>
              <a:rPr lang="en-US" sz="2800" dirty="0" smtClean="0"/>
              <a:t>Build only features needing clarification</a:t>
            </a:r>
          </a:p>
          <a:p>
            <a:pPr lvl="1" algn="just" eaLnBrk="1" hangingPunct="1">
              <a:lnSpc>
                <a:spcPct val="90000"/>
              </a:lnSpc>
            </a:pPr>
            <a:endParaRPr lang="en-US" sz="2800" dirty="0" smtClean="0"/>
          </a:p>
          <a:p>
            <a:pPr lvl="1" algn="just" eaLnBrk="1" hangingPunct="1">
              <a:lnSpc>
                <a:spcPct val="90000"/>
              </a:lnSpc>
            </a:pPr>
            <a:r>
              <a:rPr lang="en-US" sz="2800" dirty="0" smtClean="0"/>
              <a:t>“</a:t>
            </a:r>
            <a:r>
              <a:rPr lang="en-US" sz="2800" b="1" dirty="0" smtClean="0"/>
              <a:t>quick and dirty</a:t>
            </a:r>
            <a:r>
              <a:rPr lang="en-US" sz="2800" dirty="0" smtClean="0"/>
              <a:t>” – quality not important.</a:t>
            </a:r>
          </a:p>
          <a:p>
            <a:pPr lvl="1" algn="just" eaLnBrk="1" hangingPunct="1">
              <a:lnSpc>
                <a:spcPct val="90000"/>
              </a:lnSpc>
            </a:pPr>
            <a:endParaRPr lang="en-US" sz="2800" dirty="0" smtClean="0"/>
          </a:p>
          <a:p>
            <a:pPr lvl="1" algn="just" eaLnBrk="1" hangingPunct="1">
              <a:lnSpc>
                <a:spcPct val="90000"/>
              </a:lnSpc>
            </a:pPr>
            <a:r>
              <a:rPr lang="en-US" sz="2800" dirty="0" smtClean="0"/>
              <a:t>Things like exception handling, recovery, standards are omitted</a:t>
            </a:r>
          </a:p>
          <a:p>
            <a:pPr lvl="1" eaLnBrk="1" hangingPunct="1">
              <a:lnSpc>
                <a:spcPct val="90000"/>
              </a:lnSpc>
            </a:pPr>
            <a:endParaRPr lang="en-US" sz="2800" dirty="0" smtClean="0"/>
          </a:p>
        </p:txBody>
      </p:sp>
      <p:sp>
        <p:nvSpPr>
          <p:cNvPr id="30723" name="Slide Number Placeholder 5"/>
          <p:cNvSpPr>
            <a:spLocks noGrp="1"/>
          </p:cNvSpPr>
          <p:nvPr>
            <p:ph type="sldNum" sz="quarter" idx="12"/>
          </p:nvPr>
        </p:nvSpPr>
        <p:spPr>
          <a:noFill/>
        </p:spPr>
        <p:txBody>
          <a:bodyPr/>
          <a:lstStyle/>
          <a:p>
            <a:fld id="{9B7DFA89-8A29-40B1-8C92-8040FE15B360}" type="slidenum">
              <a:rPr lang="en-US"/>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a:lstStyle/>
          <a:p>
            <a:r>
              <a:rPr lang="en-US" dirty="0" smtClean="0"/>
              <a:t>Advantages of Prototyping</a:t>
            </a:r>
          </a:p>
        </p:txBody>
      </p:sp>
      <p:sp>
        <p:nvSpPr>
          <p:cNvPr id="31749" name="Rectangle 3"/>
          <p:cNvSpPr>
            <a:spLocks noGrp="1" noChangeArrowheads="1"/>
          </p:cNvSpPr>
          <p:nvPr>
            <p:ph idx="1"/>
          </p:nvPr>
        </p:nvSpPr>
        <p:spPr/>
        <p:txBody>
          <a:bodyPr>
            <a:normAutofit/>
          </a:bodyPr>
          <a:lstStyle/>
          <a:p>
            <a:pPr eaLnBrk="1" hangingPunct="1">
              <a:lnSpc>
                <a:spcPct val="90000"/>
              </a:lnSpc>
              <a:buFontTx/>
              <a:buChar char="-"/>
            </a:pPr>
            <a:r>
              <a:rPr lang="en-US" sz="2800" dirty="0" smtClean="0"/>
              <a:t>requirements will be more stable, </a:t>
            </a:r>
          </a:p>
          <a:p>
            <a:pPr eaLnBrk="1" hangingPunct="1">
              <a:lnSpc>
                <a:spcPct val="90000"/>
              </a:lnSpc>
              <a:buFontTx/>
              <a:buChar char="-"/>
            </a:pPr>
            <a:endParaRPr lang="en-US" sz="2800" dirty="0" smtClean="0"/>
          </a:p>
          <a:p>
            <a:pPr eaLnBrk="1" hangingPunct="1">
              <a:lnSpc>
                <a:spcPct val="90000"/>
              </a:lnSpc>
              <a:buFontTx/>
              <a:buChar char="-"/>
            </a:pPr>
            <a:r>
              <a:rPr lang="en-US" sz="2800" dirty="0" smtClean="0"/>
              <a:t>requirement frozen later.</a:t>
            </a:r>
          </a:p>
        </p:txBody>
      </p:sp>
      <p:sp>
        <p:nvSpPr>
          <p:cNvPr id="31747" name="Slide Number Placeholder 5"/>
          <p:cNvSpPr>
            <a:spLocks noGrp="1"/>
          </p:cNvSpPr>
          <p:nvPr>
            <p:ph type="sldNum" sz="quarter" idx="12"/>
          </p:nvPr>
        </p:nvSpPr>
        <p:spPr>
          <a:noFill/>
        </p:spPr>
        <p:txBody>
          <a:bodyPr/>
          <a:lstStyle/>
          <a:p>
            <a:fld id="{70BF4492-D73E-44A4-84A7-E20E15D68023}" type="slidenum">
              <a:rPr lang="en-US"/>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819912"/>
          </a:xfrm>
        </p:spPr>
        <p:txBody>
          <a:bodyPr/>
          <a:lstStyle/>
          <a:p>
            <a:r>
              <a:rPr lang="en-US" dirty="0" smtClean="0"/>
              <a:t>Disadvantages of Prototyping </a:t>
            </a:r>
            <a:endParaRPr lang="en-US" dirty="0"/>
          </a:p>
        </p:txBody>
      </p:sp>
      <p:sp>
        <p:nvSpPr>
          <p:cNvPr id="2" name="Content Placeholder 1"/>
          <p:cNvSpPr>
            <a:spLocks noGrp="1"/>
          </p:cNvSpPr>
          <p:nvPr>
            <p:ph idx="1"/>
          </p:nvPr>
        </p:nvSpPr>
        <p:spPr>
          <a:xfrm>
            <a:off x="457200" y="1676400"/>
            <a:ext cx="8229600" cy="4648200"/>
          </a:xfrm>
        </p:spPr>
        <p:txBody>
          <a:bodyPr>
            <a:normAutofit lnSpcReduction="10000"/>
          </a:bodyPr>
          <a:lstStyle/>
          <a:p>
            <a:pPr algn="just"/>
            <a:r>
              <a:rPr lang="en-US" sz="2800" dirty="0" smtClean="0"/>
              <a:t>In a rush to get it working, overall software quality or long term maintainability are generally overlooked. </a:t>
            </a:r>
          </a:p>
          <a:p>
            <a:pPr algn="just"/>
            <a:endParaRPr lang="en-US" sz="2800" dirty="0" smtClean="0"/>
          </a:p>
          <a:p>
            <a:pPr algn="just"/>
            <a:r>
              <a:rPr lang="en-US" sz="2800" dirty="0" smtClean="0"/>
              <a:t>May use inappropriate Operating Systems, Programming languages. </a:t>
            </a:r>
          </a:p>
          <a:p>
            <a:pPr algn="just"/>
            <a:endParaRPr lang="en-US" sz="2800" dirty="0" smtClean="0"/>
          </a:p>
          <a:p>
            <a:pPr algn="just"/>
            <a:r>
              <a:rPr lang="en-US" sz="2800" dirty="0" smtClean="0"/>
              <a:t>Client is likely to recommend to do a few changes on the prototype instead of developing the initial software. </a:t>
            </a:r>
          </a:p>
          <a:p>
            <a:endParaRPr lang="en-US" dirty="0" smtClean="0"/>
          </a:p>
          <a:p>
            <a:endParaRPr lang="en-US" dirty="0" smtClean="0"/>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800" dirty="0" smtClean="0"/>
              <a:t>Developer may get a working prototype quickly and forget why they are inappropriate. </a:t>
            </a:r>
          </a:p>
          <a:p>
            <a:pPr algn="just"/>
            <a:endParaRPr lang="en-US" sz="2800" b="1" dirty="0" smtClean="0"/>
          </a:p>
          <a:p>
            <a:pPr algn="just"/>
            <a:r>
              <a:rPr lang="en-US" sz="2800" b="1" dirty="0" smtClean="0"/>
              <a:t>Applicability: </a:t>
            </a:r>
            <a:r>
              <a:rPr lang="en-US" sz="2800" dirty="0" smtClean="0"/>
              <a:t>When requirement are hard to elicit and confidence in requirements is low; i.e. where requirements are not well understood.</a:t>
            </a:r>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eaLnBrk="1" hangingPunct="1"/>
            <a:r>
              <a:rPr lang="en-US" dirty="0" smtClean="0"/>
              <a:t>3. Iterative Development</a:t>
            </a:r>
          </a:p>
        </p:txBody>
      </p:sp>
      <p:sp>
        <p:nvSpPr>
          <p:cNvPr id="32773" name="Rectangle 3"/>
          <p:cNvSpPr>
            <a:spLocks noGrp="1" noChangeArrowheads="1"/>
          </p:cNvSpPr>
          <p:nvPr>
            <p:ph idx="1"/>
          </p:nvPr>
        </p:nvSpPr>
        <p:spPr/>
        <p:txBody>
          <a:bodyPr>
            <a:normAutofit/>
          </a:bodyPr>
          <a:lstStyle/>
          <a:p>
            <a:pPr algn="just" eaLnBrk="1" hangingPunct="1"/>
            <a:r>
              <a:rPr lang="en-US" sz="2800" dirty="0" smtClean="0"/>
              <a:t>Counters the “all or nothing” drawback of the waterfall model</a:t>
            </a:r>
          </a:p>
          <a:p>
            <a:pPr algn="just" eaLnBrk="1" hangingPunct="1"/>
            <a:endParaRPr lang="en-US" sz="2800" dirty="0" smtClean="0"/>
          </a:p>
          <a:p>
            <a:pPr algn="just"/>
            <a:r>
              <a:rPr lang="en-US" sz="2800" dirty="0" smtClean="0"/>
              <a:t>Used when </a:t>
            </a:r>
            <a:r>
              <a:rPr lang="en-US" sz="2800" b="1" dirty="0" smtClean="0"/>
              <a:t>initial</a:t>
            </a:r>
            <a:r>
              <a:rPr lang="en-US" sz="2800" dirty="0" smtClean="0"/>
              <a:t> requirements are reasonably well-defined </a:t>
            </a:r>
          </a:p>
          <a:p>
            <a:pPr algn="just" eaLnBrk="1" hangingPunct="1"/>
            <a:r>
              <a:rPr lang="en-US" sz="2800" dirty="0" smtClean="0"/>
              <a:t>Combines benefit of prototyping and waterfall</a:t>
            </a:r>
          </a:p>
          <a:p>
            <a:pPr algn="just" eaLnBrk="1" hangingPunct="1"/>
            <a:endParaRPr lang="en-US" sz="2800" dirty="0" smtClean="0"/>
          </a:p>
          <a:p>
            <a:pPr algn="just" eaLnBrk="1" hangingPunct="1"/>
            <a:r>
              <a:rPr lang="en-US" sz="2800" dirty="0" smtClean="0"/>
              <a:t>Develop and deliver software in increments</a:t>
            </a:r>
          </a:p>
          <a:p>
            <a:pPr algn="just" eaLnBrk="1" hangingPunct="1"/>
            <a:r>
              <a:rPr lang="en-US" sz="2800" dirty="0" smtClean="0"/>
              <a:t>Each increment is complete in itself</a:t>
            </a:r>
          </a:p>
        </p:txBody>
      </p:sp>
      <p:sp>
        <p:nvSpPr>
          <p:cNvPr id="32771" name="Slide Number Placeholder 5"/>
          <p:cNvSpPr>
            <a:spLocks noGrp="1"/>
          </p:cNvSpPr>
          <p:nvPr>
            <p:ph type="sldNum" sz="quarter" idx="12"/>
          </p:nvPr>
        </p:nvSpPr>
        <p:spPr>
          <a:noFill/>
        </p:spPr>
        <p:txBody>
          <a:bodyPr/>
          <a:lstStyle/>
          <a:p>
            <a:fld id="{F9793DDA-8247-41BD-A3FB-1F11E77BE1BF}" type="slidenum">
              <a:rPr lang="en-US"/>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algn="just"/>
            <a:r>
              <a:rPr lang="en-US" sz="2800" dirty="0" smtClean="0"/>
              <a:t>Can be viewed as a sequence of waterfalls</a:t>
            </a:r>
          </a:p>
          <a:p>
            <a:pPr algn="just"/>
            <a:r>
              <a:rPr lang="en-US" sz="2800" dirty="0" smtClean="0"/>
              <a:t>Feedback from one iteration is used in the future iterations</a:t>
            </a:r>
          </a:p>
          <a:p>
            <a:pPr algn="just"/>
            <a:r>
              <a:rPr lang="en-US" sz="2800" dirty="0" smtClean="0"/>
              <a:t>Lower risk of overall project failure </a:t>
            </a:r>
          </a:p>
          <a:p>
            <a:pPr algn="just"/>
            <a:r>
              <a:rPr lang="en-US" sz="2800" dirty="0" smtClean="0"/>
              <a:t>User requirements are prioritized and the highest priority requirements are included in early increments. </a:t>
            </a:r>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cstate="print"/>
          <a:stretch>
            <a:fillRect/>
          </a:stretch>
        </p:blipFill>
        <p:spPr bwMode="auto">
          <a:xfrm>
            <a:off x="533400" y="2034381"/>
            <a:ext cx="8077200" cy="4191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A7DCF3E3-43C3-4D4D-80D8-9AA0A767ECB9}"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Iterative, phases</a:t>
            </a:r>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40</a:t>
            </a:fld>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138237" y="2553494"/>
            <a:ext cx="6867525" cy="3152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44824"/>
            <a:ext cx="8229600" cy="4784576"/>
          </a:xfrm>
        </p:spPr>
        <p:txBody>
          <a:bodyPr>
            <a:normAutofit fontScale="92500" lnSpcReduction="10000"/>
          </a:bodyPr>
          <a:lstStyle/>
          <a:p>
            <a:r>
              <a:rPr lang="en-US" sz="2800" b="1" dirty="0" smtClean="0"/>
              <a:t>The requirements phase: </a:t>
            </a:r>
            <a:r>
              <a:rPr lang="en-US" sz="2800" dirty="0" smtClean="0"/>
              <a:t>requirements are gathered and analyzed. </a:t>
            </a:r>
          </a:p>
          <a:p>
            <a:endParaRPr lang="en-US" sz="2800" dirty="0" smtClean="0"/>
          </a:p>
          <a:p>
            <a:r>
              <a:rPr lang="en-US" sz="2800" b="1" dirty="0" smtClean="0"/>
              <a:t>A design phase:  </a:t>
            </a:r>
            <a:r>
              <a:rPr lang="en-US" sz="2800" dirty="0" smtClean="0"/>
              <a:t>architecture and components to meet the requirements are designed</a:t>
            </a:r>
          </a:p>
          <a:p>
            <a:endParaRPr lang="en-US" sz="2800" dirty="0" smtClean="0"/>
          </a:p>
          <a:p>
            <a:r>
              <a:rPr lang="en-US" sz="2800" dirty="0" smtClean="0"/>
              <a:t>An Implementation phase, when the software is </a:t>
            </a:r>
            <a:r>
              <a:rPr lang="en-US" sz="2800" b="1" dirty="0" smtClean="0"/>
              <a:t>coded</a:t>
            </a:r>
            <a:r>
              <a:rPr lang="en-US" sz="2800" dirty="0" smtClean="0"/>
              <a:t>, </a:t>
            </a:r>
            <a:r>
              <a:rPr lang="en-US" sz="2800" b="1" dirty="0" smtClean="0"/>
              <a:t>integrated</a:t>
            </a:r>
            <a:r>
              <a:rPr lang="en-US" sz="2800" dirty="0" smtClean="0"/>
              <a:t> and </a:t>
            </a:r>
            <a:r>
              <a:rPr lang="en-US" sz="2800" b="1" dirty="0" smtClean="0"/>
              <a:t>tested</a:t>
            </a:r>
            <a:r>
              <a:rPr lang="en-US" sz="2800" dirty="0" smtClean="0"/>
              <a:t>.</a:t>
            </a:r>
          </a:p>
          <a:p>
            <a:r>
              <a:rPr lang="en-US" sz="2800" dirty="0" smtClean="0"/>
              <a:t>A review phase, in which the software is evaluated, the current requirements are reviewed, and changes and additions to requirements proposed.</a:t>
            </a:r>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lstStyle/>
          <a:p>
            <a:pPr eaLnBrk="1" hangingPunct="1"/>
            <a:r>
              <a:rPr lang="en-US" dirty="0" smtClean="0"/>
              <a:t>Iterative Development </a:t>
            </a:r>
          </a:p>
        </p:txBody>
      </p:sp>
      <p:sp>
        <p:nvSpPr>
          <p:cNvPr id="34821" name="Rectangle 3"/>
          <p:cNvSpPr>
            <a:spLocks noGrp="1" noChangeArrowheads="1"/>
          </p:cNvSpPr>
          <p:nvPr>
            <p:ph idx="1"/>
          </p:nvPr>
        </p:nvSpPr>
        <p:spPr/>
        <p:txBody>
          <a:bodyPr>
            <a:normAutofit/>
          </a:bodyPr>
          <a:lstStyle/>
          <a:p>
            <a:pPr eaLnBrk="1" hangingPunct="1"/>
            <a:endParaRPr lang="en-US" sz="2800" dirty="0" smtClean="0"/>
          </a:p>
          <a:p>
            <a:pPr eaLnBrk="1" hangingPunct="1"/>
            <a:r>
              <a:rPr lang="en-US" sz="2800" dirty="0" smtClean="0"/>
              <a:t>Used commonly in customized development also</a:t>
            </a:r>
          </a:p>
          <a:p>
            <a:pPr lvl="1" eaLnBrk="1" hangingPunct="1"/>
            <a:r>
              <a:rPr lang="en-US" sz="2800" dirty="0" smtClean="0"/>
              <a:t>Businesses want quick response for SW</a:t>
            </a:r>
          </a:p>
          <a:p>
            <a:pPr lvl="1" eaLnBrk="1" hangingPunct="1"/>
            <a:endParaRPr lang="en-US" sz="2800" dirty="0" smtClean="0"/>
          </a:p>
          <a:p>
            <a:pPr eaLnBrk="1" hangingPunct="1"/>
            <a:r>
              <a:rPr lang="en-US" sz="2800" dirty="0" smtClean="0"/>
              <a:t>Newer approaches like XP, Agile,… all rely on iterative development</a:t>
            </a:r>
          </a:p>
        </p:txBody>
      </p:sp>
      <p:sp>
        <p:nvSpPr>
          <p:cNvPr id="34819" name="Slide Number Placeholder 5"/>
          <p:cNvSpPr>
            <a:spLocks noGrp="1"/>
          </p:cNvSpPr>
          <p:nvPr>
            <p:ph type="sldNum" sz="quarter" idx="12"/>
          </p:nvPr>
        </p:nvSpPr>
        <p:spPr>
          <a:noFill/>
        </p:spPr>
        <p:txBody>
          <a:bodyPr/>
          <a:lstStyle/>
          <a:p>
            <a:fld id="{551A00EF-AD24-4B0F-AE27-DF255E0541D8}" type="slidenum">
              <a:rPr lang="en-US"/>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a:xfrm>
            <a:off x="457200" y="704088"/>
            <a:ext cx="8229600" cy="896112"/>
          </a:xfrm>
        </p:spPr>
        <p:txBody>
          <a:bodyPr/>
          <a:lstStyle/>
          <a:p>
            <a:pPr eaLnBrk="1" hangingPunct="1"/>
            <a:r>
              <a:rPr lang="en-US" dirty="0" smtClean="0"/>
              <a:t>Iterative Development</a:t>
            </a:r>
          </a:p>
        </p:txBody>
      </p:sp>
      <p:sp>
        <p:nvSpPr>
          <p:cNvPr id="35845" name="Rectangle 3"/>
          <p:cNvSpPr>
            <a:spLocks noGrp="1" noChangeArrowheads="1"/>
          </p:cNvSpPr>
          <p:nvPr>
            <p:ph idx="1"/>
          </p:nvPr>
        </p:nvSpPr>
        <p:spPr>
          <a:xfrm>
            <a:off x="457200" y="1676400"/>
            <a:ext cx="8229600" cy="4648200"/>
          </a:xfrm>
        </p:spPr>
        <p:txBody>
          <a:bodyPr>
            <a:noAutofit/>
          </a:bodyPr>
          <a:lstStyle/>
          <a:p>
            <a:pPr algn="just" eaLnBrk="1" hangingPunct="1">
              <a:lnSpc>
                <a:spcPct val="90000"/>
              </a:lnSpc>
            </a:pPr>
            <a:r>
              <a:rPr lang="en-US" sz="2800" b="1" dirty="0" smtClean="0"/>
              <a:t>Benefits: </a:t>
            </a:r>
          </a:p>
          <a:p>
            <a:pPr algn="just" eaLnBrk="1" hangingPunct="1">
              <a:lnSpc>
                <a:spcPct val="90000"/>
              </a:lnSpc>
              <a:buFontTx/>
              <a:buChar char="-"/>
            </a:pPr>
            <a:r>
              <a:rPr lang="en-US" sz="2800" dirty="0" smtClean="0"/>
              <a:t>Get-as-you-pay,</a:t>
            </a:r>
          </a:p>
          <a:p>
            <a:pPr algn="just" eaLnBrk="1" hangingPunct="1">
              <a:lnSpc>
                <a:spcPct val="90000"/>
              </a:lnSpc>
              <a:buFontTx/>
              <a:buChar char="-"/>
            </a:pPr>
            <a:endParaRPr lang="en-US" sz="2800" dirty="0" smtClean="0"/>
          </a:p>
          <a:p>
            <a:pPr algn="just">
              <a:lnSpc>
                <a:spcPct val="90000"/>
              </a:lnSpc>
              <a:buFontTx/>
              <a:buChar char="-"/>
            </a:pPr>
            <a:r>
              <a:rPr lang="en-US" sz="2800" dirty="0" smtClean="0"/>
              <a:t>It is easier to get customer’s feedback on the development work done </a:t>
            </a:r>
          </a:p>
          <a:p>
            <a:pPr algn="just">
              <a:lnSpc>
                <a:spcPct val="90000"/>
              </a:lnSpc>
              <a:buFontTx/>
              <a:buChar char="-"/>
            </a:pPr>
            <a:endParaRPr lang="en-US" sz="2800" dirty="0" smtClean="0"/>
          </a:p>
          <a:p>
            <a:pPr algn="just">
              <a:lnSpc>
                <a:spcPct val="90000"/>
              </a:lnSpc>
              <a:buFontTx/>
              <a:buChar char="-"/>
            </a:pPr>
            <a:r>
              <a:rPr lang="en-US" sz="2800" dirty="0" smtClean="0"/>
              <a:t>The cost of accommodating changing customer requirements is reduced- analysis and documentation is less </a:t>
            </a:r>
          </a:p>
        </p:txBody>
      </p:sp>
      <p:sp>
        <p:nvSpPr>
          <p:cNvPr id="35843" name="Slide Number Placeholder 5"/>
          <p:cNvSpPr>
            <a:spLocks noGrp="1"/>
          </p:cNvSpPr>
          <p:nvPr>
            <p:ph type="sldNum" sz="quarter" idx="12"/>
          </p:nvPr>
        </p:nvSpPr>
        <p:spPr>
          <a:noFill/>
        </p:spPr>
        <p:txBody>
          <a:bodyPr/>
          <a:lstStyle/>
          <a:p>
            <a:fld id="{5E318EE2-2B00-4513-9BC6-566B04AAB585}" type="slidenum">
              <a:rPr lang="en-US"/>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066800"/>
          </a:xfrm>
        </p:spPr>
        <p:txBody>
          <a:bodyPr/>
          <a:lstStyle/>
          <a:p>
            <a:r>
              <a:rPr lang="en-US" dirty="0" smtClean="0"/>
              <a:t>Problems associated</a:t>
            </a:r>
            <a:endParaRPr lang="en-US" dirty="0"/>
          </a:p>
        </p:txBody>
      </p:sp>
      <p:sp>
        <p:nvSpPr>
          <p:cNvPr id="3" name="Content Placeholder 2"/>
          <p:cNvSpPr>
            <a:spLocks noGrp="1"/>
          </p:cNvSpPr>
          <p:nvPr>
            <p:ph idx="1"/>
          </p:nvPr>
        </p:nvSpPr>
        <p:spPr>
          <a:xfrm>
            <a:off x="304800" y="1676400"/>
            <a:ext cx="8534400" cy="4876800"/>
          </a:xfrm>
        </p:spPr>
        <p:txBody>
          <a:bodyPr>
            <a:normAutofit/>
          </a:bodyPr>
          <a:lstStyle/>
          <a:p>
            <a:r>
              <a:rPr lang="en-US" sz="2800" dirty="0" smtClean="0"/>
              <a:t>The user is actively involved. </a:t>
            </a:r>
          </a:p>
          <a:p>
            <a:r>
              <a:rPr lang="en-US" sz="2800" dirty="0" smtClean="0"/>
              <a:t>Even if is positive for the project, it is demanding on the time of the staff and can add project delay.</a:t>
            </a:r>
          </a:p>
          <a:p>
            <a:endParaRPr lang="en-US" sz="2800" dirty="0" smtClean="0"/>
          </a:p>
          <a:p>
            <a:r>
              <a:rPr lang="en-US" sz="2800" dirty="0" smtClean="0"/>
              <a:t>Informal requests for improvement after each phase may lead to confusion -- a controlled mechanism for</a:t>
            </a:r>
          </a:p>
          <a:p>
            <a:pPr>
              <a:buNone/>
            </a:pPr>
            <a:r>
              <a:rPr lang="en-US" sz="2800" dirty="0" smtClean="0"/>
              <a:t>Handling additional requests needs to be developed.</a:t>
            </a:r>
          </a:p>
        </p:txBody>
      </p:sp>
      <p:sp>
        <p:nvSpPr>
          <p:cNvPr id="4" name="Slide Number Placeholder 3"/>
          <p:cNvSpPr>
            <a:spLocks noGrp="1"/>
          </p:cNvSpPr>
          <p:nvPr>
            <p:ph type="sldNum" sz="quarter" idx="12"/>
          </p:nvPr>
        </p:nvSpPr>
        <p:spPr/>
        <p:txBody>
          <a:bodyPr/>
          <a:lstStyle/>
          <a:p>
            <a:fld id="{A7DCF3E3-43C3-4D4D-80D8-9AA0A767ECB9}" type="slidenum">
              <a:rPr lang="en-US" smtClean="0"/>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800" dirty="0" smtClean="0"/>
              <a:t>Since user feedback following each phase , this may lead to increased customer demands. </a:t>
            </a:r>
          </a:p>
          <a:p>
            <a:pPr algn="just"/>
            <a:endParaRPr lang="en-US" sz="2800" dirty="0" smtClean="0"/>
          </a:p>
          <a:p>
            <a:pPr algn="just"/>
            <a:r>
              <a:rPr lang="en-US" sz="2800" dirty="0" smtClean="0"/>
              <a:t>Architecture/design may not be optimal, rework may increase, total cost may be more</a:t>
            </a:r>
          </a:p>
          <a:p>
            <a:endParaRPr lang="en-US" sz="2800" dirty="0" smtClean="0"/>
          </a:p>
          <a:p>
            <a:endParaRPr lang="en-US" sz="2800" dirty="0" smtClean="0"/>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lnSpc>
                <a:spcPct val="90000"/>
              </a:lnSpc>
            </a:pPr>
            <a:r>
              <a:rPr lang="en-US" sz="2800" b="1" dirty="0" smtClean="0"/>
              <a:t>Applicability: </a:t>
            </a:r>
            <a:r>
              <a:rPr lang="en-US" sz="2800" dirty="0" smtClean="0"/>
              <a:t>where response time is important, risk of long projects cannot be taken, all requirement not known</a:t>
            </a:r>
          </a:p>
          <a:p>
            <a:pPr algn="just">
              <a:lnSpc>
                <a:spcPct val="90000"/>
              </a:lnSpc>
            </a:pPr>
            <a:endParaRPr lang="en-US" sz="2800" dirty="0" smtClean="0"/>
          </a:p>
          <a:p>
            <a:pPr algn="just">
              <a:lnSpc>
                <a:spcPct val="90000"/>
              </a:lnSpc>
            </a:pPr>
            <a:r>
              <a:rPr lang="en-US" sz="2800" dirty="0" smtClean="0"/>
              <a:t>Each release is a mini-waterfall, process is repeated until the complete product is produced.</a:t>
            </a:r>
          </a:p>
          <a:p>
            <a:pPr>
              <a:lnSpc>
                <a:spcPct val="90000"/>
              </a:lnSpc>
            </a:pPr>
            <a:endParaRPr lang="en-US" sz="2800" dirty="0" smtClean="0"/>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a:xfrm>
            <a:off x="457200" y="704088"/>
            <a:ext cx="8229600" cy="972312"/>
          </a:xfrm>
        </p:spPr>
        <p:txBody>
          <a:bodyPr/>
          <a:lstStyle/>
          <a:p>
            <a:pPr eaLnBrk="1" hangingPunct="1"/>
            <a:r>
              <a:rPr lang="en-US" dirty="0" smtClean="0"/>
              <a:t>4. Timeboxing</a:t>
            </a:r>
          </a:p>
        </p:txBody>
      </p:sp>
      <p:sp>
        <p:nvSpPr>
          <p:cNvPr id="38917" name="Rectangle 3"/>
          <p:cNvSpPr>
            <a:spLocks noGrp="1" noChangeArrowheads="1"/>
          </p:cNvSpPr>
          <p:nvPr>
            <p:ph idx="1"/>
          </p:nvPr>
        </p:nvSpPr>
        <p:spPr>
          <a:xfrm>
            <a:off x="457200" y="1905000"/>
            <a:ext cx="8229600" cy="4572000"/>
          </a:xfrm>
        </p:spPr>
        <p:txBody>
          <a:bodyPr>
            <a:noAutofit/>
          </a:bodyPr>
          <a:lstStyle/>
          <a:p>
            <a:pPr algn="just">
              <a:lnSpc>
                <a:spcPct val="90000"/>
              </a:lnSpc>
            </a:pPr>
            <a:r>
              <a:rPr lang="en-US" sz="2800" dirty="0" smtClean="0"/>
              <a:t>Development is done iteratively in fixed duration time boxes</a:t>
            </a:r>
          </a:p>
          <a:p>
            <a:pPr algn="just">
              <a:lnSpc>
                <a:spcPct val="90000"/>
              </a:lnSpc>
            </a:pPr>
            <a:endParaRPr lang="en-US" sz="2800" dirty="0" smtClean="0"/>
          </a:p>
          <a:p>
            <a:pPr algn="just">
              <a:lnSpc>
                <a:spcPct val="90000"/>
              </a:lnSpc>
            </a:pPr>
            <a:r>
              <a:rPr lang="en-US" sz="2800" dirty="0" smtClean="0"/>
              <a:t>Each time box divided in fixed stages</a:t>
            </a:r>
          </a:p>
          <a:p>
            <a:pPr algn="just">
              <a:lnSpc>
                <a:spcPct val="90000"/>
              </a:lnSpc>
            </a:pPr>
            <a:endParaRPr lang="en-US" sz="2800" dirty="0" smtClean="0"/>
          </a:p>
          <a:p>
            <a:pPr algn="just">
              <a:lnSpc>
                <a:spcPct val="90000"/>
              </a:lnSpc>
            </a:pPr>
            <a:r>
              <a:rPr lang="en-US" sz="2800" dirty="0" smtClean="0"/>
              <a:t>Each stage performs a clearly defined task that can be done independently</a:t>
            </a:r>
          </a:p>
          <a:p>
            <a:pPr algn="just">
              <a:lnSpc>
                <a:spcPct val="90000"/>
              </a:lnSpc>
            </a:pPr>
            <a:endParaRPr lang="en-US" sz="2800" dirty="0" smtClean="0"/>
          </a:p>
          <a:p>
            <a:pPr algn="just">
              <a:lnSpc>
                <a:spcPct val="90000"/>
              </a:lnSpc>
            </a:pPr>
            <a:r>
              <a:rPr lang="en-US" sz="2800" dirty="0" smtClean="0"/>
              <a:t>Each stage approximately equal in duration</a:t>
            </a:r>
          </a:p>
        </p:txBody>
      </p:sp>
      <p:sp>
        <p:nvSpPr>
          <p:cNvPr id="38915" name="Slide Number Placeholder 5"/>
          <p:cNvSpPr>
            <a:spLocks noGrp="1"/>
          </p:cNvSpPr>
          <p:nvPr>
            <p:ph type="sldNum" sz="quarter" idx="12"/>
          </p:nvPr>
        </p:nvSpPr>
        <p:spPr>
          <a:noFill/>
        </p:spPr>
        <p:txBody>
          <a:bodyPr/>
          <a:lstStyle/>
          <a:p>
            <a:fld id="{FC16AE85-2E59-4C3C-804D-EA86A8EAD60B}" type="slidenum">
              <a:rPr lang="en-US"/>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lnSpc>
                <a:spcPct val="90000"/>
              </a:lnSpc>
            </a:pPr>
            <a:r>
              <a:rPr lang="en-US" sz="2800" dirty="0" smtClean="0"/>
              <a:t>There is a dedicated team for each stage</a:t>
            </a:r>
          </a:p>
          <a:p>
            <a:pPr algn="just">
              <a:lnSpc>
                <a:spcPct val="90000"/>
              </a:lnSpc>
            </a:pPr>
            <a:r>
              <a:rPr lang="en-US" sz="2800" dirty="0" smtClean="0"/>
              <a:t>When one stage team finishes, it hands over the project to the next team</a:t>
            </a:r>
          </a:p>
          <a:p>
            <a:pPr algn="just">
              <a:lnSpc>
                <a:spcPct val="90000"/>
              </a:lnSpc>
            </a:pPr>
            <a:endParaRPr lang="en-US" sz="2800" dirty="0" smtClean="0"/>
          </a:p>
          <a:p>
            <a:pPr algn="just">
              <a:lnSpc>
                <a:spcPct val="90000"/>
              </a:lnSpc>
            </a:pPr>
            <a:r>
              <a:rPr lang="en-US" sz="2800" dirty="0" smtClean="0"/>
              <a:t>Iterations are executed in parallel(to reduce cycle time)</a:t>
            </a:r>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p:txBody>
          <a:bodyPr/>
          <a:lstStyle/>
          <a:p>
            <a:pPr eaLnBrk="1" hangingPunct="1"/>
            <a:r>
              <a:rPr lang="en-US" dirty="0" smtClean="0"/>
              <a:t>Timeboxing Execution</a:t>
            </a:r>
          </a:p>
        </p:txBody>
      </p:sp>
      <p:pic>
        <p:nvPicPr>
          <p:cNvPr id="47109" name="Picture 3"/>
          <p:cNvPicPr>
            <a:picLocks noGrp="1" noChangeAspect="1" noChangeArrowheads="1"/>
          </p:cNvPicPr>
          <p:nvPr>
            <p:ph idx="1"/>
          </p:nvPr>
        </p:nvPicPr>
        <p:blipFill>
          <a:blip r:embed="rId2" cstate="print"/>
          <a:stretch>
            <a:fillRect/>
          </a:stretch>
        </p:blipFill>
        <p:spPr>
          <a:xfrm>
            <a:off x="457200" y="2533480"/>
            <a:ext cx="8229600" cy="3192802"/>
          </a:xfrm>
          <a:noFill/>
        </p:spPr>
      </p:pic>
      <p:sp>
        <p:nvSpPr>
          <p:cNvPr id="47107" name="Slide Number Placeholder 5"/>
          <p:cNvSpPr>
            <a:spLocks noGrp="1"/>
          </p:cNvSpPr>
          <p:nvPr>
            <p:ph type="sldNum" sz="quarter" idx="12"/>
          </p:nvPr>
        </p:nvSpPr>
        <p:spPr>
          <a:noFill/>
        </p:spPr>
        <p:txBody>
          <a:bodyPr/>
          <a:lstStyle/>
          <a:p>
            <a:fld id="{2AF08A8D-45E8-43F8-B35C-2C8A08A0F9E4}" type="slidenum">
              <a:rPr lang="en-US"/>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a:xfrm>
            <a:off x="457200" y="457200"/>
            <a:ext cx="8229600" cy="914400"/>
          </a:xfrm>
        </p:spPr>
        <p:txBody>
          <a:bodyPr/>
          <a:lstStyle/>
          <a:p>
            <a:pPr eaLnBrk="1" hangingPunct="1"/>
            <a:r>
              <a:rPr lang="en-US" dirty="0" smtClean="0"/>
              <a:t>Time Boxed Iterations</a:t>
            </a:r>
          </a:p>
        </p:txBody>
      </p:sp>
      <p:sp>
        <p:nvSpPr>
          <p:cNvPr id="39941" name="Rectangle 3"/>
          <p:cNvSpPr>
            <a:spLocks noGrp="1" noChangeArrowheads="1"/>
          </p:cNvSpPr>
          <p:nvPr>
            <p:ph idx="1"/>
          </p:nvPr>
        </p:nvSpPr>
        <p:spPr>
          <a:xfrm>
            <a:off x="457200" y="1600200"/>
            <a:ext cx="8229600" cy="4800600"/>
          </a:xfrm>
        </p:spPr>
        <p:txBody>
          <a:bodyPr/>
          <a:lstStyle/>
          <a:p>
            <a:pPr algn="just" eaLnBrk="1" hangingPunct="1"/>
            <a:r>
              <a:rPr lang="en-US" sz="2800" dirty="0" smtClean="0"/>
              <a:t>General iterative development – fix the functionality for each iteration, then plan and execute it</a:t>
            </a:r>
          </a:p>
          <a:p>
            <a:pPr algn="just"/>
            <a:r>
              <a:rPr lang="en-US" sz="2800" dirty="0" smtClean="0"/>
              <a:t>Completion time is fixed predictable delivery times (non-negotiable), the functionality to be delivered is flexible.</a:t>
            </a:r>
          </a:p>
          <a:p>
            <a:pPr algn="just"/>
            <a:r>
              <a:rPr lang="en-US" sz="2800" dirty="0" smtClean="0"/>
              <a:t>Overall development time is still unchanged</a:t>
            </a:r>
          </a:p>
          <a:p>
            <a:endParaRPr lang="en-US" dirty="0" smtClean="0"/>
          </a:p>
        </p:txBody>
      </p:sp>
      <p:sp>
        <p:nvSpPr>
          <p:cNvPr id="39939" name="Slide Number Placeholder 5"/>
          <p:cNvSpPr>
            <a:spLocks noGrp="1"/>
          </p:cNvSpPr>
          <p:nvPr>
            <p:ph type="sldNum" sz="quarter" idx="12"/>
          </p:nvPr>
        </p:nvSpPr>
        <p:spPr>
          <a:noFill/>
        </p:spPr>
        <p:txBody>
          <a:bodyPr/>
          <a:lstStyle/>
          <a:p>
            <a:fld id="{67A6D4EF-8D14-42B2-8083-362E78AF09D3}" type="slidenum">
              <a:rPr lang="en-US"/>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p:txBody>
          <a:bodyPr/>
          <a:lstStyle/>
          <a:p>
            <a:pPr eaLnBrk="1" hangingPunct="1"/>
            <a:r>
              <a:rPr lang="en-US" smtClean="0"/>
              <a:t>Example</a:t>
            </a:r>
          </a:p>
        </p:txBody>
      </p:sp>
      <p:sp>
        <p:nvSpPr>
          <p:cNvPr id="45061" name="Rectangle 3"/>
          <p:cNvSpPr>
            <a:spLocks noGrp="1" noChangeArrowheads="1"/>
          </p:cNvSpPr>
          <p:nvPr>
            <p:ph idx="1"/>
          </p:nvPr>
        </p:nvSpPr>
        <p:spPr/>
        <p:txBody>
          <a:bodyPr>
            <a:normAutofit/>
          </a:bodyPr>
          <a:lstStyle/>
          <a:p>
            <a:pPr eaLnBrk="1" hangingPunct="1">
              <a:lnSpc>
                <a:spcPct val="90000"/>
              </a:lnSpc>
            </a:pPr>
            <a:r>
              <a:rPr lang="en-US" sz="2800" dirty="0" smtClean="0"/>
              <a:t>An iteration with three stages – Requirement, Build, Deploy</a:t>
            </a:r>
          </a:p>
          <a:p>
            <a:pPr lvl="1" eaLnBrk="1" hangingPunct="1">
              <a:lnSpc>
                <a:spcPct val="90000"/>
              </a:lnSpc>
            </a:pPr>
            <a:r>
              <a:rPr lang="en-US" sz="2800" dirty="0" smtClean="0"/>
              <a:t>These stages are approximatively equal in many situations</a:t>
            </a:r>
          </a:p>
          <a:p>
            <a:pPr lvl="1" eaLnBrk="1" hangingPunct="1">
              <a:lnSpc>
                <a:spcPct val="90000"/>
              </a:lnSpc>
            </a:pPr>
            <a:r>
              <a:rPr lang="en-US" sz="2800" dirty="0" smtClean="0"/>
              <a:t>Can adjust duration by adjusting the team size for each stage</a:t>
            </a:r>
          </a:p>
          <a:p>
            <a:pPr>
              <a:lnSpc>
                <a:spcPct val="90000"/>
              </a:lnSpc>
            </a:pPr>
            <a:r>
              <a:rPr lang="en-US" sz="2800" dirty="0" smtClean="0"/>
              <a:t>Have separate teams for A, B and C</a:t>
            </a:r>
          </a:p>
        </p:txBody>
      </p:sp>
      <p:sp>
        <p:nvSpPr>
          <p:cNvPr id="45059" name="Slide Number Placeholder 5"/>
          <p:cNvSpPr>
            <a:spLocks noGrp="1"/>
          </p:cNvSpPr>
          <p:nvPr>
            <p:ph type="sldNum" sz="quarter" idx="12"/>
          </p:nvPr>
        </p:nvSpPr>
        <p:spPr>
          <a:noFill/>
        </p:spPr>
        <p:txBody>
          <a:bodyPr/>
          <a:lstStyle/>
          <a:p>
            <a:fld id="{AFD4C969-9F01-4D69-A2CE-E2FC04DD46EB}" type="slidenum">
              <a:rPr lang="en-US"/>
              <a:pPr/>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lstStyle/>
          <a:p>
            <a:r>
              <a:rPr lang="en-US" dirty="0" smtClean="0"/>
              <a:t>Example</a:t>
            </a:r>
            <a:endParaRPr lang="en-US" dirty="0"/>
          </a:p>
        </p:txBody>
      </p:sp>
      <p:sp>
        <p:nvSpPr>
          <p:cNvPr id="3" name="Content Placeholder 2"/>
          <p:cNvSpPr>
            <a:spLocks noGrp="1"/>
          </p:cNvSpPr>
          <p:nvPr>
            <p:ph idx="1"/>
          </p:nvPr>
        </p:nvSpPr>
        <p:spPr>
          <a:xfrm>
            <a:off x="457200" y="1844824"/>
            <a:ext cx="8229600" cy="4708376"/>
          </a:xfrm>
        </p:spPr>
        <p:txBody>
          <a:bodyPr/>
          <a:lstStyle/>
          <a:p>
            <a:r>
              <a:rPr lang="en-US" sz="2800" dirty="0" smtClean="0"/>
              <a:t>If the time box duration T is 9 weeks (and each stage duration is 3 weeks),</a:t>
            </a:r>
          </a:p>
          <a:p>
            <a:r>
              <a:rPr lang="en-US" sz="2800" dirty="0" smtClean="0"/>
              <a:t> the first delivery is made 9 weeks after the start of the project. </a:t>
            </a:r>
          </a:p>
          <a:p>
            <a:r>
              <a:rPr lang="en-US" sz="2800" dirty="0" smtClean="0"/>
              <a:t>The second is made after 12 weeks, the third after 15 weeks, and so on.  </a:t>
            </a:r>
          </a:p>
          <a:p>
            <a:r>
              <a:rPr lang="en-US" sz="2800" dirty="0" smtClean="0"/>
              <a:t>Contrast this with a linear execution of iterations, in which the first delivery will be made after 9 weeks, the second after 18 weeks, the third after 27 weeks, and so on.</a:t>
            </a:r>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52</a:t>
            </a:fld>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p:txBody>
          <a:bodyPr/>
          <a:lstStyle/>
          <a:p>
            <a:pPr eaLnBrk="1" hangingPunct="1"/>
            <a:r>
              <a:rPr lang="en-US" dirty="0" smtClean="0"/>
              <a:t>Timeboxing execution</a:t>
            </a:r>
          </a:p>
        </p:txBody>
      </p:sp>
      <p:sp>
        <p:nvSpPr>
          <p:cNvPr id="49157" name="Rectangle 3"/>
          <p:cNvSpPr>
            <a:spLocks noGrp="1" noChangeArrowheads="1"/>
          </p:cNvSpPr>
          <p:nvPr>
            <p:ph idx="1"/>
          </p:nvPr>
        </p:nvSpPr>
        <p:spPr/>
        <p:txBody>
          <a:bodyPr>
            <a:normAutofit/>
          </a:bodyPr>
          <a:lstStyle/>
          <a:p>
            <a:pPr eaLnBrk="1" hangingPunct="1"/>
            <a:r>
              <a:rPr lang="en-US" sz="2800" dirty="0" smtClean="0"/>
              <a:t>Duration of each iteration still the same</a:t>
            </a:r>
          </a:p>
          <a:p>
            <a:pPr eaLnBrk="1" hangingPunct="1"/>
            <a:r>
              <a:rPr lang="en-US" sz="2800" dirty="0" smtClean="0"/>
              <a:t>Total work done in a time box is also the same</a:t>
            </a:r>
          </a:p>
          <a:p>
            <a:pPr eaLnBrk="1" hangingPunct="1"/>
            <a:r>
              <a:rPr lang="en-US" sz="2800" dirty="0" smtClean="0"/>
              <a:t>Productivity of a time box is same</a:t>
            </a:r>
          </a:p>
          <a:p>
            <a:pPr eaLnBrk="1" hangingPunct="1"/>
            <a:r>
              <a:rPr lang="en-US" sz="2800" dirty="0" smtClean="0"/>
              <a:t>Yet, delivery time has reduced to a third.</a:t>
            </a:r>
          </a:p>
        </p:txBody>
      </p:sp>
      <p:sp>
        <p:nvSpPr>
          <p:cNvPr id="49155" name="Slide Number Placeholder 5"/>
          <p:cNvSpPr>
            <a:spLocks noGrp="1"/>
          </p:cNvSpPr>
          <p:nvPr>
            <p:ph type="sldNum" sz="quarter" idx="12"/>
          </p:nvPr>
        </p:nvSpPr>
        <p:spPr>
          <a:noFill/>
        </p:spPr>
        <p:txBody>
          <a:bodyPr/>
          <a:lstStyle/>
          <a:p>
            <a:fld id="{697A91B1-D038-4524-A99D-DA2720296A91}" type="slidenum">
              <a:rPr lang="en-US"/>
              <a:pPr/>
              <a:t>53</a:t>
            </a:fld>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a:xfrm>
            <a:off x="457200" y="533400"/>
            <a:ext cx="8229600" cy="914400"/>
          </a:xfrm>
        </p:spPr>
        <p:txBody>
          <a:bodyPr>
            <a:normAutofit/>
          </a:bodyPr>
          <a:lstStyle/>
          <a:p>
            <a:pPr eaLnBrk="1" hangingPunct="1"/>
            <a:r>
              <a:rPr lang="en-US" dirty="0" smtClean="0"/>
              <a:t>Timeboxing</a:t>
            </a:r>
          </a:p>
        </p:txBody>
      </p:sp>
      <p:sp>
        <p:nvSpPr>
          <p:cNvPr id="53253" name="Rectangle 3"/>
          <p:cNvSpPr>
            <a:spLocks noGrp="1" noChangeArrowheads="1"/>
          </p:cNvSpPr>
          <p:nvPr>
            <p:ph idx="1"/>
          </p:nvPr>
        </p:nvSpPr>
        <p:spPr>
          <a:xfrm>
            <a:off x="457200" y="1600200"/>
            <a:ext cx="8229600" cy="4724400"/>
          </a:xfrm>
        </p:spPr>
        <p:txBody>
          <a:bodyPr>
            <a:normAutofit/>
          </a:bodyPr>
          <a:lstStyle/>
          <a:p>
            <a:pPr algn="just" eaLnBrk="1" hangingPunct="1">
              <a:lnSpc>
                <a:spcPct val="90000"/>
              </a:lnSpc>
            </a:pPr>
            <a:r>
              <a:rPr lang="en-US" sz="2800" b="1" dirty="0" smtClean="0"/>
              <a:t>Advantages: </a:t>
            </a:r>
            <a:r>
              <a:rPr lang="en-US" sz="2800" dirty="0" smtClean="0"/>
              <a:t>Shortened delivery times, other advantages of iterative, distribution execution</a:t>
            </a:r>
          </a:p>
          <a:p>
            <a:pPr algn="just" eaLnBrk="1" hangingPunct="1">
              <a:lnSpc>
                <a:spcPct val="90000"/>
              </a:lnSpc>
            </a:pPr>
            <a:endParaRPr lang="en-US" sz="2800" dirty="0" smtClean="0"/>
          </a:p>
          <a:p>
            <a:pPr algn="just" eaLnBrk="1" hangingPunct="1">
              <a:lnSpc>
                <a:spcPct val="90000"/>
              </a:lnSpc>
            </a:pPr>
            <a:r>
              <a:rPr lang="en-US" sz="2800" b="1" dirty="0" smtClean="0"/>
              <a:t>Disadvantages: </a:t>
            </a:r>
            <a:r>
              <a:rPr lang="en-US" sz="2800" dirty="0" smtClean="0"/>
              <a:t>Larger teams, project management is harder, high synchronization needed, Configuration Management is harder</a:t>
            </a:r>
          </a:p>
          <a:p>
            <a:pPr algn="just" eaLnBrk="1" hangingPunct="1">
              <a:lnSpc>
                <a:spcPct val="90000"/>
              </a:lnSpc>
            </a:pPr>
            <a:endParaRPr lang="en-US" sz="2800" dirty="0" smtClean="0"/>
          </a:p>
          <a:p>
            <a:pPr algn="just" eaLnBrk="1" hangingPunct="1">
              <a:lnSpc>
                <a:spcPct val="90000"/>
              </a:lnSpc>
            </a:pPr>
            <a:r>
              <a:rPr lang="en-US" sz="2800" b="1" dirty="0" smtClean="0"/>
              <a:t>Applicability: </a:t>
            </a:r>
            <a:r>
              <a:rPr lang="en-US" sz="2800" dirty="0" smtClean="0"/>
              <a:t>When short delivery times ; flexibility in feature grouping</a:t>
            </a:r>
          </a:p>
        </p:txBody>
      </p:sp>
      <p:sp>
        <p:nvSpPr>
          <p:cNvPr id="53251" name="Slide Number Placeholder 5"/>
          <p:cNvSpPr>
            <a:spLocks noGrp="1"/>
          </p:cNvSpPr>
          <p:nvPr>
            <p:ph type="sldNum" sz="quarter" idx="12"/>
          </p:nvPr>
        </p:nvSpPr>
        <p:spPr>
          <a:noFill/>
        </p:spPr>
        <p:txBody>
          <a:bodyPr/>
          <a:lstStyle/>
          <a:p>
            <a:fld id="{EA863027-DE6A-48EB-A073-E8A08BD585C9}" type="slidenum">
              <a:rPr lang="en-US"/>
              <a:pPr/>
              <a:t>54</a:t>
            </a:fld>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a:xfrm>
            <a:off x="228600" y="533400"/>
            <a:ext cx="8458200" cy="1143000"/>
          </a:xfrm>
        </p:spPr>
        <p:txBody>
          <a:bodyPr>
            <a:normAutofit fontScale="90000"/>
          </a:bodyPr>
          <a:lstStyle/>
          <a:p>
            <a:pPr eaLnBrk="1" hangingPunct="1"/>
            <a:r>
              <a:rPr lang="en-US" dirty="0" smtClean="0"/>
              <a:t>5. Extreme Programming or Agile Process Model</a:t>
            </a:r>
          </a:p>
        </p:txBody>
      </p:sp>
      <p:sp>
        <p:nvSpPr>
          <p:cNvPr id="61445" name="Rectangle 3"/>
          <p:cNvSpPr>
            <a:spLocks noGrp="1" noChangeArrowheads="1"/>
          </p:cNvSpPr>
          <p:nvPr>
            <p:ph idx="1"/>
          </p:nvPr>
        </p:nvSpPr>
        <p:spPr>
          <a:xfrm>
            <a:off x="381000" y="1676400"/>
            <a:ext cx="8382000" cy="4953000"/>
          </a:xfrm>
        </p:spPr>
        <p:txBody>
          <a:bodyPr>
            <a:normAutofit/>
          </a:bodyPr>
          <a:lstStyle/>
          <a:p>
            <a:pPr eaLnBrk="1" hangingPunct="1">
              <a:lnSpc>
                <a:spcPct val="90000"/>
              </a:lnSpc>
            </a:pPr>
            <a:endParaRPr lang="en-US" sz="2400" dirty="0" smtClean="0"/>
          </a:p>
          <a:p>
            <a:pPr algn="just" eaLnBrk="1" hangingPunct="1">
              <a:lnSpc>
                <a:spcPct val="90000"/>
              </a:lnSpc>
            </a:pPr>
            <a:r>
              <a:rPr lang="en-US" sz="2800" dirty="0" smtClean="0"/>
              <a:t>Agile approaches developed in 90s as a reaction to document driven approaches</a:t>
            </a:r>
          </a:p>
          <a:p>
            <a:pPr algn="just" eaLnBrk="1" hangingPunct="1">
              <a:lnSpc>
                <a:spcPct val="90000"/>
              </a:lnSpc>
            </a:pPr>
            <a:r>
              <a:rPr lang="en-US" sz="2800" dirty="0" smtClean="0"/>
              <a:t>Most agile approaches have some common principles</a:t>
            </a:r>
          </a:p>
          <a:p>
            <a:pPr lvl="1" algn="just" eaLnBrk="1" hangingPunct="1">
              <a:lnSpc>
                <a:spcPct val="90000"/>
              </a:lnSpc>
            </a:pPr>
            <a:r>
              <a:rPr lang="en-US" sz="2800" dirty="0" smtClean="0"/>
              <a:t>Working software is the measure of progress</a:t>
            </a:r>
          </a:p>
          <a:p>
            <a:pPr lvl="1" algn="just" eaLnBrk="1" hangingPunct="1">
              <a:lnSpc>
                <a:spcPct val="90000"/>
              </a:lnSpc>
            </a:pPr>
            <a:r>
              <a:rPr lang="en-US" sz="2800" dirty="0" smtClean="0"/>
              <a:t>Software should be delivered in small increments</a:t>
            </a:r>
          </a:p>
          <a:p>
            <a:pPr lvl="1" algn="just" eaLnBrk="1" hangingPunct="1">
              <a:lnSpc>
                <a:spcPct val="90000"/>
              </a:lnSpc>
            </a:pPr>
            <a:r>
              <a:rPr lang="en-US" sz="2800" dirty="0" smtClean="0"/>
              <a:t>Even late changes should be allowed</a:t>
            </a:r>
          </a:p>
          <a:p>
            <a:pPr lvl="1" algn="just">
              <a:lnSpc>
                <a:spcPct val="90000"/>
              </a:lnSpc>
            </a:pPr>
            <a:r>
              <a:rPr lang="en-US" sz="2800" dirty="0" smtClean="0"/>
              <a:t>Prefer face to face communication over documentation</a:t>
            </a:r>
          </a:p>
          <a:p>
            <a:pPr lvl="1" eaLnBrk="1" hangingPunct="1">
              <a:lnSpc>
                <a:spcPct val="90000"/>
              </a:lnSpc>
            </a:pPr>
            <a:endParaRPr lang="en-US" dirty="0" smtClean="0"/>
          </a:p>
          <a:p>
            <a:pPr lvl="1" eaLnBrk="1" hangingPunct="1">
              <a:lnSpc>
                <a:spcPct val="90000"/>
              </a:lnSpc>
            </a:pPr>
            <a:endParaRPr lang="en-US" sz="2000" dirty="0" smtClean="0"/>
          </a:p>
        </p:txBody>
      </p:sp>
      <p:sp>
        <p:nvSpPr>
          <p:cNvPr id="61443" name="Slide Number Placeholder 5"/>
          <p:cNvSpPr>
            <a:spLocks noGrp="1"/>
          </p:cNvSpPr>
          <p:nvPr>
            <p:ph type="sldNum" sz="quarter" idx="12"/>
          </p:nvPr>
        </p:nvSpPr>
        <p:spPr>
          <a:noFill/>
        </p:spPr>
        <p:txBody>
          <a:bodyPr/>
          <a:lstStyle/>
          <a:p>
            <a:fld id="{FB53680C-C5D0-4C0B-92EB-77E1ABD405AD}" type="slidenum">
              <a:rPr lang="en-US"/>
              <a:pPr/>
              <a:t>55</a:t>
            </a:fld>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lnSpc>
                <a:spcPct val="90000"/>
              </a:lnSpc>
            </a:pPr>
            <a:r>
              <a:rPr lang="en-US" sz="2800" dirty="0" smtClean="0"/>
              <a:t>encourages rapid and flexible response to change</a:t>
            </a:r>
          </a:p>
          <a:p>
            <a:pPr lvl="1">
              <a:lnSpc>
                <a:spcPct val="90000"/>
              </a:lnSpc>
            </a:pPr>
            <a:endParaRPr lang="en-US" sz="2800" dirty="0" smtClean="0"/>
          </a:p>
          <a:p>
            <a:pPr lvl="1">
              <a:lnSpc>
                <a:spcPct val="90000"/>
              </a:lnSpc>
            </a:pPr>
            <a:r>
              <a:rPr lang="en-US" sz="2800" dirty="0" smtClean="0"/>
              <a:t>Continuous feedback and customer involvement is necessary</a:t>
            </a:r>
          </a:p>
          <a:p>
            <a:pPr lvl="1">
              <a:lnSpc>
                <a:spcPct val="90000"/>
              </a:lnSpc>
            </a:pPr>
            <a:endParaRPr lang="en-US" sz="2800" dirty="0" smtClean="0"/>
          </a:p>
          <a:p>
            <a:pPr lvl="1">
              <a:lnSpc>
                <a:spcPct val="90000"/>
              </a:lnSpc>
            </a:pPr>
            <a:r>
              <a:rPr lang="en-US" sz="2800" dirty="0" smtClean="0"/>
              <a:t>Delivery dates are decided by the empowered teams</a:t>
            </a:r>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56</a:t>
            </a:fld>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XP process</a:t>
            </a:r>
            <a:endParaRPr lang="en-US" dirty="0"/>
          </a:p>
        </p:txBody>
      </p:sp>
      <p:pic>
        <p:nvPicPr>
          <p:cNvPr id="4" name="Picture 5" descr="XP-overall"/>
          <p:cNvPicPr>
            <a:picLocks noGrp="1" noChangeAspect="1" noChangeArrowheads="1"/>
          </p:cNvPicPr>
          <p:nvPr>
            <p:ph idx="1"/>
          </p:nvPr>
        </p:nvPicPr>
        <p:blipFill>
          <a:blip r:embed="rId2" cstate="print"/>
          <a:srcRect/>
          <a:stretch>
            <a:fillRect/>
          </a:stretch>
        </p:blipFill>
        <p:spPr>
          <a:xfrm>
            <a:off x="584494" y="3200400"/>
            <a:ext cx="8117571" cy="1581945"/>
          </a:xfrm>
        </p:spPr>
      </p:pic>
      <p:sp>
        <p:nvSpPr>
          <p:cNvPr id="5" name="Slide Number Placeholder 4"/>
          <p:cNvSpPr>
            <a:spLocks noGrp="1"/>
          </p:cNvSpPr>
          <p:nvPr>
            <p:ph type="sldNum" sz="quarter" idx="12"/>
          </p:nvPr>
        </p:nvSpPr>
        <p:spPr/>
        <p:txBody>
          <a:bodyPr/>
          <a:lstStyle/>
          <a:p>
            <a:fld id="{A7DCF3E3-43C3-4D4D-80D8-9AA0A767ECB9}" type="slidenum">
              <a:rPr lang="en-US" smtClean="0"/>
              <a:pPr/>
              <a:t>57</a:t>
            </a:fld>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p:cNvSpPr>
            <a:spLocks noGrp="1" noChangeArrowheads="1"/>
          </p:cNvSpPr>
          <p:nvPr>
            <p:ph type="title"/>
          </p:nvPr>
        </p:nvSpPr>
        <p:spPr/>
        <p:txBody>
          <a:bodyPr/>
          <a:lstStyle/>
          <a:p>
            <a:pPr eaLnBrk="1" hangingPunct="1"/>
            <a:r>
              <a:rPr lang="en-US" smtClean="0"/>
              <a:t>XP…</a:t>
            </a:r>
          </a:p>
        </p:txBody>
      </p:sp>
      <p:sp>
        <p:nvSpPr>
          <p:cNvPr id="62469" name="Rectangle 3"/>
          <p:cNvSpPr>
            <a:spLocks noGrp="1" noChangeArrowheads="1"/>
          </p:cNvSpPr>
          <p:nvPr>
            <p:ph idx="1"/>
          </p:nvPr>
        </p:nvSpPr>
        <p:spPr/>
        <p:txBody>
          <a:bodyPr>
            <a:normAutofit/>
          </a:bodyPr>
          <a:lstStyle/>
          <a:p>
            <a:pPr eaLnBrk="1" hangingPunct="1"/>
            <a:r>
              <a:rPr lang="en-US" sz="2800" dirty="0" smtClean="0"/>
              <a:t>Many agile methodologies have been proposed; extreme programming (XP) is one of the most popular</a:t>
            </a:r>
          </a:p>
          <a:p>
            <a:pPr eaLnBrk="1" hangingPunct="1"/>
            <a:r>
              <a:rPr lang="en-US" sz="2800" dirty="0" smtClean="0"/>
              <a:t>An XP project starts with user stories, which are short description of user needs</a:t>
            </a:r>
          </a:p>
          <a:p>
            <a:pPr lvl="1" eaLnBrk="1" hangingPunct="1">
              <a:buNone/>
            </a:pPr>
            <a:r>
              <a:rPr lang="en-US" sz="2800" dirty="0" smtClean="0"/>
              <a:t>- Details are </a:t>
            </a:r>
            <a:r>
              <a:rPr lang="en-US" sz="2800" b="1" i="1" dirty="0" smtClean="0"/>
              <a:t>not</a:t>
            </a:r>
            <a:r>
              <a:rPr lang="en-US" sz="2800" dirty="0" smtClean="0"/>
              <a:t> included</a:t>
            </a:r>
          </a:p>
          <a:p>
            <a:pPr lvl="1" eaLnBrk="1" hangingPunct="1">
              <a:buNone/>
            </a:pPr>
            <a:r>
              <a:rPr lang="en-US" sz="2800" dirty="0" smtClean="0"/>
              <a:t>- Each user story written separately so they can be combined in different ways</a:t>
            </a:r>
          </a:p>
        </p:txBody>
      </p:sp>
      <p:sp>
        <p:nvSpPr>
          <p:cNvPr id="62467" name="Slide Number Placeholder 5"/>
          <p:cNvSpPr>
            <a:spLocks noGrp="1"/>
          </p:cNvSpPr>
          <p:nvPr>
            <p:ph type="sldNum" sz="quarter" idx="12"/>
          </p:nvPr>
        </p:nvSpPr>
        <p:spPr>
          <a:noFill/>
        </p:spPr>
        <p:txBody>
          <a:bodyPr/>
          <a:lstStyle/>
          <a:p>
            <a:fld id="{8BFA11E9-D183-4A60-812F-F9A9AEC3C2E3}" type="slidenum">
              <a:rPr lang="en-US"/>
              <a:pPr/>
              <a:t>58</a:t>
            </a:fld>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2"/>
          <p:cNvSpPr>
            <a:spLocks noGrp="1" noChangeArrowheads="1"/>
          </p:cNvSpPr>
          <p:nvPr>
            <p:ph type="title"/>
          </p:nvPr>
        </p:nvSpPr>
        <p:spPr/>
        <p:txBody>
          <a:bodyPr/>
          <a:lstStyle/>
          <a:p>
            <a:pPr eaLnBrk="1" hangingPunct="1"/>
            <a:r>
              <a:rPr lang="en-US" dirty="0" smtClean="0"/>
              <a:t>XP …</a:t>
            </a:r>
          </a:p>
        </p:txBody>
      </p:sp>
      <p:sp>
        <p:nvSpPr>
          <p:cNvPr id="63493" name="Rectangle 3"/>
          <p:cNvSpPr>
            <a:spLocks noGrp="1" noChangeArrowheads="1"/>
          </p:cNvSpPr>
          <p:nvPr>
            <p:ph idx="1"/>
          </p:nvPr>
        </p:nvSpPr>
        <p:spPr/>
        <p:txBody>
          <a:bodyPr>
            <a:normAutofit/>
          </a:bodyPr>
          <a:lstStyle/>
          <a:p>
            <a:pPr eaLnBrk="1" hangingPunct="1">
              <a:lnSpc>
                <a:spcPct val="90000"/>
              </a:lnSpc>
            </a:pPr>
            <a:r>
              <a:rPr lang="en-US" sz="2800" dirty="0" smtClean="0"/>
              <a:t>Team estimates how long it will take to implement a user story</a:t>
            </a:r>
          </a:p>
          <a:p>
            <a:pPr eaLnBrk="1" hangingPunct="1">
              <a:lnSpc>
                <a:spcPct val="90000"/>
              </a:lnSpc>
            </a:pPr>
            <a:r>
              <a:rPr lang="en-US" sz="2800" dirty="0" smtClean="0"/>
              <a:t>Release planning is done</a:t>
            </a:r>
          </a:p>
          <a:p>
            <a:pPr lvl="1" eaLnBrk="1" hangingPunct="1">
              <a:lnSpc>
                <a:spcPct val="90000"/>
              </a:lnSpc>
            </a:pPr>
            <a:r>
              <a:rPr lang="en-US" sz="2800" dirty="0" smtClean="0"/>
              <a:t>Defines which stories are to be built in which release, and dates for release</a:t>
            </a:r>
          </a:p>
          <a:p>
            <a:pPr lvl="1" eaLnBrk="1" hangingPunct="1">
              <a:lnSpc>
                <a:spcPct val="90000"/>
              </a:lnSpc>
            </a:pPr>
            <a:r>
              <a:rPr lang="en-US" sz="2800" dirty="0" smtClean="0"/>
              <a:t>Frequent and small releases encouraged</a:t>
            </a:r>
          </a:p>
          <a:p>
            <a:pPr lvl="1" eaLnBrk="1" hangingPunct="1">
              <a:lnSpc>
                <a:spcPct val="90000"/>
              </a:lnSpc>
            </a:pPr>
            <a:r>
              <a:rPr lang="en-US" sz="2800" dirty="0" smtClean="0"/>
              <a:t>Acceptance tests also built from user stories; used to test before release</a:t>
            </a:r>
          </a:p>
          <a:p>
            <a:pPr lvl="1" eaLnBrk="1" hangingPunct="1">
              <a:lnSpc>
                <a:spcPct val="90000"/>
              </a:lnSpc>
            </a:pPr>
            <a:r>
              <a:rPr lang="en-US" sz="2800" dirty="0" smtClean="0"/>
              <a:t>Bugs found in Acceptance Tests are fixed in next release</a:t>
            </a:r>
          </a:p>
        </p:txBody>
      </p:sp>
      <p:sp>
        <p:nvSpPr>
          <p:cNvPr id="63491" name="Slide Number Placeholder 5"/>
          <p:cNvSpPr>
            <a:spLocks noGrp="1"/>
          </p:cNvSpPr>
          <p:nvPr>
            <p:ph type="sldNum" sz="quarter" idx="12"/>
          </p:nvPr>
        </p:nvSpPr>
        <p:spPr>
          <a:noFill/>
        </p:spPr>
        <p:txBody>
          <a:bodyPr/>
          <a:lstStyle/>
          <a:p>
            <a:fld id="{52C8871C-5ECB-46BA-8355-3A71A0E51455}" type="slidenum">
              <a:rPr lang="en-US"/>
              <a:pPr/>
              <a:t>59</a:t>
            </a:fld>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ChangeArrowheads="1"/>
          </p:cNvSpPr>
          <p:nvPr>
            <p:ph type="title"/>
          </p:nvPr>
        </p:nvSpPr>
        <p:spPr/>
        <p:txBody>
          <a:bodyPr/>
          <a:lstStyle/>
          <a:p>
            <a:pPr eaLnBrk="1" hangingPunct="1"/>
            <a:r>
              <a:rPr lang="en-US" dirty="0" smtClean="0"/>
              <a:t>XP …</a:t>
            </a:r>
          </a:p>
        </p:txBody>
      </p:sp>
      <p:sp>
        <p:nvSpPr>
          <p:cNvPr id="64517" name="Rectangle 3"/>
          <p:cNvSpPr>
            <a:spLocks noGrp="1" noChangeArrowheads="1"/>
          </p:cNvSpPr>
          <p:nvPr>
            <p:ph idx="1"/>
          </p:nvPr>
        </p:nvSpPr>
        <p:spPr/>
        <p:txBody>
          <a:bodyPr/>
          <a:lstStyle/>
          <a:p>
            <a:pPr lvl="1">
              <a:lnSpc>
                <a:spcPct val="90000"/>
              </a:lnSpc>
            </a:pPr>
            <a:r>
              <a:rPr lang="en-US" sz="2800" dirty="0" smtClean="0"/>
              <a:t>Pair programming: programming is done in pairs of programmers</a:t>
            </a:r>
          </a:p>
          <a:p>
            <a:pPr lvl="1" eaLnBrk="1" hangingPunct="1">
              <a:lnSpc>
                <a:spcPct val="90000"/>
              </a:lnSpc>
            </a:pPr>
            <a:endParaRPr lang="en-US" dirty="0" smtClean="0"/>
          </a:p>
        </p:txBody>
      </p:sp>
      <p:sp>
        <p:nvSpPr>
          <p:cNvPr id="64515" name="Slide Number Placeholder 5"/>
          <p:cNvSpPr>
            <a:spLocks noGrp="1"/>
          </p:cNvSpPr>
          <p:nvPr>
            <p:ph type="sldNum" sz="quarter" idx="12"/>
          </p:nvPr>
        </p:nvSpPr>
        <p:spPr>
          <a:noFill/>
        </p:spPr>
        <p:txBody>
          <a:bodyPr/>
          <a:lstStyle/>
          <a:p>
            <a:fld id="{64FA3993-AE70-4B86-B787-84AB1BFF0BF8}" type="slidenum">
              <a:rPr lang="en-US"/>
              <a:pPr/>
              <a:t>60</a:t>
            </a:fld>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ChangeArrowheads="1"/>
          </p:cNvSpPr>
          <p:nvPr>
            <p:ph type="title"/>
          </p:nvPr>
        </p:nvSpPr>
        <p:spPr/>
        <p:txBody>
          <a:bodyPr/>
          <a:lstStyle/>
          <a:p>
            <a:pPr eaLnBrk="1" hangingPunct="1"/>
            <a:r>
              <a:rPr lang="en-US" smtClean="0"/>
              <a:t>An Iteration</a:t>
            </a:r>
          </a:p>
        </p:txBody>
      </p:sp>
      <p:pic>
        <p:nvPicPr>
          <p:cNvPr id="67589" name="Picture 5" descr="XP-iteration"/>
          <p:cNvPicPr>
            <a:picLocks noGrp="1" noChangeAspect="1" noChangeArrowheads="1"/>
          </p:cNvPicPr>
          <p:nvPr>
            <p:ph idx="1"/>
          </p:nvPr>
        </p:nvPicPr>
        <p:blipFill>
          <a:blip r:embed="rId2" cstate="print"/>
          <a:stretch>
            <a:fillRect/>
          </a:stretch>
        </p:blipFill>
        <p:spPr>
          <a:xfrm>
            <a:off x="785812" y="3139281"/>
            <a:ext cx="7572375" cy="1981200"/>
          </a:xfrm>
        </p:spPr>
      </p:pic>
      <p:sp>
        <p:nvSpPr>
          <p:cNvPr id="67587" name="Slide Number Placeholder 5"/>
          <p:cNvSpPr>
            <a:spLocks noGrp="1"/>
          </p:cNvSpPr>
          <p:nvPr>
            <p:ph type="sldNum" sz="quarter" idx="12"/>
          </p:nvPr>
        </p:nvSpPr>
        <p:spPr>
          <a:noFill/>
        </p:spPr>
        <p:txBody>
          <a:bodyPr/>
          <a:lstStyle/>
          <a:p>
            <a:fld id="{33BD8722-DC07-4F4B-96F3-BBA2E7030C6B}" type="slidenum">
              <a:rPr lang="en-US"/>
              <a:pPr/>
              <a:t>61</a:t>
            </a:fld>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p:cNvSpPr>
            <a:spLocks noGrp="1" noChangeArrowheads="1"/>
          </p:cNvSpPr>
          <p:nvPr>
            <p:ph type="title"/>
          </p:nvPr>
        </p:nvSpPr>
        <p:spPr/>
        <p:txBody>
          <a:bodyPr/>
          <a:lstStyle/>
          <a:p>
            <a:pPr eaLnBrk="1" hangingPunct="1"/>
            <a:r>
              <a:rPr lang="en-US" dirty="0" smtClean="0"/>
              <a:t>XP - Applicability</a:t>
            </a:r>
          </a:p>
        </p:txBody>
      </p:sp>
      <p:sp>
        <p:nvSpPr>
          <p:cNvPr id="68613" name="Rectangle 3"/>
          <p:cNvSpPr>
            <a:spLocks noGrp="1" noChangeArrowheads="1"/>
          </p:cNvSpPr>
          <p:nvPr>
            <p:ph idx="1"/>
          </p:nvPr>
        </p:nvSpPr>
        <p:spPr/>
        <p:txBody>
          <a:bodyPr>
            <a:normAutofit/>
          </a:bodyPr>
          <a:lstStyle/>
          <a:p>
            <a:pPr eaLnBrk="1" hangingPunct="1">
              <a:lnSpc>
                <a:spcPct val="90000"/>
              </a:lnSpc>
            </a:pPr>
            <a:r>
              <a:rPr lang="en-US" sz="2800" dirty="0" smtClean="0"/>
              <a:t>Well suited for situations where volume and pace of requirements is high</a:t>
            </a:r>
          </a:p>
          <a:p>
            <a:pPr eaLnBrk="1" hangingPunct="1">
              <a:lnSpc>
                <a:spcPct val="90000"/>
              </a:lnSpc>
            </a:pPr>
            <a:endParaRPr lang="en-US" sz="2800" dirty="0" smtClean="0"/>
          </a:p>
          <a:p>
            <a:pPr eaLnBrk="1" hangingPunct="1">
              <a:lnSpc>
                <a:spcPct val="90000"/>
              </a:lnSpc>
            </a:pPr>
            <a:r>
              <a:rPr lang="en-US" sz="2800" dirty="0" smtClean="0"/>
              <a:t>Customer is willing to engage heavily with the team</a:t>
            </a:r>
          </a:p>
          <a:p>
            <a:pPr eaLnBrk="1" hangingPunct="1">
              <a:lnSpc>
                <a:spcPct val="90000"/>
              </a:lnSpc>
            </a:pPr>
            <a:endParaRPr lang="en-US" sz="2800" dirty="0" smtClean="0"/>
          </a:p>
          <a:p>
            <a:pPr eaLnBrk="1" hangingPunct="1">
              <a:lnSpc>
                <a:spcPct val="90000"/>
              </a:lnSpc>
            </a:pPr>
            <a:r>
              <a:rPr lang="en-US" sz="2800" dirty="0" smtClean="0"/>
              <a:t>The team is not too large (less than 20)</a:t>
            </a:r>
          </a:p>
          <a:p>
            <a:pPr eaLnBrk="1" hangingPunct="1">
              <a:lnSpc>
                <a:spcPct val="90000"/>
              </a:lnSpc>
            </a:pPr>
            <a:endParaRPr lang="en-US" sz="2800" dirty="0" smtClean="0"/>
          </a:p>
          <a:p>
            <a:pPr eaLnBrk="1" hangingPunct="1">
              <a:lnSpc>
                <a:spcPct val="90000"/>
              </a:lnSpc>
            </a:pPr>
            <a:r>
              <a:rPr lang="en-US" sz="2800" dirty="0" smtClean="0"/>
              <a:t>Requires strong capability in team members</a:t>
            </a:r>
          </a:p>
        </p:txBody>
      </p:sp>
      <p:sp>
        <p:nvSpPr>
          <p:cNvPr id="68611" name="Slide Number Placeholder 5"/>
          <p:cNvSpPr>
            <a:spLocks noGrp="1"/>
          </p:cNvSpPr>
          <p:nvPr>
            <p:ph type="sldNum" sz="quarter" idx="12"/>
          </p:nvPr>
        </p:nvSpPr>
        <p:spPr>
          <a:noFill/>
        </p:spPr>
        <p:txBody>
          <a:bodyPr/>
          <a:lstStyle/>
          <a:p>
            <a:fld id="{BC8D0CB3-1F87-4562-9094-6BDB7F7A94F7}" type="slidenum">
              <a:rPr lang="en-US"/>
              <a:pPr/>
              <a:t>62</a:t>
            </a:fld>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lstStyle/>
          <a:p>
            <a:r>
              <a:rPr lang="en-US" dirty="0" smtClean="0"/>
              <a:t>Exercises</a:t>
            </a:r>
            <a:endParaRPr lang="en-US" dirty="0"/>
          </a:p>
        </p:txBody>
      </p:sp>
      <p:sp>
        <p:nvSpPr>
          <p:cNvPr id="3" name="Content Placeholder 2"/>
          <p:cNvSpPr>
            <a:spLocks noGrp="1"/>
          </p:cNvSpPr>
          <p:nvPr>
            <p:ph idx="1"/>
          </p:nvPr>
        </p:nvSpPr>
        <p:spPr>
          <a:xfrm>
            <a:off x="457200" y="1371600"/>
            <a:ext cx="8229600" cy="5257800"/>
          </a:xfrm>
        </p:spPr>
        <p:txBody>
          <a:bodyPr>
            <a:normAutofit fontScale="92500" lnSpcReduction="10000"/>
          </a:bodyPr>
          <a:lstStyle/>
          <a:p>
            <a:pPr algn="just">
              <a:buNone/>
            </a:pPr>
            <a:r>
              <a:rPr lang="en-US" dirty="0" smtClean="0"/>
              <a:t>1. If a system is being developed where the customers are not sure of what they want, the requirements are often poorly defined. Which of the following would be an appropriate process model for this type of development? And explain why.</a:t>
            </a:r>
          </a:p>
          <a:p>
            <a:pPr lvl="0">
              <a:buNone/>
            </a:pPr>
            <a:r>
              <a:rPr lang="en-US" dirty="0" smtClean="0"/>
              <a:t>A. Waterfall Model;</a:t>
            </a:r>
          </a:p>
          <a:p>
            <a:pPr lvl="0">
              <a:buNone/>
            </a:pPr>
            <a:r>
              <a:rPr lang="en-US" dirty="0" smtClean="0"/>
              <a:t>B. Prototyping Model;</a:t>
            </a:r>
          </a:p>
          <a:p>
            <a:pPr lvl="0">
              <a:buNone/>
            </a:pPr>
            <a:r>
              <a:rPr lang="en-US" dirty="0" smtClean="0"/>
              <a:t>C. Iterative Development Model;</a:t>
            </a:r>
          </a:p>
          <a:p>
            <a:pPr lvl="0">
              <a:buNone/>
            </a:pPr>
            <a:r>
              <a:rPr lang="en-US" dirty="0" smtClean="0"/>
              <a:t>D. Timeboxing Model;</a:t>
            </a:r>
          </a:p>
          <a:p>
            <a:pPr lvl="0">
              <a:buNone/>
            </a:pPr>
            <a:r>
              <a:rPr lang="en-US" dirty="0" smtClean="0"/>
              <a:t>E. Extreme Programming.</a:t>
            </a:r>
          </a:p>
        </p:txBody>
      </p:sp>
      <p:sp>
        <p:nvSpPr>
          <p:cNvPr id="4" name="Slide Number Placeholder 3"/>
          <p:cNvSpPr>
            <a:spLocks noGrp="1"/>
          </p:cNvSpPr>
          <p:nvPr>
            <p:ph type="sldNum" sz="quarter" idx="12"/>
          </p:nvPr>
        </p:nvSpPr>
        <p:spPr/>
        <p:txBody>
          <a:bodyPr/>
          <a:lstStyle/>
          <a:p>
            <a:fld id="{A7DCF3E3-43C3-4D4D-80D8-9AA0A767ECB9}" type="slidenum">
              <a:rPr lang="en-US" smtClean="0"/>
              <a:pPr/>
              <a:t>63</a:t>
            </a:fld>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229600" cy="5562600"/>
          </a:xfrm>
        </p:spPr>
        <p:txBody>
          <a:bodyPr>
            <a:normAutofit fontScale="92500" lnSpcReduction="20000"/>
          </a:bodyPr>
          <a:lstStyle/>
          <a:p>
            <a:pPr>
              <a:buNone/>
            </a:pPr>
            <a:r>
              <a:rPr lang="en-US" dirty="0" smtClean="0"/>
              <a:t>2. The project team developing a new system is experienced in the domain. Although the new project is fairly large, it is not expected to vary much from applications that have been developed by this team in the past.</a:t>
            </a:r>
          </a:p>
          <a:p>
            <a:pPr>
              <a:buNone/>
            </a:pPr>
            <a:r>
              <a:rPr lang="en-US" dirty="0" smtClean="0"/>
              <a:t>Which process model would be appropriate for this type of development? And explain why.</a:t>
            </a:r>
          </a:p>
          <a:p>
            <a:pPr lvl="0">
              <a:buNone/>
            </a:pPr>
            <a:r>
              <a:rPr lang="en-US" dirty="0" smtClean="0"/>
              <a:t>A. Waterfall Model;</a:t>
            </a:r>
          </a:p>
          <a:p>
            <a:pPr lvl="0">
              <a:buNone/>
            </a:pPr>
            <a:r>
              <a:rPr lang="en-US" dirty="0" smtClean="0"/>
              <a:t>B. Prototyping Model;</a:t>
            </a:r>
          </a:p>
          <a:p>
            <a:pPr lvl="0">
              <a:buNone/>
            </a:pPr>
            <a:r>
              <a:rPr lang="en-US" dirty="0" smtClean="0"/>
              <a:t>C. Iterative Development Model;</a:t>
            </a:r>
          </a:p>
          <a:p>
            <a:pPr lvl="0">
              <a:buNone/>
            </a:pPr>
            <a:r>
              <a:rPr lang="en-US" dirty="0" smtClean="0"/>
              <a:t>D. Timeboxing Model;</a:t>
            </a:r>
          </a:p>
          <a:p>
            <a:pPr lvl="0">
              <a:buNone/>
            </a:pPr>
            <a:r>
              <a:rPr lang="en-US" dirty="0" smtClean="0"/>
              <a:t>E. Extreme Programming.</a:t>
            </a:r>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64</a:t>
            </a:fld>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Exercise</a:t>
            </a:r>
            <a:endParaRPr lang="en-US" dirty="0"/>
          </a:p>
        </p:txBody>
      </p:sp>
      <p:sp>
        <p:nvSpPr>
          <p:cNvPr id="3" name="Content Placeholder 2"/>
          <p:cNvSpPr>
            <a:spLocks noGrp="1"/>
          </p:cNvSpPr>
          <p:nvPr>
            <p:ph idx="1"/>
          </p:nvPr>
        </p:nvSpPr>
        <p:spPr/>
        <p:txBody>
          <a:bodyPr/>
          <a:lstStyle/>
          <a:p>
            <a:r>
              <a:rPr lang="en-US" dirty="0" smtClean="0"/>
              <a:t>1. Choose a software project</a:t>
            </a:r>
          </a:p>
          <a:p>
            <a:r>
              <a:rPr lang="en-US" dirty="0" smtClean="0"/>
              <a:t>2. Problem statement</a:t>
            </a:r>
          </a:p>
          <a:p>
            <a:r>
              <a:rPr lang="en-US" dirty="0" smtClean="0"/>
              <a:t>3. Choose an appropriate software development model and specify the reason</a:t>
            </a:r>
          </a:p>
          <a:p>
            <a:pPr>
              <a:buNone/>
            </a:pPr>
            <a:endParaRPr lang="en-US" dirty="0" smtClean="0"/>
          </a:p>
          <a:p>
            <a:endParaRPr lang="en-US"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65</a:t>
            </a:fld>
            <a:endParaRPr lang="en-US"/>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2"/>
          <p:cNvSpPr>
            <a:spLocks noGrp="1" noChangeArrowheads="1"/>
          </p:cNvSpPr>
          <p:nvPr>
            <p:ph type="title"/>
          </p:nvPr>
        </p:nvSpPr>
        <p:spPr/>
        <p:txBody>
          <a:bodyPr/>
          <a:lstStyle/>
          <a:p>
            <a:pPr eaLnBrk="1" hangingPunct="1"/>
            <a:r>
              <a:rPr lang="en-US" smtClean="0"/>
              <a:t>Summary – waterfall</a:t>
            </a:r>
          </a:p>
        </p:txBody>
      </p:sp>
      <p:graphicFrame>
        <p:nvGraphicFramePr>
          <p:cNvPr id="155651" name="Group 3"/>
          <p:cNvGraphicFramePr>
            <a:graphicFrameLocks noGrp="1"/>
          </p:cNvGraphicFramePr>
          <p:nvPr>
            <p:ph type="tbl" idx="1"/>
          </p:nvPr>
        </p:nvGraphicFramePr>
        <p:xfrm>
          <a:off x="457201" y="1752600"/>
          <a:ext cx="8497887" cy="4876799"/>
        </p:xfrm>
        <a:graphic>
          <a:graphicData uri="http://schemas.openxmlformats.org/drawingml/2006/table">
            <a:tbl>
              <a:tblPr/>
              <a:tblGrid>
                <a:gridCol w="2832629">
                  <a:extLst>
                    <a:ext uri="{9D8B030D-6E8A-4147-A177-3AD203B41FA5}">
                      <a16:colId xmlns:a16="http://schemas.microsoft.com/office/drawing/2014/main" val="20000"/>
                    </a:ext>
                  </a:extLst>
                </a:gridCol>
                <a:gridCol w="2832629">
                  <a:extLst>
                    <a:ext uri="{9D8B030D-6E8A-4147-A177-3AD203B41FA5}">
                      <a16:colId xmlns:a16="http://schemas.microsoft.com/office/drawing/2014/main" val="20001"/>
                    </a:ext>
                  </a:extLst>
                </a:gridCol>
                <a:gridCol w="2832629">
                  <a:extLst>
                    <a:ext uri="{9D8B030D-6E8A-4147-A177-3AD203B41FA5}">
                      <a16:colId xmlns:a16="http://schemas.microsoft.com/office/drawing/2014/main" val="20002"/>
                    </a:ext>
                  </a:extLst>
                </a:gridCol>
              </a:tblGrid>
              <a:tr h="55005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dirty="0" smtClean="0">
                          <a:ln>
                            <a:noFill/>
                          </a:ln>
                          <a:solidFill>
                            <a:schemeClr val="tx1"/>
                          </a:solidFill>
                          <a:effectLst/>
                          <a:latin typeface="Tahoma" charset="0"/>
                        </a:rPr>
                        <a:t>Strength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Weakness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Types of Projects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2674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smtClean="0">
                          <a:ln>
                            <a:noFill/>
                          </a:ln>
                          <a:solidFill>
                            <a:schemeClr val="tx1"/>
                          </a:solidFill>
                          <a:effectLst/>
                          <a:latin typeface="Tahoma" charset="0"/>
                        </a:rPr>
                        <a:t>Simple</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smtClean="0">
                          <a:ln>
                            <a:noFill/>
                          </a:ln>
                          <a:solidFill>
                            <a:schemeClr val="tx1"/>
                          </a:solidFill>
                          <a:effectLst/>
                          <a:latin typeface="Tahoma" charset="0"/>
                        </a:rPr>
                        <a:t>Easy to execute</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smtClean="0">
                          <a:ln>
                            <a:noFill/>
                          </a:ln>
                          <a:solidFill>
                            <a:schemeClr val="tx1"/>
                          </a:solidFill>
                          <a:effectLst/>
                          <a:latin typeface="Tahoma" charset="0"/>
                        </a:rPr>
                        <a:t>Easy contractually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All or nothing – too risky</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err="1" smtClean="0">
                          <a:ln>
                            <a:noFill/>
                          </a:ln>
                          <a:solidFill>
                            <a:schemeClr val="tx1"/>
                          </a:solidFill>
                          <a:effectLst/>
                          <a:latin typeface="Tahoma" charset="0"/>
                        </a:rPr>
                        <a:t>Req</a:t>
                      </a:r>
                      <a:r>
                        <a:rPr kumimoji="0" lang="en-US" sz="2400" b="0" i="0" u="none" strike="noStrike" cap="none" normalizeH="0" baseline="0" dirty="0" smtClean="0">
                          <a:ln>
                            <a:noFill/>
                          </a:ln>
                          <a:solidFill>
                            <a:schemeClr val="tx1"/>
                          </a:solidFill>
                          <a:effectLst/>
                          <a:latin typeface="Tahoma" charset="0"/>
                        </a:rPr>
                        <a:t> frozen early</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May chose outdated hardware/tech</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Disallows changes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No feedback from users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Well understood problems, short duration projects, automation of existing manual systems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9635" name="Slide Number Placeholder 5"/>
          <p:cNvSpPr>
            <a:spLocks noGrp="1"/>
          </p:cNvSpPr>
          <p:nvPr>
            <p:ph type="sldNum" sz="quarter" idx="12"/>
          </p:nvPr>
        </p:nvSpPr>
        <p:spPr>
          <a:noFill/>
        </p:spPr>
        <p:txBody>
          <a:bodyPr/>
          <a:lstStyle/>
          <a:p>
            <a:fld id="{FCD64A63-B84F-4965-8994-89E1B989FC05}" type="slidenum">
              <a:rPr lang="en-US"/>
              <a:pPr/>
              <a:t>66</a:t>
            </a:fld>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Grp="1" noChangeArrowheads="1"/>
          </p:cNvSpPr>
          <p:nvPr>
            <p:ph type="title"/>
          </p:nvPr>
        </p:nvSpPr>
        <p:spPr>
          <a:xfrm>
            <a:off x="1150938" y="214313"/>
            <a:ext cx="7793037" cy="1233487"/>
          </a:xfrm>
        </p:spPr>
        <p:txBody>
          <a:bodyPr/>
          <a:lstStyle/>
          <a:p>
            <a:pPr eaLnBrk="1" hangingPunct="1"/>
            <a:r>
              <a:rPr lang="en-US" dirty="0" smtClean="0"/>
              <a:t>Summary – Prototyping</a:t>
            </a:r>
          </a:p>
        </p:txBody>
      </p:sp>
      <p:graphicFrame>
        <p:nvGraphicFramePr>
          <p:cNvPr id="156675" name="Group 3"/>
          <p:cNvGraphicFramePr>
            <a:graphicFrameLocks noGrp="1"/>
          </p:cNvGraphicFramePr>
          <p:nvPr>
            <p:ph type="tbl" idx="1"/>
          </p:nvPr>
        </p:nvGraphicFramePr>
        <p:xfrm>
          <a:off x="457202" y="1600200"/>
          <a:ext cx="8497887" cy="4953000"/>
        </p:xfrm>
        <a:graphic>
          <a:graphicData uri="http://schemas.openxmlformats.org/drawingml/2006/table">
            <a:tbl>
              <a:tblPr/>
              <a:tblGrid>
                <a:gridCol w="2832629">
                  <a:extLst>
                    <a:ext uri="{9D8B030D-6E8A-4147-A177-3AD203B41FA5}">
                      <a16:colId xmlns:a16="http://schemas.microsoft.com/office/drawing/2014/main" val="20000"/>
                    </a:ext>
                  </a:extLst>
                </a:gridCol>
                <a:gridCol w="2832629">
                  <a:extLst>
                    <a:ext uri="{9D8B030D-6E8A-4147-A177-3AD203B41FA5}">
                      <a16:colId xmlns:a16="http://schemas.microsoft.com/office/drawing/2014/main" val="20001"/>
                    </a:ext>
                  </a:extLst>
                </a:gridCol>
                <a:gridCol w="2832629">
                  <a:extLst>
                    <a:ext uri="{9D8B030D-6E8A-4147-A177-3AD203B41FA5}">
                      <a16:colId xmlns:a16="http://schemas.microsoft.com/office/drawing/2014/main" val="20002"/>
                    </a:ext>
                  </a:extLst>
                </a:gridCol>
              </a:tblGrid>
              <a:tr h="55797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dirty="0" smtClean="0">
                          <a:ln>
                            <a:noFill/>
                          </a:ln>
                          <a:solidFill>
                            <a:schemeClr val="tx1"/>
                          </a:solidFill>
                          <a:effectLst/>
                          <a:latin typeface="Tahoma" charset="0"/>
                        </a:rPr>
                        <a:t>Strength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Weakness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Types of Projects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9502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Helps </a:t>
                      </a:r>
                      <a:r>
                        <a:rPr kumimoji="0" lang="en-US" sz="2400" b="0" i="0" u="none" strike="noStrike" cap="none" normalizeH="0" baseline="0" dirty="0" err="1" smtClean="0">
                          <a:ln>
                            <a:noFill/>
                          </a:ln>
                          <a:solidFill>
                            <a:schemeClr val="tx1"/>
                          </a:solidFill>
                          <a:effectLst/>
                          <a:latin typeface="Tahoma" charset="0"/>
                        </a:rPr>
                        <a:t>req</a:t>
                      </a:r>
                      <a:r>
                        <a:rPr kumimoji="0" lang="en-US" sz="2400" b="0" i="0" u="none" strike="noStrike" cap="none" normalizeH="0" baseline="0" dirty="0" smtClean="0">
                          <a:ln>
                            <a:noFill/>
                          </a:ln>
                          <a:solidFill>
                            <a:schemeClr val="tx1"/>
                          </a:solidFill>
                          <a:effectLst/>
                          <a:latin typeface="Tahoma" charset="0"/>
                        </a:rPr>
                        <a:t> elicitation</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Reduces risk</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Better and more stable final system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Possibly higher cost and schedule</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Disallows later change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Systems with novice users; or areas with </a:t>
                      </a:r>
                      <a:r>
                        <a:rPr kumimoji="0" lang="en-US" sz="2400" b="0" i="0" u="none" strike="noStrike" cap="none" normalizeH="0" baseline="0" dirty="0" err="1" smtClean="0">
                          <a:ln>
                            <a:noFill/>
                          </a:ln>
                          <a:solidFill>
                            <a:schemeClr val="tx1"/>
                          </a:solidFill>
                          <a:effectLst/>
                          <a:latin typeface="Tahoma" charset="0"/>
                        </a:rPr>
                        <a:t>req</a:t>
                      </a:r>
                      <a:r>
                        <a:rPr kumimoji="0" lang="en-US" sz="2400" b="0" i="0" u="none" strike="noStrike" cap="none" normalizeH="0" baseline="0" dirty="0" smtClean="0">
                          <a:ln>
                            <a:noFill/>
                          </a:ln>
                          <a:solidFill>
                            <a:schemeClr val="tx1"/>
                          </a:solidFill>
                          <a:effectLst/>
                          <a:latin typeface="Tahoma" charset="0"/>
                        </a:rPr>
                        <a:t> </a:t>
                      </a:r>
                      <a:r>
                        <a:rPr kumimoji="0" lang="en-US" sz="2400" b="0" i="0" u="none" strike="noStrike" cap="none" normalizeH="0" baseline="0" dirty="0" err="1" smtClean="0">
                          <a:ln>
                            <a:noFill/>
                          </a:ln>
                          <a:solidFill>
                            <a:schemeClr val="tx1"/>
                          </a:solidFill>
                          <a:effectLst/>
                          <a:latin typeface="Tahoma" charset="0"/>
                        </a:rPr>
                        <a:t>uncertainity</a:t>
                      </a:r>
                      <a:r>
                        <a:rPr kumimoji="0" lang="en-US" sz="2400" b="0" i="0" u="none" strike="noStrike" cap="none" normalizeH="0" baseline="0" dirty="0" smtClean="0">
                          <a:ln>
                            <a:noFill/>
                          </a:ln>
                          <a:solidFill>
                            <a:schemeClr val="tx1"/>
                          </a:solidFill>
                          <a:effectLst/>
                          <a:latin typeface="Tahoma"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0659" name="Slide Number Placeholder 5"/>
          <p:cNvSpPr>
            <a:spLocks noGrp="1"/>
          </p:cNvSpPr>
          <p:nvPr>
            <p:ph type="sldNum" sz="quarter" idx="12"/>
          </p:nvPr>
        </p:nvSpPr>
        <p:spPr>
          <a:noFill/>
        </p:spPr>
        <p:txBody>
          <a:bodyPr/>
          <a:lstStyle/>
          <a:p>
            <a:fld id="{BE7399ED-173E-4B25-8D5B-F1E335923065}" type="slidenum">
              <a:rPr lang="en-US"/>
              <a:pPr/>
              <a:t>67</a:t>
            </a:fld>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2"/>
          <p:cNvSpPr>
            <a:spLocks noGrp="1" noChangeArrowheads="1"/>
          </p:cNvSpPr>
          <p:nvPr>
            <p:ph type="title"/>
          </p:nvPr>
        </p:nvSpPr>
        <p:spPr>
          <a:xfrm>
            <a:off x="762000" y="214313"/>
            <a:ext cx="8181975" cy="1081087"/>
          </a:xfrm>
        </p:spPr>
        <p:txBody>
          <a:bodyPr/>
          <a:lstStyle/>
          <a:p>
            <a:pPr eaLnBrk="1" hangingPunct="1"/>
            <a:r>
              <a:rPr lang="en-US" dirty="0" smtClean="0"/>
              <a:t>Summary – Iterative</a:t>
            </a:r>
          </a:p>
        </p:txBody>
      </p:sp>
      <p:graphicFrame>
        <p:nvGraphicFramePr>
          <p:cNvPr id="157699" name="Group 3"/>
          <p:cNvGraphicFramePr>
            <a:graphicFrameLocks noGrp="1"/>
          </p:cNvGraphicFramePr>
          <p:nvPr>
            <p:ph type="tbl" idx="1"/>
          </p:nvPr>
        </p:nvGraphicFramePr>
        <p:xfrm>
          <a:off x="228599" y="1371601"/>
          <a:ext cx="8915400" cy="4952999"/>
        </p:xfrm>
        <a:graphic>
          <a:graphicData uri="http://schemas.openxmlformats.org/drawingml/2006/table">
            <a:tbl>
              <a:tblPr/>
              <a:tblGrid>
                <a:gridCol w="2971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47705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dirty="0" smtClean="0">
                          <a:ln>
                            <a:noFill/>
                          </a:ln>
                          <a:solidFill>
                            <a:schemeClr val="tx1"/>
                          </a:solidFill>
                          <a:effectLst/>
                          <a:latin typeface="Tahoma" charset="0"/>
                        </a:rPr>
                        <a:t>Strength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Weakness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Types of Projects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759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Regular deliveries, leading to biz benefit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Can accommodate changes naturally</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Allows user feedback</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Naturally prioritizes </a:t>
                      </a:r>
                      <a:r>
                        <a:rPr kumimoji="0" lang="en-US" sz="2400" b="0" i="0" u="none" strike="noStrike" cap="none" normalizeH="0" baseline="0" dirty="0" err="1" smtClean="0">
                          <a:ln>
                            <a:noFill/>
                          </a:ln>
                          <a:solidFill>
                            <a:schemeClr val="tx1"/>
                          </a:solidFill>
                          <a:effectLst/>
                          <a:latin typeface="Tahoma" charset="0"/>
                        </a:rPr>
                        <a:t>req</a:t>
                      </a:r>
                      <a:endParaRPr kumimoji="0" lang="en-US" sz="24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Reduces risks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Overhead of planning each iteration</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Total cost may increase</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Rework may increase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For businesses where time is critical;</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 risk of long projects cannot be taken; </a:t>
                      </a:r>
                      <a:r>
                        <a:rPr kumimoji="0" lang="en-US" sz="2400" b="0" i="0" u="none" strike="noStrike" cap="none" normalizeH="0" baseline="0" dirty="0" err="1" smtClean="0">
                          <a:ln>
                            <a:noFill/>
                          </a:ln>
                          <a:solidFill>
                            <a:schemeClr val="tx1"/>
                          </a:solidFill>
                          <a:effectLst/>
                          <a:latin typeface="Tahoma" charset="0"/>
                        </a:rPr>
                        <a:t>req</a:t>
                      </a:r>
                      <a:r>
                        <a:rPr kumimoji="0" lang="en-US" sz="2400" b="0" i="0" u="none" strike="noStrike" cap="none" normalizeH="0" baseline="0" dirty="0" smtClean="0">
                          <a:ln>
                            <a:noFill/>
                          </a:ln>
                          <a:solidFill>
                            <a:schemeClr val="tx1"/>
                          </a:solidFill>
                          <a:effectLst/>
                          <a:latin typeface="Tahoma" charset="0"/>
                        </a:rPr>
                        <a:t> not known and evolve with time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1683" name="Slide Number Placeholder 5"/>
          <p:cNvSpPr>
            <a:spLocks noGrp="1"/>
          </p:cNvSpPr>
          <p:nvPr>
            <p:ph type="sldNum" sz="quarter" idx="12"/>
          </p:nvPr>
        </p:nvSpPr>
        <p:spPr>
          <a:noFill/>
        </p:spPr>
        <p:txBody>
          <a:bodyPr/>
          <a:lstStyle/>
          <a:p>
            <a:fld id="{2CAA12F1-03C2-4015-AADC-5D7E7DAD1F71}" type="slidenum">
              <a:rPr lang="en-US"/>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2"/>
          <p:cNvSpPr>
            <a:spLocks noGrp="1" noChangeArrowheads="1"/>
          </p:cNvSpPr>
          <p:nvPr>
            <p:ph type="title"/>
          </p:nvPr>
        </p:nvSpPr>
        <p:spPr/>
        <p:txBody>
          <a:bodyPr/>
          <a:lstStyle/>
          <a:p>
            <a:pPr eaLnBrk="1" hangingPunct="1"/>
            <a:r>
              <a:rPr lang="en-US" dirty="0" smtClean="0"/>
              <a:t>Summary – Timeboxing</a:t>
            </a:r>
          </a:p>
        </p:txBody>
      </p:sp>
      <p:graphicFrame>
        <p:nvGraphicFramePr>
          <p:cNvPr id="158723" name="Group 3"/>
          <p:cNvGraphicFramePr>
            <a:graphicFrameLocks noGrp="1"/>
          </p:cNvGraphicFramePr>
          <p:nvPr>
            <p:ph type="tbl" idx="1"/>
          </p:nvPr>
        </p:nvGraphicFramePr>
        <p:xfrm>
          <a:off x="533401" y="2017712"/>
          <a:ext cx="8421687" cy="4611687"/>
        </p:xfrm>
        <a:graphic>
          <a:graphicData uri="http://schemas.openxmlformats.org/drawingml/2006/table">
            <a:tbl>
              <a:tblPr/>
              <a:tblGrid>
                <a:gridCol w="2807229">
                  <a:extLst>
                    <a:ext uri="{9D8B030D-6E8A-4147-A177-3AD203B41FA5}">
                      <a16:colId xmlns:a16="http://schemas.microsoft.com/office/drawing/2014/main" val="20000"/>
                    </a:ext>
                  </a:extLst>
                </a:gridCol>
                <a:gridCol w="2807229">
                  <a:extLst>
                    <a:ext uri="{9D8B030D-6E8A-4147-A177-3AD203B41FA5}">
                      <a16:colId xmlns:a16="http://schemas.microsoft.com/office/drawing/2014/main" val="20001"/>
                    </a:ext>
                  </a:extLst>
                </a:gridCol>
                <a:gridCol w="2807229">
                  <a:extLst>
                    <a:ext uri="{9D8B030D-6E8A-4147-A177-3AD203B41FA5}">
                      <a16:colId xmlns:a16="http://schemas.microsoft.com/office/drawing/2014/main" val="20002"/>
                    </a:ext>
                  </a:extLst>
                </a:gridCol>
              </a:tblGrid>
              <a:tr h="51952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dirty="0" smtClean="0">
                          <a:ln>
                            <a:noFill/>
                          </a:ln>
                          <a:solidFill>
                            <a:schemeClr val="tx1"/>
                          </a:solidFill>
                          <a:effectLst/>
                          <a:latin typeface="Tahoma" charset="0"/>
                        </a:rPr>
                        <a:t>Strength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Weakness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Types of Projects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9216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All benefits of iterative</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Planning for iterations somewhat easier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Very short delivery times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PM becomes more complex</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Team size is larger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Where very short delivery times are very important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Where flexibility in grouping features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Arch is stable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2707" name="Slide Number Placeholder 5"/>
          <p:cNvSpPr>
            <a:spLocks noGrp="1"/>
          </p:cNvSpPr>
          <p:nvPr>
            <p:ph type="sldNum" sz="quarter" idx="12"/>
          </p:nvPr>
        </p:nvSpPr>
        <p:spPr>
          <a:noFill/>
        </p:spPr>
        <p:txBody>
          <a:bodyPr/>
          <a:lstStyle/>
          <a:p>
            <a:fld id="{AD3FC890-E7C8-4283-92AF-392E3083EDCD}" type="slidenum">
              <a:rPr lang="en-US"/>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p:cNvSpPr>
            <a:spLocks noGrp="1" noChangeArrowheads="1"/>
          </p:cNvSpPr>
          <p:nvPr>
            <p:ph type="title"/>
          </p:nvPr>
        </p:nvSpPr>
        <p:spPr/>
        <p:txBody>
          <a:bodyPr/>
          <a:lstStyle/>
          <a:p>
            <a:pPr eaLnBrk="1" hangingPunct="1"/>
            <a:r>
              <a:rPr lang="en-US" smtClean="0"/>
              <a:t>Summary – XP</a:t>
            </a:r>
          </a:p>
        </p:txBody>
      </p:sp>
      <p:graphicFrame>
        <p:nvGraphicFramePr>
          <p:cNvPr id="202755" name="Group 3"/>
          <p:cNvGraphicFramePr>
            <a:graphicFrameLocks noGrp="1"/>
          </p:cNvGraphicFramePr>
          <p:nvPr>
            <p:ph type="tbl" idx="1"/>
          </p:nvPr>
        </p:nvGraphicFramePr>
        <p:xfrm>
          <a:off x="381001" y="2017712"/>
          <a:ext cx="8574087" cy="4535487"/>
        </p:xfrm>
        <a:graphic>
          <a:graphicData uri="http://schemas.openxmlformats.org/drawingml/2006/table">
            <a:tbl>
              <a:tblPr/>
              <a:tblGrid>
                <a:gridCol w="2858029">
                  <a:extLst>
                    <a:ext uri="{9D8B030D-6E8A-4147-A177-3AD203B41FA5}">
                      <a16:colId xmlns:a16="http://schemas.microsoft.com/office/drawing/2014/main" val="20000"/>
                    </a:ext>
                  </a:extLst>
                </a:gridCol>
                <a:gridCol w="2858029">
                  <a:extLst>
                    <a:ext uri="{9D8B030D-6E8A-4147-A177-3AD203B41FA5}">
                      <a16:colId xmlns:a16="http://schemas.microsoft.com/office/drawing/2014/main" val="20001"/>
                    </a:ext>
                  </a:extLst>
                </a:gridCol>
                <a:gridCol w="2858029">
                  <a:extLst>
                    <a:ext uri="{9D8B030D-6E8A-4147-A177-3AD203B41FA5}">
                      <a16:colId xmlns:a16="http://schemas.microsoft.com/office/drawing/2014/main" val="20002"/>
                    </a:ext>
                  </a:extLst>
                </a:gridCol>
              </a:tblGrid>
              <a:tr h="51094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dirty="0" smtClean="0">
                          <a:ln>
                            <a:noFill/>
                          </a:ln>
                          <a:solidFill>
                            <a:schemeClr val="tx1"/>
                          </a:solidFill>
                          <a:effectLst/>
                          <a:latin typeface="Tahoma" charset="0"/>
                        </a:rPr>
                        <a:t>Strength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Weakness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smtClean="0">
                          <a:ln>
                            <a:noFill/>
                          </a:ln>
                          <a:solidFill>
                            <a:schemeClr val="tx1"/>
                          </a:solidFill>
                          <a:effectLst/>
                          <a:latin typeface="Tahoma" charset="0"/>
                        </a:rPr>
                        <a:t>Types of Projects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245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smtClean="0">
                          <a:ln>
                            <a:noFill/>
                          </a:ln>
                          <a:solidFill>
                            <a:schemeClr val="tx1"/>
                          </a:solidFill>
                          <a:effectLst/>
                          <a:latin typeface="Tahoma" charset="0"/>
                        </a:rPr>
                        <a:t>Short delivery cycles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smtClean="0">
                          <a:ln>
                            <a:noFill/>
                          </a:ln>
                          <a:solidFill>
                            <a:schemeClr val="tx1"/>
                          </a:solidFill>
                          <a:effectLst/>
                          <a:latin typeface="Tahoma" charset="0"/>
                        </a:rPr>
                        <a:t>Continuous feedback can lead to better acceptance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Lack of documentation can be an issue</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Continuous code change is risky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Where requirements are changing a lot, customer is deeply engaged in development,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smtClean="0">
                          <a:ln>
                            <a:noFill/>
                          </a:ln>
                          <a:solidFill>
                            <a:schemeClr val="tx1"/>
                          </a:solidFill>
                          <a:effectLst/>
                          <a:latin typeface="Tahoma" charset="0"/>
                        </a:rPr>
                        <a:t>and where the size of the project is not too large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4755" name="Slide Number Placeholder 5"/>
          <p:cNvSpPr>
            <a:spLocks noGrp="1"/>
          </p:cNvSpPr>
          <p:nvPr>
            <p:ph type="sldNum" sz="quarter" idx="12"/>
          </p:nvPr>
        </p:nvSpPr>
        <p:spPr>
          <a:noFill/>
        </p:spPr>
        <p:txBody>
          <a:bodyPr/>
          <a:lstStyle/>
          <a:p>
            <a:fld id="{AE1508ED-FD5C-4576-9A6D-8DDD4B36064C}" type="slidenum">
              <a:rPr lang="en-US"/>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2"/>
          <p:cNvSpPr>
            <a:spLocks noGrp="1" noChangeArrowheads="1"/>
          </p:cNvSpPr>
          <p:nvPr>
            <p:ph type="title"/>
          </p:nvPr>
        </p:nvSpPr>
        <p:spPr/>
        <p:txBody>
          <a:bodyPr/>
          <a:lstStyle/>
          <a:p>
            <a:pPr eaLnBrk="1" hangingPunct="1"/>
            <a:r>
              <a:rPr lang="en-US" smtClean="0"/>
              <a:t>Summary</a:t>
            </a:r>
          </a:p>
        </p:txBody>
      </p:sp>
      <p:sp>
        <p:nvSpPr>
          <p:cNvPr id="87045" name="Rectangle 3"/>
          <p:cNvSpPr>
            <a:spLocks noGrp="1" noChangeArrowheads="1"/>
          </p:cNvSpPr>
          <p:nvPr>
            <p:ph idx="1"/>
          </p:nvPr>
        </p:nvSpPr>
        <p:spPr/>
        <p:txBody>
          <a:bodyPr>
            <a:normAutofit/>
          </a:bodyPr>
          <a:lstStyle/>
          <a:p>
            <a:pPr eaLnBrk="1" hangingPunct="1">
              <a:lnSpc>
                <a:spcPct val="90000"/>
              </a:lnSpc>
            </a:pPr>
            <a:r>
              <a:rPr lang="en-US" sz="2800" dirty="0" smtClean="0"/>
              <a:t>Process has a major impact on the quality and productivity</a:t>
            </a:r>
          </a:p>
          <a:p>
            <a:pPr eaLnBrk="1" hangingPunct="1">
              <a:lnSpc>
                <a:spcPct val="90000"/>
              </a:lnSpc>
            </a:pPr>
            <a:r>
              <a:rPr lang="en-US" sz="2800" dirty="0" smtClean="0"/>
              <a:t>Different processes at work in a software project</a:t>
            </a:r>
          </a:p>
          <a:p>
            <a:pPr eaLnBrk="1" hangingPunct="1">
              <a:lnSpc>
                <a:spcPct val="90000"/>
              </a:lnSpc>
            </a:pPr>
            <a:r>
              <a:rPr lang="en-US" sz="2800" dirty="0" smtClean="0"/>
              <a:t>Process models are general process structures, that work well for some types of problems</a:t>
            </a:r>
          </a:p>
          <a:p>
            <a:pPr eaLnBrk="1" hangingPunct="1">
              <a:lnSpc>
                <a:spcPct val="90000"/>
              </a:lnSpc>
            </a:pPr>
            <a:r>
              <a:rPr lang="en-US" sz="2800" dirty="0" smtClean="0"/>
              <a:t>A project should select a process model that is best suited for it (and tailor it to meet its requirements)</a:t>
            </a:r>
          </a:p>
        </p:txBody>
      </p:sp>
      <p:sp>
        <p:nvSpPr>
          <p:cNvPr id="87043" name="Slide Number Placeholder 5"/>
          <p:cNvSpPr>
            <a:spLocks noGrp="1"/>
          </p:cNvSpPr>
          <p:nvPr>
            <p:ph type="sldNum" sz="quarter" idx="12"/>
          </p:nvPr>
        </p:nvSpPr>
        <p:spPr>
          <a:noFill/>
        </p:spPr>
        <p:txBody>
          <a:bodyPr/>
          <a:lstStyle/>
          <a:p>
            <a:fld id="{461A67D9-F111-4651-8D5D-F665E7AE68FC}" type="slidenum">
              <a:rPr lang="en-US"/>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algn="ctr">
              <a:buNone/>
            </a:pPr>
            <a:endParaRPr lang="en-US" dirty="0" smtClean="0"/>
          </a:p>
          <a:p>
            <a:pPr algn="ctr">
              <a:buNone/>
            </a:pPr>
            <a:endParaRPr lang="en-US" dirty="0" smtClean="0"/>
          </a:p>
          <a:p>
            <a:pPr algn="ctr">
              <a:buNone/>
            </a:pPr>
            <a:endParaRPr lang="en-US" dirty="0" smtClean="0"/>
          </a:p>
          <a:p>
            <a:pPr algn="ctr">
              <a:buNone/>
            </a:pPr>
            <a:r>
              <a:rPr lang="en-US" sz="3200" dirty="0" smtClean="0"/>
              <a:t>End of chapter 2</a:t>
            </a:r>
          </a:p>
          <a:p>
            <a:pPr algn="ctr">
              <a:buNone/>
            </a:pPr>
            <a:r>
              <a:rPr lang="en-US" sz="3200" dirty="0" smtClean="0"/>
              <a:t>Thank you</a:t>
            </a:r>
            <a:endParaRPr lang="en-US" sz="3200" dirty="0"/>
          </a:p>
        </p:txBody>
      </p:sp>
      <p:sp>
        <p:nvSpPr>
          <p:cNvPr id="4" name="Slide Number Placeholder 3"/>
          <p:cNvSpPr>
            <a:spLocks noGrp="1"/>
          </p:cNvSpPr>
          <p:nvPr>
            <p:ph type="sldNum" sz="quarter" idx="12"/>
          </p:nvPr>
        </p:nvSpPr>
        <p:spPr/>
        <p:txBody>
          <a:bodyPr/>
          <a:lstStyle/>
          <a:p>
            <a:fld id="{A7DCF3E3-43C3-4D4D-80D8-9AA0A767ECB9}" type="slidenum">
              <a:rPr lang="en-US" smtClean="0"/>
              <a:pPr/>
              <a:t>72</a:t>
            </a:fld>
            <a:endParaRPr lang="en-US"/>
          </a:p>
        </p:txBody>
      </p:sp>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8329</TotalTime>
  <Words>2568</Words>
  <Application>Microsoft Office PowerPoint</Application>
  <PresentationFormat>On-screen Show (4:3)</PresentationFormat>
  <Paragraphs>447</Paragraphs>
  <Slides>72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Algerian</vt:lpstr>
      <vt:lpstr>Arial</vt:lpstr>
      <vt:lpstr>Tahoma</vt:lpstr>
      <vt:lpstr>Wingdings</vt:lpstr>
      <vt:lpstr>Diseño predeterminado</vt:lpstr>
      <vt:lpstr>SOFTWARE ENGINEERING</vt:lpstr>
      <vt:lpstr>CHAPTER II: Software Development Process</vt:lpstr>
      <vt:lpstr>Objectives</vt:lpstr>
      <vt:lpstr>Project and Process</vt:lpstr>
      <vt:lpstr>Software Development Problem</vt:lpstr>
      <vt:lpstr>The 4 P’s of software engineering </vt:lpstr>
      <vt:lpstr>Process, People, Technology</vt:lpstr>
      <vt:lpstr>Software Process</vt:lpstr>
      <vt:lpstr>Component of Software Processes</vt:lpstr>
      <vt:lpstr>Process Specification</vt:lpstr>
      <vt:lpstr>Software Development Process</vt:lpstr>
      <vt:lpstr>1. Systems Analysis</vt:lpstr>
      <vt:lpstr>2. Systems Design </vt:lpstr>
      <vt:lpstr>Logical design specifications</vt:lpstr>
      <vt:lpstr>Physical design specifications</vt:lpstr>
      <vt:lpstr>3. Programming/Coding</vt:lpstr>
      <vt:lpstr>4. System Testing and integration</vt:lpstr>
      <vt:lpstr>5. Operation and maintenance</vt:lpstr>
      <vt:lpstr>PowerPoint Presentation</vt:lpstr>
      <vt:lpstr>Process Models</vt:lpstr>
      <vt:lpstr>Software Development Process Model</vt:lpstr>
      <vt:lpstr>1. Waterfall Model</vt:lpstr>
      <vt:lpstr>Waterfall…</vt:lpstr>
      <vt:lpstr>PowerPoint Presentation</vt:lpstr>
      <vt:lpstr>Waterfall Advantages</vt:lpstr>
      <vt:lpstr>Waterfall disadvantages</vt:lpstr>
      <vt:lpstr>PowerPoint Presentation</vt:lpstr>
      <vt:lpstr>Waterfall Usage</vt:lpstr>
      <vt:lpstr>2. Prototyping</vt:lpstr>
      <vt:lpstr>PowerPoint Presentation</vt:lpstr>
      <vt:lpstr>PowerPoint Presentation</vt:lpstr>
      <vt:lpstr>Prototyping </vt:lpstr>
      <vt:lpstr>Prototyping</vt:lpstr>
      <vt:lpstr>Advantages of Prototyping</vt:lpstr>
      <vt:lpstr>Disadvantages of Prototyping </vt:lpstr>
      <vt:lpstr>PowerPoint Presentation</vt:lpstr>
      <vt:lpstr>3. Iterative Development</vt:lpstr>
      <vt:lpstr>PowerPoint Presentation</vt:lpstr>
      <vt:lpstr>PowerPoint Presentation</vt:lpstr>
      <vt:lpstr>Iterative, phases</vt:lpstr>
      <vt:lpstr>PowerPoint Presentation</vt:lpstr>
      <vt:lpstr>Iterative Development </vt:lpstr>
      <vt:lpstr>Iterative Development</vt:lpstr>
      <vt:lpstr>Problems associated</vt:lpstr>
      <vt:lpstr>PowerPoint Presentation</vt:lpstr>
      <vt:lpstr>PowerPoint Presentation</vt:lpstr>
      <vt:lpstr>4. Timeboxing</vt:lpstr>
      <vt:lpstr>PowerPoint Presentation</vt:lpstr>
      <vt:lpstr>Timeboxing Execution</vt:lpstr>
      <vt:lpstr>Time Boxed Iterations</vt:lpstr>
      <vt:lpstr>Example</vt:lpstr>
      <vt:lpstr>Example</vt:lpstr>
      <vt:lpstr>Timeboxing execution</vt:lpstr>
      <vt:lpstr>Timeboxing</vt:lpstr>
      <vt:lpstr>5. Extreme Programming or Agile Process Model</vt:lpstr>
      <vt:lpstr>PowerPoint Presentation</vt:lpstr>
      <vt:lpstr>XP process</vt:lpstr>
      <vt:lpstr>XP…</vt:lpstr>
      <vt:lpstr>XP …</vt:lpstr>
      <vt:lpstr>XP …</vt:lpstr>
      <vt:lpstr>An Iteration</vt:lpstr>
      <vt:lpstr>XP - Applicability</vt:lpstr>
      <vt:lpstr>Exercises</vt:lpstr>
      <vt:lpstr>PowerPoint Presentation</vt:lpstr>
      <vt:lpstr>GROUP Exercise</vt:lpstr>
      <vt:lpstr>Summary – waterfall</vt:lpstr>
      <vt:lpstr>Summary – Prototyping</vt:lpstr>
      <vt:lpstr>Summary – Iterative</vt:lpstr>
      <vt:lpstr>Summary – Timeboxing</vt:lpstr>
      <vt:lpstr>Summary – XP</vt:lpstr>
      <vt:lpstr>Summary</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Shyaka</cp:lastModifiedBy>
  <cp:revision>822</cp:revision>
  <dcterms:created xsi:type="dcterms:W3CDTF">2010-05-23T14:28:12Z</dcterms:created>
  <dcterms:modified xsi:type="dcterms:W3CDTF">2025-11-14T05:12:22Z</dcterms:modified>
</cp:coreProperties>
</file>